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8" r:id="rId4"/>
    <p:sldId id="257" r:id="rId5"/>
    <p:sldId id="258" r:id="rId6"/>
    <p:sldId id="259" r:id="rId7"/>
    <p:sldId id="268" r:id="rId8"/>
    <p:sldId id="260" r:id="rId9"/>
    <p:sldId id="261" r:id="rId10"/>
    <p:sldId id="269" r:id="rId11"/>
    <p:sldId id="270" r:id="rId12"/>
    <p:sldId id="263" r:id="rId13"/>
    <p:sldId id="265" r:id="rId14"/>
    <p:sldId id="276" r:id="rId15"/>
    <p:sldId id="266" r:id="rId16"/>
    <p:sldId id="277" r:id="rId17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-1536" y="-114"/>
      </p:cViewPr>
      <p:guideLst>
        <p:guide orient="horz" pos="2160"/>
        <p:guide pos="28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14337"/>
          <p:cNvGrpSpPr/>
          <p:nvPr/>
        </p:nvGrpSpPr>
        <p:grpSpPr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14339" name="矩形 14338"/>
            <p:cNvSpPr/>
            <p:nvPr/>
          </p:nvSpPr>
          <p:spPr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/>
            <a:lstStyle/>
            <a:p>
              <a:pPr lvl="0" algn="ctr">
                <a:buClr>
                  <a:schemeClr val="bg1"/>
                </a:buClr>
              </a:pPr>
              <a:endParaRPr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0" name="圆角矩形 14339"/>
            <p:cNvSpPr/>
            <p:nvPr/>
          </p:nvSpPr>
          <p:spPr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/>
            <a:p>
              <a:pPr lvl="0" algn="ctr">
                <a:buClr>
                  <a:schemeClr val="bg1"/>
                </a:buClr>
              </a:pPr>
              <a:endParaRPr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341" name="组合 14340"/>
          <p:cNvGrpSpPr/>
          <p:nvPr/>
        </p:nvGrpSpPr>
        <p:grpSpPr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14342" name="圆角矩形 14341"/>
            <p:cNvSpPr/>
            <p:nvPr/>
          </p:nvSpPr>
          <p:spPr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3" name="流程图: 延期 14342"/>
            <p:cNvSpPr/>
            <p:nvPr/>
          </p:nvSpPr>
          <p:spPr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44" name="副标题 14343"/>
          <p:cNvSpPr>
            <a:spLocks noGrp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>
              <a:buNone/>
              <a:defRPr>
                <a:solidFill>
                  <a:schemeClr val="tx2"/>
                </a:solidFill>
              </a:defRPr>
            </a:lvl1pPr>
            <a:lvl2pPr marL="457200" lvl="1" indent="0" algn="ctr">
              <a:buNone/>
              <a:defRPr>
                <a:solidFill>
                  <a:schemeClr val="tx2"/>
                </a:solidFill>
              </a:defRPr>
            </a:lvl2pPr>
            <a:lvl3pPr marL="914400" lvl="2" indent="0" algn="ctr">
              <a:buNone/>
              <a:defRPr>
                <a:solidFill>
                  <a:schemeClr val="tx2"/>
                </a:solidFill>
              </a:defRPr>
            </a:lvl3pPr>
            <a:lvl4pPr marL="1371600" lvl="3" indent="0" algn="ctr">
              <a:buNone/>
              <a:defRPr>
                <a:solidFill>
                  <a:schemeClr val="tx2"/>
                </a:solidFill>
              </a:defRPr>
            </a:lvl4pPr>
            <a:lvl5pPr marL="1828800" lvl="4" indent="0" algn="ctr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4345" name="日期占位符 14344"/>
          <p:cNvSpPr>
            <a:spLocks noGrp="1"/>
          </p:cNvSpPr>
          <p:nvPr>
            <p:ph type="dt" sz="quarter" idx="2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algn="r">
              <a:buClr>
                <a:schemeClr val="bg1"/>
              </a:buClr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346" name="页脚占位符 14345"/>
          <p:cNvSpPr>
            <a:spLocks noGrp="1"/>
          </p:cNvSpPr>
          <p:nvPr>
            <p:ph type="ftr" sz="quarter" idx="3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algn="r">
              <a:buClr>
                <a:schemeClr val="bg1"/>
              </a:buClr>
            </a:pPr>
            <a:endParaRPr lang="zh-CN" dirty="0"/>
          </a:p>
        </p:txBody>
      </p:sp>
      <p:sp>
        <p:nvSpPr>
          <p:cNvPr id="14347" name="灯片编号占位符 14346"/>
          <p:cNvSpPr>
            <a:spLocks noGrp="1"/>
          </p:cNvSpPr>
          <p:nvPr>
            <p:ph type="sldNum" sz="quarter" idx="4"/>
          </p:nvPr>
        </p:nvSpPr>
        <p:spPr>
          <a:xfrm>
            <a:off x="76200" y="6248400"/>
            <a:ext cx="587375" cy="4889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  <p:sp>
        <p:nvSpPr>
          <p:cNvPr id="14348" name="标题 14347"/>
          <p:cNvSpPr>
            <a:spLocks noGrp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  <a:noFill/>
          <a:ln w="9525">
            <a:noFill/>
          </a:ln>
        </p:spPr>
        <p:txBody>
          <a:bodyPr anchor="ctr"/>
          <a:lstStyle>
            <a:lvl1pPr lvl="0"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69582" cy="37242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1643" y="2362200"/>
            <a:ext cx="3769582" cy="37242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828748" cy="53244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endParaRPr 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13313"/>
          <p:cNvGrpSpPr/>
          <p:nvPr/>
        </p:nvGrpSpPr>
        <p:grpSpPr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3315" name="组合 13314"/>
            <p:cNvGrpSpPr/>
            <p:nvPr userDrawn="1"/>
          </p:nvGrpSpPr>
          <p:grpSpPr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3316" name="矩形 13315"/>
              <p:cNvSpPr/>
              <p:nvPr userDrawn="1"/>
            </p:nvSpPr>
            <p:spPr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17" name="任意多边形 13316"/>
              <p:cNvSpPr/>
              <p:nvPr userDrawn="1"/>
            </p:nvSpPr>
            <p:spPr>
              <a:xfrm>
                <a:off x="288" y="0"/>
                <a:ext cx="1728" cy="735"/>
              </a:xfrm>
              <a:custGeom>
                <a:avLst/>
                <a:gdLst/>
                <a:ahLst/>
                <a:cxnLst/>
                <a:rect l="0" t="0" r="0" b="0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8" name="组合 13317"/>
            <p:cNvGrpSpPr/>
            <p:nvPr/>
          </p:nvGrpSpPr>
          <p:grpSpPr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3319" name="圆角矩形 13318"/>
              <p:cNvSpPr/>
              <p:nvPr/>
            </p:nvSpPr>
            <p:spPr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0" name="流程图: 延期 13319"/>
              <p:cNvSpPr/>
              <p:nvPr/>
            </p:nvSpPr>
            <p:spPr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321" name="标题 13320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322" name="文本占位符 13321"/>
          <p:cNvSpPr>
            <a:spLocks noGrp="1"/>
          </p:cNvSpPr>
          <p:nvPr>
            <p:ph type="body" idx="1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3323" name="日期占位符 13322"/>
          <p:cNvSpPr>
            <a:spLocks noGrp="1"/>
          </p:cNvSpPr>
          <p:nvPr>
            <p:ph type="dt" sz="half" idx="2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/>
            </a:lvl1pPr>
          </a:lstStyle>
          <a:p>
            <a:pPr lvl="0">
              <a:buClr>
                <a:schemeClr val="bg1"/>
              </a:buClr>
            </a:pPr>
            <a:endParaRPr lang="zh-CN" altLang="en-US" dirty="0"/>
          </a:p>
        </p:txBody>
      </p:sp>
      <p:sp>
        <p:nvSpPr>
          <p:cNvPr id="13324" name="页脚占位符 13323"/>
          <p:cNvSpPr>
            <a:spLocks noGrp="1"/>
          </p:cNvSpPr>
          <p:nvPr>
            <p:ph type="ftr" sz="quarter" idx="3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/>
            </a:lvl1pPr>
          </a:lstStyle>
          <a:p>
            <a:pPr lvl="0">
              <a:buClr>
                <a:schemeClr val="bg1"/>
              </a:buClr>
            </a:pPr>
            <a:endParaRPr lang="zh-CN" dirty="0"/>
          </a:p>
        </p:txBody>
      </p:sp>
      <p:sp>
        <p:nvSpPr>
          <p:cNvPr id="13325" name="灯片编号占位符 13324"/>
          <p:cNvSpPr>
            <a:spLocks noGrp="1"/>
          </p:cNvSpPr>
          <p:nvPr>
            <p:ph type="sldNum" sz="quarter" idx="4"/>
          </p:nvPr>
        </p:nvSpPr>
        <p:spPr>
          <a:xfrm>
            <a:off x="84138" y="6242050"/>
            <a:ext cx="587375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fld id="{9A0DB2DC-4C9A-4742-B13C-FB6460FD3503}" type="slidenum">
              <a:rPr lang="en-US" altLang="zh-CN" dirty="0"/>
            </a:fld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sz="36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–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–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4097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defTabSz="914400"/>
            <a:r>
              <a:rPr lang="zh-CN" altLang="en-US" kern="1200" baseline="0" dirty="0">
                <a:latin typeface="Arial" panose="020B0604020202020204" pitchFamily="34" charset="0"/>
                <a:ea typeface="宋体" panose="02010600030101010101" pitchFamily="2" charset="-122"/>
              </a:rPr>
              <a:t>通信原理复习提纲</a:t>
            </a:r>
            <a:endParaRPr lang="zh-CN" altLang="en-US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9" name="副标题 4098"/>
          <p:cNvSpPr>
            <a:spLocks noGrp="1"/>
          </p:cNvSpPr>
          <p:nvPr>
            <p:ph type="subTitle" idx="1"/>
          </p:nvPr>
        </p:nvSpPr>
        <p:spPr>
          <a:xfrm>
            <a:off x="4572000" y="2819400"/>
            <a:ext cx="4419600" cy="1600200"/>
          </a:xfrm>
        </p:spPr>
        <p:txBody>
          <a:bodyPr anchor="b"/>
          <a:lstStyle/>
          <a:p>
            <a:pPr defTabSz="914400">
              <a:buSzPct val="75000"/>
            </a:pPr>
            <a:r>
              <a:rPr lang="en-US" altLang="zh-CN" b="1" kern="1200" baseline="0" dirty="0">
                <a:latin typeface="Arial" panose="020B0604020202020204" pitchFamily="34" charset="0"/>
                <a:ea typeface="宋体" panose="02010600030101010101" pitchFamily="2" charset="-122"/>
              </a:rPr>
              <a:t>         </a:t>
            </a:r>
            <a:r>
              <a:rPr lang="zh-CN" altLang="en-US" b="1" kern="1200" baseline="0" dirty="0">
                <a:latin typeface="Arial" panose="020B0604020202020204" pitchFamily="34" charset="0"/>
                <a:ea typeface="宋体" panose="02010600030101010101" pitchFamily="2" charset="-122"/>
              </a:rPr>
              <a:t>本课程为考试课</a:t>
            </a:r>
            <a:endParaRPr lang="zh-CN" altLang="en-US" b="1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dirty="0"/>
              <a:t>考核方式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286000"/>
            <a:ext cx="5794375" cy="4669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512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考题类型：</a:t>
            </a:r>
            <a:endParaRPr lang="zh-CN" altLang="en-US" dirty="0"/>
          </a:p>
        </p:txBody>
      </p:sp>
      <p:sp>
        <p:nvSpPr>
          <p:cNvPr id="5123" name="文本占位符 51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b="1" dirty="0"/>
              <a:t>1</a:t>
            </a:r>
            <a:r>
              <a:rPr lang="zh-CN" altLang="en-US" b="1" dirty="0"/>
              <a:t>、共</a:t>
            </a:r>
            <a:r>
              <a:rPr lang="en-US" altLang="zh-CN" b="1" dirty="0"/>
              <a:t>8</a:t>
            </a:r>
            <a:r>
              <a:rPr lang="zh-CN" altLang="en-US" b="1" dirty="0"/>
              <a:t>题，总计</a:t>
            </a:r>
            <a:r>
              <a:rPr lang="en-US" altLang="zh-CN" b="1" dirty="0"/>
              <a:t>100</a:t>
            </a:r>
            <a:r>
              <a:rPr lang="zh-CN" altLang="en-US" b="1" dirty="0"/>
              <a:t>分。</a:t>
            </a:r>
            <a:endParaRPr lang="zh-CN" altLang="en-US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ym typeface="+mn-ea"/>
              </a:rPr>
              <a:t>8</a:t>
            </a:r>
            <a:r>
              <a:rPr lang="zh-CN" altLang="en-US" b="1" dirty="0">
                <a:sym typeface="+mn-ea"/>
              </a:rPr>
              <a:t>分</a:t>
            </a:r>
            <a:r>
              <a:rPr lang="en-US" altLang="zh-CN" b="1" dirty="0">
                <a:sym typeface="+mn-ea"/>
              </a:rPr>
              <a:t>*</a:t>
            </a:r>
            <a:r>
              <a:rPr lang="en-US" b="1" dirty="0"/>
              <a:t>2</a:t>
            </a:r>
            <a:r>
              <a:rPr lang="zh-CN" altLang="en-US" b="1" dirty="0"/>
              <a:t>道，</a:t>
            </a:r>
            <a:r>
              <a:rPr lang="en-US" altLang="zh-CN" b="1" dirty="0">
                <a:sym typeface="+mn-ea"/>
              </a:rPr>
              <a:t>12</a:t>
            </a:r>
            <a:r>
              <a:rPr lang="zh-CN" altLang="en-US" b="1" dirty="0">
                <a:sym typeface="+mn-ea"/>
              </a:rPr>
              <a:t>分</a:t>
            </a:r>
            <a:r>
              <a:rPr lang="en-US" altLang="zh-CN" b="1" dirty="0">
                <a:sym typeface="+mn-ea"/>
              </a:rPr>
              <a:t>*</a:t>
            </a:r>
            <a:r>
              <a:rPr lang="en-US" altLang="zh-CN" b="1" dirty="0"/>
              <a:t>2</a:t>
            </a:r>
            <a:r>
              <a:rPr lang="zh-CN" altLang="en-US" b="1" dirty="0"/>
              <a:t>道，</a:t>
            </a:r>
            <a:r>
              <a:rPr lang="en-US" altLang="zh-CN" b="1" dirty="0">
                <a:sym typeface="+mn-ea"/>
              </a:rPr>
              <a:t>15</a:t>
            </a:r>
            <a:r>
              <a:rPr lang="zh-CN" altLang="en-US" b="1" dirty="0">
                <a:sym typeface="+mn-ea"/>
              </a:rPr>
              <a:t>分</a:t>
            </a:r>
            <a:r>
              <a:rPr lang="en-US" altLang="zh-CN" b="1" dirty="0">
                <a:sym typeface="+mn-ea"/>
              </a:rPr>
              <a:t>*</a:t>
            </a:r>
            <a:r>
              <a:rPr lang="en-US" altLang="zh-CN" b="1" dirty="0"/>
              <a:t>4</a:t>
            </a:r>
            <a:r>
              <a:rPr lang="zh-CN" altLang="en-US" b="1" dirty="0"/>
              <a:t>道。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614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绪论</a:t>
            </a:r>
            <a:endParaRPr lang="zh-CN" altLang="en-US" dirty="0"/>
          </a:p>
        </p:txBody>
      </p:sp>
      <p:sp>
        <p:nvSpPr>
          <p:cNvPr id="6147" name="文本占位符 614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/>
              <a:t>1</a:t>
            </a:r>
            <a:r>
              <a:rPr lang="zh-CN" altLang="en-US" b="1" dirty="0"/>
              <a:t>、通信系统模型。</a:t>
            </a:r>
            <a:endParaRPr lang="en-US" altLang="zh-CN" b="1" dirty="0"/>
          </a:p>
          <a:p>
            <a:pPr>
              <a:lnSpc>
                <a:spcPct val="90000"/>
              </a:lnSpc>
            </a:pPr>
            <a:r>
              <a:rPr lang="en-US" altLang="zh-CN" b="1" dirty="0"/>
              <a:t>2</a:t>
            </a:r>
            <a:r>
              <a:rPr lang="zh-CN" altLang="en-US" b="1" dirty="0"/>
              <a:t>、通信系统的分类。</a:t>
            </a: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en-US" altLang="zh-CN" b="1" dirty="0"/>
              <a:t>3</a:t>
            </a:r>
            <a:r>
              <a:rPr lang="zh-CN" altLang="en-US" b="1" dirty="0"/>
              <a:t>、信息与信息的度量。</a:t>
            </a:r>
            <a:endParaRPr lang="zh-CN" altLang="en-US" b="1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zh-CN" b="1" dirty="0">
                <a:sym typeface="Wingdings" panose="05000000000000000000" pitchFamily="2" charset="2"/>
              </a:rPr>
              <a:t>4</a:t>
            </a:r>
            <a:r>
              <a:rPr lang="zh-CN" altLang="en-US" b="1" dirty="0">
                <a:sym typeface="Wingdings" panose="05000000000000000000" pitchFamily="2" charset="2"/>
              </a:rPr>
              <a:t>、通信系统的主要性能指标。</a:t>
            </a:r>
            <a:endParaRPr lang="zh-CN" altLang="en-US" b="1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/>
              <a:t>   （</a:t>
            </a:r>
            <a:r>
              <a:rPr lang="en-US" altLang="zh-CN" b="1" dirty="0"/>
              <a:t>1</a:t>
            </a:r>
            <a:r>
              <a:rPr lang="zh-CN" altLang="en-US" b="1" dirty="0"/>
              <a:t>）模拟通信系统的有效性和可靠性指标；</a:t>
            </a:r>
            <a:endParaRPr lang="zh-CN" altLang="en-US" b="1" dirty="0"/>
          </a:p>
          <a:p>
            <a:pPr>
              <a:lnSpc>
                <a:spcPct val="90000"/>
              </a:lnSpc>
              <a:buNone/>
            </a:pPr>
            <a:r>
              <a:rPr lang="zh-CN" altLang="en-US" b="1" dirty="0"/>
              <a:t>   （</a:t>
            </a:r>
            <a:r>
              <a:rPr lang="en-US" altLang="zh-CN" b="1" dirty="0"/>
              <a:t>2</a:t>
            </a:r>
            <a:r>
              <a:rPr lang="zh-CN" altLang="en-US" b="1" dirty="0"/>
              <a:t>）数字通信系统的有效性和可靠性指标；</a:t>
            </a:r>
            <a:endParaRPr lang="zh-CN" altLang="en-US" b="1" dirty="0"/>
          </a:p>
          <a:p>
            <a:pPr>
              <a:lnSpc>
                <a:spcPct val="90000"/>
              </a:lnSpc>
              <a:buNone/>
            </a:pPr>
            <a:r>
              <a:rPr lang="zh-CN" altLang="en-US" b="1" dirty="0"/>
              <a:t>   （</a:t>
            </a:r>
            <a:r>
              <a:rPr lang="en-US" altLang="zh-CN" b="1" dirty="0"/>
              <a:t>3</a:t>
            </a:r>
            <a:r>
              <a:rPr lang="zh-CN" altLang="en-US" b="1" dirty="0"/>
              <a:t>）二进制和多进制码元传输速率及信息传输速率的计算。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716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信号与噪声</a:t>
            </a:r>
            <a:endParaRPr lang="zh-CN" altLang="en-US" dirty="0"/>
          </a:p>
        </p:txBody>
      </p:sp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、白噪声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 （</a:t>
            </a:r>
            <a:r>
              <a:rPr lang="en-US" altLang="zh-CN" b="1" dirty="0"/>
              <a:t>1</a:t>
            </a:r>
            <a:r>
              <a:rPr lang="zh-CN" altLang="en-US" b="1" dirty="0"/>
              <a:t>）白噪声的概念及特点；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 （</a:t>
            </a:r>
            <a:r>
              <a:rPr lang="en-US" altLang="zh-CN" b="1" dirty="0"/>
              <a:t>2</a:t>
            </a:r>
            <a:r>
              <a:rPr lang="zh-CN" altLang="en-US" b="1" dirty="0"/>
              <a:t>）白噪声功率谱。</a:t>
            </a:r>
            <a:endParaRPr lang="zh-CN" altLang="en-US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、窄带噪声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 （</a:t>
            </a:r>
            <a:r>
              <a:rPr lang="en-US" altLang="zh-CN" b="1" dirty="0"/>
              <a:t>1</a:t>
            </a:r>
            <a:r>
              <a:rPr lang="zh-CN" altLang="en-US" b="1" dirty="0"/>
              <a:t>）窄带系统概念；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 （</a:t>
            </a:r>
            <a:r>
              <a:rPr lang="en-US" altLang="zh-CN" b="1" dirty="0"/>
              <a:t>2</a:t>
            </a:r>
            <a:r>
              <a:rPr lang="zh-CN" altLang="en-US" b="1" dirty="0"/>
              <a:t>）窄带高斯噪声的分解及性质。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716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信道与噪声</a:t>
            </a:r>
            <a:endParaRPr lang="zh-CN" altLang="en-US" dirty="0"/>
          </a:p>
        </p:txBody>
      </p:sp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838200" y="2362200"/>
            <a:ext cx="7693025" cy="4130675"/>
          </a:xfrm>
        </p:spPr>
        <p:txBody>
          <a:bodyPr/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、理想恒参信道特性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 无失真传输信道的传输特性；    </a:t>
            </a:r>
            <a:endParaRPr lang="zh-CN" altLang="en-US" b="1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b="1" dirty="0"/>
              <a:t>2</a:t>
            </a:r>
            <a:r>
              <a:rPr lang="zh-CN" altLang="en-US" b="1" dirty="0"/>
              <a:t>、随参信道及其传输特性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 （</a:t>
            </a:r>
            <a:r>
              <a:rPr lang="en-US" altLang="zh-CN" b="1" dirty="0"/>
              <a:t>1</a:t>
            </a:r>
            <a:r>
              <a:rPr lang="zh-CN" altLang="en-US" b="1" dirty="0"/>
              <a:t>）多径衰落与频率弥散；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 （</a:t>
            </a:r>
            <a:r>
              <a:rPr lang="en-US" altLang="zh-CN" b="1" dirty="0"/>
              <a:t>2</a:t>
            </a:r>
            <a:r>
              <a:rPr lang="zh-CN" altLang="en-US" b="1" dirty="0"/>
              <a:t>）频率选择性衰落与相关带宽。</a:t>
            </a:r>
            <a:endParaRPr lang="zh-CN" altLang="en-US" b="1" dirty="0"/>
          </a:p>
          <a:p>
            <a:r>
              <a:rPr lang="en-US" altLang="zh-CN" b="1" dirty="0">
                <a:sym typeface="+mn-ea"/>
              </a:rPr>
              <a:t>3</a:t>
            </a:r>
            <a:r>
              <a:rPr lang="zh-CN" altLang="en-US" b="1" dirty="0">
                <a:sym typeface="+mn-ea"/>
              </a:rPr>
              <a:t>、信道容量</a:t>
            </a:r>
            <a:endParaRPr lang="zh-CN" altLang="en-US" b="1" dirty="0">
              <a:sym typeface="+mn-ea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sym typeface="+mn-ea"/>
              </a:rPr>
              <a:t>      香农公式</a:t>
            </a:r>
            <a:endParaRPr lang="zh-CN" altLang="en-US" b="1" dirty="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 模拟调制系统</a:t>
            </a:r>
            <a:endParaRPr lang="zh-CN" altLang="en-US" dirty="0"/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762000" y="2362200"/>
            <a:ext cx="7769225" cy="3962400"/>
          </a:xfrm>
        </p:spPr>
        <p:txBody>
          <a:bodyPr/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、调制的概念、目的和作用。</a:t>
            </a:r>
            <a:endParaRPr lang="zh-CN" altLang="en-US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、标准调幅</a:t>
            </a:r>
            <a:r>
              <a:rPr lang="en-US" altLang="zh-CN" b="1" dirty="0"/>
              <a:t>AM</a:t>
            </a:r>
            <a:r>
              <a:rPr lang="zh-CN" altLang="en-US" b="1" dirty="0"/>
              <a:t>的波形及频谱计算。</a:t>
            </a:r>
            <a:endParaRPr lang="zh-CN" altLang="en-US" b="1" dirty="0"/>
          </a:p>
          <a:p>
            <a:r>
              <a:rPr lang="en-US" altLang="zh-CN" b="1" dirty="0"/>
              <a:t>3</a:t>
            </a:r>
            <a:r>
              <a:rPr lang="zh-CN" altLang="en-US" b="1" dirty="0"/>
              <a:t>、抑制载波双边带调制（</a:t>
            </a:r>
            <a:r>
              <a:rPr lang="en-US" altLang="zh-CN" b="1" dirty="0"/>
              <a:t>DSB-SC</a:t>
            </a:r>
            <a:r>
              <a:rPr lang="zh-CN" altLang="en-US" b="1" dirty="0"/>
              <a:t>）的波形及频谱计算。</a:t>
            </a:r>
            <a:endParaRPr lang="zh-CN" altLang="en-US" b="1"/>
          </a:p>
          <a:p>
            <a:r>
              <a:rPr lang="en-US" altLang="zh-CN" b="1" dirty="0"/>
              <a:t>4</a:t>
            </a:r>
            <a:r>
              <a:rPr lang="zh-CN" altLang="en-US" b="1" dirty="0"/>
              <a:t>、单边带调制</a:t>
            </a:r>
            <a:r>
              <a:rPr lang="en-US" altLang="zh-CN" b="1" dirty="0"/>
              <a:t>(SSB)</a:t>
            </a:r>
            <a:r>
              <a:rPr lang="zh-CN" altLang="en-US" b="1" dirty="0"/>
              <a:t>的波形及频谱计算。</a:t>
            </a:r>
            <a:endParaRPr lang="zh-CN" altLang="en-US" b="1" dirty="0"/>
          </a:p>
          <a:p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DSB</a:t>
            </a:r>
            <a:r>
              <a:rPr lang="zh-CN" altLang="en-US" b="1" dirty="0"/>
              <a:t>信号相干解调的抗噪声性能计算。</a:t>
            </a:r>
            <a:endParaRPr lang="zh-CN" altLang="en-US" b="1" dirty="0"/>
          </a:p>
          <a:p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SSB</a:t>
            </a:r>
            <a:r>
              <a:rPr lang="zh-CN" altLang="en-US" b="1" dirty="0"/>
              <a:t>信号相干解调的抗噪声性能</a:t>
            </a:r>
            <a:r>
              <a:rPr lang="zh-CN" altLang="en-US" b="1" dirty="0">
                <a:sym typeface="+mn-ea"/>
              </a:rPr>
              <a:t>计算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文本占位符 92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7</a:t>
            </a:r>
            <a:r>
              <a:rPr lang="zh-CN" altLang="en-US" b="1" dirty="0"/>
              <a:t>、调相信号</a:t>
            </a:r>
            <a:r>
              <a:rPr lang="en-US" altLang="zh-CN" b="1" dirty="0"/>
              <a:t>PM</a:t>
            </a:r>
            <a:r>
              <a:rPr lang="zh-CN" altLang="en-US" b="1" dirty="0"/>
              <a:t>相关计算：调制信号、调相波表达式、调制常数、最大频偏和频带宽度。</a:t>
            </a:r>
            <a:endParaRPr lang="zh-CN" altLang="en-US" b="1" dirty="0"/>
          </a:p>
          <a:p>
            <a:r>
              <a:rPr lang="en-US" altLang="zh-CN" b="1" dirty="0"/>
              <a:t>8</a:t>
            </a:r>
            <a:r>
              <a:rPr lang="zh-CN" altLang="en-US" b="1" dirty="0"/>
              <a:t>、调频信号</a:t>
            </a:r>
            <a:r>
              <a:rPr lang="en-US" altLang="zh-CN" b="1" dirty="0"/>
              <a:t>FM</a:t>
            </a:r>
            <a:r>
              <a:rPr lang="zh-CN" altLang="en-US" b="1" dirty="0"/>
              <a:t>相关计算：调制信号、调相波表达式、调制常数、最大频偏和频带宽度。</a:t>
            </a:r>
            <a:endParaRPr lang="zh-CN" altLang="en-US" b="1" dirty="0"/>
          </a:p>
        </p:txBody>
      </p:sp>
      <p:sp>
        <p:nvSpPr>
          <p:cNvPr id="9220" name="标题 921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 模拟调制系统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章 </a:t>
            </a:r>
            <a:r>
              <a:rPr lang="zh-CN" altLang="en-US" dirty="0">
                <a:sym typeface="+mn-ea"/>
              </a:rPr>
              <a:t>数字</a:t>
            </a:r>
            <a:r>
              <a:rPr lang="zh-CN" altLang="en-US" dirty="0"/>
              <a:t>基带传输系统</a:t>
            </a:r>
            <a:endParaRPr lang="zh-CN" altLang="en-US" dirty="0"/>
          </a:p>
        </p:txBody>
      </p:sp>
      <p:sp>
        <p:nvSpPr>
          <p:cNvPr id="11267" name="文本占位符 112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、数字基带信号</a:t>
            </a:r>
            <a:endParaRPr lang="zh-CN" altLang="en-US" b="1" dirty="0"/>
          </a:p>
          <a:p>
            <a:pPr marL="0" indent="0">
              <a:buNone/>
            </a:pPr>
            <a:r>
              <a:rPr lang="zh-CN" altLang="en-US" b="1" dirty="0"/>
              <a:t>   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zh-CN" altLang="en-US" b="1" dirty="0">
                <a:sym typeface="+mn-ea"/>
              </a:rPr>
              <a:t>数字基带传输系统模型框图</a:t>
            </a:r>
            <a:r>
              <a:rPr lang="zh-CN" altLang="en-US" b="1" dirty="0"/>
              <a:t>；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zh-CN" altLang="en-US" b="1" dirty="0">
                <a:sym typeface="+mn-ea"/>
              </a:rPr>
              <a:t>常用基带信号波形（单极性、双极性、</a:t>
            </a:r>
            <a:r>
              <a:rPr lang="en-US" altLang="zh-CN" b="1" dirty="0">
                <a:sym typeface="+mn-ea"/>
              </a:rPr>
              <a:t>NRZ</a:t>
            </a:r>
            <a:r>
              <a:rPr lang="zh-CN" altLang="en-US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RZ</a:t>
            </a:r>
            <a:r>
              <a:rPr lang="zh-CN" altLang="en-US" b="1" dirty="0">
                <a:sym typeface="+mn-ea"/>
              </a:rPr>
              <a:t>、差分</a:t>
            </a:r>
            <a:r>
              <a:rPr lang="zh-CN" altLang="en-US" b="1" dirty="0">
                <a:sym typeface="+mn-ea"/>
              </a:rPr>
              <a:t>码）；</a:t>
            </a:r>
            <a:endParaRPr lang="zh-CN" altLang="en-US" b="1" dirty="0">
              <a:sym typeface="+mn-ea"/>
            </a:endParaRPr>
          </a:p>
          <a:p>
            <a:pPr>
              <a:buNone/>
            </a:pPr>
            <a:r>
              <a:rPr lang="zh-CN" altLang="en-US" b="1" dirty="0">
                <a:sym typeface="+mn-ea"/>
              </a:rPr>
              <a:t>   （</a:t>
            </a:r>
            <a:r>
              <a:rPr lang="en-US" altLang="zh-CN" b="1" dirty="0">
                <a:sym typeface="+mn-ea"/>
              </a:rPr>
              <a:t>3</a:t>
            </a:r>
            <a:r>
              <a:rPr lang="zh-CN" altLang="en-US" b="1" dirty="0">
                <a:sym typeface="+mn-ea"/>
              </a:rPr>
              <a:t>）基带信号的频谱特性。</a:t>
            </a:r>
            <a:endParaRPr lang="zh-CN" altLang="en-US" b="1" dirty="0">
              <a:sym typeface="+mn-ea"/>
            </a:endParaRPr>
          </a:p>
          <a:p>
            <a:r>
              <a:rPr lang="en-US" altLang="zh-CN" b="1" dirty="0"/>
              <a:t>2</a:t>
            </a:r>
            <a:r>
              <a:rPr lang="zh-CN" altLang="en-US" b="1" dirty="0"/>
              <a:t>、基带传输的常用码型（</a:t>
            </a:r>
            <a:r>
              <a:rPr lang="en-US" altLang="zh-CN" b="1" dirty="0">
                <a:sym typeface="+mn-ea"/>
              </a:rPr>
              <a:t>AMI</a:t>
            </a:r>
            <a:r>
              <a:rPr lang="zh-CN" altLang="en-US" b="1" dirty="0">
                <a:sym typeface="+mn-ea"/>
              </a:rPr>
              <a:t>码、</a:t>
            </a:r>
            <a:r>
              <a:rPr lang="en-US" altLang="zh-CN" b="1" dirty="0">
                <a:sym typeface="+mn-ea"/>
              </a:rPr>
              <a:t>HDB3</a:t>
            </a:r>
            <a:r>
              <a:rPr lang="zh-CN" altLang="en-US" b="1" dirty="0">
                <a:sym typeface="+mn-ea"/>
              </a:rPr>
              <a:t>码、曼彻斯特码、差分曼彻斯特码</a:t>
            </a:r>
            <a:r>
              <a:rPr lang="en-US" altLang="zh-CN" b="1" dirty="0">
                <a:sym typeface="+mn-ea"/>
              </a:rPr>
              <a:t>)</a:t>
            </a:r>
            <a:endParaRPr lang="zh-CN" altLang="en-US" b="1" dirty="0"/>
          </a:p>
          <a:p>
            <a:endParaRPr lang="zh-CN" alt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章 </a:t>
            </a:r>
            <a:r>
              <a:rPr lang="zh-CN" altLang="en-US" dirty="0">
                <a:sym typeface="+mn-ea"/>
              </a:rPr>
              <a:t>数字</a:t>
            </a:r>
            <a:r>
              <a:rPr lang="zh-CN" altLang="en-US" dirty="0"/>
              <a:t>基带传输系统</a:t>
            </a:r>
            <a:endParaRPr lang="zh-CN" altLang="en-US" dirty="0"/>
          </a:p>
        </p:txBody>
      </p:sp>
      <p:sp>
        <p:nvSpPr>
          <p:cNvPr id="11267" name="文本占位符 112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dirty="0" smtClean="0">
                <a:sym typeface="+mn-ea"/>
              </a:rPr>
              <a:t>3、无码间串扰的基带传输特性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>
                <a:sym typeface="+mn-ea"/>
              </a:rPr>
              <a:t>（</a:t>
            </a:r>
            <a:r>
              <a:rPr lang="en-US" altLang="zh-CN" b="1" dirty="0" smtClean="0">
                <a:sym typeface="+mn-ea"/>
              </a:rPr>
              <a:t>1</a:t>
            </a:r>
            <a:r>
              <a:rPr lang="zh-CN" altLang="en-US" b="1" dirty="0" smtClean="0">
                <a:sym typeface="+mn-ea"/>
              </a:rPr>
              <a:t>）什么是码间串扰；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>
                <a:sym typeface="+mn-ea"/>
              </a:rPr>
              <a:t>（</a:t>
            </a:r>
            <a:r>
              <a:rPr lang="en-US" altLang="zh-CN" b="1" dirty="0" smtClean="0">
                <a:sym typeface="+mn-ea"/>
              </a:rPr>
              <a:t>2</a:t>
            </a:r>
            <a:r>
              <a:rPr lang="zh-CN" altLang="en-US" b="1" dirty="0" smtClean="0">
                <a:sym typeface="+mn-ea"/>
              </a:rPr>
              <a:t>）系统无码间串扰的时域条件和频域</a:t>
            </a:r>
            <a:r>
              <a:rPr lang="zh-CN" altLang="en-US" b="1" dirty="0" smtClean="0">
                <a:sym typeface="+mn-ea"/>
              </a:rPr>
              <a:t>条件；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>
                <a:sym typeface="+mn-ea"/>
              </a:rPr>
              <a:t>（</a:t>
            </a:r>
            <a:r>
              <a:rPr lang="en-US" altLang="zh-CN" b="1" dirty="0">
                <a:sym typeface="+mn-ea"/>
              </a:rPr>
              <a:t>3</a:t>
            </a:r>
            <a:r>
              <a:rPr lang="zh-CN" altLang="en-US" b="1" dirty="0" smtClean="0">
                <a:sym typeface="+mn-ea"/>
              </a:rPr>
              <a:t>）奈奎斯特带宽和奈奎期特</a:t>
            </a:r>
            <a:r>
              <a:rPr lang="zh-CN" altLang="en-US" b="1" dirty="0" smtClean="0">
                <a:sym typeface="+mn-ea"/>
              </a:rPr>
              <a:t>速率；</a:t>
            </a:r>
            <a:endParaRPr lang="en-US" altLang="zh-CN" b="1" dirty="0" smtClean="0">
              <a:sym typeface="+mn-ea"/>
            </a:endParaRPr>
          </a:p>
          <a:p>
            <a:pPr>
              <a:buNone/>
            </a:pPr>
            <a:r>
              <a:rPr lang="zh-CN" altLang="en-US" b="1" dirty="0" smtClean="0">
                <a:sym typeface="+mn-ea"/>
              </a:rPr>
              <a:t>（</a:t>
            </a:r>
            <a:r>
              <a:rPr lang="en-US" altLang="zh-CN" b="1" dirty="0" smtClean="0">
                <a:sym typeface="+mn-ea"/>
              </a:rPr>
              <a:t>4</a:t>
            </a:r>
            <a:r>
              <a:rPr lang="zh-CN" altLang="en-US" b="1" dirty="0" smtClean="0">
                <a:sym typeface="+mn-ea"/>
              </a:rPr>
              <a:t>）</a:t>
            </a:r>
            <a:r>
              <a:rPr lang="zh-CN" altLang="en-US" b="1" dirty="0" smtClean="0"/>
              <a:t>无码间串扰的基带传输</a:t>
            </a:r>
            <a:r>
              <a:rPr lang="zh-CN" altLang="en-US" b="1" dirty="0" smtClean="0"/>
              <a:t>系统。</a:t>
            </a:r>
            <a:endParaRPr lang="zh-CN" altLang="en-US" b="1" dirty="0">
              <a:sym typeface="+mn-ea"/>
            </a:endParaRPr>
          </a:p>
          <a:p>
            <a:r>
              <a:rPr lang="en-US" altLang="zh-CN" b="1" dirty="0" smtClean="0"/>
              <a:t>4</a:t>
            </a:r>
            <a:r>
              <a:rPr lang="zh-CN" altLang="en-US" b="1" smtClean="0"/>
              <a:t>、眼图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模拟信号的数字传输</a:t>
            </a:r>
            <a:endParaRPr lang="zh-CN" altLang="en-US" dirty="0"/>
          </a:p>
        </p:txBody>
      </p:sp>
      <p:sp>
        <p:nvSpPr>
          <p:cNvPr id="11267" name="文本占位符 11266"/>
          <p:cNvSpPr>
            <a:spLocks noGrp="1"/>
          </p:cNvSpPr>
          <p:nvPr>
            <p:ph type="body" idx="1"/>
          </p:nvPr>
        </p:nvSpPr>
        <p:spPr>
          <a:xfrm>
            <a:off x="838200" y="2362200"/>
            <a:ext cx="7693025" cy="4026535"/>
          </a:xfrm>
        </p:spPr>
        <p:txBody>
          <a:bodyPr/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、低通信号的抽样定理。</a:t>
            </a:r>
            <a:endParaRPr lang="zh-CN" altLang="en-US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、带通抽样定理。</a:t>
            </a:r>
            <a:endParaRPr lang="zh-CN" altLang="en-US" b="1" dirty="0"/>
          </a:p>
          <a:p>
            <a:r>
              <a:rPr lang="en-US" altLang="zh-CN" b="1" dirty="0"/>
              <a:t>3</a:t>
            </a:r>
            <a:r>
              <a:rPr lang="zh-CN" altLang="en-US" b="1" dirty="0"/>
              <a:t>、量化的概念及分类。</a:t>
            </a:r>
            <a:endParaRPr lang="zh-CN" altLang="en-US" b="1" dirty="0"/>
          </a:p>
          <a:p>
            <a:r>
              <a:rPr lang="en-US" altLang="zh-CN" b="1" dirty="0"/>
              <a:t>4</a:t>
            </a:r>
            <a:r>
              <a:rPr lang="zh-CN" altLang="en-US" b="1" dirty="0"/>
              <a:t>、均匀量化计算：量化电平数、量化间隔和编码。</a:t>
            </a:r>
            <a:endParaRPr lang="zh-CN" altLang="en-US" b="1" dirty="0"/>
          </a:p>
          <a:p>
            <a:r>
              <a:rPr lang="en-US" altLang="zh-CN" b="1" dirty="0">
                <a:sym typeface="+mn-ea"/>
              </a:rPr>
              <a:t>5</a:t>
            </a:r>
            <a:r>
              <a:rPr lang="zh-CN" altLang="en-US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A</a:t>
            </a:r>
            <a:r>
              <a:rPr lang="zh-CN" altLang="en-US" b="1" dirty="0">
                <a:sym typeface="+mn-ea"/>
              </a:rPr>
              <a:t>律</a:t>
            </a:r>
            <a:r>
              <a:rPr lang="en-US" altLang="zh-CN" b="1" dirty="0">
                <a:sym typeface="+mn-ea"/>
              </a:rPr>
              <a:t>13</a:t>
            </a:r>
            <a:r>
              <a:rPr lang="zh-CN" altLang="en-US" b="1" dirty="0">
                <a:sym typeface="+mn-ea"/>
              </a:rPr>
              <a:t>折线</a:t>
            </a:r>
            <a:r>
              <a:rPr lang="en-US" altLang="zh-CN" b="1" dirty="0">
                <a:sym typeface="+mn-ea"/>
              </a:rPr>
              <a:t>PCM</a:t>
            </a:r>
            <a:r>
              <a:rPr lang="zh-CN" altLang="en-US" b="1" dirty="0">
                <a:sym typeface="+mn-ea"/>
              </a:rPr>
              <a:t>编码规则、编码计算、量化误差、译码；</a:t>
            </a:r>
            <a:r>
              <a:rPr lang="en-US" altLang="zh-CN" b="1" dirty="0">
                <a:sym typeface="+mn-ea"/>
              </a:rPr>
              <a:t>PCM</a:t>
            </a:r>
            <a:r>
              <a:rPr lang="zh-CN" altLang="en-US" b="1" dirty="0">
                <a:sym typeface="+mn-ea"/>
              </a:rPr>
              <a:t>单路信号的信息传输速率及所需</a:t>
            </a:r>
            <a:r>
              <a:rPr lang="zh-CN" altLang="en-US" b="1" dirty="0">
                <a:sym typeface="+mn-ea"/>
              </a:rPr>
              <a:t>最小带宽</a:t>
            </a:r>
            <a:r>
              <a:rPr lang="zh-CN" altLang="en-US" b="1" dirty="0">
                <a:sym typeface="+mn-ea"/>
              </a:rPr>
              <a:t>计算。</a:t>
            </a:r>
            <a:r>
              <a:rPr lang="zh-CN" altLang="en-US" b="1" dirty="0"/>
              <a:t>   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740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数字频带传输系统</a:t>
            </a:r>
            <a:endParaRPr lang="zh-CN" altLang="en-US" dirty="0"/>
          </a:p>
        </p:txBody>
      </p:sp>
      <p:sp>
        <p:nvSpPr>
          <p:cNvPr id="17411" name="文本占位符 17410"/>
          <p:cNvSpPr>
            <a:spLocks noGrp="1"/>
          </p:cNvSpPr>
          <p:nvPr>
            <p:ph type="body" idx="1"/>
          </p:nvPr>
        </p:nvSpPr>
        <p:spPr>
          <a:xfrm>
            <a:off x="838200" y="2362200"/>
            <a:ext cx="7693025" cy="40005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2ASK</a:t>
            </a:r>
            <a:r>
              <a:rPr lang="zh-CN" altLang="en-US" b="1" dirty="0">
                <a:sym typeface="+mn-ea"/>
              </a:rPr>
              <a:t>信号的调制及解调原理框图，</a:t>
            </a:r>
            <a:r>
              <a:rPr lang="zh-CN" altLang="en-US" b="1" dirty="0"/>
              <a:t>信号的波形，信号功率谱及信号带宽计算。</a:t>
            </a: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2FSK</a:t>
            </a:r>
            <a:r>
              <a:rPr lang="zh-CN" altLang="en-US" b="1" dirty="0">
                <a:sym typeface="+mn-ea"/>
              </a:rPr>
              <a:t>信号的调制及解调原理框图，</a:t>
            </a:r>
            <a:r>
              <a:rPr lang="zh-CN" altLang="en-US" b="1" dirty="0"/>
              <a:t>信号的波形，信号功率谱及信号带宽计算。</a:t>
            </a:r>
            <a:endParaRPr lang="zh-CN" altLang="en-US" b="1"/>
          </a:p>
          <a:p>
            <a:pPr>
              <a:lnSpc>
                <a:spcPct val="90000"/>
              </a:lnSpc>
            </a:pP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2PSK</a:t>
            </a:r>
            <a:r>
              <a:rPr lang="zh-CN" altLang="en-US" b="1" dirty="0">
                <a:sym typeface="+mn-ea"/>
              </a:rPr>
              <a:t>信号的调制及解调原理框图，</a:t>
            </a:r>
            <a:r>
              <a:rPr lang="zh-CN" altLang="en-US" b="1" dirty="0"/>
              <a:t>信号的波形，信号功率谱及信号带宽计算。</a:t>
            </a:r>
            <a:endParaRPr lang="zh-CN" altLang="en-US" b="1"/>
          </a:p>
          <a:p>
            <a:pPr>
              <a:lnSpc>
                <a:spcPct val="90000"/>
              </a:lnSpc>
            </a:pPr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/>
              <a:t>2DPSK</a:t>
            </a:r>
            <a:r>
              <a:rPr lang="zh-CN" altLang="en-US" b="1" dirty="0"/>
              <a:t>信号的调制及解调原理框图，信号波形、信号功率谱及信号带宽计算。</a:t>
            </a: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en-US" altLang="zh-CN" b="1"/>
              <a:t>5</a:t>
            </a:r>
            <a:r>
              <a:rPr lang="zh-CN" altLang="en-US" b="1"/>
              <a:t>、抗噪声性能分析（公式及</a:t>
            </a:r>
            <a:r>
              <a:rPr lang="zh-CN" altLang="en-US" b="1"/>
              <a:t>计算）。</a:t>
            </a:r>
            <a:endParaRPr lang="zh-CN" altLang="en-US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843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数字信号的最佳接收</a:t>
            </a:r>
            <a:endParaRPr lang="zh-CN" altLang="en-US" dirty="0"/>
          </a:p>
        </p:txBody>
      </p:sp>
      <p:sp>
        <p:nvSpPr>
          <p:cNvPr id="18435" name="文本占位符 18434"/>
          <p:cNvSpPr>
            <a:spLocks noGrp="1"/>
          </p:cNvSpPr>
          <p:nvPr>
            <p:ph type="body" idx="1"/>
          </p:nvPr>
        </p:nvSpPr>
        <p:spPr>
          <a:xfrm>
            <a:off x="877570" y="2362200"/>
            <a:ext cx="7693025" cy="4371340"/>
          </a:xfrm>
        </p:spPr>
        <p:txBody>
          <a:bodyPr/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、最小差错概率准则（似然比准则、最大</a:t>
            </a:r>
            <a:r>
              <a:rPr lang="zh-CN" altLang="en-US" b="1" dirty="0">
                <a:sym typeface="+mn-ea"/>
              </a:rPr>
              <a:t>似然比准则</a:t>
            </a:r>
            <a:r>
              <a:rPr lang="zh-CN" altLang="en-US" b="1" dirty="0"/>
              <a:t>）。</a:t>
            </a:r>
            <a:endParaRPr lang="zh-CN" altLang="en-US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b="1" dirty="0"/>
              <a:t>相关器</a:t>
            </a:r>
            <a:r>
              <a:rPr lang="zh-CN" b="1" dirty="0"/>
              <a:t>形式的最佳接收机结构框</a:t>
            </a:r>
            <a:r>
              <a:rPr lang="zh-CN" b="1" dirty="0"/>
              <a:t>图。</a:t>
            </a:r>
            <a:endParaRPr b="1" dirty="0"/>
          </a:p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b="1" dirty="0"/>
              <a:t>最大输出信噪比准则</a:t>
            </a:r>
            <a:endParaRPr b="1" dirty="0"/>
          </a:p>
          <a:p>
            <a:pPr marL="0" indent="0">
              <a:buNone/>
            </a:pPr>
            <a:r>
              <a:rPr b="1" dirty="0"/>
              <a:t>        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传输函数</a:t>
            </a:r>
            <a:r>
              <a:rPr lang="en-US" altLang="zh-CN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H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ω)</a:t>
            </a:r>
            <a:r>
              <a:rPr lang="zh-CN" altLang="en-US" b="1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最大输出信噪比</a:t>
            </a:r>
            <a:r>
              <a:rPr lang="en-US" altLang="zh-CN" b="1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r</a:t>
            </a:r>
            <a:r>
              <a:rPr lang="en-US" altLang="zh-CN" b="1" baseline="-25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、冲激响应</a:t>
            </a:r>
            <a:r>
              <a:rPr lang="en-US" altLang="zh-CN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h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)</a:t>
            </a:r>
            <a:r>
              <a:rPr lang="en-US" altLang="zh-CN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判决时刻点</a:t>
            </a:r>
            <a:r>
              <a:rPr lang="en-US" altLang="zh-CN" b="1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t</a:t>
            </a:r>
            <a:r>
              <a:rPr lang="en-US" altLang="zh-CN" b="1" baseline="-25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、输出信号</a:t>
            </a:r>
            <a:r>
              <a:rPr lang="en-US" altLang="zh-CN" b="1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s</a:t>
            </a:r>
            <a:r>
              <a:rPr lang="en-US" altLang="zh-CN" b="1" baseline="-25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o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。</a:t>
            </a:r>
            <a:endParaRPr b="1" dirty="0">
              <a:solidFill>
                <a:schemeClr val="tx1"/>
              </a:solidFill>
              <a:effectLst/>
            </a:endParaRPr>
          </a:p>
          <a:p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zh-CN" b="1" dirty="0">
                <a:sym typeface="+mn-ea"/>
              </a:rPr>
              <a:t>匹配滤波器形式的最佳接收机</a:t>
            </a:r>
            <a:r>
              <a:rPr lang="zh-CN" b="1" dirty="0">
                <a:sym typeface="+mn-ea"/>
              </a:rPr>
              <a:t>结构框图</a:t>
            </a:r>
            <a:r>
              <a:rPr lang="zh-CN" b="1" dirty="0">
                <a:sym typeface="+mn-ea"/>
              </a:rPr>
              <a:t>。</a:t>
            </a:r>
            <a:endParaRPr lang="zh-CN" b="1" dirty="0">
              <a:sym typeface="+mn-ea"/>
            </a:endParaRPr>
          </a:p>
          <a:p>
            <a:r>
              <a:rPr lang="en-US" altLang="zh-CN" b="1" dirty="0">
                <a:sym typeface="+mn-ea"/>
              </a:rPr>
              <a:t>5</a:t>
            </a:r>
            <a:r>
              <a:rPr lang="zh-CN" altLang="en-US" b="1" dirty="0">
                <a:sym typeface="+mn-ea"/>
              </a:rPr>
              <a:t>、</a:t>
            </a:r>
            <a:r>
              <a:rPr lang="zh-CN" altLang="en-US" b="1">
                <a:sym typeface="+mn-ea"/>
              </a:rPr>
              <a:t>抗噪声性能分析（公式及计算），与实际接收做</a:t>
            </a:r>
            <a:r>
              <a:rPr lang="zh-CN" altLang="en-US" b="1">
                <a:sym typeface="+mn-ea"/>
              </a:rPr>
              <a:t>比较。</a:t>
            </a:r>
            <a:endParaRPr lang="zh-CN" altLang="en-US" b="1" dirty="0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843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10</a:t>
            </a:r>
            <a:r>
              <a:rPr lang="zh-CN" altLang="en-US" dirty="0"/>
              <a:t>章 复用和数字复接技术</a:t>
            </a:r>
            <a:endParaRPr lang="zh-CN" altLang="en-US" dirty="0"/>
          </a:p>
        </p:txBody>
      </p:sp>
      <p:sp>
        <p:nvSpPr>
          <p:cNvPr id="18435" name="文本占位符 18434"/>
          <p:cNvSpPr>
            <a:spLocks noGrp="1"/>
          </p:cNvSpPr>
          <p:nvPr>
            <p:ph type="body" idx="1"/>
          </p:nvPr>
        </p:nvSpPr>
        <p:spPr>
          <a:xfrm>
            <a:off x="877570" y="2362200"/>
            <a:ext cx="7693025" cy="3724275"/>
          </a:xfrm>
        </p:spPr>
        <p:txBody>
          <a:bodyPr/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FDM</a:t>
            </a:r>
            <a:r>
              <a:rPr lang="zh-CN" altLang="en-US" b="1" dirty="0"/>
              <a:t>，复用后的带宽</a:t>
            </a:r>
            <a:r>
              <a:rPr lang="zh-CN" altLang="en-US" b="1" dirty="0"/>
              <a:t>计算。</a:t>
            </a:r>
            <a:endParaRPr lang="zh-CN" altLang="en-US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TDM</a:t>
            </a:r>
            <a:r>
              <a:rPr lang="zh-CN" altLang="en-US" b="1" dirty="0"/>
              <a:t>，复用后的</a:t>
            </a:r>
            <a:r>
              <a:rPr lang="zh-CN" altLang="en-US" b="1" dirty="0">
                <a:sym typeface="+mn-ea"/>
              </a:rPr>
              <a:t>信息传输速率</a:t>
            </a:r>
            <a:r>
              <a:rPr lang="zh-CN" altLang="en-US" b="1" dirty="0">
                <a:sym typeface="+mn-ea"/>
              </a:rPr>
              <a:t>及带宽</a:t>
            </a:r>
            <a:endParaRPr lang="zh-CN" altLang="en-US" b="1" dirty="0">
              <a:sym typeface="+mn-ea"/>
            </a:endParaRPr>
          </a:p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CDM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b="1" dirty="0"/>
              <a:t>数字复接技术</a:t>
            </a:r>
            <a:r>
              <a:rPr lang="zh-CN" b="1" dirty="0"/>
              <a:t>（</a:t>
            </a:r>
            <a:r>
              <a:rPr lang="en-US" altLang="zh-CN" b="1" dirty="0"/>
              <a:t>PDH</a:t>
            </a:r>
            <a:r>
              <a:rPr lang="zh-CN" altLang="en-US" b="1" dirty="0"/>
              <a:t>、</a:t>
            </a:r>
            <a:r>
              <a:rPr lang="en-US" altLang="zh-CN" b="1" dirty="0"/>
              <a:t>SDH</a:t>
            </a:r>
            <a:r>
              <a:rPr lang="zh-CN" altLang="en-US" b="1" dirty="0"/>
              <a:t>）。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843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第</a:t>
            </a:r>
            <a:r>
              <a:rPr lang="en-US" altLang="zh-CN" dirty="0"/>
              <a:t>11</a:t>
            </a:r>
            <a:r>
              <a:rPr lang="zh-CN" altLang="en-US" dirty="0"/>
              <a:t>章 同步原理</a:t>
            </a:r>
            <a:endParaRPr lang="zh-CN" altLang="en-US" dirty="0"/>
          </a:p>
        </p:txBody>
      </p:sp>
      <p:sp>
        <p:nvSpPr>
          <p:cNvPr id="18435" name="文本占位符 18434"/>
          <p:cNvSpPr>
            <a:spLocks noGrp="1"/>
          </p:cNvSpPr>
          <p:nvPr>
            <p:ph type="body" idx="1"/>
          </p:nvPr>
        </p:nvSpPr>
        <p:spPr>
          <a:xfrm>
            <a:off x="877570" y="2362200"/>
            <a:ext cx="7693025" cy="4495165"/>
          </a:xfrm>
        </p:spPr>
        <p:txBody>
          <a:bodyPr/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载波同步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marL="0" indent="0">
              <a:buNone/>
            </a:pPr>
            <a:r>
              <a:rPr lang="zh-CN" altLang="en-US" b="1" dirty="0"/>
              <a:t>    直接法（自同步法）、插入导频法（外同步法）</a:t>
            </a:r>
            <a:endParaRPr lang="zh-CN" altLang="en-US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位同步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marL="0" indent="0">
              <a:buNone/>
            </a:pPr>
            <a:r>
              <a:rPr lang="en-US" altLang="zh-CN" b="1" dirty="0"/>
              <a:t>       </a:t>
            </a:r>
            <a:r>
              <a:rPr lang="zh-CN" altLang="en-US" b="1" dirty="0">
                <a:sym typeface="+mn-ea"/>
              </a:rPr>
              <a:t>直接法（自同步法）、插入导频法（外同步法）</a:t>
            </a:r>
            <a:endParaRPr lang="zh-CN" altLang="en-US" b="1" dirty="0"/>
          </a:p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zh-CN" b="1" dirty="0"/>
              <a:t>群</a:t>
            </a:r>
            <a:r>
              <a:rPr b="1" dirty="0"/>
              <a:t>同步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marL="0" indent="0">
              <a:buNone/>
            </a:pPr>
            <a:r>
              <a:rPr lang="en-US" altLang="zh-CN" b="1" dirty="0">
                <a:sym typeface="+mn-ea"/>
              </a:rPr>
              <a:t>    </a:t>
            </a:r>
            <a:r>
              <a:rPr lang="zh-CN" altLang="en-US" b="1" dirty="0">
                <a:sym typeface="+mn-ea"/>
              </a:rPr>
              <a:t>连贯式插入法和间隔式插入法</a:t>
            </a:r>
            <a:endParaRPr lang="zh-CN" altLang="en-US" b="1" dirty="0"/>
          </a:p>
          <a:p>
            <a:r>
              <a:rPr lang="en-US" altLang="zh-CN" b="1" dirty="0"/>
              <a:t>4</a:t>
            </a:r>
            <a:r>
              <a:rPr lang="zh-CN" altLang="en-US" b="1" dirty="0"/>
              <a:t>、网同</a:t>
            </a:r>
            <a:r>
              <a:rPr lang="zh-CN" altLang="en-US" b="1" dirty="0"/>
              <a:t>步。</a:t>
            </a:r>
            <a:endParaRPr lang="zh-CN" altLang="en-US" b="1" dirty="0"/>
          </a:p>
          <a:p>
            <a:endParaRPr lang="zh-CN" altLang="en-US" b="1" dirty="0"/>
          </a:p>
          <a:p>
            <a:pPr marL="0" indent="0">
              <a:buNone/>
            </a:pPr>
            <a:r>
              <a:rPr lang="zh-CN" altLang="en-US" b="1" dirty="0"/>
              <a:t>   </a:t>
            </a:r>
            <a:endParaRPr lang="zh-CN" alt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ules">
  <a:themeElements>
    <a:clrScheme name="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7"/>
      </a:accent4>
      <a:accent5>
        <a:srgbClr val="ADE2E2"/>
      </a:accent5>
      <a:accent6>
        <a:srgbClr val="89B789"/>
      </a:accent6>
      <a:hlink>
        <a:srgbClr val="003366"/>
      </a:hlink>
      <a:folHlink>
        <a:srgbClr val="CC99FF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7"/>
        </a:accent4>
        <a:accent5>
          <a:srgbClr val="ADE2E2"/>
        </a:accent5>
        <a:accent6>
          <a:srgbClr val="89B789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9B7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99FF"/>
        </a:lt1>
        <a:dk2>
          <a:srgbClr val="FFFFFF"/>
        </a:dk2>
        <a:lt2>
          <a:srgbClr val="006699"/>
        </a:lt2>
        <a:accent1>
          <a:srgbClr val="33CCCC"/>
        </a:accent1>
        <a:accent2>
          <a:srgbClr val="006699"/>
        </a:accent2>
        <a:accent3>
          <a:srgbClr val="B9CAFF"/>
        </a:accent3>
        <a:accent4>
          <a:srgbClr val="DCDCDC"/>
        </a:accent4>
        <a:accent5>
          <a:srgbClr val="ADE2E2"/>
        </a:accent5>
        <a:accent6>
          <a:srgbClr val="005B89"/>
        </a:accent6>
        <a:hlink>
          <a:srgbClr val="99CC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5B75B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99"/>
        </a:lt1>
        <a:dk2>
          <a:srgbClr val="FFFFEB"/>
        </a:dk2>
        <a:lt2>
          <a:srgbClr val="000066"/>
        </a:lt2>
        <a:accent1>
          <a:srgbClr val="99CCFF"/>
        </a:accent1>
        <a:accent2>
          <a:srgbClr val="9999FF"/>
        </a:accent2>
        <a:accent3>
          <a:srgbClr val="ADB9CA"/>
        </a:accent3>
        <a:accent4>
          <a:srgbClr val="DCDCDC"/>
        </a:accent4>
        <a:accent5>
          <a:srgbClr val="CAE2FF"/>
        </a:accent5>
        <a:accent6>
          <a:srgbClr val="8989E5"/>
        </a:accent6>
        <a:hlink>
          <a:srgbClr val="CCCCFF"/>
        </a:hlink>
        <a:folHlink>
          <a:srgbClr val="C68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66"/>
        </a:lt1>
        <a:dk2>
          <a:srgbClr val="FFFFFF"/>
        </a:dk2>
        <a:lt2>
          <a:srgbClr val="808000"/>
        </a:lt2>
        <a:accent1>
          <a:srgbClr val="FFCC66"/>
        </a:accent1>
        <a:accent2>
          <a:srgbClr val="00ACA8"/>
        </a:accent2>
        <a:accent3>
          <a:srgbClr val="AAB9B9"/>
        </a:accent3>
        <a:accent4>
          <a:srgbClr val="DCDCDC"/>
        </a:accent4>
        <a:accent5>
          <a:srgbClr val="FFE2B9"/>
        </a:accent5>
        <a:accent6>
          <a:srgbClr val="009A96"/>
        </a:accent6>
        <a:hlink>
          <a:srgbClr val="CCCC00"/>
        </a:hlink>
        <a:folHlink>
          <a:srgbClr val="33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0033"/>
        </a:lt1>
        <a:dk2>
          <a:srgbClr val="FFFFFF"/>
        </a:dk2>
        <a:lt2>
          <a:srgbClr val="FFFFCC"/>
        </a:lt2>
        <a:accent1>
          <a:srgbClr val="FF9900"/>
        </a:accent1>
        <a:accent2>
          <a:srgbClr val="CC3300"/>
        </a:accent2>
        <a:accent3>
          <a:srgbClr val="B9AAAD"/>
        </a:accent3>
        <a:accent4>
          <a:srgbClr val="DCDCDC"/>
        </a:accent4>
        <a:accent5>
          <a:srgbClr val="FFCAAA"/>
        </a:accent5>
        <a:accent6>
          <a:srgbClr val="B72D00"/>
        </a:accent6>
        <a:hlink>
          <a:srgbClr val="FFCC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FFFF"/>
        </a:dk2>
        <a:lt2>
          <a:srgbClr val="FF0000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CDCDC"/>
        </a:accent4>
        <a:accent5>
          <a:srgbClr val="FFE2AA"/>
        </a:accent5>
        <a:accent6>
          <a:srgbClr val="B72D00"/>
        </a:accent6>
        <a:hlink>
          <a:srgbClr val="FF66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0</TotalTime>
  <Words>1482</Words>
  <Application>WPS 演示</Application>
  <PresentationFormat>全屏显示(4:3)</PresentationFormat>
  <Paragraphs>116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Times New Roman</vt:lpstr>
      <vt:lpstr>Wingdings</vt:lpstr>
      <vt:lpstr>微软雅黑</vt:lpstr>
      <vt:lpstr>Arial Unicode MS</vt:lpstr>
      <vt:lpstr>Calibri</vt:lpstr>
      <vt:lpstr>Capsules</vt:lpstr>
      <vt:lpstr>通信原理复习提纲</vt:lpstr>
      <vt:lpstr>考核方式</vt:lpstr>
      <vt:lpstr>考题类型：</vt:lpstr>
      <vt:lpstr>第1章 绪论</vt:lpstr>
      <vt:lpstr>第2章 信号与噪声</vt:lpstr>
      <vt:lpstr>第3章 信道与噪声</vt:lpstr>
      <vt:lpstr>第4章 模拟调制系统</vt:lpstr>
      <vt:lpstr>第4章 模拟调制系统</vt:lpstr>
      <vt:lpstr>第5章 数字基带传输系统</vt:lpstr>
      <vt:lpstr>第5章 数字基带传输系统</vt:lpstr>
      <vt:lpstr>第6章 模拟信号的数字传输</vt:lpstr>
      <vt:lpstr>第7章 数字频带传输系统</vt:lpstr>
      <vt:lpstr>第8章 数字信号的最佳接收</vt:lpstr>
      <vt:lpstr>第10章 复用和数字复接技术</vt:lpstr>
      <vt:lpstr>第11章 同步原理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蒋安炎</cp:lastModifiedBy>
  <cp:revision>73</cp:revision>
  <dcterms:created xsi:type="dcterms:W3CDTF">2018-11-01T09:38:00Z</dcterms:created>
  <dcterms:modified xsi:type="dcterms:W3CDTF">2026-01-04T07:59:33Z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2052-12.1.0.23542</vt:lpwstr>
  </property>
  <property fmtid="{D5CDD505-2E9C-101B-9397-08002B2CF9AE}" pid="4" name="ICV">
    <vt:lpwstr>499394A961F94F43A220CCEF296C9051_13</vt:lpwstr>
  </property>
</Properties>
</file>