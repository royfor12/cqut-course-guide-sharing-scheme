
<file path=[Content_Types].xml><?xml version="1.0" encoding="utf-8"?>
<Types xmlns="http://schemas.openxmlformats.org/package/2006/content-types">
  <Default Extension="png" ContentType="image/png"/>
  <Default Extension="bin" ContentType="application/vnd.openxmlformats-officedocument.oleObject"/>
  <Default Extension="emf" ContentType="image/x-emf"/>
  <Default Extension="wmf" ContentType="image/x-wmf"/>
  <Default Extension="jpeg" ContentType="image/jpeg"/>
  <Default Extension="rels" ContentType="application/vnd.openxmlformats-package.relationships+xml"/>
  <Default Extension="xml" ContentType="application/xml"/>
  <Default Extension="vml" ContentType="application/vnd.openxmlformats-officedocument.vmlDrawin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92"/>
  </p:notesMasterIdLst>
  <p:handoutMasterIdLst>
    <p:handoutMasterId r:id="rId93"/>
  </p:handoutMasterIdLst>
  <p:sldIdLst>
    <p:sldId id="256" r:id="rId2"/>
    <p:sldId id="257" r:id="rId3"/>
    <p:sldId id="375" r:id="rId4"/>
    <p:sldId id="292" r:id="rId5"/>
    <p:sldId id="287" r:id="rId6"/>
    <p:sldId id="288" r:id="rId7"/>
    <p:sldId id="289" r:id="rId8"/>
    <p:sldId id="290" r:id="rId9"/>
    <p:sldId id="295" r:id="rId10"/>
    <p:sldId id="296" r:id="rId11"/>
    <p:sldId id="297" r:id="rId12"/>
    <p:sldId id="376" r:id="rId13"/>
    <p:sldId id="258" r:id="rId14"/>
    <p:sldId id="324" r:id="rId15"/>
    <p:sldId id="325" r:id="rId16"/>
    <p:sldId id="377" r:id="rId17"/>
    <p:sldId id="344" r:id="rId18"/>
    <p:sldId id="350" r:id="rId19"/>
    <p:sldId id="345" r:id="rId20"/>
    <p:sldId id="346" r:id="rId21"/>
    <p:sldId id="329" r:id="rId22"/>
    <p:sldId id="406" r:id="rId23"/>
    <p:sldId id="407" r:id="rId24"/>
    <p:sldId id="347" r:id="rId25"/>
    <p:sldId id="332" r:id="rId26"/>
    <p:sldId id="330" r:id="rId27"/>
    <p:sldId id="408" r:id="rId28"/>
    <p:sldId id="348" r:id="rId29"/>
    <p:sldId id="335" r:id="rId30"/>
    <p:sldId id="349" r:id="rId31"/>
    <p:sldId id="331" r:id="rId32"/>
    <p:sldId id="354" r:id="rId33"/>
    <p:sldId id="328" r:id="rId34"/>
    <p:sldId id="353" r:id="rId35"/>
    <p:sldId id="351" r:id="rId36"/>
    <p:sldId id="336" r:id="rId37"/>
    <p:sldId id="355" r:id="rId38"/>
    <p:sldId id="299" r:id="rId39"/>
    <p:sldId id="356" r:id="rId40"/>
    <p:sldId id="337" r:id="rId41"/>
    <p:sldId id="357" r:id="rId42"/>
    <p:sldId id="358" r:id="rId43"/>
    <p:sldId id="359" r:id="rId44"/>
    <p:sldId id="338" r:id="rId45"/>
    <p:sldId id="360" r:id="rId46"/>
    <p:sldId id="361" r:id="rId47"/>
    <p:sldId id="362" r:id="rId48"/>
    <p:sldId id="363" r:id="rId49"/>
    <p:sldId id="364" r:id="rId50"/>
    <p:sldId id="365" r:id="rId51"/>
    <p:sldId id="302" r:id="rId52"/>
    <p:sldId id="374" r:id="rId53"/>
    <p:sldId id="303" r:id="rId54"/>
    <p:sldId id="304" r:id="rId55"/>
    <p:sldId id="305" r:id="rId56"/>
    <p:sldId id="306" r:id="rId57"/>
    <p:sldId id="307" r:id="rId58"/>
    <p:sldId id="308" r:id="rId59"/>
    <p:sldId id="309" r:id="rId60"/>
    <p:sldId id="366" r:id="rId61"/>
    <p:sldId id="373" r:id="rId62"/>
    <p:sldId id="378" r:id="rId63"/>
    <p:sldId id="379" r:id="rId64"/>
    <p:sldId id="380" r:id="rId65"/>
    <p:sldId id="381" r:id="rId66"/>
    <p:sldId id="382" r:id="rId67"/>
    <p:sldId id="383" r:id="rId68"/>
    <p:sldId id="384" r:id="rId69"/>
    <p:sldId id="385" r:id="rId70"/>
    <p:sldId id="386" r:id="rId71"/>
    <p:sldId id="387" r:id="rId72"/>
    <p:sldId id="388" r:id="rId73"/>
    <p:sldId id="389" r:id="rId74"/>
    <p:sldId id="390" r:id="rId75"/>
    <p:sldId id="391" r:id="rId76"/>
    <p:sldId id="392" r:id="rId77"/>
    <p:sldId id="393" r:id="rId78"/>
    <p:sldId id="394" r:id="rId79"/>
    <p:sldId id="395" r:id="rId80"/>
    <p:sldId id="396" r:id="rId81"/>
    <p:sldId id="397" r:id="rId82"/>
    <p:sldId id="398" r:id="rId83"/>
    <p:sldId id="399" r:id="rId84"/>
    <p:sldId id="400" r:id="rId85"/>
    <p:sldId id="401" r:id="rId86"/>
    <p:sldId id="402" r:id="rId87"/>
    <p:sldId id="403" r:id="rId88"/>
    <p:sldId id="404" r:id="rId89"/>
    <p:sldId id="405" r:id="rId90"/>
    <p:sldId id="311" r:id="rId91"/>
  </p:sldIdLst>
  <p:sldSz cx="9144000" cy="6858000" type="screen4x3"/>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 uri="{2D200454-40CA-4A62-9FC3-DE9A4176ACB9}">
      <p15:notesGuideLst xmlns:p15="http://schemas.microsoft.com/office/powerpoint/2012/main">
        <p15:guide id="1" orient="horz" pos="2880">
          <p15:clr>
            <a:srgbClr val="A4A3A4"/>
          </p15:clr>
        </p15:guide>
        <p15:guide id="2" pos="2160">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6274" autoAdjust="0"/>
    <p:restoredTop sz="94621" autoAdjust="0"/>
  </p:normalViewPr>
  <p:slideViewPr>
    <p:cSldViewPr>
      <p:cViewPr varScale="1">
        <p:scale>
          <a:sx n="70" d="100"/>
          <a:sy n="70" d="100"/>
        </p:scale>
        <p:origin x="1356" y="66"/>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notesViewPr>
    <p:cSldViewPr>
      <p:cViewPr varScale="1">
        <p:scale>
          <a:sx n="80" d="100"/>
          <a:sy n="80" d="100"/>
        </p:scale>
        <p:origin x="-954" y="-78"/>
      </p:cViewPr>
      <p:guideLst>
        <p:guide orient="horz" pos="2880"/>
        <p:guide pos="2160"/>
      </p:guideLst>
    </p:cSldViewPr>
  </p:notes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slide" Target="slides/slide83.xml"/><Relationship Id="rId89" Type="http://schemas.openxmlformats.org/officeDocument/2006/relationships/slide" Target="slides/slide88.xml"/><Relationship Id="rId16" Type="http://schemas.openxmlformats.org/officeDocument/2006/relationships/slide" Target="slides/slide15.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5" Type="http://schemas.openxmlformats.org/officeDocument/2006/relationships/slide" Target="slides/slide4.xml"/><Relationship Id="rId90" Type="http://schemas.openxmlformats.org/officeDocument/2006/relationships/slide" Target="slides/slide89.xml"/><Relationship Id="rId95" Type="http://schemas.openxmlformats.org/officeDocument/2006/relationships/viewProps" Target="viewProps.xml"/><Relationship Id="rId22" Type="http://schemas.openxmlformats.org/officeDocument/2006/relationships/slide" Target="slides/slide21.xml"/><Relationship Id="rId27" Type="http://schemas.openxmlformats.org/officeDocument/2006/relationships/slide" Target="slides/slide26.xml"/><Relationship Id="rId43" Type="http://schemas.openxmlformats.org/officeDocument/2006/relationships/slide" Target="slides/slide42.xml"/><Relationship Id="rId48" Type="http://schemas.openxmlformats.org/officeDocument/2006/relationships/slide" Target="slides/slide47.xml"/><Relationship Id="rId64" Type="http://schemas.openxmlformats.org/officeDocument/2006/relationships/slide" Target="slides/slide63.xml"/><Relationship Id="rId69" Type="http://schemas.openxmlformats.org/officeDocument/2006/relationships/slide" Target="slides/slide68.xml"/><Relationship Id="rId80" Type="http://schemas.openxmlformats.org/officeDocument/2006/relationships/slide" Target="slides/slide79.xml"/><Relationship Id="rId85" Type="http://schemas.openxmlformats.org/officeDocument/2006/relationships/slide" Target="slides/slide84.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83" Type="http://schemas.openxmlformats.org/officeDocument/2006/relationships/slide" Target="slides/slide82.xml"/><Relationship Id="rId88" Type="http://schemas.openxmlformats.org/officeDocument/2006/relationships/slide" Target="slides/slide87.xml"/><Relationship Id="rId91" Type="http://schemas.openxmlformats.org/officeDocument/2006/relationships/slide" Target="slides/slide90.xml"/><Relationship Id="rId9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slide" Target="slides/slide80.xml"/><Relationship Id="rId86" Type="http://schemas.openxmlformats.org/officeDocument/2006/relationships/slide" Target="slides/slide85.xml"/><Relationship Id="rId94"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tableStyles" Target="tableStyles.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notesMaster" Target="notesMasters/notesMaster1.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61" Type="http://schemas.openxmlformats.org/officeDocument/2006/relationships/slide" Target="slides/slide60.xml"/><Relationship Id="rId82" Type="http://schemas.openxmlformats.org/officeDocument/2006/relationships/slide" Target="slides/slide81.xml"/><Relationship Id="rId19" Type="http://schemas.openxmlformats.org/officeDocument/2006/relationships/slide" Target="slides/slide18.xml"/><Relationship Id="rId14" Type="http://schemas.openxmlformats.org/officeDocument/2006/relationships/slide" Target="slides/slide13.xml"/><Relationship Id="rId30" Type="http://schemas.openxmlformats.org/officeDocument/2006/relationships/slide" Target="slides/slide29.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93" Type="http://schemas.openxmlformats.org/officeDocument/2006/relationships/handoutMaster" Target="handoutMasters/handoutMaster1.xml"/></Relationships>
</file>

<file path=ppt/drawings/_rels/vmlDrawing1.vml.rels><?xml version="1.0" encoding="UTF-8" standalone="yes"?>
<Relationships xmlns="http://schemas.openxmlformats.org/package/2006/relationships"><Relationship Id="rId3" Type="http://schemas.openxmlformats.org/officeDocument/2006/relationships/image" Target="../media/image15.emf"/><Relationship Id="rId2" Type="http://schemas.openxmlformats.org/officeDocument/2006/relationships/image" Target="../media/image14.emf"/><Relationship Id="rId1" Type="http://schemas.openxmlformats.org/officeDocument/2006/relationships/image" Target="../media/image13.emf"/></Relationships>
</file>

<file path=ppt/drawings/_rels/vmlDrawing2.vml.rels><?xml version="1.0" encoding="UTF-8" standalone="yes"?>
<Relationships xmlns="http://schemas.openxmlformats.org/package/2006/relationships"><Relationship Id="rId2" Type="http://schemas.openxmlformats.org/officeDocument/2006/relationships/image" Target="../media/image21.emf"/><Relationship Id="rId1" Type="http://schemas.openxmlformats.org/officeDocument/2006/relationships/image" Target="../media/image20.emf"/></Relationships>
</file>

<file path=ppt/drawings/_rels/vmlDrawing3.vml.rels><?xml version="1.0" encoding="UTF-8" standalone="yes"?>
<Relationships xmlns="http://schemas.openxmlformats.org/package/2006/relationships"><Relationship Id="rId2" Type="http://schemas.openxmlformats.org/officeDocument/2006/relationships/image" Target="../media/image23.emf"/><Relationship Id="rId1" Type="http://schemas.openxmlformats.org/officeDocument/2006/relationships/image" Target="../media/image22.emf"/></Relationships>
</file>

<file path=ppt/drawings/_rels/vmlDrawing4.vml.rels><?xml version="1.0" encoding="UTF-8" standalone="yes"?>
<Relationships xmlns="http://schemas.openxmlformats.org/package/2006/relationships"><Relationship Id="rId2" Type="http://schemas.openxmlformats.org/officeDocument/2006/relationships/image" Target="../media/image27.wmf"/><Relationship Id="rId1" Type="http://schemas.openxmlformats.org/officeDocument/2006/relationships/image" Target="../media/image26.wmf"/></Relationships>
</file>

<file path=ppt/drawings/_rels/vmlDrawing5.vml.rels><?xml version="1.0" encoding="UTF-8" standalone="yes"?>
<Relationships xmlns="http://schemas.openxmlformats.org/package/2006/relationships"><Relationship Id="rId1" Type="http://schemas.openxmlformats.org/officeDocument/2006/relationships/image" Target="../media/image50.wmf"/></Relationships>
</file>

<file path=ppt/drawings/_rels/vmlDrawing6.vml.rels><?xml version="1.0" encoding="UTF-8" standalone="yes"?>
<Relationships xmlns="http://schemas.openxmlformats.org/package/2006/relationships"><Relationship Id="rId3" Type="http://schemas.openxmlformats.org/officeDocument/2006/relationships/image" Target="../media/image54.wmf"/><Relationship Id="rId2" Type="http://schemas.openxmlformats.org/officeDocument/2006/relationships/image" Target="../media/image53.wmf"/><Relationship Id="rId1" Type="http://schemas.openxmlformats.org/officeDocument/2006/relationships/image" Target="../media/image52.wmf"/></Relationships>
</file>

<file path=ppt/drawings/_rels/vmlDrawing7.vml.rels><?xml version="1.0" encoding="UTF-8" standalone="yes"?>
<Relationships xmlns="http://schemas.openxmlformats.org/package/2006/relationships"><Relationship Id="rId2" Type="http://schemas.openxmlformats.org/officeDocument/2006/relationships/image" Target="../media/image60.emf"/><Relationship Id="rId1" Type="http://schemas.openxmlformats.org/officeDocument/2006/relationships/image" Target="../media/image59.emf"/></Relationships>
</file>

<file path=ppt/drawings/_rels/vmlDrawing8.vml.rels><?xml version="1.0" encoding="UTF-8" standalone="yes"?>
<Relationships xmlns="http://schemas.openxmlformats.org/package/2006/relationships"><Relationship Id="rId1" Type="http://schemas.openxmlformats.org/officeDocument/2006/relationships/image" Target="../media/image64.emf"/></Relationships>
</file>

<file path=ppt/drawings/_rels/vmlDrawing9.vml.rels><?xml version="1.0" encoding="UTF-8" standalone="yes"?>
<Relationships xmlns="http://schemas.openxmlformats.org/package/2006/relationships"><Relationship Id="rId3" Type="http://schemas.openxmlformats.org/officeDocument/2006/relationships/image" Target="../media/image67.emf"/><Relationship Id="rId2" Type="http://schemas.openxmlformats.org/officeDocument/2006/relationships/image" Target="../media/image66.emf"/><Relationship Id="rId1" Type="http://schemas.openxmlformats.org/officeDocument/2006/relationships/image" Target="../media/image65.emf"/><Relationship Id="rId4" Type="http://schemas.openxmlformats.org/officeDocument/2006/relationships/image" Target="../media/image68.emf"/></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a:lvl1pPr>
          </a:lstStyle>
          <a:p>
            <a:fld id="{CDA58C91-DEF6-456F-B8CD-CFC2ECC43C3A}" type="datetimeFigureOut">
              <a:rPr lang="zh-CN" altLang="en-US" smtClean="0"/>
              <a:t>2018/11/27/Tue</a:t>
            </a:fld>
            <a:endParaRPr lang="zh-CN" altLang="en-US"/>
          </a:p>
        </p:txBody>
      </p:sp>
      <p:sp>
        <p:nvSpPr>
          <p:cNvPr id="4" name="页脚占位符 3"/>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a:defRPr sz="1200"/>
            </a:lvl1pPr>
          </a:lstStyle>
          <a:p>
            <a:endParaRPr lang="zh-CN" altLang="en-US"/>
          </a:p>
        </p:txBody>
      </p:sp>
      <p:sp>
        <p:nvSpPr>
          <p:cNvPr id="5" name="灯片编号占位符 4"/>
          <p:cNvSpPr>
            <a:spLocks noGrp="1"/>
          </p:cNvSpPr>
          <p:nvPr>
            <p:ph type="sldNum" sz="quarter" idx="3"/>
          </p:nvPr>
        </p:nvSpPr>
        <p:spPr>
          <a:xfrm>
            <a:off x="3884613" y="8685213"/>
            <a:ext cx="2971800" cy="457200"/>
          </a:xfrm>
          <a:prstGeom prst="rect">
            <a:avLst/>
          </a:prstGeom>
        </p:spPr>
        <p:txBody>
          <a:bodyPr vert="horz" lIns="91440" tIns="45720" rIns="91440" bIns="45720" rtlCol="0" anchor="b"/>
          <a:lstStyle>
            <a:lvl1pPr algn="r">
              <a:defRPr sz="1200"/>
            </a:lvl1pPr>
          </a:lstStyle>
          <a:p>
            <a:fld id="{CC97F7B1-56FD-4082-80B3-E5DBBB88201A}" type="slidenum">
              <a:rPr lang="zh-CN" altLang="en-US" smtClean="0"/>
              <a:t>‹#›</a:t>
            </a:fld>
            <a:endParaRPr lang="zh-CN" altLang="en-US"/>
          </a:p>
        </p:txBody>
      </p:sp>
    </p:spTree>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DD38F452-69C2-4BEB-8C66-27E3486A317D}" type="datetimeFigureOut">
              <a:rPr lang="zh-CN" altLang="en-US" smtClean="0"/>
              <a:t>2018/11/27/Tue</a:t>
            </a:fld>
            <a:endParaRPr lang="zh-CN" altLang="en-US"/>
          </a:p>
        </p:txBody>
      </p:sp>
      <p:sp>
        <p:nvSpPr>
          <p:cNvPr id="4" name="幻灯片图像占位符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6" name="页脚占位符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8452E69-C483-43E4-8FB1-3AF992CB060A}" type="slidenum">
              <a:rPr lang="zh-CN" altLang="en-US" smtClean="0"/>
              <a:t>‹#›</a:t>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685800" y="2130425"/>
            <a:ext cx="7772400" cy="1470025"/>
          </a:xfrm>
        </p:spPr>
        <p:txBody>
          <a:bodyPr/>
          <a:lstStyle/>
          <a:p>
            <a:r>
              <a:rPr lang="zh-CN" altLang="en-US" smtClean="0"/>
              <a:t>单击此处编辑母版标题样式</a:t>
            </a:r>
            <a:endParaRPr lang="zh-CN" altLang="en-US"/>
          </a:p>
        </p:txBody>
      </p:sp>
      <p:sp>
        <p:nvSpPr>
          <p:cNvPr id="3" name="副标题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zh-CN" altLang="en-US" smtClean="0"/>
              <a:t>单击此处编辑母版副标题样式</a:t>
            </a:r>
            <a:endParaRPr lang="zh-CN" altLang="en-US"/>
          </a:p>
        </p:txBody>
      </p:sp>
      <p:sp>
        <p:nvSpPr>
          <p:cNvPr id="4" name="日期占位符 3"/>
          <p:cNvSpPr>
            <a:spLocks noGrp="1"/>
          </p:cNvSpPr>
          <p:nvPr>
            <p:ph type="dt" sz="half" idx="10"/>
          </p:nvPr>
        </p:nvSpPr>
        <p:spPr/>
        <p:txBody>
          <a:bodyPr/>
          <a:lstStyle/>
          <a:p>
            <a:fld id="{4D9AC342-5BA0-4588-94C9-22A988431719}" type="datetimeFigureOut">
              <a:rPr lang="zh-CN" altLang="en-US" smtClean="0"/>
              <a:pPr/>
              <a:t>2018/11/27/Tue</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D2E9545F-E696-4238-9B6D-571FBDF29D52}" type="slidenum">
              <a:rPr lang="zh-CN" altLang="en-US" smtClean="0"/>
              <a:pPr/>
              <a:t>‹#›</a:t>
            </a:fld>
            <a:endParaRPr lang="zh-CN" alt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idx="1"/>
          </p:nvPr>
        </p:nvSpPr>
        <p:spPr/>
        <p:txBody>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日期占位符 3"/>
          <p:cNvSpPr>
            <a:spLocks noGrp="1"/>
          </p:cNvSpPr>
          <p:nvPr>
            <p:ph type="dt" sz="half" idx="10"/>
          </p:nvPr>
        </p:nvSpPr>
        <p:spPr/>
        <p:txBody>
          <a:bodyPr/>
          <a:lstStyle/>
          <a:p>
            <a:fld id="{4D9AC342-5BA0-4588-94C9-22A988431719}" type="datetimeFigureOut">
              <a:rPr lang="zh-CN" altLang="en-US" smtClean="0"/>
              <a:pPr/>
              <a:t>2018/11/27/Tue</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D2E9545F-E696-4238-9B6D-571FBDF29D52}" type="slidenum">
              <a:rPr lang="zh-CN" altLang="en-US" smtClean="0"/>
              <a:pPr/>
              <a:t>‹#›</a:t>
            </a:fld>
            <a:endParaRPr lang="zh-CN" alt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4406900"/>
            <a:ext cx="7772400" cy="1362075"/>
          </a:xfrm>
        </p:spPr>
        <p:txBody>
          <a:bodyPr anchor="t"/>
          <a:lstStyle>
            <a:lvl1pPr algn="l">
              <a:defRPr sz="4000" b="1" cap="all"/>
            </a:lvl1p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zh-CN" altLang="en-US" smtClean="0"/>
              <a:t>单击此处编辑母版文本样式</a:t>
            </a:r>
          </a:p>
        </p:txBody>
      </p:sp>
      <p:sp>
        <p:nvSpPr>
          <p:cNvPr id="4" name="日期占位符 3"/>
          <p:cNvSpPr>
            <a:spLocks noGrp="1"/>
          </p:cNvSpPr>
          <p:nvPr>
            <p:ph type="dt" sz="half" idx="10"/>
          </p:nvPr>
        </p:nvSpPr>
        <p:spPr/>
        <p:txBody>
          <a:bodyPr/>
          <a:lstStyle/>
          <a:p>
            <a:fld id="{4D9AC342-5BA0-4588-94C9-22A988431719}" type="datetimeFigureOut">
              <a:rPr lang="zh-CN" altLang="en-US" smtClean="0"/>
              <a:pPr/>
              <a:t>2018/11/27/Tue</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D2E9545F-E696-4238-9B6D-571FBDF29D52}" type="slidenum">
              <a:rPr lang="zh-CN" altLang="en-US" smtClean="0"/>
              <a:pPr/>
              <a:t>‹#›</a:t>
            </a:fld>
            <a:endParaRPr lang="zh-CN" alt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内容占位符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5" name="日期占位符 4"/>
          <p:cNvSpPr>
            <a:spLocks noGrp="1"/>
          </p:cNvSpPr>
          <p:nvPr>
            <p:ph type="dt" sz="half" idx="10"/>
          </p:nvPr>
        </p:nvSpPr>
        <p:spPr/>
        <p:txBody>
          <a:bodyPr/>
          <a:lstStyle/>
          <a:p>
            <a:fld id="{4D9AC342-5BA0-4588-94C9-22A988431719}" type="datetimeFigureOut">
              <a:rPr lang="zh-CN" altLang="en-US" smtClean="0"/>
              <a:pPr/>
              <a:t>2018/11/27/Tue</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D2E9545F-E696-4238-9B6D-571FBDF29D52}" type="slidenum">
              <a:rPr lang="zh-CN" altLang="en-US" smtClean="0"/>
              <a:pPr/>
              <a:t>‹#›</a:t>
            </a:fld>
            <a:endParaRPr lang="zh-CN"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lvl1pPr>
              <a:defRPr/>
            </a:lvl1p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p>
        </p:txBody>
      </p:sp>
      <p:sp>
        <p:nvSpPr>
          <p:cNvPr id="4" name="内容占位符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5" name="文本占位符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p>
        </p:txBody>
      </p:sp>
      <p:sp>
        <p:nvSpPr>
          <p:cNvPr id="6" name="内容占位符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7" name="日期占位符 6"/>
          <p:cNvSpPr>
            <a:spLocks noGrp="1"/>
          </p:cNvSpPr>
          <p:nvPr>
            <p:ph type="dt" sz="half" idx="10"/>
          </p:nvPr>
        </p:nvSpPr>
        <p:spPr/>
        <p:txBody>
          <a:bodyPr/>
          <a:lstStyle/>
          <a:p>
            <a:fld id="{4D9AC342-5BA0-4588-94C9-22A988431719}" type="datetimeFigureOut">
              <a:rPr lang="zh-CN" altLang="en-US" smtClean="0"/>
              <a:pPr/>
              <a:t>2018/11/27/Tue</a:t>
            </a:fld>
            <a:endParaRPr lang="zh-CN" altLang="en-US"/>
          </a:p>
        </p:txBody>
      </p:sp>
      <p:sp>
        <p:nvSpPr>
          <p:cNvPr id="8" name="页脚占位符 7"/>
          <p:cNvSpPr>
            <a:spLocks noGrp="1"/>
          </p:cNvSpPr>
          <p:nvPr>
            <p:ph type="ftr" sz="quarter" idx="11"/>
          </p:nvPr>
        </p:nvSpPr>
        <p:spPr/>
        <p:txBody>
          <a:bodyPr/>
          <a:lstStyle/>
          <a:p>
            <a:endParaRPr lang="zh-CN" altLang="en-US"/>
          </a:p>
        </p:txBody>
      </p:sp>
      <p:sp>
        <p:nvSpPr>
          <p:cNvPr id="9" name="灯片编号占位符 8"/>
          <p:cNvSpPr>
            <a:spLocks noGrp="1"/>
          </p:cNvSpPr>
          <p:nvPr>
            <p:ph type="sldNum" sz="quarter" idx="12"/>
          </p:nvPr>
        </p:nvSpPr>
        <p:spPr/>
        <p:txBody>
          <a:bodyPr/>
          <a:lstStyle/>
          <a:p>
            <a:fld id="{D2E9545F-E696-4238-9B6D-571FBDF29D52}" type="slidenum">
              <a:rPr lang="zh-CN" altLang="en-US" smtClean="0"/>
              <a:pPr/>
              <a:t>‹#›</a:t>
            </a:fld>
            <a:endParaRPr lang="zh-CN"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日期占位符 2"/>
          <p:cNvSpPr>
            <a:spLocks noGrp="1"/>
          </p:cNvSpPr>
          <p:nvPr>
            <p:ph type="dt" sz="half" idx="10"/>
          </p:nvPr>
        </p:nvSpPr>
        <p:spPr/>
        <p:txBody>
          <a:bodyPr/>
          <a:lstStyle/>
          <a:p>
            <a:fld id="{4D9AC342-5BA0-4588-94C9-22A988431719}" type="datetimeFigureOut">
              <a:rPr lang="zh-CN" altLang="en-US" smtClean="0"/>
              <a:pPr/>
              <a:t>2018/11/27/Tue</a:t>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D2E9545F-E696-4238-9B6D-571FBDF29D52}" type="slidenum">
              <a:rPr lang="zh-CN" altLang="en-US" smtClean="0"/>
              <a:pPr/>
              <a:t>‹#›</a:t>
            </a:fld>
            <a:endParaRPr lang="zh-CN"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4D9AC342-5BA0-4588-94C9-22A988431719}" type="datetimeFigureOut">
              <a:rPr lang="zh-CN" altLang="en-US" smtClean="0"/>
              <a:pPr/>
              <a:t>2018/11/27/Tue</a:t>
            </a:fld>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D2E9545F-E696-4238-9B6D-571FBDF29D52}" type="slidenum">
              <a:rPr lang="zh-CN" altLang="en-US" smtClean="0"/>
              <a:pPr/>
              <a:t>‹#›</a:t>
            </a:fld>
            <a:endParaRPr lang="zh-CN" alt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3050"/>
            <a:ext cx="3008313" cy="1162050"/>
          </a:xfrm>
        </p:spPr>
        <p:txBody>
          <a:bodyPr anchor="b"/>
          <a:lstStyle>
            <a:lvl1pPr algn="l">
              <a:defRPr sz="2000" b="1"/>
            </a:lvl1pPr>
          </a:lstStyle>
          <a:p>
            <a:r>
              <a:rPr lang="zh-CN" altLang="en-US" smtClean="0"/>
              <a:t>单击此处编辑母版标题样式</a:t>
            </a:r>
            <a:endParaRPr lang="zh-CN" altLang="en-US"/>
          </a:p>
        </p:txBody>
      </p:sp>
      <p:sp>
        <p:nvSpPr>
          <p:cNvPr id="3" name="内容占位符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文本占位符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smtClean="0"/>
              <a:t>单击此处编辑母版文本样式</a:t>
            </a:r>
          </a:p>
        </p:txBody>
      </p:sp>
      <p:sp>
        <p:nvSpPr>
          <p:cNvPr id="5" name="日期占位符 4"/>
          <p:cNvSpPr>
            <a:spLocks noGrp="1"/>
          </p:cNvSpPr>
          <p:nvPr>
            <p:ph type="dt" sz="half" idx="10"/>
          </p:nvPr>
        </p:nvSpPr>
        <p:spPr/>
        <p:txBody>
          <a:bodyPr/>
          <a:lstStyle/>
          <a:p>
            <a:fld id="{4D9AC342-5BA0-4588-94C9-22A988431719}" type="datetimeFigureOut">
              <a:rPr lang="zh-CN" altLang="en-US" smtClean="0"/>
              <a:pPr/>
              <a:t>2018/11/27/Tue</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D2E9545F-E696-4238-9B6D-571FBDF29D52}" type="slidenum">
              <a:rPr lang="zh-CN" altLang="en-US" smtClean="0"/>
              <a:pPr/>
              <a:t>‹#›</a:t>
            </a:fld>
            <a:endParaRPr lang="zh-CN" alt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4800600"/>
            <a:ext cx="5486400" cy="566738"/>
          </a:xfrm>
        </p:spPr>
        <p:txBody>
          <a:bodyPr anchor="b"/>
          <a:lstStyle>
            <a:lvl1pPr algn="l">
              <a:defRPr sz="2000" b="1"/>
            </a:lvl1pPr>
          </a:lstStyle>
          <a:p>
            <a:r>
              <a:rPr lang="zh-CN" altLang="en-US" smtClean="0"/>
              <a:t>单击此处编辑母版标题样式</a:t>
            </a:r>
            <a:endParaRPr lang="zh-CN" altLang="en-US"/>
          </a:p>
        </p:txBody>
      </p:sp>
      <p:sp>
        <p:nvSpPr>
          <p:cNvPr id="3" name="图片占位符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smtClean="0"/>
              <a:t>单击此处编辑母版文本样式</a:t>
            </a:r>
          </a:p>
        </p:txBody>
      </p:sp>
      <p:sp>
        <p:nvSpPr>
          <p:cNvPr id="5" name="日期占位符 4"/>
          <p:cNvSpPr>
            <a:spLocks noGrp="1"/>
          </p:cNvSpPr>
          <p:nvPr>
            <p:ph type="dt" sz="half" idx="10"/>
          </p:nvPr>
        </p:nvSpPr>
        <p:spPr/>
        <p:txBody>
          <a:bodyPr/>
          <a:lstStyle/>
          <a:p>
            <a:fld id="{4D9AC342-5BA0-4588-94C9-22A988431719}" type="datetimeFigureOut">
              <a:rPr lang="zh-CN" altLang="en-US" smtClean="0"/>
              <a:pPr/>
              <a:t>2018/11/27/Tue</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D2E9545F-E696-4238-9B6D-571FBDF29D52}" type="slidenum">
              <a:rPr lang="zh-CN" altLang="en-US" smtClean="0"/>
              <a:pPr/>
              <a:t>‹#›</a:t>
            </a:fld>
            <a:endParaRPr lang="zh-CN" alt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p:txBody>
          <a:bodyPr vert="eaVert"/>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日期占位符 3"/>
          <p:cNvSpPr>
            <a:spLocks noGrp="1"/>
          </p:cNvSpPr>
          <p:nvPr>
            <p:ph type="dt" sz="half" idx="10"/>
          </p:nvPr>
        </p:nvSpPr>
        <p:spPr/>
        <p:txBody>
          <a:bodyPr/>
          <a:lstStyle/>
          <a:p>
            <a:fld id="{4D9AC342-5BA0-4588-94C9-22A988431719}" type="datetimeFigureOut">
              <a:rPr lang="zh-CN" altLang="en-US" smtClean="0"/>
              <a:pPr/>
              <a:t>2018/11/27/Tue</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D2E9545F-E696-4238-9B6D-571FBDF29D52}" type="slidenum">
              <a:rPr lang="zh-CN" altLang="en-US" smtClean="0"/>
              <a:pPr/>
              <a:t>‹#›</a:t>
            </a:fld>
            <a:endParaRPr lang="zh-CN" alt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29400" y="274638"/>
            <a:ext cx="2057400" cy="5851525"/>
          </a:xfrm>
        </p:spPr>
        <p:txBody>
          <a:bodyPr vert="eaVert"/>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a:xfrm>
            <a:off x="457200" y="274638"/>
            <a:ext cx="6019800" cy="5851525"/>
          </a:xfrm>
        </p:spPr>
        <p:txBody>
          <a:bodyPr vert="eaVert"/>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日期占位符 3"/>
          <p:cNvSpPr>
            <a:spLocks noGrp="1"/>
          </p:cNvSpPr>
          <p:nvPr>
            <p:ph type="dt" sz="half" idx="10"/>
          </p:nvPr>
        </p:nvSpPr>
        <p:spPr/>
        <p:txBody>
          <a:bodyPr/>
          <a:lstStyle/>
          <a:p>
            <a:fld id="{4D9AC342-5BA0-4588-94C9-22A988431719}" type="datetimeFigureOut">
              <a:rPr lang="zh-CN" altLang="en-US" smtClean="0"/>
              <a:pPr/>
              <a:t>2018/11/27/Tue</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D2E9545F-E696-4238-9B6D-571FBDF29D52}" type="slidenum">
              <a:rPr lang="zh-CN" altLang="en-US" smtClean="0"/>
              <a:pPr/>
              <a:t>‹#›</a:t>
            </a:fld>
            <a:endParaRPr lang="zh-CN" alt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xAndTwoObj">
  <p:cSld name="标题，文本与两项内容">
    <p:spTree>
      <p:nvGrpSpPr>
        <p:cNvPr id="1" name=""/>
        <p:cNvGrpSpPr/>
        <p:nvPr/>
      </p:nvGrpSpPr>
      <p:grpSpPr>
        <a:xfrm>
          <a:off x="0" y="0"/>
          <a:ext cx="0" cy="0"/>
          <a:chOff x="0" y="0"/>
          <a:chExt cx="0" cy="0"/>
        </a:xfrm>
      </p:grpSpPr>
      <p:sp>
        <p:nvSpPr>
          <p:cNvPr id="2" name="标题 1"/>
          <p:cNvSpPr>
            <a:spLocks noGrp="1"/>
          </p:cNvSpPr>
          <p:nvPr>
            <p:ph type="title"/>
          </p:nvPr>
        </p:nvSpPr>
        <p:spPr>
          <a:xfrm>
            <a:off x="609600" y="547688"/>
            <a:ext cx="7924800" cy="563562"/>
          </a:xfrm>
        </p:spPr>
        <p:txBody>
          <a:bodyPr/>
          <a:lstStyle/>
          <a:p>
            <a:r>
              <a:rPr lang="zh-CN" altLang="en-US" smtClean="0"/>
              <a:t>单击此处编辑母版标题样式</a:t>
            </a:r>
            <a:endParaRPr lang="zh-CN" altLang="en-US"/>
          </a:p>
        </p:txBody>
      </p:sp>
      <p:sp>
        <p:nvSpPr>
          <p:cNvPr id="3" name="文本占位符 2"/>
          <p:cNvSpPr>
            <a:spLocks noGrp="1"/>
          </p:cNvSpPr>
          <p:nvPr>
            <p:ph type="body" sz="half" idx="1"/>
          </p:nvPr>
        </p:nvSpPr>
        <p:spPr>
          <a:xfrm>
            <a:off x="457200" y="1338263"/>
            <a:ext cx="4038600" cy="5092700"/>
          </a:xfrm>
        </p:spPr>
        <p:txBody>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内容占位符 3"/>
          <p:cNvSpPr>
            <a:spLocks noGrp="1"/>
          </p:cNvSpPr>
          <p:nvPr>
            <p:ph sz="quarter" idx="2"/>
          </p:nvPr>
        </p:nvSpPr>
        <p:spPr>
          <a:xfrm>
            <a:off x="4648200" y="1338263"/>
            <a:ext cx="4038600" cy="2470150"/>
          </a:xfrm>
        </p:spPr>
        <p:txBody>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5" name="内容占位符 4"/>
          <p:cNvSpPr>
            <a:spLocks noGrp="1"/>
          </p:cNvSpPr>
          <p:nvPr>
            <p:ph sz="quarter" idx="3"/>
          </p:nvPr>
        </p:nvSpPr>
        <p:spPr>
          <a:xfrm>
            <a:off x="4648200" y="3960813"/>
            <a:ext cx="4038600" cy="2470150"/>
          </a:xfrm>
        </p:spPr>
        <p:txBody>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6" name="Rectangle 5"/>
          <p:cNvSpPr>
            <a:spLocks noGrp="1" noChangeArrowheads="1"/>
          </p:cNvSpPr>
          <p:nvPr>
            <p:ph type="ftr" sz="quarter" idx="10"/>
          </p:nvPr>
        </p:nvSpPr>
        <p:spPr>
          <a:ln/>
        </p:spPr>
        <p:txBody>
          <a:bodyPr/>
          <a:lstStyle>
            <a:lvl1pPr>
              <a:defRPr/>
            </a:lvl1pPr>
          </a:lstStyle>
          <a:p>
            <a:pPr>
              <a:defRPr/>
            </a:pPr>
            <a:endParaRPr lang="en-US" altLang="zh-CN"/>
          </a:p>
        </p:txBody>
      </p:sp>
      <p:sp>
        <p:nvSpPr>
          <p:cNvPr id="7" name="Rectangle 6"/>
          <p:cNvSpPr>
            <a:spLocks noGrp="1" noChangeArrowheads="1"/>
          </p:cNvSpPr>
          <p:nvPr>
            <p:ph type="sldNum" sz="quarter" idx="11"/>
          </p:nvPr>
        </p:nvSpPr>
        <p:spPr>
          <a:ln/>
        </p:spPr>
        <p:txBody>
          <a:bodyPr/>
          <a:lstStyle>
            <a:lvl1pPr>
              <a:defRPr/>
            </a:lvl1pPr>
          </a:lstStyle>
          <a:p>
            <a:pPr>
              <a:defRPr/>
            </a:pPr>
            <a:fld id="{833AD189-E8DB-4043-B3B9-DB1276ECBC6F}" type="slidenum">
              <a:rPr lang="zh-CN" altLang="en-US"/>
              <a:pPr>
                <a:defRPr/>
              </a:pPr>
              <a:t>‹#›</a:t>
            </a:fld>
            <a:endParaRPr lang="en-US" altLang="zh-CN"/>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txAndObj">
  <p:cSld name="标题，文本与内容">
    <p:spTree>
      <p:nvGrpSpPr>
        <p:cNvPr id="1" name=""/>
        <p:cNvGrpSpPr/>
        <p:nvPr/>
      </p:nvGrpSpPr>
      <p:grpSpPr>
        <a:xfrm>
          <a:off x="0" y="0"/>
          <a:ext cx="0" cy="0"/>
          <a:chOff x="0" y="0"/>
          <a:chExt cx="0" cy="0"/>
        </a:xfrm>
      </p:grpSpPr>
      <p:sp>
        <p:nvSpPr>
          <p:cNvPr id="2" name="标题 1"/>
          <p:cNvSpPr>
            <a:spLocks noGrp="1"/>
          </p:cNvSpPr>
          <p:nvPr>
            <p:ph type="title"/>
          </p:nvPr>
        </p:nvSpPr>
        <p:spPr>
          <a:xfrm>
            <a:off x="609600" y="547688"/>
            <a:ext cx="7924800" cy="563562"/>
          </a:xfrm>
        </p:spPr>
        <p:txBody>
          <a:bodyPr/>
          <a:lstStyle/>
          <a:p>
            <a:r>
              <a:rPr lang="zh-CN" altLang="en-US" smtClean="0"/>
              <a:t>单击此处编辑母版标题样式</a:t>
            </a:r>
            <a:endParaRPr lang="zh-CN" altLang="en-US"/>
          </a:p>
        </p:txBody>
      </p:sp>
      <p:sp>
        <p:nvSpPr>
          <p:cNvPr id="3" name="文本占位符 2"/>
          <p:cNvSpPr>
            <a:spLocks noGrp="1"/>
          </p:cNvSpPr>
          <p:nvPr>
            <p:ph type="body" sz="half" idx="1"/>
          </p:nvPr>
        </p:nvSpPr>
        <p:spPr>
          <a:xfrm>
            <a:off x="457200" y="1338263"/>
            <a:ext cx="4038600" cy="5092700"/>
          </a:xfrm>
        </p:spPr>
        <p:txBody>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内容占位符 3"/>
          <p:cNvSpPr>
            <a:spLocks noGrp="1"/>
          </p:cNvSpPr>
          <p:nvPr>
            <p:ph sz="half" idx="2"/>
          </p:nvPr>
        </p:nvSpPr>
        <p:spPr>
          <a:xfrm>
            <a:off x="4648200" y="1338263"/>
            <a:ext cx="4038600" cy="5092700"/>
          </a:xfrm>
        </p:spPr>
        <p:txBody>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5" name="Rectangle 5"/>
          <p:cNvSpPr>
            <a:spLocks noGrp="1" noChangeArrowheads="1"/>
          </p:cNvSpPr>
          <p:nvPr>
            <p:ph type="ftr" sz="quarter" idx="10"/>
          </p:nvPr>
        </p:nvSpPr>
        <p:spPr>
          <a:ln/>
        </p:spPr>
        <p:txBody>
          <a:bodyPr/>
          <a:lstStyle>
            <a:lvl1pPr>
              <a:defRPr/>
            </a:lvl1pPr>
          </a:lstStyle>
          <a:p>
            <a:pPr>
              <a:defRPr/>
            </a:pPr>
            <a:endParaRPr lang="en-US" altLang="zh-CN"/>
          </a:p>
        </p:txBody>
      </p:sp>
      <p:sp>
        <p:nvSpPr>
          <p:cNvPr id="6" name="Rectangle 6"/>
          <p:cNvSpPr>
            <a:spLocks noGrp="1" noChangeArrowheads="1"/>
          </p:cNvSpPr>
          <p:nvPr>
            <p:ph type="sldNum" sz="quarter" idx="11"/>
          </p:nvPr>
        </p:nvSpPr>
        <p:spPr>
          <a:ln/>
        </p:spPr>
        <p:txBody>
          <a:bodyPr/>
          <a:lstStyle>
            <a:lvl1pPr>
              <a:defRPr/>
            </a:lvl1pPr>
          </a:lstStyle>
          <a:p>
            <a:pPr>
              <a:defRPr/>
            </a:pPr>
            <a:fld id="{C2364818-BC8F-458E-8287-CDBBF4F0C6CC}" type="slidenum">
              <a:rPr lang="zh-CN" altLang="en-US"/>
              <a:pPr>
                <a:defRPr/>
              </a:pPr>
              <a:t>‹#›</a:t>
            </a:fld>
            <a:endParaRPr lang="en-US" altLang="zh-CN"/>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tbl">
  <p:cSld name="标题和表格">
    <p:spTree>
      <p:nvGrpSpPr>
        <p:cNvPr id="1" name=""/>
        <p:cNvGrpSpPr/>
        <p:nvPr/>
      </p:nvGrpSpPr>
      <p:grpSpPr>
        <a:xfrm>
          <a:off x="0" y="0"/>
          <a:ext cx="0" cy="0"/>
          <a:chOff x="0" y="0"/>
          <a:chExt cx="0" cy="0"/>
        </a:xfrm>
      </p:grpSpPr>
      <p:sp>
        <p:nvSpPr>
          <p:cNvPr id="2" name="标题 1"/>
          <p:cNvSpPr>
            <a:spLocks noGrp="1"/>
          </p:cNvSpPr>
          <p:nvPr>
            <p:ph type="title"/>
          </p:nvPr>
        </p:nvSpPr>
        <p:spPr>
          <a:xfrm>
            <a:off x="609600" y="547688"/>
            <a:ext cx="7924800" cy="563562"/>
          </a:xfrm>
        </p:spPr>
        <p:txBody>
          <a:bodyPr/>
          <a:lstStyle/>
          <a:p>
            <a:r>
              <a:rPr lang="zh-CN" altLang="en-US" smtClean="0"/>
              <a:t>单击此处编辑母版标题样式</a:t>
            </a:r>
            <a:endParaRPr lang="zh-CN" altLang="en-US"/>
          </a:p>
        </p:txBody>
      </p:sp>
      <p:sp>
        <p:nvSpPr>
          <p:cNvPr id="3" name="表格占位符 2"/>
          <p:cNvSpPr>
            <a:spLocks noGrp="1"/>
          </p:cNvSpPr>
          <p:nvPr>
            <p:ph type="tbl" idx="1"/>
          </p:nvPr>
        </p:nvSpPr>
        <p:spPr>
          <a:xfrm>
            <a:off x="457200" y="1338263"/>
            <a:ext cx="8229600" cy="5092700"/>
          </a:xfrm>
        </p:spPr>
        <p:txBody>
          <a:bodyPr/>
          <a:lstStyle/>
          <a:p>
            <a:pPr lvl="0"/>
            <a:endParaRPr lang="zh-CN" altLang="en-US" noProof="0" smtClean="0"/>
          </a:p>
        </p:txBody>
      </p:sp>
      <p:sp>
        <p:nvSpPr>
          <p:cNvPr id="4" name="Rectangle 5"/>
          <p:cNvSpPr>
            <a:spLocks noGrp="1" noChangeArrowheads="1"/>
          </p:cNvSpPr>
          <p:nvPr>
            <p:ph type="ftr" sz="quarter" idx="10"/>
          </p:nvPr>
        </p:nvSpPr>
        <p:spPr>
          <a:ln/>
        </p:spPr>
        <p:txBody>
          <a:bodyPr/>
          <a:lstStyle>
            <a:lvl1pPr>
              <a:defRPr/>
            </a:lvl1pPr>
          </a:lstStyle>
          <a:p>
            <a:pPr>
              <a:defRPr/>
            </a:pPr>
            <a:endParaRPr lang="en-US" altLang="zh-CN"/>
          </a:p>
        </p:txBody>
      </p:sp>
      <p:sp>
        <p:nvSpPr>
          <p:cNvPr id="5" name="Rectangle 6"/>
          <p:cNvSpPr>
            <a:spLocks noGrp="1" noChangeArrowheads="1"/>
          </p:cNvSpPr>
          <p:nvPr>
            <p:ph type="sldNum" sz="quarter" idx="11"/>
          </p:nvPr>
        </p:nvSpPr>
        <p:spPr>
          <a:ln/>
        </p:spPr>
        <p:txBody>
          <a:bodyPr/>
          <a:lstStyle>
            <a:lvl1pPr>
              <a:defRPr/>
            </a:lvl1pPr>
          </a:lstStyle>
          <a:p>
            <a:pPr>
              <a:defRPr/>
            </a:pPr>
            <a:fld id="{EE2F2C64-D7F9-4FB1-8960-9CF447801AAD}" type="slidenum">
              <a:rPr lang="zh-CN" altLang="en-US"/>
              <a:pPr>
                <a:defRPr/>
              </a:pPr>
              <a:t>‹#›</a:t>
            </a:fld>
            <a:endParaRPr lang="en-US" altLang="zh-CN"/>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theme" Target="../theme/theme1.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日期占位符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4D9AC342-5BA0-4588-94C9-22A988431719}" type="datetimeFigureOut">
              <a:rPr lang="zh-CN" altLang="en-US" smtClean="0"/>
              <a:pPr/>
              <a:t>2018/11/27/Tue</a:t>
            </a:fld>
            <a:endParaRPr lang="zh-CN" altLang="en-US"/>
          </a:p>
        </p:txBody>
      </p:sp>
      <p:sp>
        <p:nvSpPr>
          <p:cNvPr id="5" name="页脚占位符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灯片编号占位符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D2E9545F-E696-4238-9B6D-571FBDF29D52}" type="slidenum">
              <a:rPr lang="zh-CN" altLang="en-US" smtClean="0"/>
              <a:pPr/>
              <a:t>‹#›</a:t>
            </a:fld>
            <a:endParaRPr lang="zh-CN"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2.xml"/></Relationships>
</file>

<file path=ppt/slides/_rels/slide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2.xml"/></Relationships>
</file>

<file path=ppt/slides/_rels/slide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2.xml"/></Relationships>
</file>

<file path=ppt/slides/_rels/slide7.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12.xml"/></Relationships>
</file>

<file path=ppt/slides/_rels/slide8.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12.xml"/></Relationships>
</file>

<file path=ppt/slides/_rels/slide9.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12.xml"/></Relationships>
</file>

<file path=ppt/slides/_rels/slide10.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12.xml"/></Relationships>
</file>

<file path=ppt/slides/_rels/slide11.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1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12.xml"/></Relationships>
</file>

<file path=ppt/slides/_rels/slide15.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Layout" Target="../slideLayouts/slideLayout1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12.xml"/></Relationships>
</file>

<file path=ppt/slides/_rels/slide19.xml.rels><?xml version="1.0" encoding="UTF-8" standalone="yes"?>
<Relationships xmlns="http://schemas.openxmlformats.org/package/2006/relationships"><Relationship Id="rId8" Type="http://schemas.openxmlformats.org/officeDocument/2006/relationships/oleObject" Target="../embeddings/oleObject2.bin"/><Relationship Id="rId3" Type="http://schemas.openxmlformats.org/officeDocument/2006/relationships/oleObject" Target="../embeddings/oleObject1.bin"/><Relationship Id="rId7" Type="http://schemas.openxmlformats.org/officeDocument/2006/relationships/image" Target="../media/image18.emf"/><Relationship Id="rId2" Type="http://schemas.openxmlformats.org/officeDocument/2006/relationships/slideLayout" Target="../slideLayouts/slideLayout13.xml"/><Relationship Id="rId1" Type="http://schemas.openxmlformats.org/officeDocument/2006/relationships/vmlDrawing" Target="../drawings/vmlDrawing1.vml"/><Relationship Id="rId6" Type="http://schemas.openxmlformats.org/officeDocument/2006/relationships/image" Target="../media/image17.emf"/><Relationship Id="rId11" Type="http://schemas.openxmlformats.org/officeDocument/2006/relationships/image" Target="../media/image15.emf"/><Relationship Id="rId5" Type="http://schemas.openxmlformats.org/officeDocument/2006/relationships/image" Target="../media/image16.emf"/><Relationship Id="rId10" Type="http://schemas.openxmlformats.org/officeDocument/2006/relationships/oleObject" Target="../embeddings/oleObject3.bin"/><Relationship Id="rId4" Type="http://schemas.openxmlformats.org/officeDocument/2006/relationships/image" Target="../media/image13.emf"/><Relationship Id="rId9" Type="http://schemas.openxmlformats.org/officeDocument/2006/relationships/image" Target="../media/image14.emf"/></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12.xml"/></Relationships>
</file>

<file path=ppt/slides/_rels/slide22.xml.rels><?xml version="1.0" encoding="UTF-8" standalone="yes"?>
<Relationships xmlns="http://schemas.openxmlformats.org/package/2006/relationships"><Relationship Id="rId3" Type="http://schemas.openxmlformats.org/officeDocument/2006/relationships/oleObject" Target="../embeddings/oleObject4.bin"/><Relationship Id="rId2" Type="http://schemas.openxmlformats.org/officeDocument/2006/relationships/slideLayout" Target="../slideLayouts/slideLayout2.xml"/><Relationship Id="rId1" Type="http://schemas.openxmlformats.org/officeDocument/2006/relationships/vmlDrawing" Target="../drawings/vmlDrawing2.vml"/><Relationship Id="rId6" Type="http://schemas.openxmlformats.org/officeDocument/2006/relationships/image" Target="../media/image21.emf"/><Relationship Id="rId5" Type="http://schemas.openxmlformats.org/officeDocument/2006/relationships/oleObject" Target="../embeddings/oleObject5.bin"/><Relationship Id="rId4" Type="http://schemas.openxmlformats.org/officeDocument/2006/relationships/image" Target="../media/image20.emf"/></Relationships>
</file>

<file path=ppt/slides/_rels/slide23.xml.rels><?xml version="1.0" encoding="UTF-8" standalone="yes"?>
<Relationships xmlns="http://schemas.openxmlformats.org/package/2006/relationships"><Relationship Id="rId3" Type="http://schemas.openxmlformats.org/officeDocument/2006/relationships/oleObject" Target="../embeddings/oleObject6.bin"/><Relationship Id="rId2" Type="http://schemas.openxmlformats.org/officeDocument/2006/relationships/slideLayout" Target="../slideLayouts/slideLayout2.xml"/><Relationship Id="rId1" Type="http://schemas.openxmlformats.org/officeDocument/2006/relationships/vmlDrawing" Target="../drawings/vmlDrawing3.vml"/><Relationship Id="rId6" Type="http://schemas.openxmlformats.org/officeDocument/2006/relationships/image" Target="../media/image23.emf"/><Relationship Id="rId5" Type="http://schemas.openxmlformats.org/officeDocument/2006/relationships/oleObject" Target="../embeddings/oleObject7.bin"/><Relationship Id="rId4" Type="http://schemas.openxmlformats.org/officeDocument/2006/relationships/image" Target="../media/image22.emf"/></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12.xml"/></Relationships>
</file>

<file path=ppt/slides/_rels/slide26.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12.xml"/></Relationships>
</file>

<file path=ppt/slides/_rels/slide27.xml.rels><?xml version="1.0" encoding="UTF-8" standalone="yes"?>
<Relationships xmlns="http://schemas.openxmlformats.org/package/2006/relationships"><Relationship Id="rId3" Type="http://schemas.openxmlformats.org/officeDocument/2006/relationships/oleObject" Target="../embeddings/oleObject8.bin"/><Relationship Id="rId7" Type="http://schemas.openxmlformats.org/officeDocument/2006/relationships/image" Target="../media/image28.png"/><Relationship Id="rId2" Type="http://schemas.openxmlformats.org/officeDocument/2006/relationships/slideLayout" Target="../slideLayouts/slideLayout2.xml"/><Relationship Id="rId1" Type="http://schemas.openxmlformats.org/officeDocument/2006/relationships/vmlDrawing" Target="../drawings/vmlDrawing4.vml"/><Relationship Id="rId6" Type="http://schemas.openxmlformats.org/officeDocument/2006/relationships/image" Target="../media/image27.wmf"/><Relationship Id="rId5" Type="http://schemas.openxmlformats.org/officeDocument/2006/relationships/oleObject" Target="../embeddings/oleObject9.bin"/><Relationship Id="rId4" Type="http://schemas.openxmlformats.org/officeDocument/2006/relationships/image" Target="../media/image26.wmf"/></Relationships>
</file>

<file path=ppt/slides/_rels/slide28.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12.xml"/></Relationships>
</file>

<file path=ppt/slides/_rels/slide30.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image" Target="../media/image31.pn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image" Target="../media/image33.png"/><Relationship Id="rId1" Type="http://schemas.openxmlformats.org/officeDocument/2006/relationships/slideLayout" Target="../slideLayouts/slideLayout12.xml"/></Relationships>
</file>

<file path=ppt/slides/_rels/slide32.xml.rels><?xml version="1.0" encoding="UTF-8" standalone="yes"?>
<Relationships xmlns="http://schemas.openxmlformats.org/package/2006/relationships"><Relationship Id="rId2" Type="http://schemas.openxmlformats.org/officeDocument/2006/relationships/image" Target="../media/image34.png"/><Relationship Id="rId1" Type="http://schemas.openxmlformats.org/officeDocument/2006/relationships/slideLayout" Target="../slideLayouts/slideLayout12.xml"/></Relationships>
</file>

<file path=ppt/slides/_rels/slide33.xml.rels><?xml version="1.0" encoding="UTF-8" standalone="yes"?>
<Relationships xmlns="http://schemas.openxmlformats.org/package/2006/relationships"><Relationship Id="rId2" Type="http://schemas.openxmlformats.org/officeDocument/2006/relationships/image" Target="../media/image35.png"/><Relationship Id="rId1" Type="http://schemas.openxmlformats.org/officeDocument/2006/relationships/slideLayout" Target="../slideLayouts/slideLayout12.xml"/></Relationships>
</file>

<file path=ppt/slides/_rels/slide34.xml.rels><?xml version="1.0" encoding="UTF-8" standalone="yes"?>
<Relationships xmlns="http://schemas.openxmlformats.org/package/2006/relationships"><Relationship Id="rId2" Type="http://schemas.openxmlformats.org/officeDocument/2006/relationships/image" Target="../media/image36.png"/><Relationship Id="rId1" Type="http://schemas.openxmlformats.org/officeDocument/2006/relationships/slideLayout" Target="../slideLayouts/slideLayout1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image" Target="../media/image37.png"/><Relationship Id="rId1" Type="http://schemas.openxmlformats.org/officeDocument/2006/relationships/slideLayout" Target="../slideLayouts/slideLayout1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2" Type="http://schemas.openxmlformats.org/officeDocument/2006/relationships/image" Target="../media/image38.png"/><Relationship Id="rId1" Type="http://schemas.openxmlformats.org/officeDocument/2006/relationships/slideLayout" Target="../slideLayouts/slideLayout1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2" Type="http://schemas.openxmlformats.org/officeDocument/2006/relationships/image" Target="../media/image39.png"/><Relationship Id="rId1" Type="http://schemas.openxmlformats.org/officeDocument/2006/relationships/slideLayout" Target="../slideLayouts/slideLayout1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4.xml.rels><?xml version="1.0" encoding="UTF-8" standalone="yes"?>
<Relationships xmlns="http://schemas.openxmlformats.org/package/2006/relationships"><Relationship Id="rId2" Type="http://schemas.openxmlformats.org/officeDocument/2006/relationships/image" Target="../media/image40.png"/><Relationship Id="rId1" Type="http://schemas.openxmlformats.org/officeDocument/2006/relationships/slideLayout" Target="../slideLayouts/slideLayout1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2" Type="http://schemas.openxmlformats.org/officeDocument/2006/relationships/image" Target="../media/image41.png"/><Relationship Id="rId1" Type="http://schemas.openxmlformats.org/officeDocument/2006/relationships/slideLayout" Target="../slideLayouts/slideLayout12.xml"/></Relationships>
</file>

<file path=ppt/slides/_rels/slide52.xml.rels><?xml version="1.0" encoding="UTF-8" standalone="yes"?>
<Relationships xmlns="http://schemas.openxmlformats.org/package/2006/relationships"><Relationship Id="rId2" Type="http://schemas.openxmlformats.org/officeDocument/2006/relationships/image" Target="../media/image42.png"/><Relationship Id="rId1" Type="http://schemas.openxmlformats.org/officeDocument/2006/relationships/slideLayout" Target="../slideLayouts/slideLayout12.xml"/></Relationships>
</file>

<file path=ppt/slides/_rels/slide53.xml.rels><?xml version="1.0" encoding="UTF-8" standalone="yes"?>
<Relationships xmlns="http://schemas.openxmlformats.org/package/2006/relationships"><Relationship Id="rId2" Type="http://schemas.openxmlformats.org/officeDocument/2006/relationships/image" Target="../media/image43.png"/><Relationship Id="rId1" Type="http://schemas.openxmlformats.org/officeDocument/2006/relationships/slideLayout" Target="../slideLayouts/slideLayout12.xml"/></Relationships>
</file>

<file path=ppt/slides/_rels/slide54.xml.rels><?xml version="1.0" encoding="UTF-8" standalone="yes"?>
<Relationships xmlns="http://schemas.openxmlformats.org/package/2006/relationships"><Relationship Id="rId2" Type="http://schemas.openxmlformats.org/officeDocument/2006/relationships/image" Target="../media/image44.png"/><Relationship Id="rId1" Type="http://schemas.openxmlformats.org/officeDocument/2006/relationships/slideLayout" Target="../slideLayouts/slideLayout12.xml"/></Relationships>
</file>

<file path=ppt/slides/_rels/slide55.xml.rels><?xml version="1.0" encoding="UTF-8" standalone="yes"?>
<Relationships xmlns="http://schemas.openxmlformats.org/package/2006/relationships"><Relationship Id="rId2" Type="http://schemas.openxmlformats.org/officeDocument/2006/relationships/image" Target="../media/image45.png"/><Relationship Id="rId1" Type="http://schemas.openxmlformats.org/officeDocument/2006/relationships/slideLayout" Target="../slideLayouts/slideLayout12.xml"/></Relationships>
</file>

<file path=ppt/slides/_rels/slide56.xml.rels><?xml version="1.0" encoding="UTF-8" standalone="yes"?>
<Relationships xmlns="http://schemas.openxmlformats.org/package/2006/relationships"><Relationship Id="rId2" Type="http://schemas.openxmlformats.org/officeDocument/2006/relationships/image" Target="../media/image46.png"/><Relationship Id="rId1" Type="http://schemas.openxmlformats.org/officeDocument/2006/relationships/slideLayout" Target="../slideLayouts/slideLayout12.xml"/></Relationships>
</file>

<file path=ppt/slides/_rels/slide57.xml.rels><?xml version="1.0" encoding="UTF-8" standalone="yes"?>
<Relationships xmlns="http://schemas.openxmlformats.org/package/2006/relationships"><Relationship Id="rId2" Type="http://schemas.openxmlformats.org/officeDocument/2006/relationships/image" Target="../media/image47.png"/><Relationship Id="rId1" Type="http://schemas.openxmlformats.org/officeDocument/2006/relationships/slideLayout" Target="../slideLayouts/slideLayout12.xml"/></Relationships>
</file>

<file path=ppt/slides/_rels/slide58.xml.rels><?xml version="1.0" encoding="UTF-8" standalone="yes"?>
<Relationships xmlns="http://schemas.openxmlformats.org/package/2006/relationships"><Relationship Id="rId2" Type="http://schemas.openxmlformats.org/officeDocument/2006/relationships/image" Target="../media/image48.png"/><Relationship Id="rId1" Type="http://schemas.openxmlformats.org/officeDocument/2006/relationships/slideLayout" Target="../slideLayouts/slideLayout12.xml"/></Relationships>
</file>

<file path=ppt/slides/_rels/slide59.xml.rels><?xml version="1.0" encoding="UTF-8" standalone="yes"?>
<Relationships xmlns="http://schemas.openxmlformats.org/package/2006/relationships"><Relationship Id="rId2" Type="http://schemas.openxmlformats.org/officeDocument/2006/relationships/image" Target="../media/image49.png"/><Relationship Id="rId1" Type="http://schemas.openxmlformats.org/officeDocument/2006/relationships/slideLayout" Target="../slideLayouts/slideLayout12.xml"/></Relationships>
</file>

<file path=ppt/slides/_rels/slide60.xml.rels><?xml version="1.0" encoding="UTF-8" standalone="yes"?>
<Relationships xmlns="http://schemas.openxmlformats.org/package/2006/relationships"><Relationship Id="rId3" Type="http://schemas.openxmlformats.org/officeDocument/2006/relationships/oleObject" Target="../embeddings/oleObject10.bin"/><Relationship Id="rId2" Type="http://schemas.openxmlformats.org/officeDocument/2006/relationships/slideLayout" Target="../slideLayouts/slideLayout13.xml"/><Relationship Id="rId1" Type="http://schemas.openxmlformats.org/officeDocument/2006/relationships/vmlDrawing" Target="../drawings/vmlDrawing5.vml"/><Relationship Id="rId5" Type="http://schemas.openxmlformats.org/officeDocument/2006/relationships/image" Target="../media/image51.png"/><Relationship Id="rId4" Type="http://schemas.openxmlformats.org/officeDocument/2006/relationships/image" Target="../media/image50.wmf"/></Relationships>
</file>

<file path=ppt/slides/_rels/slide61.xml.rels><?xml version="1.0" encoding="UTF-8" standalone="yes"?>
<Relationships xmlns="http://schemas.openxmlformats.org/package/2006/relationships"><Relationship Id="rId8" Type="http://schemas.openxmlformats.org/officeDocument/2006/relationships/image" Target="../media/image54.wmf"/><Relationship Id="rId3" Type="http://schemas.openxmlformats.org/officeDocument/2006/relationships/oleObject" Target="../embeddings/oleObject11.bin"/><Relationship Id="rId7" Type="http://schemas.openxmlformats.org/officeDocument/2006/relationships/oleObject" Target="../embeddings/oleObject13.bin"/><Relationship Id="rId2" Type="http://schemas.openxmlformats.org/officeDocument/2006/relationships/slideLayout" Target="../slideLayouts/slideLayout12.xml"/><Relationship Id="rId1" Type="http://schemas.openxmlformats.org/officeDocument/2006/relationships/vmlDrawing" Target="../drawings/vmlDrawing6.vml"/><Relationship Id="rId6" Type="http://schemas.openxmlformats.org/officeDocument/2006/relationships/image" Target="../media/image53.wmf"/><Relationship Id="rId5" Type="http://schemas.openxmlformats.org/officeDocument/2006/relationships/oleObject" Target="../embeddings/oleObject12.bin"/><Relationship Id="rId4" Type="http://schemas.openxmlformats.org/officeDocument/2006/relationships/image" Target="../media/image52.wmf"/></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3" Type="http://schemas.openxmlformats.org/officeDocument/2006/relationships/image" Target="../media/image56.png"/><Relationship Id="rId2" Type="http://schemas.openxmlformats.org/officeDocument/2006/relationships/image" Target="../media/image55.png"/><Relationship Id="rId1" Type="http://schemas.openxmlformats.org/officeDocument/2006/relationships/slideLayout" Target="../slideLayouts/slideLayout2.xml"/><Relationship Id="rId5" Type="http://schemas.openxmlformats.org/officeDocument/2006/relationships/image" Target="../media/image58.png"/><Relationship Id="rId4" Type="http://schemas.openxmlformats.org/officeDocument/2006/relationships/image" Target="../media/image57.png"/></Relationships>
</file>

<file path=ppt/slides/_rels/slide65.xml.rels><?xml version="1.0" encoding="UTF-8" standalone="yes"?>
<Relationships xmlns="http://schemas.openxmlformats.org/package/2006/relationships"><Relationship Id="rId8" Type="http://schemas.openxmlformats.org/officeDocument/2006/relationships/image" Target="../media/image62.jpeg"/><Relationship Id="rId3" Type="http://schemas.openxmlformats.org/officeDocument/2006/relationships/oleObject" Target="../embeddings/oleObject14.bin"/><Relationship Id="rId7" Type="http://schemas.openxmlformats.org/officeDocument/2006/relationships/image" Target="../media/image61.png"/><Relationship Id="rId2" Type="http://schemas.openxmlformats.org/officeDocument/2006/relationships/slideLayout" Target="../slideLayouts/slideLayout2.xml"/><Relationship Id="rId1" Type="http://schemas.openxmlformats.org/officeDocument/2006/relationships/vmlDrawing" Target="../drawings/vmlDrawing7.vml"/><Relationship Id="rId6" Type="http://schemas.openxmlformats.org/officeDocument/2006/relationships/image" Target="../media/image60.emf"/><Relationship Id="rId5" Type="http://schemas.openxmlformats.org/officeDocument/2006/relationships/oleObject" Target="../embeddings/oleObject15.bin"/><Relationship Id="rId4" Type="http://schemas.openxmlformats.org/officeDocument/2006/relationships/image" Target="../media/image59.emf"/><Relationship Id="rId9" Type="http://schemas.openxmlformats.org/officeDocument/2006/relationships/image" Target="../media/image63.jpeg"/></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67.xml.rels><?xml version="1.0" encoding="UTF-8" standalone="yes"?>
<Relationships xmlns="http://schemas.openxmlformats.org/package/2006/relationships"><Relationship Id="rId3" Type="http://schemas.openxmlformats.org/officeDocument/2006/relationships/oleObject" Target="../embeddings/oleObject16.bin"/><Relationship Id="rId2" Type="http://schemas.openxmlformats.org/officeDocument/2006/relationships/slideLayout" Target="../slideLayouts/slideLayout2.xml"/><Relationship Id="rId1" Type="http://schemas.openxmlformats.org/officeDocument/2006/relationships/vmlDrawing" Target="../drawings/vmlDrawing8.vml"/><Relationship Id="rId4" Type="http://schemas.openxmlformats.org/officeDocument/2006/relationships/image" Target="../media/image64.emf"/></Relationships>
</file>

<file path=ppt/slides/_rels/slide68.xml.rels><?xml version="1.0" encoding="UTF-8" standalone="yes"?>
<Relationships xmlns="http://schemas.openxmlformats.org/package/2006/relationships"><Relationship Id="rId8" Type="http://schemas.openxmlformats.org/officeDocument/2006/relationships/image" Target="../media/image67.emf"/><Relationship Id="rId3" Type="http://schemas.openxmlformats.org/officeDocument/2006/relationships/oleObject" Target="../embeddings/oleObject17.bin"/><Relationship Id="rId7" Type="http://schemas.openxmlformats.org/officeDocument/2006/relationships/oleObject" Target="../embeddings/oleObject19.bin"/><Relationship Id="rId2" Type="http://schemas.openxmlformats.org/officeDocument/2006/relationships/slideLayout" Target="../slideLayouts/slideLayout2.xml"/><Relationship Id="rId1" Type="http://schemas.openxmlformats.org/officeDocument/2006/relationships/vmlDrawing" Target="../drawings/vmlDrawing9.vml"/><Relationship Id="rId6" Type="http://schemas.openxmlformats.org/officeDocument/2006/relationships/image" Target="../media/image66.emf"/><Relationship Id="rId5" Type="http://schemas.openxmlformats.org/officeDocument/2006/relationships/oleObject" Target="../embeddings/oleObject18.bin"/><Relationship Id="rId10" Type="http://schemas.openxmlformats.org/officeDocument/2006/relationships/image" Target="../media/image68.emf"/><Relationship Id="rId4" Type="http://schemas.openxmlformats.org/officeDocument/2006/relationships/image" Target="../media/image65.emf"/><Relationship Id="rId9" Type="http://schemas.openxmlformats.org/officeDocument/2006/relationships/oleObject" Target="../embeddings/oleObject20.bin"/></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2" Type="http://schemas.openxmlformats.org/officeDocument/2006/relationships/image" Target="../media/image69.emf"/><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2" Type="http://schemas.openxmlformats.org/officeDocument/2006/relationships/image" Target="../media/image70.emf"/><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2" Type="http://schemas.openxmlformats.org/officeDocument/2006/relationships/image" Target="../media/image71.emf"/><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2" Type="http://schemas.openxmlformats.org/officeDocument/2006/relationships/image" Target="../media/image72.emf"/><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2" Type="http://schemas.openxmlformats.org/officeDocument/2006/relationships/image" Target="../media/image73.emf"/><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2" Type="http://schemas.openxmlformats.org/officeDocument/2006/relationships/image" Target="../media/image74.emf"/><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2" Type="http://schemas.openxmlformats.org/officeDocument/2006/relationships/image" Target="../media/image75.emf"/><Relationship Id="rId1"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2" Type="http://schemas.openxmlformats.org/officeDocument/2006/relationships/image" Target="../media/image76.emf"/><Relationship Id="rId1" Type="http://schemas.openxmlformats.org/officeDocument/2006/relationships/slideLayout" Target="../slideLayouts/slideLayout2.xml"/></Relationships>
</file>

<file path=ppt/slides/_rels/slide79.xml.rels><?xml version="1.0" encoding="UTF-8" standalone="yes"?>
<Relationships xmlns="http://schemas.openxmlformats.org/package/2006/relationships"><Relationship Id="rId3" Type="http://schemas.openxmlformats.org/officeDocument/2006/relationships/image" Target="../media/image78.emf"/><Relationship Id="rId2" Type="http://schemas.openxmlformats.org/officeDocument/2006/relationships/image" Target="../media/image77.emf"/><Relationship Id="rId1" Type="http://schemas.openxmlformats.org/officeDocument/2006/relationships/slideLayout" Target="../slideLayouts/slideLayout2.xml"/><Relationship Id="rId4" Type="http://schemas.openxmlformats.org/officeDocument/2006/relationships/image" Target="../media/image79.emf"/></Relationships>
</file>

<file path=ppt/slides/_rels/slide80.xml.rels><?xml version="1.0" encoding="UTF-8" standalone="yes"?>
<Relationships xmlns="http://schemas.openxmlformats.org/package/2006/relationships"><Relationship Id="rId3" Type="http://schemas.openxmlformats.org/officeDocument/2006/relationships/image" Target="../media/image80.wmf"/><Relationship Id="rId2" Type="http://schemas.openxmlformats.org/officeDocument/2006/relationships/image" Target="../media/image78.emf"/><Relationship Id="rId1" Type="http://schemas.openxmlformats.org/officeDocument/2006/relationships/slideLayout" Target="../slideLayouts/slideLayout2.xml"/><Relationship Id="rId4" Type="http://schemas.openxmlformats.org/officeDocument/2006/relationships/image" Target="../media/image81.wmf"/></Relationships>
</file>

<file path=ppt/slides/_rels/slide81.xml.rels><?xml version="1.0" encoding="UTF-8" standalone="yes"?>
<Relationships xmlns="http://schemas.openxmlformats.org/package/2006/relationships"><Relationship Id="rId2" Type="http://schemas.openxmlformats.org/officeDocument/2006/relationships/image" Target="../media/image82.png"/><Relationship Id="rId1" Type="http://schemas.openxmlformats.org/officeDocument/2006/relationships/slideLayout" Target="../slideLayouts/slideLayout2.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3.xml.rels><?xml version="1.0" encoding="UTF-8" standalone="yes"?>
<Relationships xmlns="http://schemas.openxmlformats.org/package/2006/relationships"><Relationship Id="rId2" Type="http://schemas.openxmlformats.org/officeDocument/2006/relationships/image" Target="../media/image83.emf"/><Relationship Id="rId1" Type="http://schemas.openxmlformats.org/officeDocument/2006/relationships/slideLayout" Target="../slideLayouts/slideLayout2.xml"/></Relationships>
</file>

<file path=ppt/slides/_rels/slide84.xml.rels><?xml version="1.0" encoding="UTF-8" standalone="yes"?>
<Relationships xmlns="http://schemas.openxmlformats.org/package/2006/relationships"><Relationship Id="rId2" Type="http://schemas.openxmlformats.org/officeDocument/2006/relationships/image" Target="../media/image84.wmf"/><Relationship Id="rId1" Type="http://schemas.openxmlformats.org/officeDocument/2006/relationships/slideLayout" Target="../slideLayouts/slideLayout2.xml"/></Relationships>
</file>

<file path=ppt/slides/_rels/slide85.xml.rels><?xml version="1.0" encoding="UTF-8" standalone="yes"?>
<Relationships xmlns="http://schemas.openxmlformats.org/package/2006/relationships"><Relationship Id="rId2" Type="http://schemas.openxmlformats.org/officeDocument/2006/relationships/image" Target="../media/image85.wmf"/><Relationship Id="rId1" Type="http://schemas.openxmlformats.org/officeDocument/2006/relationships/slideLayout" Target="../slideLayouts/slideLayout2.xml"/></Relationships>
</file>

<file path=ppt/slides/_rels/slide86.xml.rels><?xml version="1.0" encoding="UTF-8" standalone="yes"?>
<Relationships xmlns="http://schemas.openxmlformats.org/package/2006/relationships"><Relationship Id="rId2" Type="http://schemas.openxmlformats.org/officeDocument/2006/relationships/image" Target="../media/image86.wmf"/><Relationship Id="rId1" Type="http://schemas.openxmlformats.org/officeDocument/2006/relationships/slideLayout" Target="../slideLayouts/slideLayout2.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89.xml.rels><?xml version="1.0" encoding="UTF-8" standalone="yes"?>
<Relationships xmlns="http://schemas.openxmlformats.org/package/2006/relationships"><Relationship Id="rId2" Type="http://schemas.openxmlformats.org/officeDocument/2006/relationships/image" Target="../media/image87.png"/><Relationship Id="rId1" Type="http://schemas.openxmlformats.org/officeDocument/2006/relationships/slideLayout" Target="../slideLayouts/slideLayout2.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ctrTitle"/>
          </p:nvPr>
        </p:nvSpPr>
        <p:spPr>
          <a:xfrm>
            <a:off x="762000" y="1371600"/>
            <a:ext cx="7772400" cy="1470025"/>
          </a:xfrm>
        </p:spPr>
        <p:txBody>
          <a:bodyPr/>
          <a:lstStyle/>
          <a:p>
            <a:r>
              <a:rPr lang="zh-CN" altLang="en-US" dirty="0" smtClean="0"/>
              <a:t>遗传算法</a:t>
            </a:r>
            <a:endParaRPr lang="zh-CN" altLang="en-US" dirty="0"/>
          </a:p>
        </p:txBody>
      </p:sp>
      <p:sp>
        <p:nvSpPr>
          <p:cNvPr id="3" name="副标题 2"/>
          <p:cNvSpPr>
            <a:spLocks noGrp="1"/>
          </p:cNvSpPr>
          <p:nvPr>
            <p:ph type="subTitle" idx="1"/>
          </p:nvPr>
        </p:nvSpPr>
        <p:spPr/>
        <p:txBody>
          <a:bodyPr/>
          <a:lstStyle/>
          <a:p>
            <a:r>
              <a:rPr lang="zh-CN" altLang="en-US" dirty="0" smtClean="0">
                <a:solidFill>
                  <a:schemeClr val="tx1"/>
                </a:solidFill>
              </a:rPr>
              <a:t>刘瑞华</a:t>
            </a:r>
            <a:endParaRPr lang="en-US" altLang="zh-CN" dirty="0" smtClean="0">
              <a:solidFill>
                <a:schemeClr val="tx1"/>
              </a:solidFill>
            </a:endParaRPr>
          </a:p>
          <a:p>
            <a:r>
              <a:rPr lang="zh-CN" altLang="en-US" dirty="0" smtClean="0">
                <a:solidFill>
                  <a:schemeClr val="tx1"/>
                </a:solidFill>
              </a:rPr>
              <a:t>重庆理工大学</a:t>
            </a:r>
            <a:endParaRPr lang="en-US" altLang="zh-CN" dirty="0" smtClean="0">
              <a:solidFill>
                <a:schemeClr val="tx1"/>
              </a:solidFill>
            </a:endParaRPr>
          </a:p>
          <a:p>
            <a:r>
              <a:rPr lang="en-US" altLang="zh-CN" dirty="0" smtClean="0">
                <a:solidFill>
                  <a:schemeClr val="tx1"/>
                </a:solidFill>
              </a:rPr>
              <a:t>2016.08</a:t>
            </a:r>
            <a:endParaRPr lang="zh-CN" altLang="en-US" dirty="0">
              <a:solidFill>
                <a:schemeClr val="tx1"/>
              </a:solidFill>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目录</a:t>
            </a:r>
          </a:p>
        </p:txBody>
      </p:sp>
      <p:sp>
        <p:nvSpPr>
          <p:cNvPr id="3" name="内容占位符 2"/>
          <p:cNvSpPr>
            <a:spLocks noGrp="1"/>
          </p:cNvSpPr>
          <p:nvPr>
            <p:ph idx="1"/>
          </p:nvPr>
        </p:nvSpPr>
        <p:spPr/>
        <p:txBody>
          <a:bodyPr/>
          <a:lstStyle/>
          <a:p>
            <a:pPr>
              <a:lnSpc>
                <a:spcPct val="150000"/>
              </a:lnSpc>
              <a:buFont typeface="Wingdings" pitchFamily="2" charset="2"/>
              <a:buChar char="u"/>
            </a:pPr>
            <a:r>
              <a:rPr lang="zh-CN" altLang="en-US" dirty="0" smtClean="0"/>
              <a:t>一、优化问题</a:t>
            </a:r>
            <a:endParaRPr lang="en-US" altLang="zh-CN" dirty="0" smtClean="0"/>
          </a:p>
          <a:p>
            <a:pPr>
              <a:lnSpc>
                <a:spcPct val="150000"/>
              </a:lnSpc>
              <a:buFont typeface="Wingdings" pitchFamily="2" charset="2"/>
              <a:buChar char="u"/>
            </a:pPr>
            <a:r>
              <a:rPr lang="zh-CN" altLang="en-US" dirty="0" smtClean="0"/>
              <a:t>二、遗传算法概述</a:t>
            </a:r>
            <a:endParaRPr lang="en-US" altLang="zh-CN" dirty="0" smtClean="0"/>
          </a:p>
          <a:p>
            <a:pPr>
              <a:lnSpc>
                <a:spcPct val="150000"/>
              </a:lnSpc>
              <a:buFont typeface="Wingdings" pitchFamily="2" charset="2"/>
              <a:buChar char="u"/>
            </a:pPr>
            <a:r>
              <a:rPr lang="zh-CN" altLang="en-US" dirty="0" smtClean="0"/>
              <a:t>三、标准遗传算法</a:t>
            </a:r>
            <a:endParaRPr lang="en-US" altLang="zh-CN" dirty="0" smtClean="0"/>
          </a:p>
          <a:p>
            <a:pPr>
              <a:lnSpc>
                <a:spcPct val="150000"/>
              </a:lnSpc>
              <a:buFont typeface="Wingdings" pitchFamily="2" charset="2"/>
              <a:buChar char="u"/>
            </a:pPr>
            <a:r>
              <a:rPr lang="zh-CN" altLang="en-US" dirty="0" smtClean="0"/>
              <a:t>四、遗传算法求解巡回旅行商问题</a:t>
            </a:r>
            <a:endParaRPr lang="en-US" altLang="zh-CN" dirty="0" smtClean="0"/>
          </a:p>
          <a:p>
            <a:pPr>
              <a:lnSpc>
                <a:spcPct val="150000"/>
              </a:lnSpc>
              <a:buFont typeface="Wingdings" pitchFamily="2" charset="2"/>
              <a:buChar char="u"/>
            </a:pPr>
            <a:r>
              <a:rPr lang="zh-CN" altLang="en-US" dirty="0" smtClean="0"/>
              <a:t>五、其他的遗传算法</a:t>
            </a:r>
            <a:endParaRPr lang="en-US" altLang="zh-CN" dirty="0" smtClean="0"/>
          </a:p>
          <a:p>
            <a:endParaRPr lang="zh-CN" altLang="en-US"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533400" y="2514600"/>
            <a:ext cx="8229600" cy="1143000"/>
          </a:xfrm>
        </p:spPr>
        <p:txBody>
          <a:bodyPr/>
          <a:lstStyle/>
          <a:p>
            <a:r>
              <a:rPr lang="zh-CN" altLang="en-US" dirty="0" smtClean="0"/>
              <a:t>一、优化问题</a:t>
            </a:r>
            <a:endParaRPr lang="zh-CN" altLang="en-US"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098" name="Picture 2"/>
          <p:cNvPicPr>
            <a:picLocks noChangeAspect="1" noChangeArrowheads="1"/>
          </p:cNvPicPr>
          <p:nvPr/>
        </p:nvPicPr>
        <p:blipFill>
          <a:blip r:embed="rId2" cstate="print"/>
          <a:srcRect/>
          <a:stretch>
            <a:fillRect/>
          </a:stretch>
        </p:blipFill>
        <p:spPr bwMode="auto">
          <a:xfrm>
            <a:off x="838200" y="838200"/>
            <a:ext cx="7086600" cy="5263548"/>
          </a:xfrm>
          <a:prstGeom prst="rect">
            <a:avLst/>
          </a:prstGeom>
          <a:noFill/>
          <a:ln w="9525">
            <a:noFill/>
            <a:miter lim="800000"/>
            <a:headEnd/>
            <a:tailEnd/>
          </a:ln>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122" name="Picture 2"/>
          <p:cNvPicPr>
            <a:picLocks noChangeAspect="1" noChangeArrowheads="1"/>
          </p:cNvPicPr>
          <p:nvPr/>
        </p:nvPicPr>
        <p:blipFill>
          <a:blip r:embed="rId2" cstate="print"/>
          <a:srcRect/>
          <a:stretch>
            <a:fillRect/>
          </a:stretch>
        </p:blipFill>
        <p:spPr bwMode="auto">
          <a:xfrm>
            <a:off x="990600" y="914400"/>
            <a:ext cx="6781800" cy="5041824"/>
          </a:xfrm>
          <a:prstGeom prst="rect">
            <a:avLst/>
          </a:prstGeom>
          <a:noFill/>
          <a:ln w="9525">
            <a:noFill/>
            <a:miter lim="800000"/>
            <a:headEnd/>
            <a:tailEnd/>
          </a:ln>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146" name="Picture 2"/>
          <p:cNvPicPr>
            <a:picLocks noChangeAspect="1" noChangeArrowheads="1"/>
          </p:cNvPicPr>
          <p:nvPr/>
        </p:nvPicPr>
        <p:blipFill>
          <a:blip r:embed="rId2" cstate="print"/>
          <a:srcRect/>
          <a:stretch>
            <a:fillRect/>
          </a:stretch>
        </p:blipFill>
        <p:spPr bwMode="auto">
          <a:xfrm>
            <a:off x="685800" y="1066800"/>
            <a:ext cx="7657985" cy="4419600"/>
          </a:xfrm>
          <a:prstGeom prst="rect">
            <a:avLst/>
          </a:prstGeom>
          <a:noFill/>
          <a:ln w="9525">
            <a:noFill/>
            <a:miter lim="800000"/>
            <a:headEnd/>
            <a:tailEnd/>
          </a:ln>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170" name="Picture 2"/>
          <p:cNvPicPr>
            <a:picLocks noChangeAspect="1" noChangeArrowheads="1"/>
          </p:cNvPicPr>
          <p:nvPr/>
        </p:nvPicPr>
        <p:blipFill>
          <a:blip r:embed="rId2" cstate="print"/>
          <a:srcRect/>
          <a:stretch>
            <a:fillRect/>
          </a:stretch>
        </p:blipFill>
        <p:spPr bwMode="auto">
          <a:xfrm>
            <a:off x="1219200" y="838200"/>
            <a:ext cx="6248400" cy="5317787"/>
          </a:xfrm>
          <a:prstGeom prst="rect">
            <a:avLst/>
          </a:prstGeom>
          <a:noFill/>
          <a:ln w="9525">
            <a:noFill/>
            <a:miter lim="800000"/>
            <a:headEnd/>
            <a:tailEnd/>
          </a:ln>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194" name="Picture 2"/>
          <p:cNvPicPr>
            <a:picLocks noChangeAspect="1" noChangeArrowheads="1"/>
          </p:cNvPicPr>
          <p:nvPr/>
        </p:nvPicPr>
        <p:blipFill>
          <a:blip r:embed="rId2" cstate="print"/>
          <a:srcRect/>
          <a:stretch>
            <a:fillRect/>
          </a:stretch>
        </p:blipFill>
        <p:spPr bwMode="auto">
          <a:xfrm>
            <a:off x="1143000" y="762000"/>
            <a:ext cx="6400800" cy="5281319"/>
          </a:xfrm>
          <a:prstGeom prst="rect">
            <a:avLst/>
          </a:prstGeom>
          <a:noFill/>
          <a:ln w="9525">
            <a:noFill/>
            <a:miter lim="800000"/>
            <a:headEnd/>
            <a:tailEnd/>
          </a:ln>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218" name="Picture 2"/>
          <p:cNvPicPr>
            <a:picLocks noChangeAspect="1" noChangeArrowheads="1"/>
          </p:cNvPicPr>
          <p:nvPr/>
        </p:nvPicPr>
        <p:blipFill>
          <a:blip r:embed="rId2" cstate="print"/>
          <a:srcRect/>
          <a:stretch>
            <a:fillRect/>
          </a:stretch>
        </p:blipFill>
        <p:spPr bwMode="auto">
          <a:xfrm>
            <a:off x="1447800" y="838200"/>
            <a:ext cx="5867400" cy="5093970"/>
          </a:xfrm>
          <a:prstGeom prst="rect">
            <a:avLst/>
          </a:prstGeom>
          <a:noFill/>
          <a:ln w="9525">
            <a:noFill/>
            <a:miter lim="800000"/>
            <a:headEnd/>
            <a:tailEnd/>
          </a:ln>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42" name="Picture 2"/>
          <p:cNvPicPr>
            <a:picLocks noChangeAspect="1" noChangeArrowheads="1"/>
          </p:cNvPicPr>
          <p:nvPr/>
        </p:nvPicPr>
        <p:blipFill>
          <a:blip r:embed="rId2" cstate="print"/>
          <a:srcRect/>
          <a:stretch>
            <a:fillRect/>
          </a:stretch>
        </p:blipFill>
        <p:spPr bwMode="auto">
          <a:xfrm>
            <a:off x="914400" y="762000"/>
            <a:ext cx="7273940" cy="5029200"/>
          </a:xfrm>
          <a:prstGeom prst="rect">
            <a:avLst/>
          </a:prstGeom>
          <a:noFill/>
          <a:ln w="9525">
            <a:noFill/>
            <a:miter lim="800000"/>
            <a:headEnd/>
            <a:tailEnd/>
          </a:ln>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1266" name="Picture 2"/>
          <p:cNvPicPr>
            <a:picLocks noChangeAspect="1" noChangeArrowheads="1"/>
          </p:cNvPicPr>
          <p:nvPr/>
        </p:nvPicPr>
        <p:blipFill>
          <a:blip r:embed="rId2" cstate="print"/>
          <a:srcRect/>
          <a:stretch>
            <a:fillRect/>
          </a:stretch>
        </p:blipFill>
        <p:spPr bwMode="auto">
          <a:xfrm>
            <a:off x="1066800" y="762000"/>
            <a:ext cx="7010400" cy="5209915"/>
          </a:xfrm>
          <a:prstGeom prst="rect">
            <a:avLst/>
          </a:prstGeom>
          <a:noFill/>
          <a:ln w="9525">
            <a:noFill/>
            <a:miter lim="800000"/>
            <a:headEnd/>
            <a:tailEnd/>
          </a:ln>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609600" y="2819400"/>
            <a:ext cx="8229600" cy="1143000"/>
          </a:xfrm>
        </p:spPr>
        <p:txBody>
          <a:bodyPr/>
          <a:lstStyle/>
          <a:p>
            <a:r>
              <a:rPr lang="zh-CN" altLang="en-US" dirty="0" smtClean="0"/>
              <a:t>二、遗传算法概述</a:t>
            </a:r>
            <a:endParaRPr lang="zh-CN" altLang="en-US"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457200" y="990600"/>
            <a:ext cx="8229600" cy="5181600"/>
          </a:xfrm>
        </p:spPr>
        <p:txBody>
          <a:bodyPr>
            <a:normAutofit fontScale="92500"/>
          </a:bodyPr>
          <a:lstStyle/>
          <a:p>
            <a:pPr marL="0" indent="398463">
              <a:lnSpc>
                <a:spcPct val="150000"/>
              </a:lnSpc>
              <a:buFont typeface="Wingdings" pitchFamily="2" charset="2"/>
              <a:buChar char="u"/>
            </a:pPr>
            <a:r>
              <a:rPr lang="zh-CN" altLang="en-US" sz="2000" dirty="0" smtClean="0"/>
              <a:t>遗传算法（也称为遗传优化算法）本质上是一种进化算法，它在很多领域都有广泛的应用，例如生产调度问题、自动控制、机器学习、图像处理等。特别对于一些非线性、多模型、多目标的函数优化问题，用其他优化方法很难求解，而遗传算法可以方便地得到很好的结果。</a:t>
            </a:r>
            <a:endParaRPr lang="en-US" altLang="zh-CN" sz="2000" dirty="0" smtClean="0"/>
          </a:p>
          <a:p>
            <a:pPr marL="0" indent="398463">
              <a:lnSpc>
                <a:spcPct val="150000"/>
              </a:lnSpc>
              <a:buFont typeface="Wingdings" pitchFamily="2" charset="2"/>
              <a:buChar char="u"/>
            </a:pPr>
            <a:r>
              <a:rPr lang="zh-CN" altLang="en-US" sz="2000" dirty="0" smtClean="0"/>
              <a:t>遗传算法基于自然选择的生物进化，是一种模仿生物进化过程的随机方法。遗传算法是从代表问题可能潜在解集的一个种群开始，而一个种群则由经过基因编码的一定数目的个体组成，每个个体实际上是带有染色体特征的实体。</a:t>
            </a:r>
            <a:endParaRPr lang="en-US" altLang="zh-CN" sz="2000" dirty="0" smtClean="0"/>
          </a:p>
          <a:p>
            <a:pPr marL="0" indent="398463">
              <a:lnSpc>
                <a:spcPct val="150000"/>
              </a:lnSpc>
              <a:buFont typeface="Wingdings" pitchFamily="2" charset="2"/>
              <a:buChar char="u"/>
            </a:pPr>
            <a:r>
              <a:rPr lang="zh-CN" altLang="en-US" sz="2000" dirty="0" smtClean="0"/>
              <a:t>在一开始需要实现从表现型到基因型的映射即编码工作。由于仿照基因编码的工作和复杂，我们往往需要进行简化，如二进制。初代种群产生后，按照适者生存、优胜劣汰的原理，逐代演化产生出越来越好的近似解。</a:t>
            </a:r>
          </a:p>
          <a:p>
            <a:pPr marL="0" indent="398463">
              <a:lnSpc>
                <a:spcPct val="150000"/>
              </a:lnSpc>
              <a:buNone/>
            </a:pPr>
            <a:endParaRPr lang="en-US" altLang="zh-CN" sz="2000" dirty="0" smtClean="0"/>
          </a:p>
          <a:p>
            <a:pPr marL="0" indent="398463">
              <a:buNone/>
            </a:pPr>
            <a:endParaRPr lang="zh-CN" altLang="en-US" sz="2000" dirty="0">
              <a:solidFill>
                <a:schemeClr val="tx1"/>
              </a:solidFill>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2290" name="Picture 2"/>
          <p:cNvPicPr>
            <a:picLocks noChangeAspect="1" noChangeArrowheads="1"/>
          </p:cNvPicPr>
          <p:nvPr/>
        </p:nvPicPr>
        <p:blipFill>
          <a:blip r:embed="rId2" cstate="print"/>
          <a:srcRect/>
          <a:stretch>
            <a:fillRect/>
          </a:stretch>
        </p:blipFill>
        <p:spPr bwMode="auto">
          <a:xfrm>
            <a:off x="838200" y="1295400"/>
            <a:ext cx="7457284" cy="4343400"/>
          </a:xfrm>
          <a:prstGeom prst="rect">
            <a:avLst/>
          </a:prstGeom>
          <a:noFill/>
          <a:ln w="9525">
            <a:noFill/>
            <a:miter lim="800000"/>
            <a:headEnd/>
            <a:tailEnd/>
          </a:ln>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3314" name="Picture 2"/>
          <p:cNvPicPr>
            <a:picLocks noChangeAspect="1" noChangeArrowheads="1"/>
          </p:cNvPicPr>
          <p:nvPr/>
        </p:nvPicPr>
        <p:blipFill>
          <a:blip r:embed="rId2" cstate="print"/>
          <a:srcRect/>
          <a:stretch>
            <a:fillRect/>
          </a:stretch>
        </p:blipFill>
        <p:spPr bwMode="auto">
          <a:xfrm>
            <a:off x="914400" y="609600"/>
            <a:ext cx="7162800" cy="4653870"/>
          </a:xfrm>
          <a:prstGeom prst="rect">
            <a:avLst/>
          </a:prstGeom>
          <a:noFill/>
          <a:ln w="9525">
            <a:noFill/>
            <a:miter lim="800000"/>
            <a:headEnd/>
            <a:tailEnd/>
          </a:ln>
        </p:spPr>
      </p:pic>
      <p:pic>
        <p:nvPicPr>
          <p:cNvPr id="13315" name="Picture 3"/>
          <p:cNvPicPr>
            <a:picLocks noChangeAspect="1" noChangeArrowheads="1"/>
          </p:cNvPicPr>
          <p:nvPr/>
        </p:nvPicPr>
        <p:blipFill>
          <a:blip r:embed="rId3" cstate="print"/>
          <a:srcRect/>
          <a:stretch>
            <a:fillRect/>
          </a:stretch>
        </p:blipFill>
        <p:spPr bwMode="auto">
          <a:xfrm>
            <a:off x="914400" y="5562600"/>
            <a:ext cx="6934200" cy="780585"/>
          </a:xfrm>
          <a:prstGeom prst="rect">
            <a:avLst/>
          </a:prstGeom>
          <a:noFill/>
          <a:ln w="9525">
            <a:noFill/>
            <a:miter lim="800000"/>
            <a:headEnd/>
            <a:tailEnd/>
          </a:ln>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609600" y="2819400"/>
            <a:ext cx="8229600" cy="1143000"/>
          </a:xfrm>
        </p:spPr>
        <p:txBody>
          <a:bodyPr/>
          <a:lstStyle/>
          <a:p>
            <a:r>
              <a:rPr lang="zh-CN" altLang="en-US" dirty="0" smtClean="0"/>
              <a:t>三、标准遗传算法</a:t>
            </a:r>
            <a:endParaRPr lang="zh-CN" altLang="en-US"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3" name="Rectangle 3"/>
          <p:cNvSpPr>
            <a:spLocks noGrp="1" noChangeArrowheads="1"/>
          </p:cNvSpPr>
          <p:nvPr>
            <p:ph type="body" idx="1"/>
          </p:nvPr>
        </p:nvSpPr>
        <p:spPr>
          <a:xfrm>
            <a:off x="533400" y="4114800"/>
            <a:ext cx="8153400" cy="2743200"/>
          </a:xfrm>
        </p:spPr>
        <p:txBody>
          <a:bodyPr/>
          <a:lstStyle/>
          <a:p>
            <a:pPr marL="0" indent="0" eaLnBrk="1" hangingPunct="1">
              <a:buFont typeface="Wingdings" pitchFamily="2" charset="2"/>
              <a:buChar char="p"/>
            </a:pPr>
            <a:r>
              <a:rPr lang="zh-CN" altLang="en-US" sz="2400" smtClean="0">
                <a:ea typeface="宋体" charset="-122"/>
              </a:rPr>
              <a:t>解码</a:t>
            </a:r>
            <a:r>
              <a:rPr lang="zh-CN" altLang="en-US" sz="2400" smtClean="0">
                <a:latin typeface="Times New Roman" pitchFamily="18" charset="0"/>
                <a:ea typeface="宋体" charset="-122"/>
              </a:rPr>
              <a:t>（</a:t>
            </a:r>
            <a:r>
              <a:rPr lang="en-US" altLang="zh-CN" sz="2400" smtClean="0">
                <a:latin typeface="Times New Roman" pitchFamily="18" charset="0"/>
                <a:ea typeface="宋体" charset="-122"/>
              </a:rPr>
              <a:t>Decoding</a:t>
            </a:r>
            <a:r>
              <a:rPr lang="zh-CN" altLang="en-US" sz="2400" smtClean="0">
                <a:latin typeface="Times New Roman" pitchFamily="18" charset="0"/>
                <a:ea typeface="宋体" charset="-122"/>
              </a:rPr>
              <a:t>）</a:t>
            </a:r>
            <a:r>
              <a:rPr lang="zh-CN" altLang="en-US" sz="2400" smtClean="0">
                <a:ea typeface="宋体" charset="-122"/>
              </a:rPr>
              <a:t>  解码是将遗传算法所搜索到的最优个体的染色体转换成待求解问题的实际最优解的过程，即编码的逆过程。</a:t>
            </a:r>
          </a:p>
          <a:p>
            <a:pPr marL="0" indent="0" eaLnBrk="1" hangingPunct="1">
              <a:buFont typeface="Wingdings" pitchFamily="2" charset="2"/>
              <a:buNone/>
            </a:pPr>
            <a:r>
              <a:rPr lang="zh-CN" altLang="en-US" smtClean="0">
                <a:ea typeface="宋体" charset="-122"/>
              </a:rPr>
              <a:t>      </a:t>
            </a:r>
          </a:p>
        </p:txBody>
      </p:sp>
      <p:sp>
        <p:nvSpPr>
          <p:cNvPr id="30724" name="Rectangle 4"/>
          <p:cNvSpPr>
            <a:spLocks noChangeArrowheads="1"/>
          </p:cNvSpPr>
          <p:nvPr/>
        </p:nvSpPr>
        <p:spPr bwMode="auto">
          <a:xfrm>
            <a:off x="457200" y="1338263"/>
            <a:ext cx="8229600" cy="490537"/>
          </a:xfrm>
          <a:prstGeom prst="rect">
            <a:avLst/>
          </a:prstGeom>
          <a:noFill/>
          <a:ln w="9525">
            <a:noFill/>
            <a:miter lim="800000"/>
            <a:headEnd/>
            <a:tailEnd/>
          </a:ln>
        </p:spPr>
        <p:txBody>
          <a:bodyPr/>
          <a:lstStyle/>
          <a:p>
            <a:pPr marL="342900" indent="-342900">
              <a:lnSpc>
                <a:spcPct val="90000"/>
              </a:lnSpc>
              <a:spcBef>
                <a:spcPct val="40000"/>
              </a:spcBef>
              <a:buClr>
                <a:schemeClr val="hlink"/>
              </a:buClr>
              <a:buFont typeface="Wingdings" pitchFamily="2" charset="2"/>
              <a:buNone/>
            </a:pPr>
            <a:r>
              <a:rPr lang="zh-CN" altLang="en-US" sz="2800" b="1" dirty="0" smtClean="0">
                <a:solidFill>
                  <a:srgbClr val="CC6600"/>
                </a:solidFill>
                <a:latin typeface="Verdana" pitchFamily="34" charset="0"/>
                <a:ea typeface="宋体" charset="-122"/>
              </a:rPr>
              <a:t>遗传</a:t>
            </a:r>
            <a:r>
              <a:rPr lang="zh-CN" altLang="en-US" sz="2800" b="1" dirty="0">
                <a:solidFill>
                  <a:srgbClr val="CC6600"/>
                </a:solidFill>
                <a:latin typeface="Verdana" pitchFamily="34" charset="0"/>
                <a:ea typeface="宋体" charset="-122"/>
              </a:rPr>
              <a:t>算法的若干概念</a:t>
            </a:r>
            <a:endParaRPr lang="zh-CN" altLang="en-US" sz="2800" b="1" dirty="0">
              <a:latin typeface="Verdana" pitchFamily="34" charset="0"/>
              <a:ea typeface="宋体" charset="-122"/>
            </a:endParaRPr>
          </a:p>
        </p:txBody>
      </p:sp>
      <p:sp>
        <p:nvSpPr>
          <p:cNvPr id="30725" name="Text Box 7"/>
          <p:cNvSpPr txBox="1">
            <a:spLocks noChangeArrowheads="1"/>
          </p:cNvSpPr>
          <p:nvPr/>
        </p:nvSpPr>
        <p:spPr bwMode="auto">
          <a:xfrm>
            <a:off x="533400" y="1981200"/>
            <a:ext cx="8001000" cy="1187450"/>
          </a:xfrm>
          <a:prstGeom prst="rect">
            <a:avLst/>
          </a:prstGeom>
          <a:noFill/>
          <a:ln w="9525" algn="ctr">
            <a:noFill/>
            <a:miter lim="800000"/>
            <a:headEnd/>
            <a:tailEnd/>
          </a:ln>
        </p:spPr>
        <p:txBody>
          <a:bodyPr>
            <a:spAutoFit/>
          </a:bodyPr>
          <a:lstStyle/>
          <a:p>
            <a:pPr>
              <a:spcBef>
                <a:spcPct val="40000"/>
              </a:spcBef>
              <a:buClr>
                <a:schemeClr val="hlink"/>
              </a:buClr>
              <a:buFont typeface="Wingdings" pitchFamily="2" charset="2"/>
              <a:buChar char="p"/>
            </a:pPr>
            <a:r>
              <a:rPr lang="zh-CN" altLang="en-US" sz="2400" b="1">
                <a:latin typeface="Verdana" pitchFamily="34" charset="0"/>
                <a:ea typeface="宋体" charset="-122"/>
              </a:rPr>
              <a:t>编码</a:t>
            </a:r>
            <a:r>
              <a:rPr lang="zh-CN" altLang="en-US" sz="2400" b="1">
                <a:latin typeface="Times New Roman" pitchFamily="18" charset="0"/>
                <a:ea typeface="宋体" charset="-122"/>
              </a:rPr>
              <a:t>（</a:t>
            </a:r>
            <a:r>
              <a:rPr lang="en-US" altLang="zh-CN" sz="2400" b="1">
                <a:latin typeface="Times New Roman" pitchFamily="18" charset="0"/>
                <a:ea typeface="宋体" charset="-122"/>
              </a:rPr>
              <a:t>Coding</a:t>
            </a:r>
            <a:r>
              <a:rPr lang="zh-CN" altLang="en-US" sz="2400" b="1">
                <a:latin typeface="Times New Roman" pitchFamily="18" charset="0"/>
                <a:ea typeface="宋体" charset="-122"/>
              </a:rPr>
              <a:t>）</a:t>
            </a:r>
            <a:r>
              <a:rPr lang="zh-CN" altLang="en-US" sz="2400" b="1">
                <a:latin typeface="Verdana" pitchFamily="34" charset="0"/>
                <a:ea typeface="宋体" charset="-122"/>
              </a:rPr>
              <a:t> 将一个待求解的问题的实际可行解从其解空间转换到遗传算法所能处理的搜索空间（即个体空间）的过程，就称为编码。</a:t>
            </a:r>
          </a:p>
        </p:txBody>
      </p:sp>
      <p:sp>
        <p:nvSpPr>
          <p:cNvPr id="30726" name="TextBox 5"/>
          <p:cNvSpPr txBox="1">
            <a:spLocks noChangeArrowheads="1"/>
          </p:cNvSpPr>
          <p:nvPr/>
        </p:nvSpPr>
        <p:spPr bwMode="auto">
          <a:xfrm>
            <a:off x="2514600" y="3124200"/>
            <a:ext cx="4017963" cy="1200150"/>
          </a:xfrm>
          <a:prstGeom prst="rect">
            <a:avLst/>
          </a:prstGeom>
          <a:noFill/>
          <a:ln w="9525">
            <a:noFill/>
            <a:miter lim="800000"/>
            <a:headEnd/>
            <a:tailEnd/>
          </a:ln>
        </p:spPr>
        <p:txBody>
          <a:bodyPr wrap="none">
            <a:spAutoFit/>
          </a:bodyPr>
          <a:lstStyle/>
          <a:p>
            <a:r>
              <a:rPr lang="zh-CN" altLang="en-US" sz="2400" b="1">
                <a:solidFill>
                  <a:srgbClr val="FF0000"/>
                </a:solidFill>
                <a:ea typeface="宋体" charset="-122"/>
              </a:rPr>
              <a:t>例如：</a:t>
            </a:r>
            <a:r>
              <a:rPr lang="en-US" altLang="zh-CN" sz="2400" b="1" i="1">
                <a:solidFill>
                  <a:srgbClr val="FF0000"/>
                </a:solidFill>
                <a:latin typeface="Times New Roman" pitchFamily="18" charset="0"/>
                <a:ea typeface="宋体" charset="-122"/>
                <a:cs typeface="Times New Roman" pitchFamily="18" charset="0"/>
                <a:sym typeface="Wingdings" pitchFamily="2" charset="2"/>
              </a:rPr>
              <a:t>x</a:t>
            </a:r>
            <a:r>
              <a:rPr lang="en-US" altLang="zh-CN" sz="2400" b="1" i="1" baseline="-25000">
                <a:solidFill>
                  <a:srgbClr val="FF0000"/>
                </a:solidFill>
                <a:latin typeface="Times New Roman" pitchFamily="18" charset="0"/>
                <a:ea typeface="宋体" charset="-122"/>
                <a:cs typeface="Times New Roman" pitchFamily="18" charset="0"/>
                <a:sym typeface="Wingdings" pitchFamily="2" charset="2"/>
              </a:rPr>
              <a:t>1 </a:t>
            </a:r>
            <a:r>
              <a:rPr lang="en-US" altLang="zh-CN" sz="2400" b="1">
                <a:solidFill>
                  <a:srgbClr val="FF0000"/>
                </a:solidFill>
                <a:ea typeface="宋体" charset="-122"/>
                <a:sym typeface="Wingdings" pitchFamily="2" charset="2"/>
              </a:rPr>
              <a:t>=105  </a:t>
            </a:r>
            <a:r>
              <a:rPr lang="en-US" altLang="zh-CN" sz="2400" b="1">
                <a:solidFill>
                  <a:srgbClr val="FF0000"/>
                </a:solidFill>
                <a:ea typeface="宋体" charset="-122"/>
              </a:rPr>
              <a:t>01101001</a:t>
            </a:r>
          </a:p>
          <a:p>
            <a:r>
              <a:rPr lang="en-US" altLang="zh-CN" sz="2400" b="1" i="1">
                <a:solidFill>
                  <a:srgbClr val="FF0000"/>
                </a:solidFill>
                <a:latin typeface="Times New Roman" pitchFamily="18" charset="0"/>
                <a:ea typeface="宋体" charset="-122"/>
                <a:sym typeface="Wingdings" pitchFamily="2" charset="2"/>
              </a:rPr>
              <a:t>            x</a:t>
            </a:r>
            <a:r>
              <a:rPr lang="en-US" altLang="zh-CN" sz="2400" b="1" i="1" baseline="-25000">
                <a:solidFill>
                  <a:srgbClr val="FF0000"/>
                </a:solidFill>
                <a:latin typeface="Times New Roman" pitchFamily="18" charset="0"/>
                <a:ea typeface="宋体" charset="-122"/>
                <a:sym typeface="Wingdings" pitchFamily="2" charset="2"/>
              </a:rPr>
              <a:t>2</a:t>
            </a:r>
            <a:r>
              <a:rPr lang="en-US" altLang="zh-CN" sz="2400" b="1" i="1">
                <a:solidFill>
                  <a:srgbClr val="FF0000"/>
                </a:solidFill>
                <a:latin typeface="Times New Roman" pitchFamily="18" charset="0"/>
                <a:ea typeface="宋体" charset="-122"/>
                <a:sym typeface="Wingdings" pitchFamily="2" charset="2"/>
              </a:rPr>
              <a:t> </a:t>
            </a:r>
            <a:r>
              <a:rPr lang="en-US" altLang="zh-CN" sz="2400" b="1">
                <a:solidFill>
                  <a:srgbClr val="FF0000"/>
                </a:solidFill>
                <a:ea typeface="宋体" charset="-122"/>
                <a:sym typeface="Wingdings" pitchFamily="2" charset="2"/>
              </a:rPr>
              <a:t>=83    </a:t>
            </a:r>
            <a:r>
              <a:rPr lang="en-US" altLang="zh-CN" sz="2400" b="1">
                <a:solidFill>
                  <a:srgbClr val="FF0000"/>
                </a:solidFill>
                <a:ea typeface="宋体" charset="-122"/>
              </a:rPr>
              <a:t>01010011</a:t>
            </a:r>
          </a:p>
          <a:p>
            <a:r>
              <a:rPr lang="en-US" altLang="zh-CN" sz="2400" b="1">
                <a:solidFill>
                  <a:srgbClr val="FF0000"/>
                </a:solidFill>
                <a:ea typeface="宋体" charset="-122"/>
              </a:rPr>
              <a:t>           </a:t>
            </a:r>
            <a:endParaRPr lang="zh-CN" altLang="en-US" sz="2400" b="1">
              <a:solidFill>
                <a:srgbClr val="FF0000"/>
              </a:solidFill>
              <a:ea typeface="宋体" charset="-122"/>
            </a:endParaRPr>
          </a:p>
        </p:txBody>
      </p:sp>
      <p:sp>
        <p:nvSpPr>
          <p:cNvPr id="30727" name="TextBox 6"/>
          <p:cNvSpPr txBox="1">
            <a:spLocks noChangeArrowheads="1"/>
          </p:cNvSpPr>
          <p:nvPr/>
        </p:nvSpPr>
        <p:spPr bwMode="auto">
          <a:xfrm>
            <a:off x="2514600" y="5257800"/>
            <a:ext cx="4102100" cy="1200150"/>
          </a:xfrm>
          <a:prstGeom prst="rect">
            <a:avLst/>
          </a:prstGeom>
          <a:noFill/>
          <a:ln w="9525">
            <a:noFill/>
            <a:miter lim="800000"/>
            <a:headEnd/>
            <a:tailEnd/>
          </a:ln>
        </p:spPr>
        <p:txBody>
          <a:bodyPr wrap="none">
            <a:spAutoFit/>
          </a:bodyPr>
          <a:lstStyle/>
          <a:p>
            <a:r>
              <a:rPr lang="zh-CN" altLang="en-US" sz="2400" b="1">
                <a:solidFill>
                  <a:srgbClr val="FF0000"/>
                </a:solidFill>
                <a:ea typeface="宋体" charset="-122"/>
              </a:rPr>
              <a:t>例如：</a:t>
            </a:r>
            <a:r>
              <a:rPr lang="en-US" altLang="zh-CN" sz="2400" b="1">
                <a:solidFill>
                  <a:srgbClr val="FF0000"/>
                </a:solidFill>
                <a:ea typeface="宋体" charset="-122"/>
              </a:rPr>
              <a:t>01101011</a:t>
            </a:r>
            <a:r>
              <a:rPr lang="en-US" altLang="zh-CN" sz="2400" b="1">
                <a:solidFill>
                  <a:srgbClr val="FF0000"/>
                </a:solidFill>
                <a:ea typeface="宋体" charset="-122"/>
                <a:sym typeface="Wingdings" pitchFamily="2" charset="2"/>
              </a:rPr>
              <a:t></a:t>
            </a:r>
            <a:r>
              <a:rPr lang="en-US" altLang="zh-CN" sz="2400" b="1">
                <a:solidFill>
                  <a:srgbClr val="FF0000"/>
                </a:solidFill>
                <a:ea typeface="宋体" charset="-122"/>
              </a:rPr>
              <a:t> </a:t>
            </a:r>
            <a:r>
              <a:rPr lang="en-US" altLang="zh-CN" sz="2400" b="1" i="1">
                <a:solidFill>
                  <a:srgbClr val="FF0000"/>
                </a:solidFill>
                <a:latin typeface="Times New Roman" pitchFamily="18" charset="0"/>
                <a:ea typeface="宋体" charset="-122"/>
                <a:cs typeface="Times New Roman" pitchFamily="18" charset="0"/>
                <a:sym typeface="Wingdings" pitchFamily="2" charset="2"/>
              </a:rPr>
              <a:t>x</a:t>
            </a:r>
            <a:r>
              <a:rPr lang="en-US" altLang="zh-CN" sz="2400" b="1" i="1" baseline="-25000">
                <a:solidFill>
                  <a:srgbClr val="FF0000"/>
                </a:solidFill>
                <a:latin typeface="Times New Roman" pitchFamily="18" charset="0"/>
                <a:ea typeface="宋体" charset="-122"/>
                <a:cs typeface="Times New Roman" pitchFamily="18" charset="0"/>
                <a:sym typeface="Wingdings" pitchFamily="2" charset="2"/>
              </a:rPr>
              <a:t>opt </a:t>
            </a:r>
            <a:r>
              <a:rPr lang="en-US" altLang="zh-CN" sz="2400" b="1">
                <a:solidFill>
                  <a:srgbClr val="FF0000"/>
                </a:solidFill>
                <a:ea typeface="宋体" charset="-122"/>
                <a:sym typeface="Wingdings" pitchFamily="2" charset="2"/>
              </a:rPr>
              <a:t>=107</a:t>
            </a:r>
            <a:endParaRPr lang="en-US" altLang="zh-CN" sz="2400" b="1">
              <a:solidFill>
                <a:srgbClr val="FF0000"/>
              </a:solidFill>
              <a:ea typeface="宋体" charset="-122"/>
            </a:endParaRPr>
          </a:p>
          <a:p>
            <a:r>
              <a:rPr lang="en-US" altLang="zh-CN" sz="2400" b="1" i="1">
                <a:solidFill>
                  <a:srgbClr val="FF0000"/>
                </a:solidFill>
                <a:latin typeface="Times New Roman" pitchFamily="18" charset="0"/>
                <a:ea typeface="宋体" charset="-122"/>
                <a:sym typeface="Wingdings" pitchFamily="2" charset="2"/>
              </a:rPr>
              <a:t>           </a:t>
            </a:r>
            <a:r>
              <a:rPr lang="en-US" altLang="zh-CN" sz="2400" b="1">
                <a:solidFill>
                  <a:srgbClr val="FF0000"/>
                </a:solidFill>
                <a:ea typeface="宋体" charset="-122"/>
                <a:sym typeface="Wingdings" pitchFamily="2" charset="2"/>
              </a:rPr>
              <a:t> </a:t>
            </a:r>
            <a:endParaRPr lang="en-US" altLang="zh-CN" sz="2400" b="1">
              <a:solidFill>
                <a:srgbClr val="FF0000"/>
              </a:solidFill>
              <a:ea typeface="宋体" charset="-122"/>
            </a:endParaRPr>
          </a:p>
          <a:p>
            <a:r>
              <a:rPr lang="en-US" altLang="zh-CN" sz="2400" b="1">
                <a:solidFill>
                  <a:srgbClr val="FF0000"/>
                </a:solidFill>
                <a:ea typeface="宋体" charset="-122"/>
              </a:rPr>
              <a:t>           </a:t>
            </a:r>
            <a:endParaRPr lang="zh-CN" altLang="en-US" sz="2400" b="1">
              <a:solidFill>
                <a:srgbClr val="FF0000"/>
              </a:solidFill>
              <a:ea typeface="宋体" charset="-122"/>
            </a:endParaRPr>
          </a:p>
        </p:txBody>
      </p:sp>
    </p:spTree>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5362" name="Picture 2"/>
          <p:cNvPicPr>
            <a:picLocks noChangeAspect="1" noChangeArrowheads="1"/>
          </p:cNvPicPr>
          <p:nvPr/>
        </p:nvPicPr>
        <p:blipFill>
          <a:blip r:embed="rId2" cstate="print"/>
          <a:srcRect/>
          <a:stretch>
            <a:fillRect/>
          </a:stretch>
        </p:blipFill>
        <p:spPr bwMode="auto">
          <a:xfrm>
            <a:off x="990600" y="990600"/>
            <a:ext cx="6934200" cy="4740329"/>
          </a:xfrm>
          <a:prstGeom prst="rect">
            <a:avLst/>
          </a:prstGeom>
          <a:noFill/>
          <a:ln w="9525">
            <a:noFill/>
            <a:miter lim="800000"/>
            <a:headEnd/>
            <a:tailEnd/>
          </a:ln>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30" name="Rectangle 3"/>
          <p:cNvSpPr>
            <a:spLocks noGrp="1" noChangeArrowheads="1"/>
          </p:cNvSpPr>
          <p:nvPr>
            <p:ph type="body" sz="half" idx="1"/>
          </p:nvPr>
        </p:nvSpPr>
        <p:spPr>
          <a:xfrm>
            <a:off x="457200" y="1338263"/>
            <a:ext cx="8229600" cy="2319337"/>
          </a:xfrm>
        </p:spPr>
        <p:txBody>
          <a:bodyPr/>
          <a:lstStyle/>
          <a:p>
            <a:pPr eaLnBrk="1" hangingPunct="1">
              <a:buFont typeface="Wingdings" pitchFamily="2" charset="2"/>
              <a:buNone/>
            </a:pPr>
            <a:r>
              <a:rPr lang="zh-CN" altLang="en-US" sz="2800" dirty="0" smtClean="0">
                <a:solidFill>
                  <a:srgbClr val="CC6600"/>
                </a:solidFill>
                <a:ea typeface="宋体" charset="-122"/>
              </a:rPr>
              <a:t>遗传算法的若干概念</a:t>
            </a:r>
          </a:p>
          <a:p>
            <a:pPr eaLnBrk="1" hangingPunct="1">
              <a:buFont typeface="Wingdings" pitchFamily="2" charset="2"/>
              <a:buChar char="p"/>
            </a:pPr>
            <a:r>
              <a:rPr lang="zh-CN" altLang="en-US" sz="2400" dirty="0" smtClean="0">
                <a:ea typeface="宋体" charset="-122"/>
              </a:rPr>
              <a:t>个体</a:t>
            </a:r>
            <a:r>
              <a:rPr lang="en-US" altLang="zh-CN" sz="2400" dirty="0" smtClean="0">
                <a:latin typeface="Times New Roman" pitchFamily="18" charset="0"/>
                <a:ea typeface="宋体" charset="-122"/>
              </a:rPr>
              <a:t>(Individual)</a:t>
            </a:r>
            <a:r>
              <a:rPr lang="en-US" altLang="zh-CN" sz="2400" dirty="0" smtClean="0">
                <a:ea typeface="宋体" charset="-122"/>
              </a:rPr>
              <a:t>    </a:t>
            </a:r>
            <a:r>
              <a:rPr lang="zh-CN" altLang="en-US" sz="2400" dirty="0" smtClean="0">
                <a:ea typeface="宋体" charset="-122"/>
              </a:rPr>
              <a:t>称                为个体空间，个体空间的元素                      称为个体，它是染色体带有特征的实体。</a:t>
            </a:r>
            <a:endParaRPr lang="en-US" altLang="zh-CN" sz="2400" dirty="0" smtClean="0">
              <a:ea typeface="宋体" charset="-122"/>
            </a:endParaRPr>
          </a:p>
          <a:p>
            <a:pPr eaLnBrk="1" hangingPunct="1">
              <a:buNone/>
            </a:pPr>
            <a:r>
              <a:rPr lang="zh-CN" altLang="en-US" sz="2400" dirty="0" smtClean="0">
                <a:ea typeface="宋体" charset="-122"/>
              </a:rPr>
              <a:t>分量                                                        称为基因正整数  称为个体的基因长度。 </a:t>
            </a:r>
          </a:p>
        </p:txBody>
      </p:sp>
      <p:graphicFrame>
        <p:nvGraphicFramePr>
          <p:cNvPr id="1026" name="Object 24"/>
          <p:cNvGraphicFramePr>
            <a:graphicFrameLocks noGrp="1" noChangeAspect="1"/>
          </p:cNvGraphicFramePr>
          <p:nvPr>
            <p:ph sz="half" idx="2"/>
          </p:nvPr>
        </p:nvGraphicFramePr>
        <p:xfrm>
          <a:off x="3581400" y="1752600"/>
          <a:ext cx="990600" cy="444500"/>
        </p:xfrm>
        <a:graphic>
          <a:graphicData uri="http://schemas.openxmlformats.org/presentationml/2006/ole">
            <mc:AlternateContent xmlns:mc="http://schemas.openxmlformats.org/markup-compatibility/2006">
              <mc:Choice xmlns:v="urn:schemas-microsoft-com:vml" Requires="v">
                <p:oleObj spid="_x0000_s16389" name="Equation" r:id="rId3" imgW="622080" imgH="279360" progId="Equation.DSMT4">
                  <p:embed/>
                </p:oleObj>
              </mc:Choice>
              <mc:Fallback>
                <p:oleObj name="Equation" r:id="rId3" imgW="622080" imgH="279360" progId="Equation.DSMT4">
                  <p:embed/>
                  <p:pic>
                    <p:nvPicPr>
                      <p:cNvPr id="0" name="Object 2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581400" y="1752600"/>
                        <a:ext cx="990600" cy="4445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pic>
        <p:nvPicPr>
          <p:cNvPr id="1031" name="Picture 36"/>
          <p:cNvPicPr>
            <a:picLocks noChangeAspect="1" noChangeArrowheads="1"/>
          </p:cNvPicPr>
          <p:nvPr/>
        </p:nvPicPr>
        <p:blipFill>
          <a:blip r:embed="rId5" cstate="print"/>
          <a:srcRect/>
          <a:stretch>
            <a:fillRect/>
          </a:stretch>
        </p:blipFill>
        <p:spPr bwMode="auto">
          <a:xfrm>
            <a:off x="1371600" y="2667000"/>
            <a:ext cx="2209800" cy="441325"/>
          </a:xfrm>
          <a:prstGeom prst="rect">
            <a:avLst/>
          </a:prstGeom>
          <a:noFill/>
          <a:ln w="9525">
            <a:noFill/>
            <a:miter lim="800000"/>
            <a:headEnd/>
            <a:tailEnd/>
          </a:ln>
        </p:spPr>
      </p:pic>
      <p:pic>
        <p:nvPicPr>
          <p:cNvPr id="1032" name="Picture 38"/>
          <p:cNvPicPr>
            <a:picLocks noChangeAspect="1" noChangeArrowheads="1"/>
          </p:cNvPicPr>
          <p:nvPr/>
        </p:nvPicPr>
        <p:blipFill>
          <a:blip r:embed="rId6" cstate="print"/>
          <a:srcRect/>
          <a:stretch>
            <a:fillRect/>
          </a:stretch>
        </p:blipFill>
        <p:spPr bwMode="auto">
          <a:xfrm>
            <a:off x="3733800" y="2606675"/>
            <a:ext cx="1066800" cy="441325"/>
          </a:xfrm>
          <a:prstGeom prst="rect">
            <a:avLst/>
          </a:prstGeom>
          <a:noFill/>
          <a:ln w="9525">
            <a:noFill/>
            <a:miter lim="800000"/>
            <a:headEnd/>
            <a:tailEnd/>
          </a:ln>
        </p:spPr>
      </p:pic>
      <p:pic>
        <p:nvPicPr>
          <p:cNvPr id="1033" name="Picture 39"/>
          <p:cNvPicPr>
            <a:picLocks noChangeAspect="1" noChangeArrowheads="1"/>
          </p:cNvPicPr>
          <p:nvPr/>
        </p:nvPicPr>
        <p:blipFill>
          <a:blip r:embed="rId7" cstate="print"/>
          <a:srcRect/>
          <a:stretch>
            <a:fillRect/>
          </a:stretch>
        </p:blipFill>
        <p:spPr bwMode="auto">
          <a:xfrm>
            <a:off x="6324600" y="1828800"/>
            <a:ext cx="215900" cy="457200"/>
          </a:xfrm>
          <a:prstGeom prst="rect">
            <a:avLst/>
          </a:prstGeom>
          <a:noFill/>
          <a:ln w="9525">
            <a:noFill/>
            <a:miter lim="800000"/>
            <a:headEnd/>
            <a:tailEnd/>
          </a:ln>
        </p:spPr>
      </p:pic>
      <p:sp>
        <p:nvSpPr>
          <p:cNvPr id="1034" name="Text Box 40"/>
          <p:cNvSpPr txBox="1">
            <a:spLocks noChangeArrowheads="1"/>
          </p:cNvSpPr>
          <p:nvPr/>
        </p:nvSpPr>
        <p:spPr bwMode="auto">
          <a:xfrm>
            <a:off x="457200" y="3657600"/>
            <a:ext cx="8382000" cy="1698625"/>
          </a:xfrm>
          <a:prstGeom prst="rect">
            <a:avLst/>
          </a:prstGeom>
          <a:noFill/>
          <a:ln w="9525">
            <a:noFill/>
            <a:miter lim="800000"/>
            <a:headEnd/>
            <a:tailEnd/>
          </a:ln>
        </p:spPr>
        <p:txBody>
          <a:bodyPr>
            <a:spAutoFit/>
          </a:bodyPr>
          <a:lstStyle/>
          <a:p>
            <a:pPr>
              <a:spcBef>
                <a:spcPct val="40000"/>
              </a:spcBef>
              <a:buClr>
                <a:schemeClr val="hlink"/>
              </a:buClr>
              <a:buFont typeface="Wingdings" pitchFamily="2" charset="2"/>
              <a:buChar char="p"/>
            </a:pPr>
            <a:r>
              <a:rPr lang="zh-CN" altLang="en-US" sz="2400" b="1" dirty="0">
                <a:latin typeface="Verdana" pitchFamily="34" charset="0"/>
                <a:ea typeface="宋体" charset="-122"/>
              </a:rPr>
              <a:t>种群</a:t>
            </a:r>
            <a:r>
              <a:rPr lang="en-US" altLang="zh-CN" sz="2400" b="1" dirty="0">
                <a:latin typeface="Times New Roman" pitchFamily="18" charset="0"/>
                <a:ea typeface="宋体" charset="-122"/>
              </a:rPr>
              <a:t>(Population)</a:t>
            </a:r>
            <a:r>
              <a:rPr lang="en-US" altLang="zh-CN" sz="2400" b="1" dirty="0">
                <a:latin typeface="Verdana" pitchFamily="34" charset="0"/>
                <a:ea typeface="宋体" charset="-122"/>
              </a:rPr>
              <a:t>    </a:t>
            </a:r>
            <a:r>
              <a:rPr lang="zh-CN" altLang="en-US" sz="2400" b="1" dirty="0">
                <a:latin typeface="Verdana" pitchFamily="34" charset="0"/>
                <a:ea typeface="宋体" charset="-122"/>
              </a:rPr>
              <a:t>称个体空间</a:t>
            </a:r>
            <a:r>
              <a:rPr lang="en-US" altLang="zh-CN" sz="2400" b="1" dirty="0">
                <a:latin typeface="Times New Roman" pitchFamily="18" charset="0"/>
                <a:ea typeface="宋体" charset="-122"/>
              </a:rPr>
              <a:t>S</a:t>
            </a:r>
            <a:r>
              <a:rPr lang="zh-CN" altLang="en-US" sz="2400" b="1" dirty="0">
                <a:latin typeface="Verdana" pitchFamily="34" charset="0"/>
                <a:ea typeface="宋体" charset="-122"/>
              </a:rPr>
              <a:t>中</a:t>
            </a:r>
            <a:r>
              <a:rPr lang="en-US" altLang="zh-CN" sz="2400" b="1" dirty="0">
                <a:latin typeface="Times New Roman" pitchFamily="18" charset="0"/>
                <a:ea typeface="宋体" charset="-122"/>
              </a:rPr>
              <a:t>N</a:t>
            </a:r>
            <a:r>
              <a:rPr lang="zh-CN" altLang="en-US" sz="2400" b="1" dirty="0">
                <a:latin typeface="Verdana" pitchFamily="34" charset="0"/>
                <a:ea typeface="宋体" charset="-122"/>
              </a:rPr>
              <a:t>个个体组成的一个子集（个体允许重复）称为一个种群，记为：</a:t>
            </a:r>
            <a:br>
              <a:rPr lang="zh-CN" altLang="en-US" sz="2400" b="1" dirty="0">
                <a:latin typeface="Verdana" pitchFamily="34" charset="0"/>
                <a:ea typeface="宋体" charset="-122"/>
              </a:rPr>
            </a:br>
            <a:endParaRPr lang="zh-CN" altLang="en-US" sz="2400" b="1" dirty="0">
              <a:latin typeface="Verdana" pitchFamily="34" charset="0"/>
              <a:ea typeface="宋体" charset="-122"/>
            </a:endParaRPr>
          </a:p>
          <a:p>
            <a:pPr>
              <a:spcBef>
                <a:spcPct val="40000"/>
              </a:spcBef>
              <a:buClr>
                <a:schemeClr val="hlink"/>
              </a:buClr>
              <a:buFont typeface="Wingdings" pitchFamily="2" charset="2"/>
              <a:buNone/>
            </a:pPr>
            <a:r>
              <a:rPr lang="zh-CN" altLang="en-US" sz="2400" b="1" dirty="0">
                <a:latin typeface="Verdana" pitchFamily="34" charset="0"/>
                <a:ea typeface="宋体" charset="-122"/>
              </a:rPr>
              <a:t>其中                         ，</a:t>
            </a:r>
            <a:r>
              <a:rPr lang="en-US" altLang="zh-CN" sz="2400" b="1" dirty="0">
                <a:latin typeface="Times New Roman" pitchFamily="18" charset="0"/>
                <a:ea typeface="宋体" charset="-122"/>
              </a:rPr>
              <a:t>N</a:t>
            </a:r>
            <a:r>
              <a:rPr lang="zh-CN" altLang="en-US" sz="2400" b="1" dirty="0">
                <a:latin typeface="Verdana" pitchFamily="34" charset="0"/>
                <a:ea typeface="宋体" charset="-122"/>
              </a:rPr>
              <a:t>称为种群规模。</a:t>
            </a:r>
          </a:p>
        </p:txBody>
      </p:sp>
      <p:graphicFrame>
        <p:nvGraphicFramePr>
          <p:cNvPr id="1027" name="Object 44"/>
          <p:cNvGraphicFramePr>
            <a:graphicFrameLocks noChangeAspect="1"/>
          </p:cNvGraphicFramePr>
          <p:nvPr/>
        </p:nvGraphicFramePr>
        <p:xfrm>
          <a:off x="3200400" y="4419600"/>
          <a:ext cx="2387600" cy="457200"/>
        </p:xfrm>
        <a:graphic>
          <a:graphicData uri="http://schemas.openxmlformats.org/presentationml/2006/ole">
            <mc:AlternateContent xmlns:mc="http://schemas.openxmlformats.org/markup-compatibility/2006">
              <mc:Choice xmlns:v="urn:schemas-microsoft-com:vml" Requires="v">
                <p:oleObj spid="_x0000_s16390" name="Equation" r:id="rId8" imgW="1193760" imgH="228600" progId="Equation.DSMT4">
                  <p:embed/>
                </p:oleObj>
              </mc:Choice>
              <mc:Fallback>
                <p:oleObj name="Equation" r:id="rId8" imgW="1193760" imgH="228600" progId="Equation.DSMT4">
                  <p:embed/>
                  <p:pic>
                    <p:nvPicPr>
                      <p:cNvPr id="0" name="Object 44"/>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3200400" y="4419600"/>
                        <a:ext cx="2387600" cy="4572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1028" name="Object 46"/>
          <p:cNvGraphicFramePr>
            <a:graphicFrameLocks noChangeAspect="1"/>
          </p:cNvGraphicFramePr>
          <p:nvPr/>
        </p:nvGraphicFramePr>
        <p:xfrm>
          <a:off x="1219200" y="4953000"/>
          <a:ext cx="2514600" cy="449263"/>
        </p:xfrm>
        <a:graphic>
          <a:graphicData uri="http://schemas.openxmlformats.org/presentationml/2006/ole">
            <mc:AlternateContent xmlns:mc="http://schemas.openxmlformats.org/markup-compatibility/2006">
              <mc:Choice xmlns:v="urn:schemas-microsoft-com:vml" Requires="v">
                <p:oleObj spid="_x0000_s16391" name="Equation" r:id="rId10" imgW="1333500" imgH="241300" progId="Equation.DSMT4">
                  <p:embed/>
                </p:oleObj>
              </mc:Choice>
              <mc:Fallback>
                <p:oleObj name="Equation" r:id="rId10" imgW="1333500" imgH="241300" progId="Equation.DSMT4">
                  <p:embed/>
                  <p:pic>
                    <p:nvPicPr>
                      <p:cNvPr id="0" name="Object 46"/>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1219200" y="4953000"/>
                        <a:ext cx="2514600" cy="449263"/>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035" name="TextBox 10"/>
          <p:cNvSpPr txBox="1">
            <a:spLocks noChangeArrowheads="1"/>
          </p:cNvSpPr>
          <p:nvPr/>
        </p:nvSpPr>
        <p:spPr bwMode="auto">
          <a:xfrm>
            <a:off x="3124200" y="3124200"/>
            <a:ext cx="2628900" cy="400050"/>
          </a:xfrm>
          <a:prstGeom prst="rect">
            <a:avLst/>
          </a:prstGeom>
          <a:noFill/>
          <a:ln w="9525">
            <a:noFill/>
            <a:miter lim="800000"/>
            <a:headEnd/>
            <a:tailEnd/>
          </a:ln>
        </p:spPr>
        <p:txBody>
          <a:bodyPr wrap="none">
            <a:spAutoFit/>
          </a:bodyPr>
          <a:lstStyle/>
          <a:p>
            <a:r>
              <a:rPr lang="zh-CN" altLang="en-US" sz="2000" b="1">
                <a:solidFill>
                  <a:srgbClr val="FF0000"/>
                </a:solidFill>
                <a:ea typeface="宋体" charset="-122"/>
              </a:rPr>
              <a:t>例如：</a:t>
            </a:r>
            <a:r>
              <a:rPr lang="en-US" altLang="zh-CN" sz="2000" b="1">
                <a:solidFill>
                  <a:srgbClr val="FF0000"/>
                </a:solidFill>
                <a:ea typeface="宋体" charset="-122"/>
              </a:rPr>
              <a:t>011010011101</a:t>
            </a:r>
            <a:endParaRPr lang="zh-CN" altLang="en-US" sz="2000" b="1">
              <a:solidFill>
                <a:srgbClr val="FF0000"/>
              </a:solidFill>
              <a:ea typeface="宋体" charset="-122"/>
            </a:endParaRPr>
          </a:p>
        </p:txBody>
      </p:sp>
      <p:sp>
        <p:nvSpPr>
          <p:cNvPr id="1036" name="TextBox 11"/>
          <p:cNvSpPr txBox="1">
            <a:spLocks noChangeArrowheads="1"/>
          </p:cNvSpPr>
          <p:nvPr/>
        </p:nvSpPr>
        <p:spPr bwMode="auto">
          <a:xfrm>
            <a:off x="3200400" y="5410200"/>
            <a:ext cx="2630488" cy="1631950"/>
          </a:xfrm>
          <a:prstGeom prst="rect">
            <a:avLst/>
          </a:prstGeom>
          <a:noFill/>
          <a:ln w="9525">
            <a:noFill/>
            <a:miter lim="800000"/>
            <a:headEnd/>
            <a:tailEnd/>
          </a:ln>
        </p:spPr>
        <p:txBody>
          <a:bodyPr wrap="none">
            <a:spAutoFit/>
          </a:bodyPr>
          <a:lstStyle/>
          <a:p>
            <a:r>
              <a:rPr lang="zh-CN" altLang="en-US" sz="2000" b="1">
                <a:solidFill>
                  <a:srgbClr val="FF0000"/>
                </a:solidFill>
                <a:ea typeface="宋体" charset="-122"/>
              </a:rPr>
              <a:t>例如：</a:t>
            </a:r>
            <a:r>
              <a:rPr lang="en-US" altLang="zh-CN" sz="2000" b="1">
                <a:solidFill>
                  <a:srgbClr val="FF0000"/>
                </a:solidFill>
                <a:ea typeface="宋体" charset="-122"/>
              </a:rPr>
              <a:t>011010011101</a:t>
            </a:r>
          </a:p>
          <a:p>
            <a:r>
              <a:rPr lang="en-US" altLang="zh-CN" sz="2000" b="1">
                <a:solidFill>
                  <a:srgbClr val="FF0000"/>
                </a:solidFill>
                <a:ea typeface="宋体" charset="-122"/>
              </a:rPr>
              <a:t>           010100111011</a:t>
            </a:r>
          </a:p>
          <a:p>
            <a:r>
              <a:rPr lang="en-US" altLang="zh-CN" sz="2000" b="1">
                <a:solidFill>
                  <a:srgbClr val="FF0000"/>
                </a:solidFill>
                <a:ea typeface="宋体" charset="-122"/>
              </a:rPr>
              <a:t>           011010011101</a:t>
            </a:r>
          </a:p>
          <a:p>
            <a:r>
              <a:rPr lang="en-US" altLang="zh-CN" sz="2000" b="1">
                <a:solidFill>
                  <a:srgbClr val="FF0000"/>
                </a:solidFill>
                <a:ea typeface="宋体" charset="-122"/>
              </a:rPr>
              <a:t>           010100111011</a:t>
            </a:r>
            <a:endParaRPr lang="zh-CN" altLang="en-US" sz="2000" b="1">
              <a:solidFill>
                <a:srgbClr val="FF0000"/>
              </a:solidFill>
              <a:ea typeface="宋体" charset="-122"/>
            </a:endParaRPr>
          </a:p>
          <a:p>
            <a:endParaRPr lang="zh-CN" altLang="en-US" sz="2000" b="1">
              <a:solidFill>
                <a:srgbClr val="FF0000"/>
              </a:solidFill>
              <a:ea typeface="宋体" charset="-122"/>
            </a:endParaRPr>
          </a:p>
        </p:txBody>
      </p:sp>
      <p:sp>
        <p:nvSpPr>
          <p:cNvPr id="1037" name="矩形 12"/>
          <p:cNvSpPr>
            <a:spLocks noChangeArrowheads="1"/>
          </p:cNvSpPr>
          <p:nvPr/>
        </p:nvSpPr>
        <p:spPr bwMode="auto">
          <a:xfrm>
            <a:off x="6248400" y="5791200"/>
            <a:ext cx="736600" cy="461963"/>
          </a:xfrm>
          <a:prstGeom prst="rect">
            <a:avLst/>
          </a:prstGeom>
          <a:noFill/>
          <a:ln w="9525">
            <a:noFill/>
            <a:miter lim="800000"/>
            <a:headEnd/>
            <a:tailEnd/>
          </a:ln>
        </p:spPr>
        <p:txBody>
          <a:bodyPr wrap="none">
            <a:spAutoFit/>
          </a:bodyPr>
          <a:lstStyle/>
          <a:p>
            <a:r>
              <a:rPr lang="en-US" altLang="zh-CN" sz="2400" b="1">
                <a:solidFill>
                  <a:srgbClr val="003366"/>
                </a:solidFill>
                <a:latin typeface="Times New Roman" pitchFamily="18" charset="0"/>
                <a:ea typeface="宋体" charset="-122"/>
              </a:rPr>
              <a:t>N=4</a:t>
            </a:r>
            <a:endParaRPr lang="zh-CN" altLang="en-US">
              <a:ea typeface="宋体" charset="-122"/>
            </a:endParaRPr>
          </a:p>
        </p:txBody>
      </p:sp>
    </p:spTree>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7" name="Rectangle 3"/>
          <p:cNvSpPr>
            <a:spLocks noGrp="1" noChangeArrowheads="1"/>
          </p:cNvSpPr>
          <p:nvPr>
            <p:ph type="body" idx="1"/>
          </p:nvPr>
        </p:nvSpPr>
        <p:spPr>
          <a:xfrm>
            <a:off x="457200" y="1338263"/>
            <a:ext cx="8229600" cy="490537"/>
          </a:xfrm>
        </p:spPr>
        <p:txBody>
          <a:bodyPr/>
          <a:lstStyle/>
          <a:p>
            <a:pPr eaLnBrk="1" hangingPunct="1">
              <a:lnSpc>
                <a:spcPct val="90000"/>
              </a:lnSpc>
              <a:buFont typeface="Wingdings" pitchFamily="2" charset="2"/>
              <a:buNone/>
            </a:pPr>
            <a:r>
              <a:rPr lang="zh-CN" altLang="en-US" sz="2800" dirty="0" smtClean="0">
                <a:solidFill>
                  <a:srgbClr val="CC6600"/>
                </a:solidFill>
                <a:ea typeface="宋体" charset="-122"/>
              </a:rPr>
              <a:t>遗传算法的若干概念</a:t>
            </a:r>
            <a:endParaRPr lang="zh-CN" altLang="en-US" sz="2800" dirty="0" smtClean="0">
              <a:ea typeface="宋体" charset="-122"/>
            </a:endParaRPr>
          </a:p>
        </p:txBody>
      </p:sp>
      <p:sp>
        <p:nvSpPr>
          <p:cNvPr id="31748" name="Text Box 4"/>
          <p:cNvSpPr txBox="1">
            <a:spLocks noChangeArrowheads="1"/>
          </p:cNvSpPr>
          <p:nvPr/>
        </p:nvSpPr>
        <p:spPr bwMode="auto">
          <a:xfrm>
            <a:off x="609600" y="1905000"/>
            <a:ext cx="8001000" cy="2678113"/>
          </a:xfrm>
          <a:prstGeom prst="rect">
            <a:avLst/>
          </a:prstGeom>
          <a:noFill/>
          <a:ln w="9525" algn="ctr">
            <a:noFill/>
            <a:miter lim="800000"/>
            <a:headEnd/>
            <a:tailEnd/>
          </a:ln>
        </p:spPr>
        <p:txBody>
          <a:bodyPr>
            <a:spAutoFit/>
          </a:bodyPr>
          <a:lstStyle/>
          <a:p>
            <a:pPr>
              <a:spcBef>
                <a:spcPct val="40000"/>
              </a:spcBef>
              <a:buClr>
                <a:schemeClr val="hlink"/>
              </a:buClr>
              <a:buFont typeface="Wingdings" pitchFamily="2" charset="2"/>
              <a:buChar char="p"/>
            </a:pPr>
            <a:r>
              <a:rPr lang="zh-CN" altLang="en-US" sz="2400" b="1">
                <a:latin typeface="Verdana" pitchFamily="34" charset="0"/>
                <a:ea typeface="宋体" charset="-122"/>
              </a:rPr>
              <a:t>适应度</a:t>
            </a:r>
            <a:r>
              <a:rPr lang="zh-CN" altLang="en-US" sz="2400" b="1">
                <a:latin typeface="Times New Roman" pitchFamily="18" charset="0"/>
                <a:ea typeface="宋体" charset="-122"/>
              </a:rPr>
              <a:t>（</a:t>
            </a:r>
            <a:r>
              <a:rPr lang="en-US" altLang="zh-CN" sz="2400" b="1">
                <a:latin typeface="Times New Roman" pitchFamily="18" charset="0"/>
                <a:ea typeface="宋体" charset="-122"/>
              </a:rPr>
              <a:t>Fitness</a:t>
            </a:r>
            <a:r>
              <a:rPr lang="zh-CN" altLang="en-US" sz="2400" b="1">
                <a:latin typeface="Times New Roman" pitchFamily="18" charset="0"/>
                <a:ea typeface="宋体" charset="-122"/>
              </a:rPr>
              <a:t>）</a:t>
            </a:r>
            <a:r>
              <a:rPr lang="zh-CN" altLang="en-US" sz="2400" b="1">
                <a:latin typeface="Verdana" pitchFamily="34" charset="0"/>
                <a:ea typeface="宋体" charset="-122"/>
              </a:rPr>
              <a:t>   在研究自然界中生物的遗传和进化现象时，生物学家使用适应度这个术语来度量某个物种对于生存环境的适应程度。对生存环境适应程度较高的物种将获得更多的繁殖机会，而对生存环境适应程度较低的物种，其繁殖机会就会相对较少，甚至逐渐灭绝。在遗传算法中，一般通过适应度函数</a:t>
            </a:r>
            <a:r>
              <a:rPr lang="zh-CN" altLang="en-US" sz="2400" b="1">
                <a:latin typeface="Times New Roman" pitchFamily="18" charset="0"/>
                <a:ea typeface="宋体" charset="-122"/>
              </a:rPr>
              <a:t>（</a:t>
            </a:r>
            <a:r>
              <a:rPr lang="en-US" altLang="zh-CN" sz="2400" b="1">
                <a:latin typeface="Times New Roman" pitchFamily="18" charset="0"/>
                <a:ea typeface="宋体" charset="-122"/>
              </a:rPr>
              <a:t>Fitness function:</a:t>
            </a:r>
            <a:r>
              <a:rPr lang="en-US" altLang="zh-CN" sz="2400" b="1" i="1">
                <a:solidFill>
                  <a:srgbClr val="FF0000"/>
                </a:solidFill>
                <a:latin typeface="Times New Roman" pitchFamily="18" charset="0"/>
                <a:ea typeface="宋体" charset="-122"/>
                <a:cs typeface="Times New Roman" pitchFamily="18" charset="0"/>
                <a:sym typeface="Wingdings" pitchFamily="2" charset="2"/>
              </a:rPr>
              <a:t> f </a:t>
            </a:r>
            <a:r>
              <a:rPr lang="en-US" altLang="zh-CN" sz="2400" b="1">
                <a:solidFill>
                  <a:srgbClr val="FF0000"/>
                </a:solidFill>
                <a:latin typeface="Times New Roman" pitchFamily="18" charset="0"/>
                <a:ea typeface="宋体" charset="-122"/>
                <a:cs typeface="Times New Roman" pitchFamily="18" charset="0"/>
                <a:sym typeface="Wingdings" pitchFamily="2" charset="2"/>
              </a:rPr>
              <a:t>(</a:t>
            </a:r>
            <a:r>
              <a:rPr lang="en-US" altLang="zh-CN" sz="2400" b="1" i="1">
                <a:solidFill>
                  <a:srgbClr val="FF0000"/>
                </a:solidFill>
                <a:latin typeface="Times New Roman" pitchFamily="18" charset="0"/>
                <a:ea typeface="宋体" charset="-122"/>
                <a:cs typeface="Times New Roman" pitchFamily="18" charset="0"/>
                <a:sym typeface="Wingdings" pitchFamily="2" charset="2"/>
              </a:rPr>
              <a:t>x</a:t>
            </a:r>
            <a:r>
              <a:rPr lang="en-US" altLang="zh-CN" sz="2400" b="1">
                <a:solidFill>
                  <a:srgbClr val="FF0000"/>
                </a:solidFill>
                <a:latin typeface="Times New Roman" pitchFamily="18" charset="0"/>
                <a:ea typeface="宋体" charset="-122"/>
                <a:cs typeface="Times New Roman" pitchFamily="18" charset="0"/>
                <a:sym typeface="Wingdings" pitchFamily="2" charset="2"/>
              </a:rPr>
              <a:t>)</a:t>
            </a:r>
            <a:r>
              <a:rPr lang="zh-CN" altLang="en-US" sz="2400" b="1">
                <a:latin typeface="Times New Roman" pitchFamily="18" charset="0"/>
                <a:ea typeface="宋体" charset="-122"/>
              </a:rPr>
              <a:t>）</a:t>
            </a:r>
            <a:r>
              <a:rPr lang="zh-CN" altLang="en-US" sz="2400" b="1">
                <a:latin typeface="Verdana" pitchFamily="34" charset="0"/>
                <a:ea typeface="宋体" charset="-122"/>
              </a:rPr>
              <a:t>来衡量某一个体的适应度高低。 </a:t>
            </a:r>
          </a:p>
        </p:txBody>
      </p:sp>
      <p:sp>
        <p:nvSpPr>
          <p:cNvPr id="31749" name="TextBox 5"/>
          <p:cNvSpPr txBox="1">
            <a:spLocks noChangeArrowheads="1"/>
          </p:cNvSpPr>
          <p:nvPr/>
        </p:nvSpPr>
        <p:spPr bwMode="auto">
          <a:xfrm>
            <a:off x="1752600" y="4572000"/>
            <a:ext cx="5753100" cy="1938338"/>
          </a:xfrm>
          <a:prstGeom prst="rect">
            <a:avLst/>
          </a:prstGeom>
          <a:noFill/>
          <a:ln w="9525">
            <a:noFill/>
            <a:miter lim="800000"/>
            <a:headEnd/>
            <a:tailEnd/>
          </a:ln>
        </p:spPr>
        <p:txBody>
          <a:bodyPr wrap="none">
            <a:spAutoFit/>
          </a:bodyPr>
          <a:lstStyle/>
          <a:p>
            <a:r>
              <a:rPr lang="zh-CN" altLang="en-US" sz="2400" b="1">
                <a:solidFill>
                  <a:srgbClr val="FF0000"/>
                </a:solidFill>
                <a:ea typeface="宋体" charset="-122"/>
              </a:rPr>
              <a:t>例如：</a:t>
            </a:r>
            <a:r>
              <a:rPr lang="en-US" altLang="zh-CN" sz="2400" b="1">
                <a:solidFill>
                  <a:srgbClr val="FF0000"/>
                </a:solidFill>
                <a:ea typeface="宋体" charset="-122"/>
              </a:rPr>
              <a:t>011010011101</a:t>
            </a:r>
            <a:r>
              <a:rPr lang="en-US" altLang="zh-CN" sz="2400" b="1">
                <a:solidFill>
                  <a:srgbClr val="FF0000"/>
                </a:solidFill>
                <a:ea typeface="宋体" charset="-122"/>
                <a:sym typeface="Wingdings" pitchFamily="2" charset="2"/>
              </a:rPr>
              <a:t> </a:t>
            </a:r>
            <a:r>
              <a:rPr lang="en-US" altLang="zh-CN" sz="2400" b="1" i="1">
                <a:solidFill>
                  <a:srgbClr val="FF0000"/>
                </a:solidFill>
                <a:latin typeface="Times New Roman" pitchFamily="18" charset="0"/>
                <a:ea typeface="宋体" charset="-122"/>
                <a:cs typeface="Times New Roman" pitchFamily="18" charset="0"/>
                <a:sym typeface="Wingdings" pitchFamily="2" charset="2"/>
              </a:rPr>
              <a:t> x</a:t>
            </a:r>
            <a:r>
              <a:rPr lang="en-US" altLang="zh-CN" sz="2400" b="1" i="1" baseline="-25000">
                <a:solidFill>
                  <a:srgbClr val="FF0000"/>
                </a:solidFill>
                <a:latin typeface="Times New Roman" pitchFamily="18" charset="0"/>
                <a:ea typeface="宋体" charset="-122"/>
                <a:cs typeface="Times New Roman" pitchFamily="18" charset="0"/>
                <a:sym typeface="Wingdings" pitchFamily="2" charset="2"/>
              </a:rPr>
              <a:t>1 </a:t>
            </a:r>
            <a:r>
              <a:rPr lang="en-US" altLang="zh-CN" sz="2400" b="1">
                <a:solidFill>
                  <a:srgbClr val="FF0000"/>
                </a:solidFill>
                <a:ea typeface="宋体" charset="-122"/>
                <a:sym typeface="Wingdings" pitchFamily="2" charset="2"/>
              </a:rPr>
              <a:t> </a:t>
            </a:r>
            <a:r>
              <a:rPr lang="en-US" altLang="zh-CN" sz="2400" b="1" i="1">
                <a:solidFill>
                  <a:srgbClr val="FF0000"/>
                </a:solidFill>
                <a:latin typeface="Times New Roman" pitchFamily="18" charset="0"/>
                <a:ea typeface="宋体" charset="-122"/>
                <a:sym typeface="Wingdings" pitchFamily="2" charset="2"/>
              </a:rPr>
              <a:t> </a:t>
            </a:r>
            <a:r>
              <a:rPr lang="en-US" altLang="zh-CN" sz="2400" b="1">
                <a:solidFill>
                  <a:srgbClr val="FF0000"/>
                </a:solidFill>
                <a:ea typeface="宋体" charset="-122"/>
                <a:sym typeface="Wingdings" pitchFamily="2" charset="2"/>
              </a:rPr>
              <a:t> </a:t>
            </a:r>
            <a:r>
              <a:rPr lang="en-US" altLang="zh-CN" sz="2400" b="1" i="1">
                <a:solidFill>
                  <a:srgbClr val="FF0000"/>
                </a:solidFill>
                <a:latin typeface="Times New Roman" pitchFamily="18" charset="0"/>
                <a:ea typeface="宋体" charset="-122"/>
                <a:sym typeface="Wingdings" pitchFamily="2" charset="2"/>
              </a:rPr>
              <a:t>f </a:t>
            </a:r>
            <a:r>
              <a:rPr lang="en-US" altLang="zh-CN" sz="2400" b="1">
                <a:solidFill>
                  <a:srgbClr val="FF0000"/>
                </a:solidFill>
                <a:latin typeface="Times New Roman" pitchFamily="18" charset="0"/>
                <a:ea typeface="宋体" charset="-122"/>
                <a:sym typeface="Wingdings" pitchFamily="2" charset="2"/>
              </a:rPr>
              <a:t>(</a:t>
            </a:r>
            <a:r>
              <a:rPr lang="en-US" altLang="zh-CN" sz="2400" b="1" i="1">
                <a:solidFill>
                  <a:srgbClr val="FF0000"/>
                </a:solidFill>
                <a:latin typeface="Times New Roman" pitchFamily="18" charset="0"/>
                <a:ea typeface="宋体" charset="-122"/>
                <a:sym typeface="Wingdings" pitchFamily="2" charset="2"/>
              </a:rPr>
              <a:t>x</a:t>
            </a:r>
            <a:r>
              <a:rPr lang="en-US" altLang="zh-CN" sz="2400" b="1" i="1" baseline="-25000">
                <a:solidFill>
                  <a:srgbClr val="FF0000"/>
                </a:solidFill>
                <a:latin typeface="Times New Roman" pitchFamily="18" charset="0"/>
                <a:ea typeface="宋体" charset="-122"/>
                <a:sym typeface="Wingdings" pitchFamily="2" charset="2"/>
              </a:rPr>
              <a:t>1</a:t>
            </a:r>
            <a:r>
              <a:rPr lang="en-US" altLang="zh-CN" sz="2400" b="1">
                <a:solidFill>
                  <a:srgbClr val="FF0000"/>
                </a:solidFill>
                <a:latin typeface="Times New Roman" pitchFamily="18" charset="0"/>
                <a:ea typeface="宋体" charset="-122"/>
                <a:sym typeface="Wingdings" pitchFamily="2" charset="2"/>
              </a:rPr>
              <a:t>)</a:t>
            </a:r>
            <a:r>
              <a:rPr lang="en-US" altLang="zh-CN" sz="2400" b="1">
                <a:solidFill>
                  <a:srgbClr val="FF0000"/>
                </a:solidFill>
                <a:ea typeface="宋体" charset="-122"/>
                <a:sym typeface="Wingdings" pitchFamily="2" charset="2"/>
              </a:rPr>
              <a:t>=0.5</a:t>
            </a:r>
            <a:endParaRPr lang="en-US" altLang="zh-CN" sz="2400" b="1">
              <a:solidFill>
                <a:srgbClr val="FF0000"/>
              </a:solidFill>
              <a:ea typeface="宋体" charset="-122"/>
            </a:endParaRPr>
          </a:p>
          <a:p>
            <a:r>
              <a:rPr lang="en-US" altLang="zh-CN" sz="2400" b="1">
                <a:solidFill>
                  <a:srgbClr val="FF0000"/>
                </a:solidFill>
                <a:ea typeface="宋体" charset="-122"/>
              </a:rPr>
              <a:t>           010100111011 </a:t>
            </a:r>
            <a:r>
              <a:rPr lang="en-US" altLang="zh-CN" sz="2400" b="1">
                <a:solidFill>
                  <a:srgbClr val="FF0000"/>
                </a:solidFill>
                <a:ea typeface="宋体" charset="-122"/>
                <a:sym typeface="Wingdings" pitchFamily="2" charset="2"/>
              </a:rPr>
              <a:t> </a:t>
            </a:r>
            <a:r>
              <a:rPr lang="en-US" altLang="zh-CN" sz="2400" b="1" i="1">
                <a:solidFill>
                  <a:srgbClr val="FF0000"/>
                </a:solidFill>
                <a:latin typeface="Times New Roman" pitchFamily="18" charset="0"/>
                <a:ea typeface="宋体" charset="-122"/>
                <a:sym typeface="Wingdings" pitchFamily="2" charset="2"/>
              </a:rPr>
              <a:t>x</a:t>
            </a:r>
            <a:r>
              <a:rPr lang="en-US" altLang="zh-CN" sz="2400" b="1" i="1" baseline="-25000">
                <a:solidFill>
                  <a:srgbClr val="FF0000"/>
                </a:solidFill>
                <a:latin typeface="Times New Roman" pitchFamily="18" charset="0"/>
                <a:ea typeface="宋体" charset="-122"/>
                <a:sym typeface="Wingdings" pitchFamily="2" charset="2"/>
              </a:rPr>
              <a:t>2 </a:t>
            </a:r>
            <a:r>
              <a:rPr lang="en-US" altLang="zh-CN" sz="2400" b="1">
                <a:solidFill>
                  <a:srgbClr val="FF0000"/>
                </a:solidFill>
                <a:ea typeface="宋体" charset="-122"/>
                <a:sym typeface="Wingdings" pitchFamily="2" charset="2"/>
              </a:rPr>
              <a:t> </a:t>
            </a:r>
            <a:r>
              <a:rPr lang="en-US" altLang="zh-CN" sz="2400" b="1" i="1">
                <a:solidFill>
                  <a:srgbClr val="FF0000"/>
                </a:solidFill>
                <a:latin typeface="Times New Roman" pitchFamily="18" charset="0"/>
                <a:ea typeface="宋体" charset="-122"/>
                <a:sym typeface="Wingdings" pitchFamily="2" charset="2"/>
              </a:rPr>
              <a:t> </a:t>
            </a:r>
            <a:r>
              <a:rPr lang="en-US" altLang="zh-CN" sz="2400" b="1">
                <a:solidFill>
                  <a:srgbClr val="FF0000"/>
                </a:solidFill>
                <a:ea typeface="宋体" charset="-122"/>
                <a:sym typeface="Wingdings" pitchFamily="2" charset="2"/>
              </a:rPr>
              <a:t> </a:t>
            </a:r>
            <a:r>
              <a:rPr lang="en-US" altLang="zh-CN" sz="2400" b="1" i="1">
                <a:solidFill>
                  <a:srgbClr val="FF0000"/>
                </a:solidFill>
                <a:latin typeface="Times New Roman" pitchFamily="18" charset="0"/>
                <a:ea typeface="宋体" charset="-122"/>
                <a:sym typeface="Wingdings" pitchFamily="2" charset="2"/>
              </a:rPr>
              <a:t>f </a:t>
            </a:r>
            <a:r>
              <a:rPr lang="en-US" altLang="zh-CN" sz="2400" b="1">
                <a:solidFill>
                  <a:srgbClr val="FF0000"/>
                </a:solidFill>
                <a:latin typeface="Times New Roman" pitchFamily="18" charset="0"/>
                <a:ea typeface="宋体" charset="-122"/>
                <a:sym typeface="Wingdings" pitchFamily="2" charset="2"/>
              </a:rPr>
              <a:t>(</a:t>
            </a:r>
            <a:r>
              <a:rPr lang="en-US" altLang="zh-CN" sz="2400" b="1" i="1">
                <a:solidFill>
                  <a:srgbClr val="FF0000"/>
                </a:solidFill>
                <a:latin typeface="Times New Roman" pitchFamily="18" charset="0"/>
                <a:ea typeface="宋体" charset="-122"/>
                <a:sym typeface="Wingdings" pitchFamily="2" charset="2"/>
              </a:rPr>
              <a:t>x</a:t>
            </a:r>
            <a:r>
              <a:rPr lang="en-US" altLang="zh-CN" sz="2400" b="1" i="1" baseline="-25000">
                <a:solidFill>
                  <a:srgbClr val="FF0000"/>
                </a:solidFill>
                <a:latin typeface="Times New Roman" pitchFamily="18" charset="0"/>
                <a:ea typeface="宋体" charset="-122"/>
                <a:sym typeface="Wingdings" pitchFamily="2" charset="2"/>
              </a:rPr>
              <a:t>2</a:t>
            </a:r>
            <a:r>
              <a:rPr lang="en-US" altLang="zh-CN" sz="2400" b="1">
                <a:solidFill>
                  <a:srgbClr val="FF0000"/>
                </a:solidFill>
                <a:latin typeface="Times New Roman" pitchFamily="18" charset="0"/>
                <a:ea typeface="宋体" charset="-122"/>
                <a:sym typeface="Wingdings" pitchFamily="2" charset="2"/>
              </a:rPr>
              <a:t>)</a:t>
            </a:r>
            <a:r>
              <a:rPr lang="en-US" altLang="zh-CN" sz="2400" b="1">
                <a:solidFill>
                  <a:srgbClr val="FF0000"/>
                </a:solidFill>
                <a:ea typeface="宋体" charset="-122"/>
                <a:sym typeface="Wingdings" pitchFamily="2" charset="2"/>
              </a:rPr>
              <a:t>=0.4</a:t>
            </a:r>
            <a:endParaRPr lang="en-US" altLang="zh-CN" sz="2400" b="1">
              <a:solidFill>
                <a:srgbClr val="FF0000"/>
              </a:solidFill>
              <a:ea typeface="宋体" charset="-122"/>
            </a:endParaRPr>
          </a:p>
          <a:p>
            <a:r>
              <a:rPr lang="en-US" altLang="zh-CN" sz="2400" b="1">
                <a:solidFill>
                  <a:srgbClr val="FF0000"/>
                </a:solidFill>
                <a:ea typeface="宋体" charset="-122"/>
              </a:rPr>
              <a:t>           011010011101</a:t>
            </a:r>
            <a:r>
              <a:rPr lang="en-US" altLang="zh-CN" sz="2400" b="1">
                <a:solidFill>
                  <a:srgbClr val="FF0000"/>
                </a:solidFill>
                <a:ea typeface="宋体" charset="-122"/>
                <a:sym typeface="Wingdings" pitchFamily="2" charset="2"/>
              </a:rPr>
              <a:t>  </a:t>
            </a:r>
            <a:r>
              <a:rPr lang="en-US" altLang="zh-CN" sz="2400" b="1" i="1">
                <a:solidFill>
                  <a:srgbClr val="FF0000"/>
                </a:solidFill>
                <a:latin typeface="Times New Roman" pitchFamily="18" charset="0"/>
                <a:ea typeface="宋体" charset="-122"/>
                <a:sym typeface="Wingdings" pitchFamily="2" charset="2"/>
              </a:rPr>
              <a:t>x</a:t>
            </a:r>
            <a:r>
              <a:rPr lang="en-US" altLang="zh-CN" sz="2400" b="1" i="1" baseline="-25000">
                <a:solidFill>
                  <a:srgbClr val="FF0000"/>
                </a:solidFill>
                <a:latin typeface="Times New Roman" pitchFamily="18" charset="0"/>
                <a:ea typeface="宋体" charset="-122"/>
                <a:sym typeface="Wingdings" pitchFamily="2" charset="2"/>
              </a:rPr>
              <a:t>3 </a:t>
            </a:r>
            <a:r>
              <a:rPr lang="en-US" altLang="zh-CN" sz="2400" b="1">
                <a:solidFill>
                  <a:srgbClr val="FF0000"/>
                </a:solidFill>
                <a:ea typeface="宋体" charset="-122"/>
                <a:sym typeface="Wingdings" pitchFamily="2" charset="2"/>
              </a:rPr>
              <a:t> </a:t>
            </a:r>
            <a:r>
              <a:rPr lang="en-US" altLang="zh-CN" sz="2400" b="1" i="1">
                <a:solidFill>
                  <a:srgbClr val="FF0000"/>
                </a:solidFill>
                <a:latin typeface="Times New Roman" pitchFamily="18" charset="0"/>
                <a:ea typeface="宋体" charset="-122"/>
                <a:sym typeface="Wingdings" pitchFamily="2" charset="2"/>
              </a:rPr>
              <a:t> </a:t>
            </a:r>
            <a:r>
              <a:rPr lang="en-US" altLang="zh-CN" sz="2400" b="1">
                <a:solidFill>
                  <a:srgbClr val="FF0000"/>
                </a:solidFill>
                <a:ea typeface="宋体" charset="-122"/>
                <a:sym typeface="Wingdings" pitchFamily="2" charset="2"/>
              </a:rPr>
              <a:t> </a:t>
            </a:r>
            <a:r>
              <a:rPr lang="en-US" altLang="zh-CN" sz="2400" b="1" i="1">
                <a:solidFill>
                  <a:srgbClr val="FF0000"/>
                </a:solidFill>
                <a:latin typeface="Times New Roman" pitchFamily="18" charset="0"/>
                <a:ea typeface="宋体" charset="-122"/>
                <a:sym typeface="Wingdings" pitchFamily="2" charset="2"/>
              </a:rPr>
              <a:t>f </a:t>
            </a:r>
            <a:r>
              <a:rPr lang="en-US" altLang="zh-CN" sz="2400" b="1">
                <a:solidFill>
                  <a:srgbClr val="FF0000"/>
                </a:solidFill>
                <a:latin typeface="Times New Roman" pitchFamily="18" charset="0"/>
                <a:ea typeface="宋体" charset="-122"/>
                <a:sym typeface="Wingdings" pitchFamily="2" charset="2"/>
              </a:rPr>
              <a:t>(</a:t>
            </a:r>
            <a:r>
              <a:rPr lang="en-US" altLang="zh-CN" sz="2400" b="1" i="1">
                <a:solidFill>
                  <a:srgbClr val="FF0000"/>
                </a:solidFill>
                <a:latin typeface="Times New Roman" pitchFamily="18" charset="0"/>
                <a:ea typeface="宋体" charset="-122"/>
                <a:sym typeface="Wingdings" pitchFamily="2" charset="2"/>
              </a:rPr>
              <a:t>x</a:t>
            </a:r>
            <a:r>
              <a:rPr lang="en-US" altLang="zh-CN" sz="2400" b="1" i="1" baseline="-25000">
                <a:solidFill>
                  <a:srgbClr val="FF0000"/>
                </a:solidFill>
                <a:latin typeface="Times New Roman" pitchFamily="18" charset="0"/>
                <a:ea typeface="宋体" charset="-122"/>
                <a:sym typeface="Wingdings" pitchFamily="2" charset="2"/>
              </a:rPr>
              <a:t>3</a:t>
            </a:r>
            <a:r>
              <a:rPr lang="en-US" altLang="zh-CN" sz="2400" b="1">
                <a:solidFill>
                  <a:srgbClr val="FF0000"/>
                </a:solidFill>
                <a:latin typeface="Times New Roman" pitchFamily="18" charset="0"/>
                <a:ea typeface="宋体" charset="-122"/>
                <a:sym typeface="Wingdings" pitchFamily="2" charset="2"/>
              </a:rPr>
              <a:t>)</a:t>
            </a:r>
            <a:r>
              <a:rPr lang="en-US" altLang="zh-CN" sz="2400" b="1">
                <a:solidFill>
                  <a:srgbClr val="FF0000"/>
                </a:solidFill>
                <a:ea typeface="宋体" charset="-122"/>
                <a:sym typeface="Wingdings" pitchFamily="2" charset="2"/>
              </a:rPr>
              <a:t>=0.7</a:t>
            </a:r>
            <a:endParaRPr lang="en-US" altLang="zh-CN" sz="2400" b="1">
              <a:solidFill>
                <a:srgbClr val="FF0000"/>
              </a:solidFill>
              <a:ea typeface="宋体" charset="-122"/>
            </a:endParaRPr>
          </a:p>
          <a:p>
            <a:r>
              <a:rPr lang="en-US" altLang="zh-CN" sz="2400" b="1">
                <a:solidFill>
                  <a:srgbClr val="FF0000"/>
                </a:solidFill>
                <a:ea typeface="宋体" charset="-122"/>
              </a:rPr>
              <a:t>           010100111011</a:t>
            </a:r>
            <a:r>
              <a:rPr lang="en-US" altLang="zh-CN" sz="2400" b="1">
                <a:solidFill>
                  <a:srgbClr val="FF0000"/>
                </a:solidFill>
                <a:ea typeface="宋体" charset="-122"/>
                <a:sym typeface="Wingdings" pitchFamily="2" charset="2"/>
              </a:rPr>
              <a:t>  </a:t>
            </a:r>
            <a:r>
              <a:rPr lang="en-US" altLang="zh-CN" sz="2400" b="1" i="1">
                <a:solidFill>
                  <a:srgbClr val="FF0000"/>
                </a:solidFill>
                <a:latin typeface="Times New Roman" pitchFamily="18" charset="0"/>
                <a:ea typeface="宋体" charset="-122"/>
                <a:sym typeface="Wingdings" pitchFamily="2" charset="2"/>
              </a:rPr>
              <a:t>x</a:t>
            </a:r>
            <a:r>
              <a:rPr lang="en-US" altLang="zh-CN" sz="2400" b="1" i="1" baseline="-25000">
                <a:solidFill>
                  <a:srgbClr val="FF0000"/>
                </a:solidFill>
                <a:latin typeface="Times New Roman" pitchFamily="18" charset="0"/>
                <a:ea typeface="宋体" charset="-122"/>
                <a:sym typeface="Wingdings" pitchFamily="2" charset="2"/>
              </a:rPr>
              <a:t>4 </a:t>
            </a:r>
            <a:r>
              <a:rPr lang="en-US" altLang="zh-CN" sz="2400" b="1">
                <a:solidFill>
                  <a:srgbClr val="FF0000"/>
                </a:solidFill>
                <a:ea typeface="宋体" charset="-122"/>
                <a:sym typeface="Wingdings" pitchFamily="2" charset="2"/>
              </a:rPr>
              <a:t> </a:t>
            </a:r>
            <a:r>
              <a:rPr lang="en-US" altLang="zh-CN" sz="2400" b="1" i="1">
                <a:solidFill>
                  <a:srgbClr val="FF0000"/>
                </a:solidFill>
                <a:latin typeface="Times New Roman" pitchFamily="18" charset="0"/>
                <a:ea typeface="宋体" charset="-122"/>
                <a:sym typeface="Wingdings" pitchFamily="2" charset="2"/>
              </a:rPr>
              <a:t> </a:t>
            </a:r>
            <a:r>
              <a:rPr lang="en-US" altLang="zh-CN" sz="2400" b="1">
                <a:solidFill>
                  <a:srgbClr val="FF0000"/>
                </a:solidFill>
                <a:ea typeface="宋体" charset="-122"/>
                <a:sym typeface="Wingdings" pitchFamily="2" charset="2"/>
              </a:rPr>
              <a:t> </a:t>
            </a:r>
            <a:r>
              <a:rPr lang="en-US" altLang="zh-CN" sz="2400" b="1" i="1">
                <a:solidFill>
                  <a:srgbClr val="FF0000"/>
                </a:solidFill>
                <a:latin typeface="Times New Roman" pitchFamily="18" charset="0"/>
                <a:ea typeface="宋体" charset="-122"/>
                <a:sym typeface="Wingdings" pitchFamily="2" charset="2"/>
              </a:rPr>
              <a:t>f </a:t>
            </a:r>
            <a:r>
              <a:rPr lang="en-US" altLang="zh-CN" sz="2400" b="1">
                <a:solidFill>
                  <a:srgbClr val="FF0000"/>
                </a:solidFill>
                <a:latin typeface="Times New Roman" pitchFamily="18" charset="0"/>
                <a:ea typeface="宋体" charset="-122"/>
                <a:sym typeface="Wingdings" pitchFamily="2" charset="2"/>
              </a:rPr>
              <a:t>(</a:t>
            </a:r>
            <a:r>
              <a:rPr lang="en-US" altLang="zh-CN" sz="2400" b="1" i="1">
                <a:solidFill>
                  <a:srgbClr val="FF0000"/>
                </a:solidFill>
                <a:latin typeface="Times New Roman" pitchFamily="18" charset="0"/>
                <a:ea typeface="宋体" charset="-122"/>
                <a:sym typeface="Wingdings" pitchFamily="2" charset="2"/>
              </a:rPr>
              <a:t>x</a:t>
            </a:r>
            <a:r>
              <a:rPr lang="en-US" altLang="zh-CN" sz="2400" b="1" i="1" baseline="-25000">
                <a:solidFill>
                  <a:srgbClr val="FF0000"/>
                </a:solidFill>
                <a:latin typeface="Times New Roman" pitchFamily="18" charset="0"/>
                <a:ea typeface="宋体" charset="-122"/>
                <a:sym typeface="Wingdings" pitchFamily="2" charset="2"/>
              </a:rPr>
              <a:t>4</a:t>
            </a:r>
            <a:r>
              <a:rPr lang="en-US" altLang="zh-CN" sz="2400" b="1">
                <a:solidFill>
                  <a:srgbClr val="FF0000"/>
                </a:solidFill>
                <a:latin typeface="Times New Roman" pitchFamily="18" charset="0"/>
                <a:ea typeface="宋体" charset="-122"/>
                <a:sym typeface="Wingdings" pitchFamily="2" charset="2"/>
              </a:rPr>
              <a:t>)</a:t>
            </a:r>
            <a:r>
              <a:rPr lang="en-US" altLang="zh-CN" sz="2400" b="1">
                <a:solidFill>
                  <a:srgbClr val="FF0000"/>
                </a:solidFill>
                <a:ea typeface="宋体" charset="-122"/>
                <a:sym typeface="Wingdings" pitchFamily="2" charset="2"/>
              </a:rPr>
              <a:t>=0.9</a:t>
            </a:r>
            <a:endParaRPr lang="zh-CN" altLang="en-US" sz="2400" b="1">
              <a:solidFill>
                <a:srgbClr val="FF0000"/>
              </a:solidFill>
              <a:ea typeface="宋体" charset="-122"/>
            </a:endParaRPr>
          </a:p>
          <a:p>
            <a:endParaRPr lang="zh-CN" altLang="en-US" sz="2400" b="1">
              <a:solidFill>
                <a:srgbClr val="FF0000"/>
              </a:solidFill>
              <a:ea typeface="宋体" charset="-122"/>
            </a:endParaRPr>
          </a:p>
        </p:txBody>
      </p:sp>
    </p:spTree>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p:cNvPicPr>
            <a:picLocks noChangeAspect="1" noChangeArrowheads="1"/>
          </p:cNvPicPr>
          <p:nvPr/>
        </p:nvPicPr>
        <p:blipFill>
          <a:blip r:embed="rId2" cstate="print"/>
          <a:srcRect/>
          <a:stretch>
            <a:fillRect/>
          </a:stretch>
        </p:blipFill>
        <p:spPr bwMode="auto">
          <a:xfrm>
            <a:off x="990600" y="914400"/>
            <a:ext cx="6760482" cy="4191000"/>
          </a:xfrm>
          <a:prstGeom prst="rect">
            <a:avLst/>
          </a:prstGeom>
          <a:noFill/>
          <a:ln w="9525">
            <a:noFill/>
            <a:miter lim="800000"/>
            <a:headEnd/>
            <a:tailEnd/>
          </a:ln>
        </p:spPr>
      </p:pic>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8" name="Rectangle 8"/>
          <p:cNvSpPr>
            <a:spLocks noChangeArrowheads="1"/>
          </p:cNvSpPr>
          <p:nvPr/>
        </p:nvSpPr>
        <p:spPr bwMode="auto">
          <a:xfrm>
            <a:off x="685800" y="1552575"/>
            <a:ext cx="2286000" cy="396875"/>
          </a:xfrm>
          <a:prstGeom prst="rect">
            <a:avLst/>
          </a:prstGeom>
          <a:noFill/>
          <a:ln w="9525">
            <a:noFill/>
            <a:miter lim="800000"/>
            <a:headEnd/>
            <a:tailEnd/>
          </a:ln>
        </p:spPr>
        <p:txBody>
          <a:bodyPr>
            <a:spAutoFit/>
          </a:bodyPr>
          <a:lstStyle/>
          <a:p>
            <a:pPr>
              <a:spcBef>
                <a:spcPct val="50000"/>
              </a:spcBef>
            </a:pPr>
            <a:r>
              <a:rPr lang="zh-CN" altLang="en-US" sz="2000" b="1">
                <a:solidFill>
                  <a:srgbClr val="0000FF"/>
                </a:solidFill>
                <a:ea typeface="宋体" charset="-122"/>
              </a:rPr>
              <a:t>（</a:t>
            </a:r>
            <a:r>
              <a:rPr lang="en-US" altLang="zh-CN" sz="2000" b="1">
                <a:solidFill>
                  <a:srgbClr val="0000FF"/>
                </a:solidFill>
                <a:ea typeface="宋体" charset="-122"/>
              </a:rPr>
              <a:t>2</a:t>
            </a:r>
            <a:r>
              <a:rPr lang="zh-CN" altLang="en-US" sz="2000" b="1">
                <a:solidFill>
                  <a:srgbClr val="0000FF"/>
                </a:solidFill>
                <a:ea typeface="宋体" charset="-122"/>
              </a:rPr>
              <a:t>）界限构造法</a:t>
            </a:r>
          </a:p>
        </p:txBody>
      </p:sp>
      <p:sp>
        <p:nvSpPr>
          <p:cNvPr id="3079" name="Text Box 11"/>
          <p:cNvSpPr txBox="1">
            <a:spLocks noChangeArrowheads="1"/>
          </p:cNvSpPr>
          <p:nvPr/>
        </p:nvSpPr>
        <p:spPr bwMode="auto">
          <a:xfrm>
            <a:off x="533400" y="2162175"/>
            <a:ext cx="7772400" cy="396875"/>
          </a:xfrm>
          <a:prstGeom prst="rect">
            <a:avLst/>
          </a:prstGeom>
          <a:noFill/>
          <a:ln w="9525">
            <a:noFill/>
            <a:miter lim="800000"/>
            <a:headEnd/>
            <a:tailEnd/>
          </a:ln>
        </p:spPr>
        <p:txBody>
          <a:bodyPr>
            <a:spAutoFit/>
          </a:bodyPr>
          <a:lstStyle/>
          <a:p>
            <a:pPr>
              <a:spcBef>
                <a:spcPct val="50000"/>
              </a:spcBef>
            </a:pPr>
            <a:r>
              <a:rPr lang="zh-CN" altLang="en-US" sz="2000" b="1">
                <a:ea typeface="宋体" charset="-122"/>
              </a:rPr>
              <a:t>       若目标函数为最大值问题，则</a:t>
            </a:r>
          </a:p>
        </p:txBody>
      </p:sp>
      <p:sp>
        <p:nvSpPr>
          <p:cNvPr id="3080" name="Rectangle 13"/>
          <p:cNvSpPr>
            <a:spLocks noChangeArrowheads="1"/>
          </p:cNvSpPr>
          <p:nvPr/>
        </p:nvSpPr>
        <p:spPr bwMode="auto">
          <a:xfrm>
            <a:off x="0" y="2438400"/>
            <a:ext cx="184150" cy="366713"/>
          </a:xfrm>
          <a:prstGeom prst="rect">
            <a:avLst/>
          </a:prstGeom>
          <a:noFill/>
          <a:ln w="9525">
            <a:noFill/>
            <a:miter lim="800000"/>
            <a:headEnd/>
            <a:tailEnd/>
          </a:ln>
        </p:spPr>
        <p:txBody>
          <a:bodyPr wrap="none" anchor="ctr">
            <a:spAutoFit/>
          </a:bodyPr>
          <a:lstStyle/>
          <a:p>
            <a:endParaRPr lang="zh-CN" altLang="en-US">
              <a:ea typeface="宋体" charset="-122"/>
            </a:endParaRPr>
          </a:p>
        </p:txBody>
      </p:sp>
      <p:graphicFrame>
        <p:nvGraphicFramePr>
          <p:cNvPr id="3074" name="Object 12"/>
          <p:cNvGraphicFramePr>
            <a:graphicFrameLocks noChangeAspect="1"/>
          </p:cNvGraphicFramePr>
          <p:nvPr/>
        </p:nvGraphicFramePr>
        <p:xfrm>
          <a:off x="1752600" y="2581275"/>
          <a:ext cx="4267200" cy="800100"/>
        </p:xfrm>
        <a:graphic>
          <a:graphicData uri="http://schemas.openxmlformats.org/presentationml/2006/ole">
            <mc:AlternateContent xmlns:mc="http://schemas.openxmlformats.org/markup-compatibility/2006">
              <mc:Choice xmlns:v="urn:schemas-microsoft-com:vml" Requires="v">
                <p:oleObj spid="_x0000_s48132" name="Equation" r:id="rId3" imgW="2438280" imgH="457200" progId="Equation.DSMT4">
                  <p:embed/>
                </p:oleObj>
              </mc:Choice>
              <mc:Fallback>
                <p:oleObj name="Equation" r:id="rId3" imgW="2438280" imgH="457200" progId="Equation.DSMT4">
                  <p:embed/>
                  <p:pic>
                    <p:nvPicPr>
                      <p:cNvPr id="0" name="Object 1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752600" y="2581275"/>
                        <a:ext cx="4267200" cy="8001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3081" name="Text Box 14"/>
          <p:cNvSpPr txBox="1">
            <a:spLocks noChangeArrowheads="1"/>
          </p:cNvSpPr>
          <p:nvPr/>
        </p:nvSpPr>
        <p:spPr bwMode="auto">
          <a:xfrm>
            <a:off x="6477000" y="2466975"/>
            <a:ext cx="2133600" cy="955675"/>
          </a:xfrm>
          <a:prstGeom prst="rect">
            <a:avLst/>
          </a:prstGeom>
          <a:noFill/>
          <a:ln w="9525">
            <a:noFill/>
            <a:miter lim="800000"/>
            <a:headEnd/>
            <a:tailEnd/>
          </a:ln>
        </p:spPr>
        <p:txBody>
          <a:bodyPr>
            <a:spAutoFit/>
          </a:bodyPr>
          <a:lstStyle/>
          <a:p>
            <a:pPr>
              <a:lnSpc>
                <a:spcPct val="150000"/>
              </a:lnSpc>
              <a:spcBef>
                <a:spcPct val="50000"/>
              </a:spcBef>
            </a:pPr>
            <a:r>
              <a:rPr lang="en-US" altLang="zh-CN" sz="2000" b="1">
                <a:ea typeface="宋体" charset="-122"/>
              </a:rPr>
              <a:t>C</a:t>
            </a:r>
            <a:r>
              <a:rPr lang="en-US" altLang="zh-CN" sz="2000" b="1" baseline="-25000">
                <a:ea typeface="宋体" charset="-122"/>
              </a:rPr>
              <a:t>max</a:t>
            </a:r>
            <a:r>
              <a:rPr lang="zh-CN" altLang="en-US" sz="2000" b="1">
                <a:ea typeface="宋体" charset="-122"/>
              </a:rPr>
              <a:t>为</a:t>
            </a:r>
            <a:r>
              <a:rPr lang="en-US" altLang="zh-CN" sz="2000" b="1" i="1">
                <a:latin typeface="Times New Roman" pitchFamily="18" charset="0"/>
                <a:ea typeface="宋体" charset="-122"/>
              </a:rPr>
              <a:t>f(x)</a:t>
            </a:r>
            <a:r>
              <a:rPr lang="zh-CN" altLang="en-US" sz="2000" b="1">
                <a:ea typeface="宋体" charset="-122"/>
              </a:rPr>
              <a:t>的最大值估计。</a:t>
            </a:r>
          </a:p>
        </p:txBody>
      </p:sp>
      <p:sp>
        <p:nvSpPr>
          <p:cNvPr id="3083" name="Text Box 5"/>
          <p:cNvSpPr txBox="1">
            <a:spLocks noChangeArrowheads="1"/>
          </p:cNvSpPr>
          <p:nvPr/>
        </p:nvSpPr>
        <p:spPr bwMode="auto">
          <a:xfrm>
            <a:off x="533400" y="3457575"/>
            <a:ext cx="7772400" cy="396875"/>
          </a:xfrm>
          <a:prstGeom prst="rect">
            <a:avLst/>
          </a:prstGeom>
          <a:noFill/>
          <a:ln w="9525">
            <a:noFill/>
            <a:miter lim="800000"/>
            <a:headEnd/>
            <a:tailEnd/>
          </a:ln>
        </p:spPr>
        <p:txBody>
          <a:bodyPr>
            <a:spAutoFit/>
          </a:bodyPr>
          <a:lstStyle/>
          <a:p>
            <a:pPr>
              <a:spcBef>
                <a:spcPct val="50000"/>
              </a:spcBef>
            </a:pPr>
            <a:r>
              <a:rPr lang="zh-CN" altLang="en-US" sz="2000" b="1">
                <a:ea typeface="宋体" charset="-122"/>
              </a:rPr>
              <a:t>       若目标函数为最小值问题，则</a:t>
            </a:r>
          </a:p>
        </p:txBody>
      </p:sp>
      <p:graphicFrame>
        <p:nvGraphicFramePr>
          <p:cNvPr id="3075" name="Object 6"/>
          <p:cNvGraphicFramePr>
            <a:graphicFrameLocks noChangeAspect="1"/>
          </p:cNvGraphicFramePr>
          <p:nvPr/>
        </p:nvGraphicFramePr>
        <p:xfrm>
          <a:off x="1752600" y="3838575"/>
          <a:ext cx="4267200" cy="809625"/>
        </p:xfrm>
        <a:graphic>
          <a:graphicData uri="http://schemas.openxmlformats.org/presentationml/2006/ole">
            <mc:AlternateContent xmlns:mc="http://schemas.openxmlformats.org/markup-compatibility/2006">
              <mc:Choice xmlns:v="urn:schemas-microsoft-com:vml" Requires="v">
                <p:oleObj spid="_x0000_s48133" name="Equation" r:id="rId5" imgW="2412720" imgH="457200" progId="Equation.DSMT4">
                  <p:embed/>
                </p:oleObj>
              </mc:Choice>
              <mc:Fallback>
                <p:oleObj name="Equation" r:id="rId5" imgW="2412720" imgH="457200" progId="Equation.DSMT4">
                  <p:embed/>
                  <p:pic>
                    <p:nvPicPr>
                      <p:cNvPr id="0" name="Object 6"/>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752600" y="3838575"/>
                        <a:ext cx="4267200" cy="80962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3084" name="Text Box 10"/>
          <p:cNvSpPr txBox="1">
            <a:spLocks noChangeArrowheads="1"/>
          </p:cNvSpPr>
          <p:nvPr/>
        </p:nvSpPr>
        <p:spPr bwMode="auto">
          <a:xfrm>
            <a:off x="6400800" y="3838575"/>
            <a:ext cx="2133600" cy="701675"/>
          </a:xfrm>
          <a:prstGeom prst="rect">
            <a:avLst/>
          </a:prstGeom>
          <a:noFill/>
          <a:ln w="9525">
            <a:noFill/>
            <a:miter lim="800000"/>
            <a:headEnd/>
            <a:tailEnd/>
          </a:ln>
        </p:spPr>
        <p:txBody>
          <a:bodyPr>
            <a:spAutoFit/>
          </a:bodyPr>
          <a:lstStyle/>
          <a:p>
            <a:pPr>
              <a:spcBef>
                <a:spcPct val="50000"/>
              </a:spcBef>
            </a:pPr>
            <a:r>
              <a:rPr lang="en-US" altLang="zh-CN" sz="2000" b="1">
                <a:ea typeface="宋体" charset="-122"/>
              </a:rPr>
              <a:t>C</a:t>
            </a:r>
            <a:r>
              <a:rPr lang="en-US" altLang="zh-CN" sz="2000" b="1" baseline="-25000">
                <a:ea typeface="宋体" charset="-122"/>
              </a:rPr>
              <a:t>min</a:t>
            </a:r>
            <a:r>
              <a:rPr lang="zh-CN" altLang="en-US" sz="2000" b="1">
                <a:ea typeface="宋体" charset="-122"/>
              </a:rPr>
              <a:t>为</a:t>
            </a:r>
            <a:r>
              <a:rPr lang="en-US" altLang="zh-CN" sz="2000" b="1" i="1">
                <a:latin typeface="Times New Roman" pitchFamily="18" charset="0"/>
                <a:ea typeface="宋体" charset="-122"/>
              </a:rPr>
              <a:t>f(x)</a:t>
            </a:r>
            <a:r>
              <a:rPr lang="zh-CN" altLang="en-US" sz="2000" b="1">
                <a:ea typeface="宋体" charset="-122"/>
              </a:rPr>
              <a:t>的最小值估计。</a:t>
            </a:r>
          </a:p>
        </p:txBody>
      </p:sp>
    </p:spTree>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01" name="Text Box 11"/>
          <p:cNvSpPr txBox="1">
            <a:spLocks noChangeArrowheads="1"/>
          </p:cNvSpPr>
          <p:nvPr/>
        </p:nvSpPr>
        <p:spPr bwMode="auto">
          <a:xfrm>
            <a:off x="457200" y="1981200"/>
            <a:ext cx="7772400" cy="396875"/>
          </a:xfrm>
          <a:prstGeom prst="rect">
            <a:avLst/>
          </a:prstGeom>
          <a:noFill/>
          <a:ln w="9525">
            <a:noFill/>
            <a:miter lim="800000"/>
            <a:headEnd/>
            <a:tailEnd/>
          </a:ln>
        </p:spPr>
        <p:txBody>
          <a:bodyPr>
            <a:spAutoFit/>
          </a:bodyPr>
          <a:lstStyle/>
          <a:p>
            <a:pPr>
              <a:spcBef>
                <a:spcPct val="50000"/>
              </a:spcBef>
            </a:pPr>
            <a:r>
              <a:rPr lang="zh-CN" altLang="en-US" sz="2000" b="1">
                <a:ea typeface="宋体" charset="-122"/>
              </a:rPr>
              <a:t>       若目标函数为最小值问题，则</a:t>
            </a:r>
          </a:p>
        </p:txBody>
      </p:sp>
      <p:graphicFrame>
        <p:nvGraphicFramePr>
          <p:cNvPr id="4098" name="Object 12"/>
          <p:cNvGraphicFramePr>
            <a:graphicFrameLocks noChangeAspect="1"/>
          </p:cNvGraphicFramePr>
          <p:nvPr/>
        </p:nvGraphicFramePr>
        <p:xfrm>
          <a:off x="2514600" y="2632075"/>
          <a:ext cx="5105400" cy="760413"/>
        </p:xfrm>
        <a:graphic>
          <a:graphicData uri="http://schemas.openxmlformats.org/presentationml/2006/ole">
            <mc:AlternateContent xmlns:mc="http://schemas.openxmlformats.org/markup-compatibility/2006">
              <mc:Choice xmlns:v="urn:schemas-microsoft-com:vml" Requires="v">
                <p:oleObj spid="_x0000_s49156" name="Equation" r:id="rId3" imgW="2806700" imgH="419100" progId="Equation.DSMT4">
                  <p:embed/>
                </p:oleObj>
              </mc:Choice>
              <mc:Fallback>
                <p:oleObj name="Equation" r:id="rId3" imgW="2806700" imgH="419100" progId="Equation.DSMT4">
                  <p:embed/>
                  <p:pic>
                    <p:nvPicPr>
                      <p:cNvPr id="0" name="Object 1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514600" y="2632075"/>
                        <a:ext cx="5105400" cy="760413"/>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4102" name="Text Box 14"/>
          <p:cNvSpPr txBox="1">
            <a:spLocks noChangeArrowheads="1"/>
          </p:cNvSpPr>
          <p:nvPr/>
        </p:nvSpPr>
        <p:spPr bwMode="auto">
          <a:xfrm>
            <a:off x="457200" y="3717925"/>
            <a:ext cx="7772400" cy="396875"/>
          </a:xfrm>
          <a:prstGeom prst="rect">
            <a:avLst/>
          </a:prstGeom>
          <a:noFill/>
          <a:ln w="9525">
            <a:noFill/>
            <a:miter lim="800000"/>
            <a:headEnd/>
            <a:tailEnd/>
          </a:ln>
        </p:spPr>
        <p:txBody>
          <a:bodyPr>
            <a:spAutoFit/>
          </a:bodyPr>
          <a:lstStyle/>
          <a:p>
            <a:pPr>
              <a:spcBef>
                <a:spcPct val="50000"/>
              </a:spcBef>
            </a:pPr>
            <a:r>
              <a:rPr lang="zh-CN" altLang="en-US" sz="2000" b="1">
                <a:ea typeface="宋体" charset="-122"/>
              </a:rPr>
              <a:t>       若目标函数为最大值问题，则</a:t>
            </a:r>
          </a:p>
        </p:txBody>
      </p:sp>
      <p:graphicFrame>
        <p:nvGraphicFramePr>
          <p:cNvPr id="4099" name="Object 15"/>
          <p:cNvGraphicFramePr>
            <a:graphicFrameLocks noChangeAspect="1"/>
          </p:cNvGraphicFramePr>
          <p:nvPr/>
        </p:nvGraphicFramePr>
        <p:xfrm>
          <a:off x="2514600" y="4460875"/>
          <a:ext cx="4724400" cy="704850"/>
        </p:xfrm>
        <a:graphic>
          <a:graphicData uri="http://schemas.openxmlformats.org/presentationml/2006/ole">
            <mc:AlternateContent xmlns:mc="http://schemas.openxmlformats.org/markup-compatibility/2006">
              <mc:Choice xmlns:v="urn:schemas-microsoft-com:vml" Requires="v">
                <p:oleObj spid="_x0000_s49157" name="Equation" r:id="rId5" imgW="2806700" imgH="419100" progId="Equation.DSMT4">
                  <p:embed/>
                </p:oleObj>
              </mc:Choice>
              <mc:Fallback>
                <p:oleObj name="Equation" r:id="rId5" imgW="2806700" imgH="419100" progId="Equation.DSMT4">
                  <p:embed/>
                  <p:pic>
                    <p:nvPicPr>
                      <p:cNvPr id="0" name="Object 15"/>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514600" y="4460875"/>
                        <a:ext cx="4724400" cy="70485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4103" name="Text Box 17"/>
          <p:cNvSpPr txBox="1">
            <a:spLocks noChangeArrowheads="1"/>
          </p:cNvSpPr>
          <p:nvPr/>
        </p:nvSpPr>
        <p:spPr bwMode="auto">
          <a:xfrm>
            <a:off x="990600" y="5470525"/>
            <a:ext cx="5410200" cy="396875"/>
          </a:xfrm>
          <a:prstGeom prst="rect">
            <a:avLst/>
          </a:prstGeom>
          <a:noFill/>
          <a:ln w="9525">
            <a:noFill/>
            <a:miter lim="800000"/>
            <a:headEnd/>
            <a:tailEnd/>
          </a:ln>
        </p:spPr>
        <p:txBody>
          <a:bodyPr>
            <a:spAutoFit/>
          </a:bodyPr>
          <a:lstStyle/>
          <a:p>
            <a:pPr>
              <a:spcBef>
                <a:spcPct val="50000"/>
              </a:spcBef>
            </a:pPr>
            <a:r>
              <a:rPr lang="en-US" altLang="zh-CN" sz="2000" b="1">
                <a:ea typeface="宋体" charset="-122"/>
              </a:rPr>
              <a:t>C</a:t>
            </a:r>
            <a:r>
              <a:rPr lang="zh-CN" altLang="en-US" sz="2000" b="1">
                <a:ea typeface="宋体" charset="-122"/>
              </a:rPr>
              <a:t>为目标函数界限的保守估计值。</a:t>
            </a:r>
          </a:p>
        </p:txBody>
      </p:sp>
      <p:sp>
        <p:nvSpPr>
          <p:cNvPr id="4104" name="Rectangle 8"/>
          <p:cNvSpPr>
            <a:spLocks noChangeArrowheads="1"/>
          </p:cNvSpPr>
          <p:nvPr/>
        </p:nvSpPr>
        <p:spPr bwMode="auto">
          <a:xfrm>
            <a:off x="609600" y="1143000"/>
            <a:ext cx="6019800" cy="400050"/>
          </a:xfrm>
          <a:prstGeom prst="rect">
            <a:avLst/>
          </a:prstGeom>
          <a:noFill/>
          <a:ln w="9525">
            <a:noFill/>
            <a:miter lim="800000"/>
            <a:headEnd/>
            <a:tailEnd/>
          </a:ln>
        </p:spPr>
        <p:txBody>
          <a:bodyPr>
            <a:spAutoFit/>
          </a:bodyPr>
          <a:lstStyle/>
          <a:p>
            <a:pPr>
              <a:spcBef>
                <a:spcPct val="50000"/>
              </a:spcBef>
            </a:pPr>
            <a:r>
              <a:rPr lang="zh-CN" altLang="en-US" sz="2000" b="1" dirty="0" smtClean="0">
                <a:solidFill>
                  <a:srgbClr val="0000FF"/>
                </a:solidFill>
                <a:ea typeface="宋体" charset="-122"/>
              </a:rPr>
              <a:t>倒数</a:t>
            </a:r>
            <a:r>
              <a:rPr lang="zh-CN" altLang="en-US" sz="2000" b="1" dirty="0">
                <a:solidFill>
                  <a:srgbClr val="0000FF"/>
                </a:solidFill>
                <a:ea typeface="宋体" charset="-122"/>
              </a:rPr>
              <a:t>法</a:t>
            </a:r>
          </a:p>
        </p:txBody>
      </p:sp>
    </p:spTree>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1" name="Rectangle 3"/>
          <p:cNvSpPr>
            <a:spLocks noGrp="1" noChangeArrowheads="1"/>
          </p:cNvSpPr>
          <p:nvPr>
            <p:ph type="body" idx="1"/>
          </p:nvPr>
        </p:nvSpPr>
        <p:spPr>
          <a:xfrm>
            <a:off x="457200" y="1905000"/>
            <a:ext cx="8310563" cy="1752600"/>
          </a:xfrm>
        </p:spPr>
        <p:txBody>
          <a:bodyPr/>
          <a:lstStyle/>
          <a:p>
            <a:pPr eaLnBrk="1" hangingPunct="1">
              <a:spcBef>
                <a:spcPct val="20000"/>
              </a:spcBef>
              <a:buFont typeface="Wingdings" pitchFamily="2" charset="2"/>
              <a:buChar char="p"/>
            </a:pPr>
            <a:r>
              <a:rPr lang="zh-CN" altLang="en-US" sz="2400" smtClean="0">
                <a:ea typeface="宋体" charset="-122"/>
              </a:rPr>
              <a:t>选择操作（</a:t>
            </a:r>
            <a:r>
              <a:rPr lang="en-US" altLang="zh-CN" sz="2400" smtClean="0">
                <a:latin typeface="Times New Roman" pitchFamily="18" charset="0"/>
                <a:ea typeface="宋体" charset="-122"/>
              </a:rPr>
              <a:t>Selection</a:t>
            </a:r>
            <a:r>
              <a:rPr lang="zh-CN" altLang="en-US" sz="2400" smtClean="0">
                <a:ea typeface="宋体" charset="-122"/>
              </a:rPr>
              <a:t>）  根据各个个体的适应度，按照一定的规则，从第</a:t>
            </a:r>
            <a:r>
              <a:rPr lang="en-US" altLang="zh-CN" sz="2400" smtClean="0">
                <a:latin typeface="Times New Roman" pitchFamily="18" charset="0"/>
                <a:ea typeface="宋体" charset="-122"/>
              </a:rPr>
              <a:t>t</a:t>
            </a:r>
            <a:r>
              <a:rPr lang="zh-CN" altLang="en-US" sz="2400" smtClean="0">
                <a:ea typeface="宋体" charset="-122"/>
              </a:rPr>
              <a:t>代群体</a:t>
            </a:r>
            <a:r>
              <a:rPr lang="en-US" altLang="zh-CN" sz="2400" smtClean="0">
                <a:latin typeface="Times New Roman" pitchFamily="18" charset="0"/>
                <a:ea typeface="宋体" charset="-122"/>
              </a:rPr>
              <a:t>P(t)</a:t>
            </a:r>
            <a:r>
              <a:rPr lang="zh-CN" altLang="en-US" sz="2400" smtClean="0">
                <a:ea typeface="宋体" charset="-122"/>
              </a:rPr>
              <a:t>中选择出一些优良的个体遗传到下一代群体</a:t>
            </a:r>
            <a:r>
              <a:rPr lang="en-US" altLang="zh-CN" sz="2400" smtClean="0">
                <a:latin typeface="Times New Roman" pitchFamily="18" charset="0"/>
                <a:ea typeface="宋体" charset="-122"/>
              </a:rPr>
              <a:t>P(t+1)</a:t>
            </a:r>
            <a:r>
              <a:rPr lang="zh-CN" altLang="en-US" sz="2400" smtClean="0">
                <a:ea typeface="宋体" charset="-122"/>
              </a:rPr>
              <a:t>中。一般地，选择操作通过选择算子（</a:t>
            </a:r>
            <a:r>
              <a:rPr lang="en-US" altLang="zh-CN" sz="2400" smtClean="0">
                <a:latin typeface="Times New Roman" pitchFamily="18" charset="0"/>
                <a:ea typeface="宋体" charset="-122"/>
              </a:rPr>
              <a:t>Selection Operator</a:t>
            </a:r>
            <a:r>
              <a:rPr lang="zh-CN" altLang="en-US" sz="2400" smtClean="0">
                <a:ea typeface="宋体" charset="-122"/>
              </a:rPr>
              <a:t>）进行。</a:t>
            </a:r>
            <a:r>
              <a:rPr lang="zh-CN" altLang="en-US" smtClean="0">
                <a:ea typeface="宋体" charset="-122"/>
              </a:rPr>
              <a:t> </a:t>
            </a:r>
          </a:p>
        </p:txBody>
      </p:sp>
      <p:sp>
        <p:nvSpPr>
          <p:cNvPr id="32772" name="Rectangle 4"/>
          <p:cNvSpPr>
            <a:spLocks noChangeArrowheads="1"/>
          </p:cNvSpPr>
          <p:nvPr/>
        </p:nvSpPr>
        <p:spPr bwMode="auto">
          <a:xfrm>
            <a:off x="457200" y="1338263"/>
            <a:ext cx="8229600" cy="490537"/>
          </a:xfrm>
          <a:prstGeom prst="rect">
            <a:avLst/>
          </a:prstGeom>
          <a:noFill/>
          <a:ln w="9525">
            <a:noFill/>
            <a:miter lim="800000"/>
            <a:headEnd/>
            <a:tailEnd/>
          </a:ln>
        </p:spPr>
        <p:txBody>
          <a:bodyPr/>
          <a:lstStyle/>
          <a:p>
            <a:pPr marL="342900" indent="-342900">
              <a:lnSpc>
                <a:spcPct val="90000"/>
              </a:lnSpc>
              <a:spcBef>
                <a:spcPct val="40000"/>
              </a:spcBef>
              <a:buClr>
                <a:schemeClr val="hlink"/>
              </a:buClr>
              <a:buFont typeface="Wingdings" pitchFamily="2" charset="2"/>
              <a:buNone/>
            </a:pPr>
            <a:r>
              <a:rPr lang="zh-CN" altLang="en-US" sz="2800" b="1" dirty="0" smtClean="0">
                <a:solidFill>
                  <a:srgbClr val="CC6600"/>
                </a:solidFill>
                <a:latin typeface="Verdana" pitchFamily="34" charset="0"/>
                <a:ea typeface="宋体" charset="-122"/>
              </a:rPr>
              <a:t>遗传</a:t>
            </a:r>
            <a:r>
              <a:rPr lang="zh-CN" altLang="en-US" sz="2800" b="1" dirty="0">
                <a:solidFill>
                  <a:srgbClr val="CC6600"/>
                </a:solidFill>
                <a:latin typeface="Verdana" pitchFamily="34" charset="0"/>
                <a:ea typeface="宋体" charset="-122"/>
              </a:rPr>
              <a:t>算法的若干概念</a:t>
            </a:r>
            <a:endParaRPr lang="zh-CN" altLang="en-US" sz="2800" b="1" dirty="0">
              <a:latin typeface="Verdana" pitchFamily="34" charset="0"/>
              <a:ea typeface="宋体" charset="-122"/>
            </a:endParaRPr>
          </a:p>
        </p:txBody>
      </p:sp>
      <p:sp>
        <p:nvSpPr>
          <p:cNvPr id="32773" name="TextBox 6"/>
          <p:cNvSpPr txBox="1">
            <a:spLocks noChangeArrowheads="1"/>
          </p:cNvSpPr>
          <p:nvPr/>
        </p:nvSpPr>
        <p:spPr bwMode="auto">
          <a:xfrm>
            <a:off x="685800" y="3581400"/>
            <a:ext cx="8077200" cy="3416300"/>
          </a:xfrm>
          <a:prstGeom prst="rect">
            <a:avLst/>
          </a:prstGeom>
          <a:noFill/>
          <a:ln w="9525">
            <a:noFill/>
            <a:miter lim="800000"/>
            <a:headEnd/>
            <a:tailEnd/>
          </a:ln>
        </p:spPr>
        <p:txBody>
          <a:bodyPr>
            <a:spAutoFit/>
          </a:bodyPr>
          <a:lstStyle/>
          <a:p>
            <a:r>
              <a:rPr lang="zh-CN" altLang="en-US" sz="2400" b="1">
                <a:solidFill>
                  <a:srgbClr val="FF0000"/>
                </a:solidFill>
                <a:ea typeface="宋体" charset="-122"/>
              </a:rPr>
              <a:t>例如：       第</a:t>
            </a:r>
            <a:r>
              <a:rPr lang="en-US" altLang="zh-CN" sz="2400" b="1" i="1">
                <a:solidFill>
                  <a:srgbClr val="FF0000"/>
                </a:solidFill>
                <a:latin typeface="Times New Roman" pitchFamily="18" charset="0"/>
                <a:ea typeface="宋体" charset="-122"/>
                <a:cs typeface="Times New Roman" pitchFamily="18" charset="0"/>
              </a:rPr>
              <a:t>i</a:t>
            </a:r>
            <a:r>
              <a:rPr lang="zh-CN" altLang="en-US" sz="2400" b="1">
                <a:solidFill>
                  <a:srgbClr val="FF0000"/>
                </a:solidFill>
                <a:ea typeface="宋体" charset="-122"/>
              </a:rPr>
              <a:t>代                                   第</a:t>
            </a:r>
            <a:r>
              <a:rPr lang="en-US" altLang="zh-CN" sz="2400" b="1" i="1">
                <a:solidFill>
                  <a:srgbClr val="FF0000"/>
                </a:solidFill>
                <a:latin typeface="Times New Roman" pitchFamily="18" charset="0"/>
                <a:ea typeface="宋体" charset="-122"/>
              </a:rPr>
              <a:t>i+1</a:t>
            </a:r>
            <a:r>
              <a:rPr lang="zh-CN" altLang="en-US" sz="2400" b="1">
                <a:solidFill>
                  <a:srgbClr val="FF0000"/>
                </a:solidFill>
                <a:ea typeface="宋体" charset="-122"/>
              </a:rPr>
              <a:t>代                                                  </a:t>
            </a:r>
            <a:endParaRPr lang="en-US" altLang="zh-CN" sz="2400" b="1">
              <a:solidFill>
                <a:srgbClr val="FF0000"/>
              </a:solidFill>
              <a:ea typeface="宋体" charset="-122"/>
            </a:endParaRPr>
          </a:p>
          <a:p>
            <a:r>
              <a:rPr lang="en-US" altLang="zh-CN" sz="2400" b="1">
                <a:solidFill>
                  <a:srgbClr val="FF0000"/>
                </a:solidFill>
                <a:ea typeface="宋体" charset="-122"/>
              </a:rPr>
              <a:t>   </a:t>
            </a:r>
            <a:r>
              <a:rPr lang="en-US" altLang="zh-CN" sz="2400" b="1">
                <a:solidFill>
                  <a:srgbClr val="2B93FF"/>
                </a:solidFill>
                <a:ea typeface="宋体" charset="-122"/>
              </a:rPr>
              <a:t>011010011101</a:t>
            </a:r>
            <a:r>
              <a:rPr lang="en-US" altLang="zh-CN" sz="2400" b="1">
                <a:solidFill>
                  <a:srgbClr val="2B93FF"/>
                </a:solidFill>
                <a:ea typeface="宋体" charset="-122"/>
                <a:sym typeface="Wingdings" pitchFamily="2" charset="2"/>
              </a:rPr>
              <a:t> (</a:t>
            </a:r>
            <a:r>
              <a:rPr lang="en-US" altLang="zh-CN" sz="2400" b="1" i="1">
                <a:solidFill>
                  <a:srgbClr val="2B93FF"/>
                </a:solidFill>
                <a:latin typeface="Times New Roman" pitchFamily="18" charset="0"/>
                <a:ea typeface="宋体" charset="-122"/>
                <a:sym typeface="Wingdings" pitchFamily="2" charset="2"/>
              </a:rPr>
              <a:t>f </a:t>
            </a:r>
            <a:r>
              <a:rPr lang="en-US" altLang="zh-CN" sz="2400" b="1">
                <a:solidFill>
                  <a:srgbClr val="2B93FF"/>
                </a:solidFill>
                <a:ea typeface="宋体" charset="-122"/>
                <a:sym typeface="Wingdings" pitchFamily="2" charset="2"/>
              </a:rPr>
              <a:t>=0.5)               </a:t>
            </a:r>
            <a:r>
              <a:rPr lang="en-US" altLang="zh-CN" sz="2400" b="1">
                <a:solidFill>
                  <a:srgbClr val="0000FF"/>
                </a:solidFill>
                <a:ea typeface="宋体" charset="-122"/>
              </a:rPr>
              <a:t>010100111011</a:t>
            </a:r>
            <a:r>
              <a:rPr lang="en-US" altLang="zh-CN" sz="2400" b="1">
                <a:solidFill>
                  <a:srgbClr val="0000FF"/>
                </a:solidFill>
                <a:ea typeface="宋体" charset="-122"/>
                <a:sym typeface="Wingdings" pitchFamily="2" charset="2"/>
              </a:rPr>
              <a:t> (</a:t>
            </a:r>
            <a:r>
              <a:rPr lang="en-US" altLang="zh-CN" sz="2400" b="1" i="1">
                <a:solidFill>
                  <a:srgbClr val="0000FF"/>
                </a:solidFill>
                <a:latin typeface="Times New Roman" pitchFamily="18" charset="0"/>
                <a:ea typeface="宋体" charset="-122"/>
                <a:sym typeface="Wingdings" pitchFamily="2" charset="2"/>
              </a:rPr>
              <a:t>f </a:t>
            </a:r>
            <a:r>
              <a:rPr lang="en-US" altLang="zh-CN" sz="2400" b="1">
                <a:solidFill>
                  <a:srgbClr val="0000FF"/>
                </a:solidFill>
                <a:ea typeface="宋体" charset="-122"/>
                <a:sym typeface="Wingdings" pitchFamily="2" charset="2"/>
              </a:rPr>
              <a:t>=0.9)</a:t>
            </a:r>
            <a:endParaRPr lang="en-US" altLang="zh-CN" sz="2400" b="1">
              <a:solidFill>
                <a:srgbClr val="0000FF"/>
              </a:solidFill>
              <a:ea typeface="宋体" charset="-122"/>
            </a:endParaRPr>
          </a:p>
          <a:p>
            <a:r>
              <a:rPr lang="en-US" altLang="zh-CN" sz="2400" b="1">
                <a:solidFill>
                  <a:srgbClr val="FF0000"/>
                </a:solidFill>
                <a:ea typeface="宋体" charset="-122"/>
              </a:rPr>
              <a:t>   010100111011 (</a:t>
            </a:r>
            <a:r>
              <a:rPr lang="en-US" altLang="zh-CN" sz="2400" b="1" i="1">
                <a:solidFill>
                  <a:srgbClr val="FF0000"/>
                </a:solidFill>
                <a:latin typeface="Times New Roman" pitchFamily="18" charset="0"/>
                <a:ea typeface="宋体" charset="-122"/>
                <a:sym typeface="Wingdings" pitchFamily="2" charset="2"/>
              </a:rPr>
              <a:t>f </a:t>
            </a:r>
            <a:r>
              <a:rPr lang="en-US" altLang="zh-CN" sz="2400" b="1">
                <a:solidFill>
                  <a:srgbClr val="FF0000"/>
                </a:solidFill>
                <a:ea typeface="宋体" charset="-122"/>
                <a:sym typeface="Wingdings" pitchFamily="2" charset="2"/>
              </a:rPr>
              <a:t>=0.4)               </a:t>
            </a:r>
            <a:r>
              <a:rPr lang="en-US" altLang="zh-CN" sz="2400" b="1">
                <a:solidFill>
                  <a:srgbClr val="0000FF"/>
                </a:solidFill>
                <a:ea typeface="宋体" charset="-122"/>
              </a:rPr>
              <a:t>010100111011</a:t>
            </a:r>
            <a:r>
              <a:rPr lang="en-US" altLang="zh-CN" sz="2400" b="1">
                <a:solidFill>
                  <a:srgbClr val="0000FF"/>
                </a:solidFill>
                <a:ea typeface="宋体" charset="-122"/>
                <a:sym typeface="Wingdings" pitchFamily="2" charset="2"/>
              </a:rPr>
              <a:t> (</a:t>
            </a:r>
            <a:r>
              <a:rPr lang="en-US" altLang="zh-CN" sz="2400" b="1" i="1">
                <a:solidFill>
                  <a:srgbClr val="0000FF"/>
                </a:solidFill>
                <a:latin typeface="Times New Roman" pitchFamily="18" charset="0"/>
                <a:ea typeface="宋体" charset="-122"/>
                <a:sym typeface="Wingdings" pitchFamily="2" charset="2"/>
              </a:rPr>
              <a:t>f </a:t>
            </a:r>
            <a:r>
              <a:rPr lang="en-US" altLang="zh-CN" sz="2400" b="1">
                <a:solidFill>
                  <a:srgbClr val="0000FF"/>
                </a:solidFill>
                <a:ea typeface="宋体" charset="-122"/>
                <a:sym typeface="Wingdings" pitchFamily="2" charset="2"/>
              </a:rPr>
              <a:t>=0.9)  </a:t>
            </a:r>
            <a:endParaRPr lang="en-US" altLang="zh-CN" sz="2400" b="1">
              <a:solidFill>
                <a:srgbClr val="0000FF"/>
              </a:solidFill>
              <a:ea typeface="宋体" charset="-122"/>
            </a:endParaRPr>
          </a:p>
          <a:p>
            <a:r>
              <a:rPr lang="en-US" altLang="zh-CN" sz="2400" b="1">
                <a:solidFill>
                  <a:srgbClr val="FF0000"/>
                </a:solidFill>
                <a:ea typeface="宋体" charset="-122"/>
              </a:rPr>
              <a:t>   </a:t>
            </a:r>
            <a:r>
              <a:rPr lang="en-US" altLang="zh-CN" sz="2400" b="1">
                <a:solidFill>
                  <a:srgbClr val="00B050"/>
                </a:solidFill>
                <a:ea typeface="宋体" charset="-122"/>
              </a:rPr>
              <a:t>011010011101</a:t>
            </a:r>
            <a:r>
              <a:rPr lang="en-US" altLang="zh-CN" sz="2400" b="1">
                <a:solidFill>
                  <a:srgbClr val="00B050"/>
                </a:solidFill>
                <a:ea typeface="宋体" charset="-122"/>
                <a:sym typeface="Wingdings" pitchFamily="2" charset="2"/>
              </a:rPr>
              <a:t> (</a:t>
            </a:r>
            <a:r>
              <a:rPr lang="en-US" altLang="zh-CN" sz="2400" b="1" i="1">
                <a:solidFill>
                  <a:srgbClr val="00B050"/>
                </a:solidFill>
                <a:latin typeface="Times New Roman" pitchFamily="18" charset="0"/>
                <a:ea typeface="宋体" charset="-122"/>
                <a:sym typeface="Wingdings" pitchFamily="2" charset="2"/>
              </a:rPr>
              <a:t>f </a:t>
            </a:r>
            <a:r>
              <a:rPr lang="en-US" altLang="zh-CN" sz="2400" b="1">
                <a:solidFill>
                  <a:srgbClr val="00B050"/>
                </a:solidFill>
                <a:ea typeface="宋体" charset="-122"/>
                <a:sym typeface="Wingdings" pitchFamily="2" charset="2"/>
              </a:rPr>
              <a:t>=0.7)               </a:t>
            </a:r>
            <a:r>
              <a:rPr lang="en-US" altLang="zh-CN" sz="2400" b="1">
                <a:solidFill>
                  <a:srgbClr val="0000FF"/>
                </a:solidFill>
                <a:ea typeface="宋体" charset="-122"/>
              </a:rPr>
              <a:t>010100111011</a:t>
            </a:r>
            <a:r>
              <a:rPr lang="en-US" altLang="zh-CN" sz="2400" b="1">
                <a:solidFill>
                  <a:srgbClr val="0000FF"/>
                </a:solidFill>
                <a:ea typeface="宋体" charset="-122"/>
                <a:sym typeface="Wingdings" pitchFamily="2" charset="2"/>
              </a:rPr>
              <a:t> (</a:t>
            </a:r>
            <a:r>
              <a:rPr lang="en-US" altLang="zh-CN" sz="2400" b="1" i="1">
                <a:solidFill>
                  <a:srgbClr val="0000FF"/>
                </a:solidFill>
                <a:latin typeface="Times New Roman" pitchFamily="18" charset="0"/>
                <a:ea typeface="宋体" charset="-122"/>
                <a:sym typeface="Wingdings" pitchFamily="2" charset="2"/>
              </a:rPr>
              <a:t>f </a:t>
            </a:r>
            <a:r>
              <a:rPr lang="en-US" altLang="zh-CN" sz="2400" b="1">
                <a:solidFill>
                  <a:srgbClr val="0000FF"/>
                </a:solidFill>
                <a:ea typeface="宋体" charset="-122"/>
                <a:sym typeface="Wingdings" pitchFamily="2" charset="2"/>
              </a:rPr>
              <a:t>=0.9)</a:t>
            </a:r>
            <a:endParaRPr lang="en-US" altLang="zh-CN" sz="2400" b="1">
              <a:solidFill>
                <a:srgbClr val="0000FF"/>
              </a:solidFill>
              <a:ea typeface="宋体" charset="-122"/>
            </a:endParaRPr>
          </a:p>
          <a:p>
            <a:r>
              <a:rPr lang="en-US" altLang="zh-CN" sz="2400" b="1">
                <a:solidFill>
                  <a:srgbClr val="FF0000"/>
                </a:solidFill>
                <a:ea typeface="宋体" charset="-122"/>
              </a:rPr>
              <a:t>   </a:t>
            </a:r>
            <a:r>
              <a:rPr lang="en-US" altLang="zh-CN" sz="2400" b="1">
                <a:solidFill>
                  <a:srgbClr val="0000FF"/>
                </a:solidFill>
                <a:ea typeface="宋体" charset="-122"/>
              </a:rPr>
              <a:t>010100111011</a:t>
            </a:r>
            <a:r>
              <a:rPr lang="en-US" altLang="zh-CN" sz="2400" b="1">
                <a:solidFill>
                  <a:srgbClr val="0000FF"/>
                </a:solidFill>
                <a:ea typeface="宋体" charset="-122"/>
                <a:sym typeface="Wingdings" pitchFamily="2" charset="2"/>
              </a:rPr>
              <a:t> (</a:t>
            </a:r>
            <a:r>
              <a:rPr lang="en-US" altLang="zh-CN" sz="2400" b="1" i="1">
                <a:solidFill>
                  <a:srgbClr val="0000FF"/>
                </a:solidFill>
                <a:latin typeface="Times New Roman" pitchFamily="18" charset="0"/>
                <a:ea typeface="宋体" charset="-122"/>
                <a:sym typeface="Wingdings" pitchFamily="2" charset="2"/>
              </a:rPr>
              <a:t>f </a:t>
            </a:r>
            <a:r>
              <a:rPr lang="en-US" altLang="zh-CN" sz="2400" b="1">
                <a:solidFill>
                  <a:srgbClr val="0000FF"/>
                </a:solidFill>
                <a:ea typeface="宋体" charset="-122"/>
                <a:sym typeface="Wingdings" pitchFamily="2" charset="2"/>
              </a:rPr>
              <a:t>=0.9)               </a:t>
            </a:r>
            <a:r>
              <a:rPr lang="en-US" altLang="zh-CN" sz="2400" b="1">
                <a:solidFill>
                  <a:srgbClr val="00B050"/>
                </a:solidFill>
                <a:ea typeface="宋体" charset="-122"/>
              </a:rPr>
              <a:t>011010011101</a:t>
            </a:r>
            <a:r>
              <a:rPr lang="en-US" altLang="zh-CN" sz="2400" b="1">
                <a:solidFill>
                  <a:srgbClr val="00B050"/>
                </a:solidFill>
                <a:ea typeface="宋体" charset="-122"/>
                <a:sym typeface="Wingdings" pitchFamily="2" charset="2"/>
              </a:rPr>
              <a:t> (</a:t>
            </a:r>
            <a:r>
              <a:rPr lang="en-US" altLang="zh-CN" sz="2400" b="1" i="1">
                <a:solidFill>
                  <a:srgbClr val="00B050"/>
                </a:solidFill>
                <a:latin typeface="Times New Roman" pitchFamily="18" charset="0"/>
                <a:ea typeface="宋体" charset="-122"/>
                <a:sym typeface="Wingdings" pitchFamily="2" charset="2"/>
              </a:rPr>
              <a:t>f </a:t>
            </a:r>
            <a:r>
              <a:rPr lang="en-US" altLang="zh-CN" sz="2400" b="1">
                <a:solidFill>
                  <a:srgbClr val="00B050"/>
                </a:solidFill>
                <a:ea typeface="宋体" charset="-122"/>
                <a:sym typeface="Wingdings" pitchFamily="2" charset="2"/>
              </a:rPr>
              <a:t>=0.7) </a:t>
            </a:r>
          </a:p>
          <a:p>
            <a:r>
              <a:rPr lang="en-US" altLang="zh-CN" sz="2400" b="1">
                <a:solidFill>
                  <a:srgbClr val="FF0000"/>
                </a:solidFill>
                <a:ea typeface="宋体" charset="-122"/>
              </a:rPr>
              <a:t>   111010011101</a:t>
            </a:r>
            <a:r>
              <a:rPr lang="en-US" altLang="zh-CN" sz="2400" b="1">
                <a:solidFill>
                  <a:srgbClr val="FF0000"/>
                </a:solidFill>
                <a:ea typeface="宋体" charset="-122"/>
                <a:sym typeface="Wingdings" pitchFamily="2" charset="2"/>
              </a:rPr>
              <a:t> (</a:t>
            </a:r>
            <a:r>
              <a:rPr lang="en-US" altLang="zh-CN" sz="2400" b="1" i="1">
                <a:solidFill>
                  <a:srgbClr val="FF0000"/>
                </a:solidFill>
                <a:latin typeface="Times New Roman" pitchFamily="18" charset="0"/>
                <a:ea typeface="宋体" charset="-122"/>
                <a:sym typeface="Wingdings" pitchFamily="2" charset="2"/>
              </a:rPr>
              <a:t>f </a:t>
            </a:r>
            <a:r>
              <a:rPr lang="en-US" altLang="zh-CN" sz="2400" b="1">
                <a:solidFill>
                  <a:srgbClr val="FF0000"/>
                </a:solidFill>
                <a:ea typeface="宋体" charset="-122"/>
                <a:sym typeface="Wingdings" pitchFamily="2" charset="2"/>
              </a:rPr>
              <a:t>=0.3)               </a:t>
            </a:r>
            <a:r>
              <a:rPr lang="en-US" altLang="zh-CN" sz="2400" b="1">
                <a:solidFill>
                  <a:srgbClr val="00B050"/>
                </a:solidFill>
                <a:ea typeface="宋体" charset="-122"/>
              </a:rPr>
              <a:t>011010011101</a:t>
            </a:r>
            <a:r>
              <a:rPr lang="en-US" altLang="zh-CN" sz="2400" b="1">
                <a:solidFill>
                  <a:srgbClr val="00B050"/>
                </a:solidFill>
                <a:ea typeface="宋体" charset="-122"/>
                <a:sym typeface="Wingdings" pitchFamily="2" charset="2"/>
              </a:rPr>
              <a:t> (</a:t>
            </a:r>
            <a:r>
              <a:rPr lang="en-US" altLang="zh-CN" sz="2400" b="1" i="1">
                <a:solidFill>
                  <a:srgbClr val="00B050"/>
                </a:solidFill>
                <a:latin typeface="Times New Roman" pitchFamily="18" charset="0"/>
                <a:ea typeface="宋体" charset="-122"/>
                <a:sym typeface="Wingdings" pitchFamily="2" charset="2"/>
              </a:rPr>
              <a:t>f </a:t>
            </a:r>
            <a:r>
              <a:rPr lang="en-US" altLang="zh-CN" sz="2400" b="1">
                <a:solidFill>
                  <a:srgbClr val="00B050"/>
                </a:solidFill>
                <a:ea typeface="宋体" charset="-122"/>
                <a:sym typeface="Wingdings" pitchFamily="2" charset="2"/>
              </a:rPr>
              <a:t>=0.7) </a:t>
            </a:r>
            <a:endParaRPr lang="en-US" altLang="zh-CN" sz="2400" b="1">
              <a:solidFill>
                <a:srgbClr val="00B050"/>
              </a:solidFill>
              <a:ea typeface="宋体" charset="-122"/>
            </a:endParaRPr>
          </a:p>
          <a:p>
            <a:r>
              <a:rPr lang="en-US" altLang="zh-CN" sz="2400" b="1">
                <a:solidFill>
                  <a:srgbClr val="FF0000"/>
                </a:solidFill>
                <a:ea typeface="宋体" charset="-122"/>
              </a:rPr>
              <a:t>   110100011001 (</a:t>
            </a:r>
            <a:r>
              <a:rPr lang="en-US" altLang="zh-CN" sz="2400" b="1" i="1">
                <a:solidFill>
                  <a:srgbClr val="FF0000"/>
                </a:solidFill>
                <a:latin typeface="Times New Roman" pitchFamily="18" charset="0"/>
                <a:ea typeface="宋体" charset="-122"/>
                <a:sym typeface="Wingdings" pitchFamily="2" charset="2"/>
              </a:rPr>
              <a:t>f </a:t>
            </a:r>
            <a:r>
              <a:rPr lang="en-US" altLang="zh-CN" sz="2400" b="1">
                <a:solidFill>
                  <a:srgbClr val="FF0000"/>
                </a:solidFill>
                <a:ea typeface="宋体" charset="-122"/>
                <a:sym typeface="Wingdings" pitchFamily="2" charset="2"/>
              </a:rPr>
              <a:t>=0.1)               </a:t>
            </a:r>
            <a:r>
              <a:rPr lang="en-US" altLang="zh-CN" sz="2400" b="1">
                <a:solidFill>
                  <a:srgbClr val="2B93FF"/>
                </a:solidFill>
                <a:ea typeface="宋体" charset="-122"/>
              </a:rPr>
              <a:t>011010011101</a:t>
            </a:r>
            <a:r>
              <a:rPr lang="en-US" altLang="zh-CN" sz="2400" b="1">
                <a:solidFill>
                  <a:srgbClr val="2B93FF"/>
                </a:solidFill>
                <a:ea typeface="宋体" charset="-122"/>
                <a:sym typeface="Wingdings" pitchFamily="2" charset="2"/>
              </a:rPr>
              <a:t> (</a:t>
            </a:r>
            <a:r>
              <a:rPr lang="en-US" altLang="zh-CN" sz="2400" b="1" i="1">
                <a:solidFill>
                  <a:srgbClr val="2B93FF"/>
                </a:solidFill>
                <a:latin typeface="Times New Roman" pitchFamily="18" charset="0"/>
                <a:ea typeface="宋体" charset="-122"/>
                <a:sym typeface="Wingdings" pitchFamily="2" charset="2"/>
              </a:rPr>
              <a:t>f </a:t>
            </a:r>
            <a:r>
              <a:rPr lang="en-US" altLang="zh-CN" sz="2400" b="1">
                <a:solidFill>
                  <a:srgbClr val="2B93FF"/>
                </a:solidFill>
                <a:ea typeface="宋体" charset="-122"/>
                <a:sym typeface="Wingdings" pitchFamily="2" charset="2"/>
              </a:rPr>
              <a:t>=0.5) </a:t>
            </a:r>
            <a:endParaRPr lang="en-US" altLang="zh-CN" sz="2400" b="1">
              <a:solidFill>
                <a:srgbClr val="2B93FF"/>
              </a:solidFill>
              <a:ea typeface="宋体" charset="-122"/>
            </a:endParaRPr>
          </a:p>
          <a:p>
            <a:endParaRPr lang="zh-CN" altLang="en-US" sz="2400" b="1">
              <a:solidFill>
                <a:srgbClr val="FF0000"/>
              </a:solidFill>
              <a:ea typeface="宋体" charset="-122"/>
            </a:endParaRPr>
          </a:p>
          <a:p>
            <a:endParaRPr lang="zh-CN" altLang="en-US" sz="2400" b="1">
              <a:solidFill>
                <a:srgbClr val="FF0000"/>
              </a:solidFill>
              <a:ea typeface="宋体" charset="-122"/>
            </a:endParaRPr>
          </a:p>
        </p:txBody>
      </p:sp>
      <p:sp>
        <p:nvSpPr>
          <p:cNvPr id="8" name="右大括号 7"/>
          <p:cNvSpPr/>
          <p:nvPr/>
        </p:nvSpPr>
        <p:spPr>
          <a:xfrm>
            <a:off x="4191000" y="4191000"/>
            <a:ext cx="457200" cy="1905000"/>
          </a:xfrm>
          <a:prstGeom prst="rightBrace">
            <a:avLst/>
          </a:prstGeom>
          <a:noFill/>
          <a:ln w="25400">
            <a:solidFill>
              <a:srgbClr val="FF0000"/>
            </a:solidFill>
          </a:ln>
        </p:spPr>
        <p:style>
          <a:lnRef idx="1">
            <a:schemeClr val="accent1"/>
          </a:lnRef>
          <a:fillRef idx="0">
            <a:schemeClr val="accent1"/>
          </a:fillRef>
          <a:effectRef idx="0">
            <a:schemeClr val="accent1"/>
          </a:effectRef>
          <a:fontRef idx="minor">
            <a:schemeClr val="tx1"/>
          </a:fontRef>
        </p:style>
        <p:txBody>
          <a:bodyPr anchor="ctr"/>
          <a:lstStyle/>
          <a:p>
            <a:pPr algn="ctr">
              <a:defRPr/>
            </a:pPr>
            <a:endParaRPr lang="zh-CN" altLang="en-US">
              <a:solidFill>
                <a:srgbClr val="FF0000"/>
              </a:solidFill>
              <a:ea typeface="宋体" charset="-122"/>
            </a:endParaRPr>
          </a:p>
        </p:txBody>
      </p:sp>
      <p:sp>
        <p:nvSpPr>
          <p:cNvPr id="9" name="右箭头 8"/>
          <p:cNvSpPr/>
          <p:nvPr/>
        </p:nvSpPr>
        <p:spPr>
          <a:xfrm>
            <a:off x="4495800" y="5029200"/>
            <a:ext cx="609600" cy="228600"/>
          </a:xfrm>
          <a:prstGeom prst="rightArrow">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solidFill>
                <a:srgbClr val="FF0000"/>
              </a:solidFill>
              <a:ea typeface="宋体" charset="-122"/>
            </a:endParaRPr>
          </a:p>
        </p:txBody>
      </p:sp>
    </p:spTree>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1506" name="Picture 2"/>
          <p:cNvPicPr>
            <a:picLocks noChangeAspect="1" noChangeArrowheads="1"/>
          </p:cNvPicPr>
          <p:nvPr/>
        </p:nvPicPr>
        <p:blipFill>
          <a:blip r:embed="rId2" cstate="print"/>
          <a:srcRect/>
          <a:stretch>
            <a:fillRect/>
          </a:stretch>
        </p:blipFill>
        <p:spPr bwMode="auto">
          <a:xfrm>
            <a:off x="1066800" y="1371600"/>
            <a:ext cx="6741816" cy="4343400"/>
          </a:xfrm>
          <a:prstGeom prst="rect">
            <a:avLst/>
          </a:prstGeom>
          <a:noFill/>
          <a:ln w="9525">
            <a:noFill/>
            <a:miter lim="800000"/>
            <a:headEnd/>
            <a:tailEnd/>
          </a:ln>
        </p:spPr>
      </p:pic>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9458" name="Picture 2"/>
          <p:cNvPicPr>
            <a:picLocks noChangeAspect="1" noChangeArrowheads="1"/>
          </p:cNvPicPr>
          <p:nvPr/>
        </p:nvPicPr>
        <p:blipFill>
          <a:blip r:embed="rId2" cstate="print"/>
          <a:srcRect/>
          <a:stretch>
            <a:fillRect/>
          </a:stretch>
        </p:blipFill>
        <p:spPr bwMode="auto">
          <a:xfrm>
            <a:off x="990600" y="1143000"/>
            <a:ext cx="6925299" cy="4419600"/>
          </a:xfrm>
          <a:prstGeom prst="rect">
            <a:avLst/>
          </a:prstGeom>
          <a:noFill/>
          <a:ln w="9525">
            <a:noFill/>
            <a:miter lim="800000"/>
            <a:headEnd/>
            <a:tailEnd/>
          </a:ln>
        </p:spPr>
      </p:pic>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5" name="Text Box 5"/>
          <p:cNvSpPr txBox="1">
            <a:spLocks noChangeArrowheads="1"/>
          </p:cNvSpPr>
          <p:nvPr/>
        </p:nvSpPr>
        <p:spPr bwMode="auto">
          <a:xfrm>
            <a:off x="457200" y="1524000"/>
            <a:ext cx="8458200" cy="923925"/>
          </a:xfrm>
          <a:prstGeom prst="rect">
            <a:avLst/>
          </a:prstGeom>
          <a:noFill/>
          <a:ln w="9525">
            <a:noFill/>
            <a:miter lim="800000"/>
            <a:headEnd/>
            <a:tailEnd/>
          </a:ln>
        </p:spPr>
        <p:txBody>
          <a:bodyPr>
            <a:spAutoFit/>
          </a:bodyPr>
          <a:lstStyle/>
          <a:p>
            <a:pPr>
              <a:lnSpc>
                <a:spcPct val="150000"/>
              </a:lnSpc>
            </a:pPr>
            <a:r>
              <a:rPr lang="zh-CN" altLang="en-US" b="1">
                <a:solidFill>
                  <a:srgbClr val="0000FF"/>
                </a:solidFill>
                <a:ea typeface="宋体" charset="-122"/>
              </a:rPr>
              <a:t>（</a:t>
            </a:r>
            <a:r>
              <a:rPr lang="en-US" altLang="zh-CN" b="1">
                <a:solidFill>
                  <a:srgbClr val="0000FF"/>
                </a:solidFill>
                <a:ea typeface="宋体" charset="-122"/>
              </a:rPr>
              <a:t>1</a:t>
            </a:r>
            <a:r>
              <a:rPr lang="zh-CN" altLang="en-US" b="1">
                <a:solidFill>
                  <a:srgbClr val="0000FF"/>
                </a:solidFill>
                <a:ea typeface="宋体" charset="-122"/>
              </a:rPr>
              <a:t>）按适应度的比例选择</a:t>
            </a:r>
            <a:endParaRPr lang="en-US" altLang="zh-CN" b="1">
              <a:solidFill>
                <a:srgbClr val="0000FF"/>
              </a:solidFill>
              <a:ea typeface="宋体" charset="-122"/>
            </a:endParaRPr>
          </a:p>
          <a:p>
            <a:pPr>
              <a:lnSpc>
                <a:spcPct val="150000"/>
              </a:lnSpc>
            </a:pPr>
            <a:r>
              <a:rPr lang="en-US" altLang="zh-CN" b="1">
                <a:ea typeface="宋体" charset="-122"/>
              </a:rPr>
              <a:t>         </a:t>
            </a:r>
            <a:r>
              <a:rPr lang="zh-CN" altLang="en-US" b="1">
                <a:ea typeface="宋体" charset="-122"/>
              </a:rPr>
              <a:t>若某个个体</a:t>
            </a:r>
            <a:r>
              <a:rPr lang="en-US" altLang="zh-CN" b="1" i="1">
                <a:latin typeface="Times New Roman" pitchFamily="18" charset="0"/>
                <a:ea typeface="宋体" charset="-122"/>
              </a:rPr>
              <a:t>i</a:t>
            </a:r>
            <a:r>
              <a:rPr lang="zh-CN" altLang="en-US" b="1">
                <a:ea typeface="宋体" charset="-122"/>
              </a:rPr>
              <a:t>，其适应度为</a:t>
            </a:r>
            <a:r>
              <a:rPr lang="en-US" altLang="zh-CN" b="1" i="1">
                <a:latin typeface="Times New Roman" pitchFamily="18" charset="0"/>
                <a:ea typeface="宋体" charset="-122"/>
              </a:rPr>
              <a:t>f</a:t>
            </a:r>
            <a:r>
              <a:rPr lang="en-US" altLang="zh-CN" b="1" i="1" baseline="-25000">
                <a:latin typeface="Times New Roman" pitchFamily="18" charset="0"/>
                <a:ea typeface="宋体" charset="-122"/>
              </a:rPr>
              <a:t>i</a:t>
            </a:r>
            <a:r>
              <a:rPr lang="zh-CN" altLang="en-US" b="1">
                <a:ea typeface="宋体" charset="-122"/>
              </a:rPr>
              <a:t>，则其被选取的概率表示为</a:t>
            </a:r>
            <a:r>
              <a:rPr lang="en-US" altLang="zh-CN" b="1">
                <a:ea typeface="宋体" charset="-122"/>
              </a:rPr>
              <a:t>,</a:t>
            </a:r>
          </a:p>
        </p:txBody>
      </p:sp>
      <p:sp>
        <p:nvSpPr>
          <p:cNvPr id="5126" name="Text Box 21"/>
          <p:cNvSpPr txBox="1">
            <a:spLocks noChangeArrowheads="1"/>
          </p:cNvSpPr>
          <p:nvPr/>
        </p:nvSpPr>
        <p:spPr bwMode="auto">
          <a:xfrm>
            <a:off x="457200" y="3808413"/>
            <a:ext cx="6172200" cy="1754187"/>
          </a:xfrm>
          <a:prstGeom prst="rect">
            <a:avLst/>
          </a:prstGeom>
          <a:noFill/>
          <a:ln w="9525">
            <a:noFill/>
            <a:miter lim="800000"/>
            <a:headEnd/>
            <a:tailEnd/>
          </a:ln>
        </p:spPr>
        <p:txBody>
          <a:bodyPr>
            <a:spAutoFit/>
          </a:bodyPr>
          <a:lstStyle/>
          <a:p>
            <a:pPr>
              <a:lnSpc>
                <a:spcPct val="150000"/>
              </a:lnSpc>
            </a:pPr>
            <a:r>
              <a:rPr lang="zh-CN" altLang="en-US" b="1">
                <a:solidFill>
                  <a:srgbClr val="0000FF"/>
                </a:solidFill>
                <a:ea typeface="宋体" charset="-122"/>
              </a:rPr>
              <a:t>（</a:t>
            </a:r>
            <a:r>
              <a:rPr lang="en-US" altLang="zh-CN" b="1">
                <a:solidFill>
                  <a:srgbClr val="0000FF"/>
                </a:solidFill>
                <a:ea typeface="宋体" charset="-122"/>
              </a:rPr>
              <a:t>2</a:t>
            </a:r>
            <a:r>
              <a:rPr lang="zh-CN" altLang="en-US" b="1">
                <a:solidFill>
                  <a:srgbClr val="0000FF"/>
                </a:solidFill>
                <a:ea typeface="宋体" charset="-122"/>
              </a:rPr>
              <a:t>）按适应度的排序选择：越靠前越易被选择</a:t>
            </a:r>
          </a:p>
          <a:p>
            <a:pPr>
              <a:lnSpc>
                <a:spcPct val="150000"/>
              </a:lnSpc>
            </a:pPr>
            <a:r>
              <a:rPr lang="zh-CN" altLang="en-US" b="1">
                <a:ea typeface="宋体" charset="-122"/>
              </a:rPr>
              <a:t>        </a:t>
            </a:r>
            <a:endParaRPr lang="en-US" altLang="zh-CN" b="1">
              <a:ea typeface="宋体" charset="-122"/>
            </a:endParaRPr>
          </a:p>
          <a:p>
            <a:pPr>
              <a:lnSpc>
                <a:spcPct val="150000"/>
              </a:lnSpc>
            </a:pPr>
            <a:endParaRPr lang="en-US" altLang="zh-CN" b="1">
              <a:ea typeface="宋体" charset="-122"/>
            </a:endParaRPr>
          </a:p>
          <a:p>
            <a:pPr>
              <a:lnSpc>
                <a:spcPct val="150000"/>
              </a:lnSpc>
            </a:pPr>
            <a:r>
              <a:rPr lang="en-US" altLang="zh-CN" b="1">
                <a:ea typeface="宋体" charset="-122"/>
              </a:rPr>
              <a:t>        </a:t>
            </a:r>
            <a:endParaRPr lang="zh-CN" altLang="en-US">
              <a:ea typeface="宋体" charset="-122"/>
            </a:endParaRPr>
          </a:p>
        </p:txBody>
      </p:sp>
      <p:sp>
        <p:nvSpPr>
          <p:cNvPr id="5127" name="Text Box 6"/>
          <p:cNvSpPr txBox="1">
            <a:spLocks noChangeArrowheads="1"/>
          </p:cNvSpPr>
          <p:nvPr/>
        </p:nvSpPr>
        <p:spPr bwMode="auto">
          <a:xfrm>
            <a:off x="457200" y="1066800"/>
            <a:ext cx="8458200" cy="461963"/>
          </a:xfrm>
          <a:prstGeom prst="rect">
            <a:avLst/>
          </a:prstGeom>
          <a:noFill/>
          <a:ln w="9525">
            <a:noFill/>
            <a:miter lim="800000"/>
            <a:headEnd/>
            <a:tailEnd/>
          </a:ln>
        </p:spPr>
        <p:txBody>
          <a:bodyPr>
            <a:spAutoFit/>
          </a:bodyPr>
          <a:lstStyle/>
          <a:p>
            <a:pPr marL="622300" indent="-622300"/>
            <a:r>
              <a:rPr lang="zh-CN" altLang="en-US" sz="2400" b="1" dirty="0" smtClean="0">
                <a:solidFill>
                  <a:srgbClr val="FF0000"/>
                </a:solidFill>
                <a:ea typeface="宋体" charset="-122"/>
              </a:rPr>
              <a:t>选择</a:t>
            </a:r>
            <a:r>
              <a:rPr lang="zh-CN" altLang="en-US" sz="2400" b="1" dirty="0">
                <a:solidFill>
                  <a:srgbClr val="FF0000"/>
                </a:solidFill>
                <a:ea typeface="宋体" charset="-122"/>
              </a:rPr>
              <a:t>操作的实现：</a:t>
            </a:r>
            <a:endParaRPr lang="en-US" altLang="zh-CN" sz="2400" b="1" dirty="0">
              <a:solidFill>
                <a:srgbClr val="FF0000"/>
              </a:solidFill>
              <a:ea typeface="宋体" charset="-122"/>
            </a:endParaRPr>
          </a:p>
        </p:txBody>
      </p:sp>
      <p:graphicFrame>
        <p:nvGraphicFramePr>
          <p:cNvPr id="5122" name="Object 9"/>
          <p:cNvGraphicFramePr>
            <a:graphicFrameLocks noChangeAspect="1"/>
          </p:cNvGraphicFramePr>
          <p:nvPr/>
        </p:nvGraphicFramePr>
        <p:xfrm>
          <a:off x="3276600" y="4191000"/>
          <a:ext cx="1371600" cy="1400175"/>
        </p:xfrm>
        <a:graphic>
          <a:graphicData uri="http://schemas.openxmlformats.org/presentationml/2006/ole">
            <mc:AlternateContent xmlns:mc="http://schemas.openxmlformats.org/markup-compatibility/2006">
              <mc:Choice xmlns:v="urn:schemas-microsoft-com:vml" Requires="v">
                <p:oleObj spid="_x0000_s50180" name="公式" r:id="rId3" imgW="609480" imgH="622080" progId="Equation.3">
                  <p:embed/>
                </p:oleObj>
              </mc:Choice>
              <mc:Fallback>
                <p:oleObj name="公式" r:id="rId3" imgW="609480" imgH="622080" progId="Equation.3">
                  <p:embed/>
                  <p:pic>
                    <p:nvPicPr>
                      <p:cNvPr id="0" name="Object 9"/>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276600" y="4191000"/>
                        <a:ext cx="1371600" cy="140017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5123" name="Object 9"/>
          <p:cNvGraphicFramePr>
            <a:graphicFrameLocks noChangeAspect="1"/>
          </p:cNvGraphicFramePr>
          <p:nvPr/>
        </p:nvGraphicFramePr>
        <p:xfrm>
          <a:off x="3389313" y="2362200"/>
          <a:ext cx="1377950" cy="1323975"/>
        </p:xfrm>
        <a:graphic>
          <a:graphicData uri="http://schemas.openxmlformats.org/presentationml/2006/ole">
            <mc:AlternateContent xmlns:mc="http://schemas.openxmlformats.org/markup-compatibility/2006">
              <mc:Choice xmlns:v="urn:schemas-microsoft-com:vml" Requires="v">
                <p:oleObj spid="_x0000_s50181" name="公式" r:id="rId5" imgW="647640" imgH="622080" progId="Equation.3">
                  <p:embed/>
                </p:oleObj>
              </mc:Choice>
              <mc:Fallback>
                <p:oleObj name="公式" r:id="rId5" imgW="647640" imgH="622080" progId="Equation.3">
                  <p:embed/>
                  <p:pic>
                    <p:nvPicPr>
                      <p:cNvPr id="0" name="Picture 3"/>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3389313" y="2362200"/>
                        <a:ext cx="1377950" cy="132397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pic>
        <p:nvPicPr>
          <p:cNvPr id="5128" name="Picture 10"/>
          <p:cNvPicPr>
            <a:picLocks noChangeAspect="1" noChangeArrowheads="1"/>
          </p:cNvPicPr>
          <p:nvPr/>
        </p:nvPicPr>
        <p:blipFill>
          <a:blip r:embed="rId7" cstate="print"/>
          <a:srcRect/>
          <a:stretch>
            <a:fillRect/>
          </a:stretch>
        </p:blipFill>
        <p:spPr bwMode="auto">
          <a:xfrm>
            <a:off x="5867400" y="2590800"/>
            <a:ext cx="2903538" cy="3048000"/>
          </a:xfrm>
          <a:prstGeom prst="rect">
            <a:avLst/>
          </a:prstGeom>
          <a:noFill/>
          <a:ln w="9525">
            <a:noFill/>
            <a:miter lim="800000"/>
            <a:headEnd/>
            <a:tailEnd/>
          </a:ln>
        </p:spPr>
      </p:pic>
      <p:sp>
        <p:nvSpPr>
          <p:cNvPr id="5129" name="矩形 13"/>
          <p:cNvSpPr>
            <a:spLocks noChangeArrowheads="1"/>
          </p:cNvSpPr>
          <p:nvPr/>
        </p:nvSpPr>
        <p:spPr bwMode="auto">
          <a:xfrm>
            <a:off x="6096000" y="5562600"/>
            <a:ext cx="2276475" cy="369888"/>
          </a:xfrm>
          <a:prstGeom prst="rect">
            <a:avLst/>
          </a:prstGeom>
          <a:noFill/>
          <a:ln w="9525">
            <a:noFill/>
            <a:miter lim="800000"/>
            <a:headEnd/>
            <a:tailEnd/>
          </a:ln>
        </p:spPr>
        <p:txBody>
          <a:bodyPr wrap="none">
            <a:spAutoFit/>
          </a:bodyPr>
          <a:lstStyle/>
          <a:p>
            <a:r>
              <a:rPr lang="zh-CN" altLang="en-US" b="1">
                <a:ea typeface="宋体" charset="-122"/>
              </a:rPr>
              <a:t>轮盘赌实现选择操作</a:t>
            </a:r>
            <a:endParaRPr lang="zh-CN" altLang="en-US">
              <a:ea typeface="宋体" charset="-122"/>
            </a:endParaRPr>
          </a:p>
        </p:txBody>
      </p:sp>
    </p:spTree>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5" name="Rectangle 4"/>
          <p:cNvSpPr>
            <a:spLocks noChangeArrowheads="1"/>
          </p:cNvSpPr>
          <p:nvPr/>
        </p:nvSpPr>
        <p:spPr bwMode="auto">
          <a:xfrm>
            <a:off x="457200" y="1338263"/>
            <a:ext cx="8229600" cy="490537"/>
          </a:xfrm>
          <a:prstGeom prst="rect">
            <a:avLst/>
          </a:prstGeom>
          <a:noFill/>
          <a:ln w="9525">
            <a:noFill/>
            <a:miter lim="800000"/>
            <a:headEnd/>
            <a:tailEnd/>
          </a:ln>
        </p:spPr>
        <p:txBody>
          <a:bodyPr/>
          <a:lstStyle/>
          <a:p>
            <a:pPr marL="342900" indent="-342900">
              <a:lnSpc>
                <a:spcPct val="90000"/>
              </a:lnSpc>
              <a:spcBef>
                <a:spcPct val="40000"/>
              </a:spcBef>
              <a:buClr>
                <a:schemeClr val="hlink"/>
              </a:buClr>
              <a:buFont typeface="Wingdings" pitchFamily="2" charset="2"/>
              <a:buNone/>
            </a:pPr>
            <a:r>
              <a:rPr lang="zh-CN" altLang="en-US" sz="2800" b="1" dirty="0" smtClean="0">
                <a:solidFill>
                  <a:srgbClr val="CC6600"/>
                </a:solidFill>
                <a:latin typeface="Verdana" pitchFamily="34" charset="0"/>
                <a:ea typeface="宋体" charset="-122"/>
              </a:rPr>
              <a:t>遗传</a:t>
            </a:r>
            <a:r>
              <a:rPr lang="zh-CN" altLang="en-US" sz="2800" b="1" dirty="0">
                <a:solidFill>
                  <a:srgbClr val="CC6600"/>
                </a:solidFill>
                <a:latin typeface="Verdana" pitchFamily="34" charset="0"/>
                <a:ea typeface="宋体" charset="-122"/>
              </a:rPr>
              <a:t>算法的若干概念</a:t>
            </a:r>
            <a:endParaRPr lang="zh-CN" altLang="en-US" sz="2800" b="1" dirty="0">
              <a:latin typeface="Verdana" pitchFamily="34" charset="0"/>
              <a:ea typeface="宋体" charset="-122"/>
            </a:endParaRPr>
          </a:p>
        </p:txBody>
      </p:sp>
      <p:sp>
        <p:nvSpPr>
          <p:cNvPr id="33796" name="Text Box 5"/>
          <p:cNvSpPr txBox="1">
            <a:spLocks noChangeArrowheads="1"/>
          </p:cNvSpPr>
          <p:nvPr/>
        </p:nvSpPr>
        <p:spPr bwMode="auto">
          <a:xfrm>
            <a:off x="457200" y="1905000"/>
            <a:ext cx="8305800" cy="1574800"/>
          </a:xfrm>
          <a:prstGeom prst="rect">
            <a:avLst/>
          </a:prstGeom>
          <a:noFill/>
          <a:ln w="9525" algn="ctr">
            <a:noFill/>
            <a:miter lim="800000"/>
            <a:headEnd/>
            <a:tailEnd/>
          </a:ln>
        </p:spPr>
        <p:txBody>
          <a:bodyPr/>
          <a:lstStyle/>
          <a:p>
            <a:pPr marL="342900" indent="-342900">
              <a:spcBef>
                <a:spcPct val="40000"/>
              </a:spcBef>
              <a:buClr>
                <a:schemeClr val="hlink"/>
              </a:buClr>
              <a:buFont typeface="Wingdings" pitchFamily="2" charset="2"/>
              <a:buChar char="p"/>
            </a:pPr>
            <a:r>
              <a:rPr lang="zh-CN" altLang="en-US" sz="2400" b="1">
                <a:latin typeface="Verdana" pitchFamily="34" charset="0"/>
                <a:ea typeface="宋体" charset="-122"/>
              </a:rPr>
              <a:t>交叉操作</a:t>
            </a:r>
            <a:r>
              <a:rPr lang="zh-CN" altLang="en-US" sz="2400" b="1">
                <a:latin typeface="Times New Roman" pitchFamily="18" charset="0"/>
                <a:ea typeface="宋体" charset="-122"/>
              </a:rPr>
              <a:t>（</a:t>
            </a:r>
            <a:r>
              <a:rPr lang="en-US" altLang="zh-CN" sz="2400" b="1">
                <a:latin typeface="Times New Roman" pitchFamily="18" charset="0"/>
                <a:ea typeface="宋体" charset="-122"/>
              </a:rPr>
              <a:t>Crossover</a:t>
            </a:r>
            <a:r>
              <a:rPr lang="zh-CN" altLang="en-US" sz="2400" b="1">
                <a:latin typeface="Times New Roman" pitchFamily="18" charset="0"/>
                <a:ea typeface="宋体" charset="-122"/>
              </a:rPr>
              <a:t>）</a:t>
            </a:r>
            <a:r>
              <a:rPr lang="zh-CN" altLang="en-US" sz="2400" b="1">
                <a:latin typeface="Verdana" pitchFamily="34" charset="0"/>
                <a:ea typeface="宋体" charset="-122"/>
              </a:rPr>
              <a:t>  将群体</a:t>
            </a:r>
            <a:r>
              <a:rPr lang="en-US" altLang="zh-CN" sz="2400" b="1">
                <a:latin typeface="Times New Roman" pitchFamily="18" charset="0"/>
                <a:ea typeface="宋体" charset="-122"/>
              </a:rPr>
              <a:t>P(t)</a:t>
            </a:r>
            <a:r>
              <a:rPr lang="zh-CN" altLang="en-US" sz="2400" b="1">
                <a:latin typeface="Verdana" pitchFamily="34" charset="0"/>
                <a:ea typeface="宋体" charset="-122"/>
              </a:rPr>
              <a:t>内的各个个体随机搭配成对，对每一对个体，以某个概率（称为交叉概率，</a:t>
            </a:r>
            <a:r>
              <a:rPr lang="en-US" altLang="zh-CN" sz="2400" b="1">
                <a:latin typeface="Times New Roman" pitchFamily="18" charset="0"/>
                <a:ea typeface="宋体" charset="-122"/>
              </a:rPr>
              <a:t>Crossover Rate</a:t>
            </a:r>
            <a:r>
              <a:rPr lang="zh-CN" altLang="en-US" sz="2400" b="1">
                <a:latin typeface="Times New Roman" pitchFamily="18" charset="0"/>
                <a:ea typeface="宋体" charset="-122"/>
              </a:rPr>
              <a:t>）遵循某一种规则</a:t>
            </a:r>
            <a:r>
              <a:rPr lang="zh-CN" altLang="en-US" sz="2400" b="1">
                <a:latin typeface="Verdana" pitchFamily="34" charset="0"/>
                <a:ea typeface="宋体" charset="-122"/>
              </a:rPr>
              <a:t>交换它们之间的部分染色体。</a:t>
            </a:r>
          </a:p>
        </p:txBody>
      </p:sp>
      <p:pic>
        <p:nvPicPr>
          <p:cNvPr id="24578" name="Picture 2"/>
          <p:cNvPicPr>
            <a:picLocks noChangeAspect="1" noChangeArrowheads="1"/>
          </p:cNvPicPr>
          <p:nvPr/>
        </p:nvPicPr>
        <p:blipFill>
          <a:blip r:embed="rId2" cstate="print"/>
          <a:srcRect/>
          <a:stretch>
            <a:fillRect/>
          </a:stretch>
        </p:blipFill>
        <p:spPr bwMode="auto">
          <a:xfrm>
            <a:off x="1447800" y="3733800"/>
            <a:ext cx="5823211" cy="2438400"/>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5602" name="Picture 2"/>
          <p:cNvPicPr>
            <a:picLocks noChangeAspect="1" noChangeArrowheads="1"/>
          </p:cNvPicPr>
          <p:nvPr/>
        </p:nvPicPr>
        <p:blipFill>
          <a:blip r:embed="rId2" cstate="print"/>
          <a:srcRect/>
          <a:stretch>
            <a:fillRect/>
          </a:stretch>
        </p:blipFill>
        <p:spPr bwMode="auto">
          <a:xfrm>
            <a:off x="990600" y="1143000"/>
            <a:ext cx="6932141" cy="4572000"/>
          </a:xfrm>
          <a:prstGeom prst="rect">
            <a:avLst/>
          </a:prstGeom>
          <a:noFill/>
          <a:ln w="9525">
            <a:noFill/>
            <a:miter lim="800000"/>
            <a:headEnd/>
            <a:tailEnd/>
          </a:ln>
        </p:spPr>
      </p:pic>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6626" name="Picture 2"/>
          <p:cNvPicPr>
            <a:picLocks noChangeAspect="1" noChangeArrowheads="1"/>
          </p:cNvPicPr>
          <p:nvPr/>
        </p:nvPicPr>
        <p:blipFill>
          <a:blip r:embed="rId2" cstate="print"/>
          <a:srcRect/>
          <a:stretch>
            <a:fillRect/>
          </a:stretch>
        </p:blipFill>
        <p:spPr bwMode="auto">
          <a:xfrm>
            <a:off x="914400" y="457200"/>
            <a:ext cx="6376276" cy="3791607"/>
          </a:xfrm>
          <a:prstGeom prst="rect">
            <a:avLst/>
          </a:prstGeom>
          <a:noFill/>
          <a:ln w="9525">
            <a:noFill/>
            <a:miter lim="800000"/>
            <a:headEnd/>
            <a:tailEnd/>
          </a:ln>
        </p:spPr>
      </p:pic>
      <p:pic>
        <p:nvPicPr>
          <p:cNvPr id="26627" name="Picture 3"/>
          <p:cNvPicPr>
            <a:picLocks noChangeAspect="1" noChangeArrowheads="1"/>
          </p:cNvPicPr>
          <p:nvPr/>
        </p:nvPicPr>
        <p:blipFill>
          <a:blip r:embed="rId3" cstate="print"/>
          <a:srcRect/>
          <a:stretch>
            <a:fillRect/>
          </a:stretch>
        </p:blipFill>
        <p:spPr bwMode="auto">
          <a:xfrm>
            <a:off x="990600" y="4495800"/>
            <a:ext cx="5852510" cy="1981200"/>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482" name="Picture 2"/>
          <p:cNvPicPr>
            <a:picLocks noChangeAspect="1" noChangeArrowheads="1"/>
          </p:cNvPicPr>
          <p:nvPr/>
        </p:nvPicPr>
        <p:blipFill>
          <a:blip r:embed="rId2" cstate="print"/>
          <a:srcRect/>
          <a:stretch>
            <a:fillRect/>
          </a:stretch>
        </p:blipFill>
        <p:spPr bwMode="auto">
          <a:xfrm>
            <a:off x="1066800" y="1219200"/>
            <a:ext cx="6556075" cy="4267200"/>
          </a:xfrm>
          <a:prstGeom prst="rect">
            <a:avLst/>
          </a:prstGeom>
          <a:noFill/>
          <a:ln w="9525">
            <a:noFill/>
            <a:miter lim="800000"/>
            <a:headEnd/>
            <a:tailEnd/>
          </a:ln>
        </p:spPr>
      </p:pic>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50" name="Picture 2"/>
          <p:cNvPicPr>
            <a:picLocks noChangeAspect="1" noChangeArrowheads="1"/>
          </p:cNvPicPr>
          <p:nvPr/>
        </p:nvPicPr>
        <p:blipFill>
          <a:blip r:embed="rId2" cstate="print"/>
          <a:srcRect/>
          <a:stretch>
            <a:fillRect/>
          </a:stretch>
        </p:blipFill>
        <p:spPr bwMode="auto">
          <a:xfrm>
            <a:off x="1295400" y="1143000"/>
            <a:ext cx="6349319" cy="4267200"/>
          </a:xfrm>
          <a:prstGeom prst="rect">
            <a:avLst/>
          </a:prstGeom>
          <a:noFill/>
          <a:ln w="9525">
            <a:noFill/>
            <a:miter lim="800000"/>
            <a:headEnd/>
            <a:tailEnd/>
          </a:ln>
        </p:spPr>
      </p:pic>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7410" name="Picture 2"/>
          <p:cNvPicPr>
            <a:picLocks noChangeAspect="1" noChangeArrowheads="1"/>
          </p:cNvPicPr>
          <p:nvPr/>
        </p:nvPicPr>
        <p:blipFill>
          <a:blip r:embed="rId2" cstate="print"/>
          <a:srcRect/>
          <a:stretch>
            <a:fillRect/>
          </a:stretch>
        </p:blipFill>
        <p:spPr bwMode="auto">
          <a:xfrm>
            <a:off x="1066800" y="1143000"/>
            <a:ext cx="6812772" cy="3962400"/>
          </a:xfrm>
          <a:prstGeom prst="rect">
            <a:avLst/>
          </a:prstGeom>
          <a:noFill/>
          <a:ln w="9525">
            <a:noFill/>
            <a:miter lim="800000"/>
            <a:headEnd/>
            <a:tailEnd/>
          </a:ln>
        </p:spPr>
      </p:pic>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4338" name="Picture 2"/>
          <p:cNvPicPr>
            <a:picLocks noChangeAspect="1" noChangeArrowheads="1"/>
          </p:cNvPicPr>
          <p:nvPr/>
        </p:nvPicPr>
        <p:blipFill>
          <a:blip r:embed="rId2" cstate="print"/>
          <a:srcRect/>
          <a:stretch>
            <a:fillRect/>
          </a:stretch>
        </p:blipFill>
        <p:spPr bwMode="auto">
          <a:xfrm>
            <a:off x="838201" y="685800"/>
            <a:ext cx="7239000" cy="5473724"/>
          </a:xfrm>
          <a:prstGeom prst="rect">
            <a:avLst/>
          </a:prstGeom>
          <a:noFill/>
          <a:ln w="9525">
            <a:noFill/>
            <a:miter lim="800000"/>
            <a:headEnd/>
            <a:tailEnd/>
          </a:ln>
        </p:spPr>
      </p:pic>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5" name="Rectangle 7"/>
          <p:cNvSpPr>
            <a:spLocks noGrp="1" noChangeArrowheads="1"/>
          </p:cNvSpPr>
          <p:nvPr>
            <p:ph type="body" idx="1"/>
          </p:nvPr>
        </p:nvSpPr>
        <p:spPr>
          <a:xfrm>
            <a:off x="533400" y="304800"/>
            <a:ext cx="8229600" cy="457200"/>
          </a:xfrm>
          <a:noFill/>
        </p:spPr>
        <p:txBody>
          <a:bodyPr>
            <a:normAutofit fontScale="92500" lnSpcReduction="10000"/>
          </a:bodyPr>
          <a:lstStyle/>
          <a:p>
            <a:pPr>
              <a:lnSpc>
                <a:spcPct val="90000"/>
              </a:lnSpc>
            </a:pPr>
            <a:r>
              <a:rPr lang="zh-CN" altLang="en-US" smtClean="0">
                <a:solidFill>
                  <a:srgbClr val="0000FF"/>
                </a:solidFill>
                <a:ea typeface="宋体" charset="-122"/>
              </a:rPr>
              <a:t>程序流程图</a:t>
            </a:r>
          </a:p>
        </p:txBody>
      </p:sp>
      <p:grpSp>
        <p:nvGrpSpPr>
          <p:cNvPr id="2" name="Group 106"/>
          <p:cNvGrpSpPr>
            <a:grpSpLocks/>
          </p:cNvGrpSpPr>
          <p:nvPr/>
        </p:nvGrpSpPr>
        <p:grpSpPr bwMode="auto">
          <a:xfrm>
            <a:off x="758825" y="203200"/>
            <a:ext cx="8004175" cy="6516688"/>
            <a:chOff x="211" y="32"/>
            <a:chExt cx="5042" cy="4105"/>
          </a:xfrm>
        </p:grpSpPr>
        <p:grpSp>
          <p:nvGrpSpPr>
            <p:cNvPr id="3" name="Group 107"/>
            <p:cNvGrpSpPr>
              <a:grpSpLocks/>
            </p:cNvGrpSpPr>
            <p:nvPr/>
          </p:nvGrpSpPr>
          <p:grpSpPr bwMode="auto">
            <a:xfrm>
              <a:off x="2583" y="32"/>
              <a:ext cx="471" cy="192"/>
              <a:chOff x="4040" y="64"/>
              <a:chExt cx="471" cy="192"/>
            </a:xfrm>
          </p:grpSpPr>
          <p:sp>
            <p:nvSpPr>
              <p:cNvPr id="39011" name="AutoShape 108"/>
              <p:cNvSpPr>
                <a:spLocks noChangeArrowheads="1"/>
              </p:cNvSpPr>
              <p:nvPr/>
            </p:nvSpPr>
            <p:spPr bwMode="auto">
              <a:xfrm>
                <a:off x="4040" y="84"/>
                <a:ext cx="471" cy="156"/>
              </a:xfrm>
              <a:prstGeom prst="flowChartTerminator">
                <a:avLst/>
              </a:prstGeom>
              <a:noFill/>
              <a:ln w="9525">
                <a:solidFill>
                  <a:schemeClr val="tx1"/>
                </a:solidFill>
                <a:miter lim="800000"/>
                <a:headEnd/>
                <a:tailEnd/>
              </a:ln>
            </p:spPr>
            <p:txBody>
              <a:bodyPr wrap="none" anchor="ctr"/>
              <a:lstStyle/>
              <a:p>
                <a:endParaRPr lang="zh-CN" altLang="en-US">
                  <a:ea typeface="宋体" charset="-122"/>
                </a:endParaRPr>
              </a:p>
            </p:txBody>
          </p:sp>
          <p:sp>
            <p:nvSpPr>
              <p:cNvPr id="39012" name="Text Box 109"/>
              <p:cNvSpPr txBox="1">
                <a:spLocks noChangeArrowheads="1"/>
              </p:cNvSpPr>
              <p:nvPr/>
            </p:nvSpPr>
            <p:spPr bwMode="auto">
              <a:xfrm>
                <a:off x="4088" y="64"/>
                <a:ext cx="340" cy="192"/>
              </a:xfrm>
              <a:prstGeom prst="rect">
                <a:avLst/>
              </a:prstGeom>
              <a:noFill/>
              <a:ln w="9525">
                <a:noFill/>
                <a:miter lim="800000"/>
                <a:headEnd/>
                <a:tailEnd/>
              </a:ln>
            </p:spPr>
            <p:txBody>
              <a:bodyPr>
                <a:spAutoFit/>
              </a:bodyPr>
              <a:lstStyle/>
              <a:p>
                <a:pPr algn="ctr"/>
                <a:r>
                  <a:rPr kumimoji="1" lang="zh-CN" altLang="en-US" sz="1400" b="1">
                    <a:latin typeface="Times New Roman" pitchFamily="18" charset="0"/>
                    <a:ea typeface="宋体" charset="-122"/>
                  </a:rPr>
                  <a:t>开始</a:t>
                </a:r>
              </a:p>
            </p:txBody>
          </p:sp>
        </p:grpSp>
        <p:sp>
          <p:nvSpPr>
            <p:cNvPr id="38918" name="Text Box 110"/>
            <p:cNvSpPr txBox="1">
              <a:spLocks noChangeArrowheads="1"/>
            </p:cNvSpPr>
            <p:nvPr/>
          </p:nvSpPr>
          <p:spPr bwMode="auto">
            <a:xfrm>
              <a:off x="2559" y="302"/>
              <a:ext cx="600" cy="140"/>
            </a:xfrm>
            <a:prstGeom prst="rect">
              <a:avLst/>
            </a:prstGeom>
            <a:noFill/>
            <a:ln w="9525">
              <a:solidFill>
                <a:schemeClr val="tx1"/>
              </a:solidFill>
              <a:miter lim="800000"/>
              <a:headEnd/>
              <a:tailEnd/>
            </a:ln>
          </p:spPr>
          <p:txBody>
            <a:bodyPr lIns="0" tIns="0" rIns="0" bIns="0">
              <a:spAutoFit/>
            </a:bodyPr>
            <a:lstStyle/>
            <a:p>
              <a:pPr algn="ctr">
                <a:spcBef>
                  <a:spcPct val="50000"/>
                </a:spcBef>
              </a:pPr>
              <a:r>
                <a:rPr kumimoji="1" lang="en-US" altLang="zh-CN" sz="1400" b="1">
                  <a:latin typeface="Times New Roman" pitchFamily="18" charset="0"/>
                  <a:ea typeface="宋体" charset="-122"/>
                </a:rPr>
                <a:t>Gen=0</a:t>
              </a:r>
            </a:p>
          </p:txBody>
        </p:sp>
        <p:sp>
          <p:nvSpPr>
            <p:cNvPr id="38919" name="Text Box 111"/>
            <p:cNvSpPr txBox="1">
              <a:spLocks noChangeArrowheads="1"/>
            </p:cNvSpPr>
            <p:nvPr/>
          </p:nvSpPr>
          <p:spPr bwMode="auto">
            <a:xfrm>
              <a:off x="2583" y="536"/>
              <a:ext cx="584" cy="140"/>
            </a:xfrm>
            <a:prstGeom prst="rect">
              <a:avLst/>
            </a:prstGeom>
            <a:noFill/>
            <a:ln w="9525">
              <a:solidFill>
                <a:schemeClr val="tx1"/>
              </a:solidFill>
              <a:miter lim="800000"/>
              <a:headEnd/>
              <a:tailEnd/>
            </a:ln>
          </p:spPr>
          <p:txBody>
            <a:bodyPr lIns="0" tIns="0" rIns="0" bIns="0">
              <a:spAutoFit/>
            </a:bodyPr>
            <a:lstStyle/>
            <a:p>
              <a:pPr algn="ctr">
                <a:spcBef>
                  <a:spcPct val="50000"/>
                </a:spcBef>
              </a:pPr>
              <a:r>
                <a:rPr kumimoji="1" lang="zh-CN" altLang="en-US" sz="1400" b="1">
                  <a:latin typeface="Times New Roman" pitchFamily="18" charset="0"/>
                  <a:ea typeface="宋体" charset="-122"/>
                </a:rPr>
                <a:t>编码</a:t>
              </a:r>
            </a:p>
          </p:txBody>
        </p:sp>
        <p:sp>
          <p:nvSpPr>
            <p:cNvPr id="38920" name="Text Box 112"/>
            <p:cNvSpPr txBox="1">
              <a:spLocks noChangeArrowheads="1"/>
            </p:cNvSpPr>
            <p:nvPr/>
          </p:nvSpPr>
          <p:spPr bwMode="auto">
            <a:xfrm>
              <a:off x="2190" y="782"/>
              <a:ext cx="1337" cy="140"/>
            </a:xfrm>
            <a:prstGeom prst="rect">
              <a:avLst/>
            </a:prstGeom>
            <a:noFill/>
            <a:ln w="9525">
              <a:solidFill>
                <a:schemeClr val="tx1"/>
              </a:solidFill>
              <a:miter lim="800000"/>
              <a:headEnd/>
              <a:tailEnd/>
            </a:ln>
          </p:spPr>
          <p:txBody>
            <a:bodyPr lIns="0" tIns="0" rIns="0" bIns="0">
              <a:spAutoFit/>
            </a:bodyPr>
            <a:lstStyle/>
            <a:p>
              <a:pPr algn="ctr">
                <a:spcBef>
                  <a:spcPct val="50000"/>
                </a:spcBef>
              </a:pPr>
              <a:r>
                <a:rPr kumimoji="1" lang="zh-CN" altLang="en-US" sz="1400" b="1">
                  <a:latin typeface="Times New Roman" pitchFamily="18" charset="0"/>
                  <a:ea typeface="宋体" charset="-122"/>
                </a:rPr>
                <a:t>随机产生</a:t>
              </a:r>
              <a:r>
                <a:rPr kumimoji="1" lang="en-US" altLang="zh-CN" sz="1400" b="1">
                  <a:latin typeface="Times New Roman" pitchFamily="18" charset="0"/>
                  <a:ea typeface="宋体" charset="-122"/>
                </a:rPr>
                <a:t>M</a:t>
              </a:r>
              <a:r>
                <a:rPr kumimoji="1" lang="zh-CN" altLang="en-US" sz="1400" b="1">
                  <a:latin typeface="Times New Roman" pitchFamily="18" charset="0"/>
                  <a:ea typeface="宋体" charset="-122"/>
                </a:rPr>
                <a:t>个初始个体</a:t>
              </a:r>
            </a:p>
          </p:txBody>
        </p:sp>
        <p:grpSp>
          <p:nvGrpSpPr>
            <p:cNvPr id="4" name="Group 113"/>
            <p:cNvGrpSpPr>
              <a:grpSpLocks/>
            </p:cNvGrpSpPr>
            <p:nvPr/>
          </p:nvGrpSpPr>
          <p:grpSpPr bwMode="auto">
            <a:xfrm>
              <a:off x="2038" y="1015"/>
              <a:ext cx="1594" cy="228"/>
              <a:chOff x="3359" y="1111"/>
              <a:chExt cx="1594" cy="228"/>
            </a:xfrm>
          </p:grpSpPr>
          <p:sp>
            <p:nvSpPr>
              <p:cNvPr id="39009" name="AutoShape 114"/>
              <p:cNvSpPr>
                <a:spLocks noChangeArrowheads="1"/>
              </p:cNvSpPr>
              <p:nvPr/>
            </p:nvSpPr>
            <p:spPr bwMode="auto">
              <a:xfrm>
                <a:off x="3359" y="1111"/>
                <a:ext cx="1594" cy="228"/>
              </a:xfrm>
              <a:prstGeom prst="flowChartDecision">
                <a:avLst/>
              </a:prstGeom>
              <a:noFill/>
              <a:ln w="9525">
                <a:solidFill>
                  <a:schemeClr val="tx1"/>
                </a:solidFill>
                <a:miter lim="800000"/>
                <a:headEnd/>
                <a:tailEnd/>
              </a:ln>
            </p:spPr>
            <p:txBody>
              <a:bodyPr wrap="none" anchor="ctr"/>
              <a:lstStyle/>
              <a:p>
                <a:endParaRPr lang="zh-CN" altLang="en-US">
                  <a:ea typeface="宋体" charset="-122"/>
                </a:endParaRPr>
              </a:p>
            </p:txBody>
          </p:sp>
          <p:sp>
            <p:nvSpPr>
              <p:cNvPr id="39010" name="Text Box 115"/>
              <p:cNvSpPr txBox="1">
                <a:spLocks noChangeArrowheads="1"/>
              </p:cNvSpPr>
              <p:nvPr/>
            </p:nvSpPr>
            <p:spPr bwMode="auto">
              <a:xfrm>
                <a:off x="3756" y="1139"/>
                <a:ext cx="844" cy="192"/>
              </a:xfrm>
              <a:prstGeom prst="rect">
                <a:avLst/>
              </a:prstGeom>
              <a:noFill/>
              <a:ln w="9525">
                <a:noFill/>
                <a:miter lim="800000"/>
                <a:headEnd/>
                <a:tailEnd/>
              </a:ln>
            </p:spPr>
            <p:txBody>
              <a:bodyPr wrap="none">
                <a:spAutoFit/>
              </a:bodyPr>
              <a:lstStyle/>
              <a:p>
                <a:pPr algn="ctr"/>
                <a:r>
                  <a:rPr kumimoji="1" lang="zh-CN" altLang="en-US" sz="1400" b="1">
                    <a:latin typeface="Times New Roman" pitchFamily="18" charset="0"/>
                    <a:ea typeface="宋体" charset="-122"/>
                  </a:rPr>
                  <a:t>满足终止条件</a:t>
                </a:r>
                <a:r>
                  <a:rPr kumimoji="1" lang="en-US" altLang="zh-CN" sz="1400" b="1">
                    <a:latin typeface="Times New Roman" pitchFamily="18" charset="0"/>
                    <a:ea typeface="宋体" charset="-122"/>
                  </a:rPr>
                  <a:t>?</a:t>
                </a:r>
              </a:p>
            </p:txBody>
          </p:sp>
        </p:grpSp>
        <p:sp>
          <p:nvSpPr>
            <p:cNvPr id="38922" name="Text Box 116"/>
            <p:cNvSpPr txBox="1">
              <a:spLocks noChangeArrowheads="1"/>
            </p:cNvSpPr>
            <p:nvPr/>
          </p:nvSpPr>
          <p:spPr bwMode="auto">
            <a:xfrm>
              <a:off x="2206" y="1374"/>
              <a:ext cx="1337" cy="140"/>
            </a:xfrm>
            <a:prstGeom prst="rect">
              <a:avLst/>
            </a:prstGeom>
            <a:noFill/>
            <a:ln w="9525">
              <a:solidFill>
                <a:schemeClr val="tx1"/>
              </a:solidFill>
              <a:miter lim="800000"/>
              <a:headEnd/>
              <a:tailEnd/>
            </a:ln>
          </p:spPr>
          <p:txBody>
            <a:bodyPr lIns="0" tIns="0" rIns="0" bIns="0">
              <a:spAutoFit/>
            </a:bodyPr>
            <a:lstStyle/>
            <a:p>
              <a:pPr algn="ctr">
                <a:spcBef>
                  <a:spcPct val="50000"/>
                </a:spcBef>
              </a:pPr>
              <a:r>
                <a:rPr kumimoji="1" lang="zh-CN" altLang="en-US" sz="1400" b="1">
                  <a:latin typeface="Times New Roman" pitchFamily="18" charset="0"/>
                  <a:ea typeface="宋体" charset="-122"/>
                </a:rPr>
                <a:t>计算群体中各个体适应度</a:t>
              </a:r>
            </a:p>
          </p:txBody>
        </p:sp>
        <p:sp>
          <p:nvSpPr>
            <p:cNvPr id="38923" name="Text Box 117"/>
            <p:cNvSpPr txBox="1">
              <a:spLocks noChangeArrowheads="1"/>
            </p:cNvSpPr>
            <p:nvPr/>
          </p:nvSpPr>
          <p:spPr bwMode="auto">
            <a:xfrm>
              <a:off x="2134" y="1622"/>
              <a:ext cx="1544" cy="140"/>
            </a:xfrm>
            <a:prstGeom prst="rect">
              <a:avLst/>
            </a:prstGeom>
            <a:noFill/>
            <a:ln w="9525">
              <a:solidFill>
                <a:schemeClr val="tx1"/>
              </a:solidFill>
              <a:miter lim="800000"/>
              <a:headEnd/>
              <a:tailEnd/>
            </a:ln>
          </p:spPr>
          <p:txBody>
            <a:bodyPr lIns="0" tIns="0" rIns="0" bIns="0">
              <a:spAutoFit/>
            </a:bodyPr>
            <a:lstStyle/>
            <a:p>
              <a:pPr algn="ctr">
                <a:spcBef>
                  <a:spcPct val="50000"/>
                </a:spcBef>
              </a:pPr>
              <a:r>
                <a:rPr kumimoji="1" lang="zh-CN" altLang="en-US" sz="1400" b="1">
                  <a:latin typeface="Times New Roman" pitchFamily="18" charset="0"/>
                  <a:ea typeface="宋体" charset="-122"/>
                </a:rPr>
                <a:t>从左至右依次执行遗传算子</a:t>
              </a:r>
            </a:p>
          </p:txBody>
        </p:sp>
        <p:sp>
          <p:nvSpPr>
            <p:cNvPr id="38924" name="Text Box 118"/>
            <p:cNvSpPr txBox="1">
              <a:spLocks noChangeArrowheads="1"/>
            </p:cNvSpPr>
            <p:nvPr/>
          </p:nvSpPr>
          <p:spPr bwMode="auto">
            <a:xfrm>
              <a:off x="1088" y="1912"/>
              <a:ext cx="418" cy="140"/>
            </a:xfrm>
            <a:prstGeom prst="rect">
              <a:avLst/>
            </a:prstGeom>
            <a:noFill/>
            <a:ln w="9525">
              <a:solidFill>
                <a:schemeClr val="tx1"/>
              </a:solidFill>
              <a:miter lim="800000"/>
              <a:headEnd/>
              <a:tailEnd/>
            </a:ln>
          </p:spPr>
          <p:txBody>
            <a:bodyPr lIns="0" tIns="0" rIns="0" bIns="0">
              <a:spAutoFit/>
            </a:bodyPr>
            <a:lstStyle/>
            <a:p>
              <a:pPr algn="ctr">
                <a:spcBef>
                  <a:spcPct val="50000"/>
                </a:spcBef>
              </a:pPr>
              <a:r>
                <a:rPr kumimoji="1" lang="en-US" altLang="zh-CN" sz="1400" b="1">
                  <a:latin typeface="Times New Roman" pitchFamily="18" charset="0"/>
                  <a:ea typeface="宋体" charset="-122"/>
                </a:rPr>
                <a:t>j = 0</a:t>
              </a:r>
            </a:p>
          </p:txBody>
        </p:sp>
        <p:sp>
          <p:nvSpPr>
            <p:cNvPr id="38925" name="Text Box 119"/>
            <p:cNvSpPr txBox="1">
              <a:spLocks noChangeArrowheads="1"/>
            </p:cNvSpPr>
            <p:nvPr/>
          </p:nvSpPr>
          <p:spPr bwMode="auto">
            <a:xfrm>
              <a:off x="2690" y="1912"/>
              <a:ext cx="418" cy="140"/>
            </a:xfrm>
            <a:prstGeom prst="rect">
              <a:avLst/>
            </a:prstGeom>
            <a:noFill/>
            <a:ln w="9525">
              <a:solidFill>
                <a:schemeClr val="tx1"/>
              </a:solidFill>
              <a:miter lim="800000"/>
              <a:headEnd/>
              <a:tailEnd/>
            </a:ln>
          </p:spPr>
          <p:txBody>
            <a:bodyPr lIns="0" tIns="0" rIns="0" bIns="0">
              <a:spAutoFit/>
            </a:bodyPr>
            <a:lstStyle/>
            <a:p>
              <a:pPr algn="ctr">
                <a:spcBef>
                  <a:spcPct val="50000"/>
                </a:spcBef>
              </a:pPr>
              <a:r>
                <a:rPr kumimoji="1" lang="en-US" altLang="zh-CN" sz="1400" b="1">
                  <a:latin typeface="Times New Roman" pitchFamily="18" charset="0"/>
                  <a:ea typeface="宋体" charset="-122"/>
                </a:rPr>
                <a:t>j = 0</a:t>
              </a:r>
            </a:p>
          </p:txBody>
        </p:sp>
        <p:sp>
          <p:nvSpPr>
            <p:cNvPr id="38926" name="Text Box 120"/>
            <p:cNvSpPr txBox="1">
              <a:spLocks noChangeArrowheads="1"/>
            </p:cNvSpPr>
            <p:nvPr/>
          </p:nvSpPr>
          <p:spPr bwMode="auto">
            <a:xfrm>
              <a:off x="4318" y="1904"/>
              <a:ext cx="418" cy="140"/>
            </a:xfrm>
            <a:prstGeom prst="rect">
              <a:avLst/>
            </a:prstGeom>
            <a:noFill/>
            <a:ln w="9525">
              <a:solidFill>
                <a:schemeClr val="tx1"/>
              </a:solidFill>
              <a:miter lim="800000"/>
              <a:headEnd/>
              <a:tailEnd/>
            </a:ln>
          </p:spPr>
          <p:txBody>
            <a:bodyPr lIns="0" tIns="0" rIns="0" bIns="0">
              <a:spAutoFit/>
            </a:bodyPr>
            <a:lstStyle/>
            <a:p>
              <a:pPr algn="ctr">
                <a:spcBef>
                  <a:spcPct val="50000"/>
                </a:spcBef>
              </a:pPr>
              <a:r>
                <a:rPr kumimoji="1" lang="en-US" altLang="zh-CN" sz="1400" b="1">
                  <a:latin typeface="Times New Roman" pitchFamily="18" charset="0"/>
                  <a:ea typeface="宋体" charset="-122"/>
                </a:rPr>
                <a:t>j = 0</a:t>
              </a:r>
            </a:p>
          </p:txBody>
        </p:sp>
        <p:sp>
          <p:nvSpPr>
            <p:cNvPr id="38927" name="Text Box 121"/>
            <p:cNvSpPr txBox="1">
              <a:spLocks noChangeArrowheads="1"/>
            </p:cNvSpPr>
            <p:nvPr/>
          </p:nvSpPr>
          <p:spPr bwMode="auto">
            <a:xfrm>
              <a:off x="676" y="2218"/>
              <a:ext cx="1351" cy="140"/>
            </a:xfrm>
            <a:prstGeom prst="rect">
              <a:avLst/>
            </a:prstGeom>
            <a:noFill/>
            <a:ln w="9525">
              <a:solidFill>
                <a:schemeClr val="tx1"/>
              </a:solidFill>
              <a:miter lim="800000"/>
              <a:headEnd/>
              <a:tailEnd/>
            </a:ln>
          </p:spPr>
          <p:txBody>
            <a:bodyPr lIns="0" tIns="0" rIns="0" bIns="0">
              <a:spAutoFit/>
            </a:bodyPr>
            <a:lstStyle/>
            <a:p>
              <a:pPr algn="ctr">
                <a:spcBef>
                  <a:spcPct val="50000"/>
                </a:spcBef>
              </a:pPr>
              <a:r>
                <a:rPr kumimoji="1" lang="zh-CN" altLang="en-US" sz="1400" b="1">
                  <a:latin typeface="Times New Roman" pitchFamily="18" charset="0"/>
                  <a:ea typeface="宋体" charset="-122"/>
                </a:rPr>
                <a:t>根据适应度选择复制个体</a:t>
              </a:r>
            </a:p>
          </p:txBody>
        </p:sp>
        <p:sp>
          <p:nvSpPr>
            <p:cNvPr id="38928" name="Text Box 122"/>
            <p:cNvSpPr txBox="1">
              <a:spLocks noChangeArrowheads="1"/>
            </p:cNvSpPr>
            <p:nvPr/>
          </p:nvSpPr>
          <p:spPr bwMode="auto">
            <a:xfrm>
              <a:off x="2329" y="2218"/>
              <a:ext cx="1133" cy="140"/>
            </a:xfrm>
            <a:prstGeom prst="rect">
              <a:avLst/>
            </a:prstGeom>
            <a:noFill/>
            <a:ln w="9525">
              <a:solidFill>
                <a:schemeClr val="tx1"/>
              </a:solidFill>
              <a:miter lim="800000"/>
              <a:headEnd/>
              <a:tailEnd/>
            </a:ln>
          </p:spPr>
          <p:txBody>
            <a:bodyPr lIns="0" tIns="0" rIns="0" bIns="0">
              <a:spAutoFit/>
            </a:bodyPr>
            <a:lstStyle/>
            <a:p>
              <a:pPr algn="ctr">
                <a:spcBef>
                  <a:spcPct val="50000"/>
                </a:spcBef>
              </a:pPr>
              <a:r>
                <a:rPr kumimoji="1" lang="zh-CN" altLang="en-US" sz="1400" b="1">
                  <a:latin typeface="Times New Roman" pitchFamily="18" charset="0"/>
                  <a:ea typeface="宋体" charset="-122"/>
                </a:rPr>
                <a:t>选择两个交叉个体</a:t>
              </a:r>
            </a:p>
          </p:txBody>
        </p:sp>
        <p:sp>
          <p:nvSpPr>
            <p:cNvPr id="38929" name="Text Box 123"/>
            <p:cNvSpPr txBox="1">
              <a:spLocks noChangeArrowheads="1"/>
            </p:cNvSpPr>
            <p:nvPr/>
          </p:nvSpPr>
          <p:spPr bwMode="auto">
            <a:xfrm>
              <a:off x="3957" y="2210"/>
              <a:ext cx="1121" cy="140"/>
            </a:xfrm>
            <a:prstGeom prst="rect">
              <a:avLst/>
            </a:prstGeom>
            <a:noFill/>
            <a:ln w="9525">
              <a:solidFill>
                <a:schemeClr val="tx1"/>
              </a:solidFill>
              <a:miter lim="800000"/>
              <a:headEnd/>
              <a:tailEnd/>
            </a:ln>
          </p:spPr>
          <p:txBody>
            <a:bodyPr lIns="0" tIns="0" rIns="0" bIns="0">
              <a:spAutoFit/>
            </a:bodyPr>
            <a:lstStyle/>
            <a:p>
              <a:pPr algn="ctr">
                <a:spcBef>
                  <a:spcPct val="50000"/>
                </a:spcBef>
              </a:pPr>
              <a:r>
                <a:rPr kumimoji="1" lang="zh-CN" altLang="en-US" sz="1400" b="1">
                  <a:latin typeface="Times New Roman" pitchFamily="18" charset="0"/>
                  <a:ea typeface="宋体" charset="-122"/>
                </a:rPr>
                <a:t>选择个体变异点</a:t>
              </a:r>
            </a:p>
          </p:txBody>
        </p:sp>
        <p:sp>
          <p:nvSpPr>
            <p:cNvPr id="38930" name="Text Box 124"/>
            <p:cNvSpPr txBox="1">
              <a:spLocks noChangeArrowheads="1"/>
            </p:cNvSpPr>
            <p:nvPr/>
          </p:nvSpPr>
          <p:spPr bwMode="auto">
            <a:xfrm>
              <a:off x="4140" y="2486"/>
              <a:ext cx="772" cy="140"/>
            </a:xfrm>
            <a:prstGeom prst="rect">
              <a:avLst/>
            </a:prstGeom>
            <a:noFill/>
            <a:ln w="9525">
              <a:solidFill>
                <a:schemeClr val="tx1"/>
              </a:solidFill>
              <a:miter lim="800000"/>
              <a:headEnd/>
              <a:tailEnd/>
            </a:ln>
          </p:spPr>
          <p:txBody>
            <a:bodyPr lIns="0" tIns="0" rIns="0" bIns="0">
              <a:spAutoFit/>
            </a:bodyPr>
            <a:lstStyle/>
            <a:p>
              <a:pPr algn="ctr">
                <a:spcBef>
                  <a:spcPct val="50000"/>
                </a:spcBef>
              </a:pPr>
              <a:r>
                <a:rPr kumimoji="1" lang="zh-CN" altLang="en-US" sz="1400" b="1">
                  <a:latin typeface="Times New Roman" pitchFamily="18" charset="0"/>
                  <a:ea typeface="宋体" charset="-122"/>
                </a:rPr>
                <a:t>执行变异</a:t>
              </a:r>
            </a:p>
          </p:txBody>
        </p:sp>
        <p:sp>
          <p:nvSpPr>
            <p:cNvPr id="38931" name="Text Box 125"/>
            <p:cNvSpPr txBox="1">
              <a:spLocks noChangeArrowheads="1"/>
            </p:cNvSpPr>
            <p:nvPr/>
          </p:nvSpPr>
          <p:spPr bwMode="auto">
            <a:xfrm>
              <a:off x="2526" y="2494"/>
              <a:ext cx="772" cy="140"/>
            </a:xfrm>
            <a:prstGeom prst="rect">
              <a:avLst/>
            </a:prstGeom>
            <a:noFill/>
            <a:ln w="9525">
              <a:solidFill>
                <a:schemeClr val="tx1"/>
              </a:solidFill>
              <a:miter lim="800000"/>
              <a:headEnd/>
              <a:tailEnd/>
            </a:ln>
          </p:spPr>
          <p:txBody>
            <a:bodyPr lIns="0" tIns="0" rIns="0" bIns="0">
              <a:spAutoFit/>
            </a:bodyPr>
            <a:lstStyle/>
            <a:p>
              <a:pPr algn="ctr">
                <a:spcBef>
                  <a:spcPct val="50000"/>
                </a:spcBef>
              </a:pPr>
              <a:r>
                <a:rPr kumimoji="1" lang="zh-CN" altLang="en-US" sz="1400" b="1">
                  <a:latin typeface="Times New Roman" pitchFamily="18" charset="0"/>
                  <a:ea typeface="宋体" charset="-122"/>
                </a:rPr>
                <a:t>执行交叉</a:t>
              </a:r>
            </a:p>
          </p:txBody>
        </p:sp>
        <p:sp>
          <p:nvSpPr>
            <p:cNvPr id="38932" name="Text Box 126"/>
            <p:cNvSpPr txBox="1">
              <a:spLocks noChangeArrowheads="1"/>
            </p:cNvSpPr>
            <p:nvPr/>
          </p:nvSpPr>
          <p:spPr bwMode="auto">
            <a:xfrm>
              <a:off x="892" y="2490"/>
              <a:ext cx="772" cy="140"/>
            </a:xfrm>
            <a:prstGeom prst="rect">
              <a:avLst/>
            </a:prstGeom>
            <a:noFill/>
            <a:ln w="9525">
              <a:solidFill>
                <a:schemeClr val="tx1"/>
              </a:solidFill>
              <a:miter lim="800000"/>
              <a:headEnd/>
              <a:tailEnd/>
            </a:ln>
          </p:spPr>
          <p:txBody>
            <a:bodyPr lIns="0" tIns="0" rIns="0" bIns="0">
              <a:spAutoFit/>
            </a:bodyPr>
            <a:lstStyle/>
            <a:p>
              <a:pPr algn="ctr">
                <a:spcBef>
                  <a:spcPct val="50000"/>
                </a:spcBef>
              </a:pPr>
              <a:r>
                <a:rPr kumimoji="1" lang="zh-CN" altLang="en-US" sz="1400" b="1">
                  <a:latin typeface="Times New Roman" pitchFamily="18" charset="0"/>
                  <a:ea typeface="宋体" charset="-122"/>
                </a:rPr>
                <a:t>执行复制</a:t>
              </a:r>
            </a:p>
          </p:txBody>
        </p:sp>
        <p:sp>
          <p:nvSpPr>
            <p:cNvPr id="38933" name="Text Box 127"/>
            <p:cNvSpPr txBox="1">
              <a:spLocks noChangeArrowheads="1"/>
            </p:cNvSpPr>
            <p:nvPr/>
          </p:nvSpPr>
          <p:spPr bwMode="auto">
            <a:xfrm>
              <a:off x="820" y="2769"/>
              <a:ext cx="932" cy="274"/>
            </a:xfrm>
            <a:prstGeom prst="rect">
              <a:avLst/>
            </a:prstGeom>
            <a:noFill/>
            <a:ln w="9525">
              <a:solidFill>
                <a:schemeClr val="tx1"/>
              </a:solidFill>
              <a:miter lim="800000"/>
              <a:headEnd/>
              <a:tailEnd/>
            </a:ln>
          </p:spPr>
          <p:txBody>
            <a:bodyPr lIns="0" tIns="0" rIns="0" bIns="0">
              <a:spAutoFit/>
            </a:bodyPr>
            <a:lstStyle/>
            <a:p>
              <a:pPr algn="ctr">
                <a:spcBef>
                  <a:spcPct val="50000"/>
                </a:spcBef>
              </a:pPr>
              <a:r>
                <a:rPr kumimoji="1" lang="zh-CN" altLang="en-US" sz="1400" b="1">
                  <a:latin typeface="Times New Roman" pitchFamily="18" charset="0"/>
                  <a:ea typeface="宋体" charset="-122"/>
                </a:rPr>
                <a:t>将复制的个体添入新群体中</a:t>
              </a:r>
            </a:p>
          </p:txBody>
        </p:sp>
        <p:sp>
          <p:nvSpPr>
            <p:cNvPr id="38934" name="Text Box 128"/>
            <p:cNvSpPr txBox="1">
              <a:spLocks noChangeArrowheads="1"/>
            </p:cNvSpPr>
            <p:nvPr/>
          </p:nvSpPr>
          <p:spPr bwMode="auto">
            <a:xfrm>
              <a:off x="2329" y="2771"/>
              <a:ext cx="1158" cy="274"/>
            </a:xfrm>
            <a:prstGeom prst="rect">
              <a:avLst/>
            </a:prstGeom>
            <a:noFill/>
            <a:ln w="9525">
              <a:solidFill>
                <a:schemeClr val="tx1"/>
              </a:solidFill>
              <a:miter lim="800000"/>
              <a:headEnd/>
              <a:tailEnd/>
            </a:ln>
          </p:spPr>
          <p:txBody>
            <a:bodyPr lIns="0" tIns="0" rIns="0" bIns="0">
              <a:spAutoFit/>
            </a:bodyPr>
            <a:lstStyle/>
            <a:p>
              <a:pPr algn="ctr">
                <a:spcBef>
                  <a:spcPct val="50000"/>
                </a:spcBef>
              </a:pPr>
              <a:r>
                <a:rPr kumimoji="1" lang="zh-CN" altLang="en-US" sz="1400" b="1">
                  <a:latin typeface="Times New Roman" pitchFamily="18" charset="0"/>
                  <a:ea typeface="宋体" charset="-122"/>
                </a:rPr>
                <a:t>将交叉后的两个新个体添入新群体中</a:t>
              </a:r>
            </a:p>
          </p:txBody>
        </p:sp>
        <p:sp>
          <p:nvSpPr>
            <p:cNvPr id="38935" name="Text Box 129"/>
            <p:cNvSpPr txBox="1">
              <a:spLocks noChangeArrowheads="1"/>
            </p:cNvSpPr>
            <p:nvPr/>
          </p:nvSpPr>
          <p:spPr bwMode="auto">
            <a:xfrm>
              <a:off x="4024" y="2779"/>
              <a:ext cx="1037" cy="274"/>
            </a:xfrm>
            <a:prstGeom prst="rect">
              <a:avLst/>
            </a:prstGeom>
            <a:noFill/>
            <a:ln w="9525">
              <a:solidFill>
                <a:schemeClr val="tx1"/>
              </a:solidFill>
              <a:miter lim="800000"/>
              <a:headEnd/>
              <a:tailEnd/>
            </a:ln>
          </p:spPr>
          <p:txBody>
            <a:bodyPr lIns="0" tIns="0" rIns="0" bIns="0">
              <a:spAutoFit/>
            </a:bodyPr>
            <a:lstStyle/>
            <a:p>
              <a:pPr algn="ctr">
                <a:spcBef>
                  <a:spcPct val="50000"/>
                </a:spcBef>
              </a:pPr>
              <a:r>
                <a:rPr kumimoji="1" lang="zh-CN" altLang="en-US" sz="1400" b="1">
                  <a:latin typeface="Times New Roman" pitchFamily="18" charset="0"/>
                  <a:ea typeface="宋体" charset="-122"/>
                </a:rPr>
                <a:t>将变异后的个体添入新群体中</a:t>
              </a:r>
            </a:p>
          </p:txBody>
        </p:sp>
        <p:sp>
          <p:nvSpPr>
            <p:cNvPr id="38936" name="Text Box 130"/>
            <p:cNvSpPr txBox="1">
              <a:spLocks noChangeArrowheads="1"/>
            </p:cNvSpPr>
            <p:nvPr/>
          </p:nvSpPr>
          <p:spPr bwMode="auto">
            <a:xfrm>
              <a:off x="1078" y="3183"/>
              <a:ext cx="418" cy="140"/>
            </a:xfrm>
            <a:prstGeom prst="rect">
              <a:avLst/>
            </a:prstGeom>
            <a:noFill/>
            <a:ln w="9525">
              <a:solidFill>
                <a:schemeClr val="tx1"/>
              </a:solidFill>
              <a:miter lim="800000"/>
              <a:headEnd/>
              <a:tailEnd/>
            </a:ln>
          </p:spPr>
          <p:txBody>
            <a:bodyPr lIns="0" tIns="0" rIns="0" bIns="0">
              <a:spAutoFit/>
            </a:bodyPr>
            <a:lstStyle/>
            <a:p>
              <a:pPr algn="ctr">
                <a:spcBef>
                  <a:spcPct val="50000"/>
                </a:spcBef>
              </a:pPr>
              <a:r>
                <a:rPr kumimoji="1" lang="en-US" altLang="zh-CN" sz="1400" b="1">
                  <a:latin typeface="Times New Roman" pitchFamily="18" charset="0"/>
                  <a:ea typeface="宋体" charset="-122"/>
                </a:rPr>
                <a:t>j = j+1</a:t>
              </a:r>
            </a:p>
          </p:txBody>
        </p:sp>
        <p:sp>
          <p:nvSpPr>
            <p:cNvPr id="38937" name="Text Box 131"/>
            <p:cNvSpPr txBox="1">
              <a:spLocks noChangeArrowheads="1"/>
            </p:cNvSpPr>
            <p:nvPr/>
          </p:nvSpPr>
          <p:spPr bwMode="auto">
            <a:xfrm>
              <a:off x="2706" y="3183"/>
              <a:ext cx="418" cy="140"/>
            </a:xfrm>
            <a:prstGeom prst="rect">
              <a:avLst/>
            </a:prstGeom>
            <a:noFill/>
            <a:ln w="9525">
              <a:solidFill>
                <a:schemeClr val="tx1"/>
              </a:solidFill>
              <a:miter lim="800000"/>
              <a:headEnd/>
              <a:tailEnd/>
            </a:ln>
          </p:spPr>
          <p:txBody>
            <a:bodyPr lIns="0" tIns="0" rIns="0" bIns="0">
              <a:spAutoFit/>
            </a:bodyPr>
            <a:lstStyle/>
            <a:p>
              <a:pPr algn="ctr">
                <a:spcBef>
                  <a:spcPct val="50000"/>
                </a:spcBef>
              </a:pPr>
              <a:r>
                <a:rPr kumimoji="1" lang="en-US" altLang="zh-CN" sz="1400" b="1">
                  <a:latin typeface="Times New Roman" pitchFamily="18" charset="0"/>
                  <a:ea typeface="宋体" charset="-122"/>
                </a:rPr>
                <a:t>j = j+2</a:t>
              </a:r>
            </a:p>
          </p:txBody>
        </p:sp>
        <p:sp>
          <p:nvSpPr>
            <p:cNvPr id="38938" name="Text Box 132"/>
            <p:cNvSpPr txBox="1">
              <a:spLocks noChangeArrowheads="1"/>
            </p:cNvSpPr>
            <p:nvPr/>
          </p:nvSpPr>
          <p:spPr bwMode="auto">
            <a:xfrm>
              <a:off x="4333" y="3191"/>
              <a:ext cx="418" cy="140"/>
            </a:xfrm>
            <a:prstGeom prst="rect">
              <a:avLst/>
            </a:prstGeom>
            <a:noFill/>
            <a:ln w="9525">
              <a:solidFill>
                <a:schemeClr val="tx1"/>
              </a:solidFill>
              <a:miter lim="800000"/>
              <a:headEnd/>
              <a:tailEnd/>
            </a:ln>
          </p:spPr>
          <p:txBody>
            <a:bodyPr lIns="0" tIns="0" rIns="0" bIns="0">
              <a:spAutoFit/>
            </a:bodyPr>
            <a:lstStyle/>
            <a:p>
              <a:pPr algn="ctr">
                <a:spcBef>
                  <a:spcPct val="50000"/>
                </a:spcBef>
              </a:pPr>
              <a:r>
                <a:rPr kumimoji="1" lang="en-US" altLang="zh-CN" sz="1400" b="1">
                  <a:latin typeface="Times New Roman" pitchFamily="18" charset="0"/>
                  <a:ea typeface="宋体" charset="-122"/>
                </a:rPr>
                <a:t>j = j+1</a:t>
              </a:r>
            </a:p>
          </p:txBody>
        </p:sp>
        <p:grpSp>
          <p:nvGrpSpPr>
            <p:cNvPr id="5" name="Group 133"/>
            <p:cNvGrpSpPr>
              <a:grpSpLocks/>
            </p:cNvGrpSpPr>
            <p:nvPr/>
          </p:nvGrpSpPr>
          <p:grpSpPr bwMode="auto">
            <a:xfrm>
              <a:off x="780" y="3461"/>
              <a:ext cx="1068" cy="228"/>
              <a:chOff x="3359" y="1111"/>
              <a:chExt cx="1594" cy="228"/>
            </a:xfrm>
          </p:grpSpPr>
          <p:sp>
            <p:nvSpPr>
              <p:cNvPr id="39007" name="AutoShape 134"/>
              <p:cNvSpPr>
                <a:spLocks noChangeArrowheads="1"/>
              </p:cNvSpPr>
              <p:nvPr/>
            </p:nvSpPr>
            <p:spPr bwMode="auto">
              <a:xfrm>
                <a:off x="3359" y="1111"/>
                <a:ext cx="1594" cy="228"/>
              </a:xfrm>
              <a:prstGeom prst="flowChartDecision">
                <a:avLst/>
              </a:prstGeom>
              <a:noFill/>
              <a:ln w="9525">
                <a:solidFill>
                  <a:schemeClr val="tx1"/>
                </a:solidFill>
                <a:miter lim="800000"/>
                <a:headEnd/>
                <a:tailEnd/>
              </a:ln>
            </p:spPr>
            <p:txBody>
              <a:bodyPr wrap="none" anchor="ctr"/>
              <a:lstStyle/>
              <a:p>
                <a:endParaRPr lang="zh-CN" altLang="en-US">
                  <a:ea typeface="宋体" charset="-122"/>
                </a:endParaRPr>
              </a:p>
            </p:txBody>
          </p:sp>
          <p:sp>
            <p:nvSpPr>
              <p:cNvPr id="39008" name="Text Box 135"/>
              <p:cNvSpPr txBox="1">
                <a:spLocks noChangeArrowheads="1"/>
              </p:cNvSpPr>
              <p:nvPr/>
            </p:nvSpPr>
            <p:spPr bwMode="auto">
              <a:xfrm>
                <a:off x="3798" y="1123"/>
                <a:ext cx="759" cy="212"/>
              </a:xfrm>
              <a:prstGeom prst="rect">
                <a:avLst/>
              </a:prstGeom>
              <a:noFill/>
              <a:ln w="9525">
                <a:noFill/>
                <a:miter lim="800000"/>
                <a:headEnd/>
                <a:tailEnd/>
              </a:ln>
            </p:spPr>
            <p:txBody>
              <a:bodyPr wrap="none">
                <a:spAutoFit/>
              </a:bodyPr>
              <a:lstStyle/>
              <a:p>
                <a:pPr algn="ctr"/>
                <a:r>
                  <a:rPr kumimoji="1" lang="zh-CN" altLang="en-US" sz="1400" b="1">
                    <a:latin typeface="Times New Roman" pitchFamily="18" charset="0"/>
                    <a:ea typeface="宋体" charset="-122"/>
                  </a:rPr>
                  <a:t> </a:t>
                </a:r>
                <a:r>
                  <a:rPr kumimoji="1" lang="en-US" altLang="zh-CN" sz="1600" b="1">
                    <a:latin typeface="Times New Roman" pitchFamily="18" charset="0"/>
                    <a:ea typeface="宋体" charset="-122"/>
                  </a:rPr>
                  <a:t>j = </a:t>
                </a:r>
                <a:r>
                  <a:rPr kumimoji="1" lang="en-US" altLang="zh-CN" sz="1600" b="1">
                    <a:latin typeface="Times New Roman" pitchFamily="18" charset="0"/>
                    <a:ea typeface="宋体" charset="-122"/>
                    <a:cs typeface="Times New Roman" pitchFamily="18" charset="0"/>
                  </a:rPr>
                  <a:t>M</a:t>
                </a:r>
                <a:r>
                  <a:rPr kumimoji="1" lang="en-US" altLang="zh-CN" sz="1600" b="1">
                    <a:latin typeface="Times New Roman" pitchFamily="18" charset="0"/>
                    <a:ea typeface="宋体" charset="-122"/>
                  </a:rPr>
                  <a:t>?</a:t>
                </a:r>
              </a:p>
            </p:txBody>
          </p:sp>
        </p:grpSp>
        <p:grpSp>
          <p:nvGrpSpPr>
            <p:cNvPr id="6" name="Group 136"/>
            <p:cNvGrpSpPr>
              <a:grpSpLocks/>
            </p:cNvGrpSpPr>
            <p:nvPr/>
          </p:nvGrpSpPr>
          <p:grpSpPr bwMode="auto">
            <a:xfrm>
              <a:off x="2409" y="3461"/>
              <a:ext cx="1068" cy="228"/>
              <a:chOff x="3359" y="1111"/>
              <a:chExt cx="1594" cy="228"/>
            </a:xfrm>
          </p:grpSpPr>
          <p:sp>
            <p:nvSpPr>
              <p:cNvPr id="39005" name="AutoShape 137"/>
              <p:cNvSpPr>
                <a:spLocks noChangeArrowheads="1"/>
              </p:cNvSpPr>
              <p:nvPr/>
            </p:nvSpPr>
            <p:spPr bwMode="auto">
              <a:xfrm>
                <a:off x="3359" y="1111"/>
                <a:ext cx="1594" cy="228"/>
              </a:xfrm>
              <a:prstGeom prst="flowChartDecision">
                <a:avLst/>
              </a:prstGeom>
              <a:noFill/>
              <a:ln w="9525">
                <a:solidFill>
                  <a:schemeClr val="tx1"/>
                </a:solidFill>
                <a:miter lim="800000"/>
                <a:headEnd/>
                <a:tailEnd/>
              </a:ln>
            </p:spPr>
            <p:txBody>
              <a:bodyPr wrap="none" anchor="ctr"/>
              <a:lstStyle/>
              <a:p>
                <a:endParaRPr lang="zh-CN" altLang="en-US">
                  <a:ea typeface="宋体" charset="-122"/>
                </a:endParaRPr>
              </a:p>
            </p:txBody>
          </p:sp>
          <p:sp>
            <p:nvSpPr>
              <p:cNvPr id="39006" name="Text Box 138"/>
              <p:cNvSpPr txBox="1">
                <a:spLocks noChangeArrowheads="1"/>
              </p:cNvSpPr>
              <p:nvPr/>
            </p:nvSpPr>
            <p:spPr bwMode="auto">
              <a:xfrm>
                <a:off x="3693" y="1123"/>
                <a:ext cx="972" cy="212"/>
              </a:xfrm>
              <a:prstGeom prst="rect">
                <a:avLst/>
              </a:prstGeom>
              <a:noFill/>
              <a:ln w="9525">
                <a:noFill/>
                <a:miter lim="800000"/>
                <a:headEnd/>
                <a:tailEnd/>
              </a:ln>
            </p:spPr>
            <p:txBody>
              <a:bodyPr wrap="none">
                <a:spAutoFit/>
              </a:bodyPr>
              <a:lstStyle/>
              <a:p>
                <a:pPr algn="ctr"/>
                <a:r>
                  <a:rPr kumimoji="1" lang="zh-CN" altLang="en-US" sz="1400" b="1">
                    <a:latin typeface="Times New Roman" pitchFamily="18" charset="0"/>
                    <a:ea typeface="宋体" charset="-122"/>
                  </a:rPr>
                  <a:t> </a:t>
                </a:r>
                <a:r>
                  <a:rPr kumimoji="1" lang="en-US" altLang="zh-CN" sz="1600" b="1">
                    <a:latin typeface="Times New Roman" pitchFamily="18" charset="0"/>
                    <a:ea typeface="宋体" charset="-122"/>
                  </a:rPr>
                  <a:t>j = p</a:t>
                </a:r>
                <a:r>
                  <a:rPr kumimoji="1" lang="en-US" altLang="zh-CN" sz="1600" b="1" baseline="-25000">
                    <a:latin typeface="Times New Roman" pitchFamily="18" charset="0"/>
                    <a:ea typeface="宋体" charset="-122"/>
                  </a:rPr>
                  <a:t>c</a:t>
                </a:r>
                <a:r>
                  <a:rPr kumimoji="1" lang="en-US" altLang="zh-CN" sz="1600" b="1">
                    <a:latin typeface="Times New Roman" pitchFamily="18" charset="0"/>
                    <a:ea typeface="宋体" charset="-122"/>
                    <a:cs typeface="Times New Roman" pitchFamily="18" charset="0"/>
                  </a:rPr>
                  <a:t>·M</a:t>
                </a:r>
                <a:r>
                  <a:rPr kumimoji="1" lang="en-US" altLang="zh-CN" sz="1600" b="1">
                    <a:latin typeface="Times New Roman" pitchFamily="18" charset="0"/>
                    <a:ea typeface="宋体" charset="-122"/>
                  </a:rPr>
                  <a:t>?</a:t>
                </a:r>
              </a:p>
            </p:txBody>
          </p:sp>
        </p:grpSp>
        <p:grpSp>
          <p:nvGrpSpPr>
            <p:cNvPr id="7" name="Group 139"/>
            <p:cNvGrpSpPr>
              <a:grpSpLocks/>
            </p:cNvGrpSpPr>
            <p:nvPr/>
          </p:nvGrpSpPr>
          <p:grpSpPr bwMode="auto">
            <a:xfrm>
              <a:off x="3867" y="3465"/>
              <a:ext cx="1386" cy="228"/>
              <a:chOff x="3359" y="1111"/>
              <a:chExt cx="1594" cy="228"/>
            </a:xfrm>
          </p:grpSpPr>
          <p:sp>
            <p:nvSpPr>
              <p:cNvPr id="39003" name="AutoShape 140"/>
              <p:cNvSpPr>
                <a:spLocks noChangeArrowheads="1"/>
              </p:cNvSpPr>
              <p:nvPr/>
            </p:nvSpPr>
            <p:spPr bwMode="auto">
              <a:xfrm>
                <a:off x="3359" y="1111"/>
                <a:ext cx="1594" cy="228"/>
              </a:xfrm>
              <a:prstGeom prst="flowChartDecision">
                <a:avLst/>
              </a:prstGeom>
              <a:noFill/>
              <a:ln w="9525">
                <a:solidFill>
                  <a:schemeClr val="tx1"/>
                </a:solidFill>
                <a:miter lim="800000"/>
                <a:headEnd/>
                <a:tailEnd/>
              </a:ln>
            </p:spPr>
            <p:txBody>
              <a:bodyPr wrap="none" anchor="ctr"/>
              <a:lstStyle/>
              <a:p>
                <a:endParaRPr lang="zh-CN" altLang="en-US">
                  <a:ea typeface="宋体" charset="-122"/>
                </a:endParaRPr>
              </a:p>
            </p:txBody>
          </p:sp>
          <p:sp>
            <p:nvSpPr>
              <p:cNvPr id="39004" name="Text Box 141"/>
              <p:cNvSpPr txBox="1">
                <a:spLocks noChangeArrowheads="1"/>
              </p:cNvSpPr>
              <p:nvPr/>
            </p:nvSpPr>
            <p:spPr bwMode="auto">
              <a:xfrm>
                <a:off x="3719" y="1123"/>
                <a:ext cx="922" cy="212"/>
              </a:xfrm>
              <a:prstGeom prst="rect">
                <a:avLst/>
              </a:prstGeom>
              <a:noFill/>
              <a:ln w="9525">
                <a:noFill/>
                <a:miter lim="800000"/>
                <a:headEnd/>
                <a:tailEnd/>
              </a:ln>
            </p:spPr>
            <p:txBody>
              <a:bodyPr wrap="none">
                <a:spAutoFit/>
              </a:bodyPr>
              <a:lstStyle/>
              <a:p>
                <a:pPr algn="ctr"/>
                <a:r>
                  <a:rPr kumimoji="1" lang="zh-CN" altLang="en-US" sz="1400" b="1">
                    <a:latin typeface="Times New Roman" pitchFamily="18" charset="0"/>
                    <a:ea typeface="宋体" charset="-122"/>
                  </a:rPr>
                  <a:t> </a:t>
                </a:r>
                <a:r>
                  <a:rPr kumimoji="1" lang="en-US" altLang="zh-CN" sz="1600" b="1">
                    <a:latin typeface="Times New Roman" pitchFamily="18" charset="0"/>
                    <a:ea typeface="宋体" charset="-122"/>
                  </a:rPr>
                  <a:t>j = p</a:t>
                </a:r>
                <a:r>
                  <a:rPr kumimoji="1" lang="en-US" altLang="zh-CN" sz="1600" b="1" baseline="-25000">
                    <a:latin typeface="Times New Roman" pitchFamily="18" charset="0"/>
                    <a:ea typeface="宋体" charset="-122"/>
                  </a:rPr>
                  <a:t>m</a:t>
                </a:r>
                <a:r>
                  <a:rPr kumimoji="1" lang="en-US" altLang="zh-CN" sz="1600" b="1">
                    <a:latin typeface="Times New Roman" pitchFamily="18" charset="0"/>
                    <a:ea typeface="宋体" charset="-122"/>
                    <a:cs typeface="Times New Roman" pitchFamily="18" charset="0"/>
                  </a:rPr>
                  <a:t>·L·M</a:t>
                </a:r>
                <a:r>
                  <a:rPr kumimoji="1" lang="en-US" altLang="zh-CN" sz="1600" b="1">
                    <a:latin typeface="Times New Roman" pitchFamily="18" charset="0"/>
                    <a:ea typeface="宋体" charset="-122"/>
                  </a:rPr>
                  <a:t>?</a:t>
                </a:r>
              </a:p>
            </p:txBody>
          </p:sp>
        </p:grpSp>
        <p:sp>
          <p:nvSpPr>
            <p:cNvPr id="38942" name="Text Box 142"/>
            <p:cNvSpPr txBox="1">
              <a:spLocks noChangeArrowheads="1"/>
            </p:cNvSpPr>
            <p:nvPr/>
          </p:nvSpPr>
          <p:spPr bwMode="auto">
            <a:xfrm>
              <a:off x="2567" y="3877"/>
              <a:ext cx="723" cy="140"/>
            </a:xfrm>
            <a:prstGeom prst="rect">
              <a:avLst/>
            </a:prstGeom>
            <a:noFill/>
            <a:ln w="9525">
              <a:solidFill>
                <a:schemeClr val="tx1"/>
              </a:solidFill>
              <a:miter lim="800000"/>
              <a:headEnd/>
              <a:tailEnd/>
            </a:ln>
          </p:spPr>
          <p:txBody>
            <a:bodyPr lIns="0" tIns="0" rIns="0" bIns="0">
              <a:spAutoFit/>
            </a:bodyPr>
            <a:lstStyle/>
            <a:p>
              <a:pPr algn="ctr">
                <a:spcBef>
                  <a:spcPct val="50000"/>
                </a:spcBef>
              </a:pPr>
              <a:r>
                <a:rPr kumimoji="1" lang="en-US" altLang="zh-CN" sz="1400" b="1">
                  <a:latin typeface="Times New Roman" pitchFamily="18" charset="0"/>
                  <a:ea typeface="宋体" charset="-122"/>
                </a:rPr>
                <a:t>Gen=Gen+1</a:t>
              </a:r>
            </a:p>
          </p:txBody>
        </p:sp>
        <p:sp>
          <p:nvSpPr>
            <p:cNvPr id="38943" name="Text Box 143"/>
            <p:cNvSpPr txBox="1">
              <a:spLocks noChangeArrowheads="1"/>
            </p:cNvSpPr>
            <p:nvPr/>
          </p:nvSpPr>
          <p:spPr bwMode="auto">
            <a:xfrm>
              <a:off x="4625" y="1064"/>
              <a:ext cx="600" cy="140"/>
            </a:xfrm>
            <a:prstGeom prst="rect">
              <a:avLst/>
            </a:prstGeom>
            <a:noFill/>
            <a:ln w="9525">
              <a:solidFill>
                <a:schemeClr val="tx1"/>
              </a:solidFill>
              <a:miter lim="800000"/>
              <a:headEnd/>
              <a:tailEnd/>
            </a:ln>
          </p:spPr>
          <p:txBody>
            <a:bodyPr lIns="0" tIns="0" rIns="0" bIns="0">
              <a:spAutoFit/>
            </a:bodyPr>
            <a:lstStyle/>
            <a:p>
              <a:pPr algn="ctr">
                <a:spcBef>
                  <a:spcPct val="50000"/>
                </a:spcBef>
              </a:pPr>
              <a:r>
                <a:rPr kumimoji="1" lang="zh-CN" altLang="en-US" sz="1400" b="1">
                  <a:latin typeface="Times New Roman" pitchFamily="18" charset="0"/>
                  <a:ea typeface="宋体" charset="-122"/>
                </a:rPr>
                <a:t>输出结果</a:t>
              </a:r>
            </a:p>
          </p:txBody>
        </p:sp>
        <p:grpSp>
          <p:nvGrpSpPr>
            <p:cNvPr id="8" name="Group 144"/>
            <p:cNvGrpSpPr>
              <a:grpSpLocks/>
            </p:cNvGrpSpPr>
            <p:nvPr/>
          </p:nvGrpSpPr>
          <p:grpSpPr bwMode="auto">
            <a:xfrm>
              <a:off x="4709" y="1338"/>
              <a:ext cx="471" cy="192"/>
              <a:chOff x="4040" y="64"/>
              <a:chExt cx="471" cy="192"/>
            </a:xfrm>
          </p:grpSpPr>
          <p:sp>
            <p:nvSpPr>
              <p:cNvPr id="39001" name="AutoShape 145"/>
              <p:cNvSpPr>
                <a:spLocks noChangeArrowheads="1"/>
              </p:cNvSpPr>
              <p:nvPr/>
            </p:nvSpPr>
            <p:spPr bwMode="auto">
              <a:xfrm>
                <a:off x="4040" y="84"/>
                <a:ext cx="471" cy="156"/>
              </a:xfrm>
              <a:prstGeom prst="flowChartTerminator">
                <a:avLst/>
              </a:prstGeom>
              <a:noFill/>
              <a:ln w="9525">
                <a:solidFill>
                  <a:schemeClr val="tx1"/>
                </a:solidFill>
                <a:miter lim="800000"/>
                <a:headEnd/>
                <a:tailEnd/>
              </a:ln>
            </p:spPr>
            <p:txBody>
              <a:bodyPr wrap="none" anchor="ctr"/>
              <a:lstStyle/>
              <a:p>
                <a:endParaRPr lang="zh-CN" altLang="en-US">
                  <a:ea typeface="宋体" charset="-122"/>
                </a:endParaRPr>
              </a:p>
            </p:txBody>
          </p:sp>
          <p:sp>
            <p:nvSpPr>
              <p:cNvPr id="39002" name="Text Box 146"/>
              <p:cNvSpPr txBox="1">
                <a:spLocks noChangeArrowheads="1"/>
              </p:cNvSpPr>
              <p:nvPr/>
            </p:nvSpPr>
            <p:spPr bwMode="auto">
              <a:xfrm>
                <a:off x="4088" y="64"/>
                <a:ext cx="340" cy="192"/>
              </a:xfrm>
              <a:prstGeom prst="rect">
                <a:avLst/>
              </a:prstGeom>
              <a:noFill/>
              <a:ln w="9525">
                <a:noFill/>
                <a:miter lim="800000"/>
                <a:headEnd/>
                <a:tailEnd/>
              </a:ln>
            </p:spPr>
            <p:txBody>
              <a:bodyPr>
                <a:spAutoFit/>
              </a:bodyPr>
              <a:lstStyle/>
              <a:p>
                <a:pPr algn="ctr"/>
                <a:r>
                  <a:rPr kumimoji="1" lang="zh-CN" altLang="en-US" sz="1400" b="1">
                    <a:latin typeface="Times New Roman" pitchFamily="18" charset="0"/>
                    <a:ea typeface="宋体" charset="-122"/>
                  </a:rPr>
                  <a:t>终止</a:t>
                </a:r>
              </a:p>
            </p:txBody>
          </p:sp>
        </p:grpSp>
        <p:sp>
          <p:nvSpPr>
            <p:cNvPr id="38945" name="Line 147"/>
            <p:cNvSpPr>
              <a:spLocks noChangeShapeType="1"/>
            </p:cNvSpPr>
            <p:nvPr/>
          </p:nvSpPr>
          <p:spPr bwMode="auto">
            <a:xfrm>
              <a:off x="2818" y="208"/>
              <a:ext cx="0" cy="94"/>
            </a:xfrm>
            <a:prstGeom prst="line">
              <a:avLst/>
            </a:prstGeom>
            <a:noFill/>
            <a:ln w="9525">
              <a:solidFill>
                <a:schemeClr val="tx1"/>
              </a:solidFill>
              <a:round/>
              <a:headEnd/>
              <a:tailEnd type="triangle" w="sm" len="sm"/>
            </a:ln>
          </p:spPr>
          <p:txBody>
            <a:bodyPr/>
            <a:lstStyle/>
            <a:p>
              <a:endParaRPr lang="zh-CN" altLang="en-US"/>
            </a:p>
          </p:txBody>
        </p:sp>
        <p:sp>
          <p:nvSpPr>
            <p:cNvPr id="38946" name="Line 148"/>
            <p:cNvSpPr>
              <a:spLocks noChangeShapeType="1"/>
            </p:cNvSpPr>
            <p:nvPr/>
          </p:nvSpPr>
          <p:spPr bwMode="auto">
            <a:xfrm>
              <a:off x="2826" y="448"/>
              <a:ext cx="0" cy="78"/>
            </a:xfrm>
            <a:prstGeom prst="line">
              <a:avLst/>
            </a:prstGeom>
            <a:noFill/>
            <a:ln w="9525">
              <a:solidFill>
                <a:schemeClr val="tx1"/>
              </a:solidFill>
              <a:round/>
              <a:headEnd/>
              <a:tailEnd type="triangle" w="sm" len="sm"/>
            </a:ln>
          </p:spPr>
          <p:txBody>
            <a:bodyPr/>
            <a:lstStyle/>
            <a:p>
              <a:endParaRPr lang="zh-CN" altLang="en-US"/>
            </a:p>
          </p:txBody>
        </p:sp>
        <p:sp>
          <p:nvSpPr>
            <p:cNvPr id="38947" name="Line 149"/>
            <p:cNvSpPr>
              <a:spLocks noChangeShapeType="1"/>
            </p:cNvSpPr>
            <p:nvPr/>
          </p:nvSpPr>
          <p:spPr bwMode="auto">
            <a:xfrm>
              <a:off x="2834" y="676"/>
              <a:ext cx="0" cy="98"/>
            </a:xfrm>
            <a:prstGeom prst="line">
              <a:avLst/>
            </a:prstGeom>
            <a:noFill/>
            <a:ln w="9525">
              <a:solidFill>
                <a:schemeClr val="tx1"/>
              </a:solidFill>
              <a:round/>
              <a:headEnd/>
              <a:tailEnd type="triangle" w="sm" len="sm"/>
            </a:ln>
          </p:spPr>
          <p:txBody>
            <a:bodyPr/>
            <a:lstStyle/>
            <a:p>
              <a:endParaRPr lang="zh-CN" altLang="en-US"/>
            </a:p>
          </p:txBody>
        </p:sp>
        <p:sp>
          <p:nvSpPr>
            <p:cNvPr id="38948" name="Line 150"/>
            <p:cNvSpPr>
              <a:spLocks noChangeShapeType="1"/>
            </p:cNvSpPr>
            <p:nvPr/>
          </p:nvSpPr>
          <p:spPr bwMode="auto">
            <a:xfrm>
              <a:off x="2834" y="924"/>
              <a:ext cx="0" cy="98"/>
            </a:xfrm>
            <a:prstGeom prst="line">
              <a:avLst/>
            </a:prstGeom>
            <a:noFill/>
            <a:ln w="9525">
              <a:solidFill>
                <a:schemeClr val="tx1"/>
              </a:solidFill>
              <a:round/>
              <a:headEnd/>
              <a:tailEnd type="triangle" w="sm" len="sm"/>
            </a:ln>
          </p:spPr>
          <p:txBody>
            <a:bodyPr/>
            <a:lstStyle/>
            <a:p>
              <a:endParaRPr lang="zh-CN" altLang="en-US"/>
            </a:p>
          </p:txBody>
        </p:sp>
        <p:sp>
          <p:nvSpPr>
            <p:cNvPr id="38949" name="Line 151"/>
            <p:cNvSpPr>
              <a:spLocks noChangeShapeType="1"/>
            </p:cNvSpPr>
            <p:nvPr/>
          </p:nvSpPr>
          <p:spPr bwMode="auto">
            <a:xfrm>
              <a:off x="2858" y="1244"/>
              <a:ext cx="0" cy="130"/>
            </a:xfrm>
            <a:prstGeom prst="line">
              <a:avLst/>
            </a:prstGeom>
            <a:noFill/>
            <a:ln w="9525">
              <a:solidFill>
                <a:schemeClr val="tx1"/>
              </a:solidFill>
              <a:round/>
              <a:headEnd/>
              <a:tailEnd type="triangle" w="sm" len="sm"/>
            </a:ln>
          </p:spPr>
          <p:txBody>
            <a:bodyPr/>
            <a:lstStyle/>
            <a:p>
              <a:endParaRPr lang="zh-CN" altLang="en-US"/>
            </a:p>
          </p:txBody>
        </p:sp>
        <p:sp>
          <p:nvSpPr>
            <p:cNvPr id="38950" name="Line 152"/>
            <p:cNvSpPr>
              <a:spLocks noChangeShapeType="1"/>
            </p:cNvSpPr>
            <p:nvPr/>
          </p:nvSpPr>
          <p:spPr bwMode="auto">
            <a:xfrm>
              <a:off x="2874" y="1524"/>
              <a:ext cx="0" cy="98"/>
            </a:xfrm>
            <a:prstGeom prst="line">
              <a:avLst/>
            </a:prstGeom>
            <a:noFill/>
            <a:ln w="9525">
              <a:solidFill>
                <a:schemeClr val="tx1"/>
              </a:solidFill>
              <a:round/>
              <a:headEnd/>
              <a:tailEnd type="triangle" w="sm" len="sm"/>
            </a:ln>
          </p:spPr>
          <p:txBody>
            <a:bodyPr/>
            <a:lstStyle/>
            <a:p>
              <a:endParaRPr lang="zh-CN" altLang="en-US"/>
            </a:p>
          </p:txBody>
        </p:sp>
        <p:sp>
          <p:nvSpPr>
            <p:cNvPr id="38951" name="Line 153"/>
            <p:cNvSpPr>
              <a:spLocks noChangeShapeType="1"/>
            </p:cNvSpPr>
            <p:nvPr/>
          </p:nvSpPr>
          <p:spPr bwMode="auto">
            <a:xfrm>
              <a:off x="2882" y="1764"/>
              <a:ext cx="0" cy="148"/>
            </a:xfrm>
            <a:prstGeom prst="line">
              <a:avLst/>
            </a:prstGeom>
            <a:noFill/>
            <a:ln w="9525">
              <a:solidFill>
                <a:schemeClr val="tx1"/>
              </a:solidFill>
              <a:round/>
              <a:headEnd/>
              <a:tailEnd type="triangle" w="sm" len="sm"/>
            </a:ln>
          </p:spPr>
          <p:txBody>
            <a:bodyPr/>
            <a:lstStyle/>
            <a:p>
              <a:endParaRPr lang="zh-CN" altLang="en-US"/>
            </a:p>
          </p:txBody>
        </p:sp>
        <p:sp>
          <p:nvSpPr>
            <p:cNvPr id="38952" name="Line 154"/>
            <p:cNvSpPr>
              <a:spLocks noChangeShapeType="1"/>
            </p:cNvSpPr>
            <p:nvPr/>
          </p:nvSpPr>
          <p:spPr bwMode="auto">
            <a:xfrm>
              <a:off x="2898" y="2068"/>
              <a:ext cx="0" cy="148"/>
            </a:xfrm>
            <a:prstGeom prst="line">
              <a:avLst/>
            </a:prstGeom>
            <a:noFill/>
            <a:ln w="9525">
              <a:solidFill>
                <a:schemeClr val="tx1"/>
              </a:solidFill>
              <a:round/>
              <a:headEnd/>
              <a:tailEnd type="triangle" w="sm" len="sm"/>
            </a:ln>
          </p:spPr>
          <p:txBody>
            <a:bodyPr/>
            <a:lstStyle/>
            <a:p>
              <a:endParaRPr lang="zh-CN" altLang="en-US"/>
            </a:p>
          </p:txBody>
        </p:sp>
        <p:sp>
          <p:nvSpPr>
            <p:cNvPr id="38953" name="Line 155"/>
            <p:cNvSpPr>
              <a:spLocks noChangeShapeType="1"/>
            </p:cNvSpPr>
            <p:nvPr/>
          </p:nvSpPr>
          <p:spPr bwMode="auto">
            <a:xfrm>
              <a:off x="4525" y="2052"/>
              <a:ext cx="0" cy="148"/>
            </a:xfrm>
            <a:prstGeom prst="line">
              <a:avLst/>
            </a:prstGeom>
            <a:noFill/>
            <a:ln w="9525">
              <a:solidFill>
                <a:schemeClr val="tx1"/>
              </a:solidFill>
              <a:round/>
              <a:headEnd/>
              <a:tailEnd type="triangle" w="sm" len="sm"/>
            </a:ln>
          </p:spPr>
          <p:txBody>
            <a:bodyPr/>
            <a:lstStyle/>
            <a:p>
              <a:endParaRPr lang="zh-CN" altLang="en-US"/>
            </a:p>
          </p:txBody>
        </p:sp>
        <p:sp>
          <p:nvSpPr>
            <p:cNvPr id="38954" name="Line 156"/>
            <p:cNvSpPr>
              <a:spLocks noChangeShapeType="1"/>
            </p:cNvSpPr>
            <p:nvPr/>
          </p:nvSpPr>
          <p:spPr bwMode="auto">
            <a:xfrm>
              <a:off x="1291" y="2068"/>
              <a:ext cx="0" cy="148"/>
            </a:xfrm>
            <a:prstGeom prst="line">
              <a:avLst/>
            </a:prstGeom>
            <a:noFill/>
            <a:ln w="9525">
              <a:solidFill>
                <a:schemeClr val="tx1"/>
              </a:solidFill>
              <a:round/>
              <a:headEnd/>
              <a:tailEnd type="triangle" w="sm" len="sm"/>
            </a:ln>
          </p:spPr>
          <p:txBody>
            <a:bodyPr/>
            <a:lstStyle/>
            <a:p>
              <a:endParaRPr lang="zh-CN" altLang="en-US"/>
            </a:p>
          </p:txBody>
        </p:sp>
        <p:sp>
          <p:nvSpPr>
            <p:cNvPr id="38955" name="Line 157"/>
            <p:cNvSpPr>
              <a:spLocks noChangeShapeType="1"/>
            </p:cNvSpPr>
            <p:nvPr/>
          </p:nvSpPr>
          <p:spPr bwMode="auto">
            <a:xfrm>
              <a:off x="1291" y="1694"/>
              <a:ext cx="843" cy="2"/>
            </a:xfrm>
            <a:prstGeom prst="line">
              <a:avLst/>
            </a:prstGeom>
            <a:noFill/>
            <a:ln w="9525">
              <a:solidFill>
                <a:schemeClr val="tx1"/>
              </a:solidFill>
              <a:round/>
              <a:headEnd/>
              <a:tailEnd/>
            </a:ln>
          </p:spPr>
          <p:txBody>
            <a:bodyPr/>
            <a:lstStyle/>
            <a:p>
              <a:endParaRPr lang="zh-CN" altLang="en-US"/>
            </a:p>
          </p:txBody>
        </p:sp>
        <p:sp>
          <p:nvSpPr>
            <p:cNvPr id="38956" name="Line 158"/>
            <p:cNvSpPr>
              <a:spLocks noChangeShapeType="1"/>
            </p:cNvSpPr>
            <p:nvPr/>
          </p:nvSpPr>
          <p:spPr bwMode="auto">
            <a:xfrm>
              <a:off x="1291" y="1700"/>
              <a:ext cx="0" cy="204"/>
            </a:xfrm>
            <a:prstGeom prst="line">
              <a:avLst/>
            </a:prstGeom>
            <a:noFill/>
            <a:ln w="9525">
              <a:solidFill>
                <a:schemeClr val="tx1"/>
              </a:solidFill>
              <a:round/>
              <a:headEnd/>
              <a:tailEnd type="triangle" w="sm" len="sm"/>
            </a:ln>
          </p:spPr>
          <p:txBody>
            <a:bodyPr/>
            <a:lstStyle/>
            <a:p>
              <a:endParaRPr lang="zh-CN" altLang="en-US"/>
            </a:p>
          </p:txBody>
        </p:sp>
        <p:sp>
          <p:nvSpPr>
            <p:cNvPr id="38957" name="Line 159"/>
            <p:cNvSpPr>
              <a:spLocks noChangeShapeType="1"/>
            </p:cNvSpPr>
            <p:nvPr/>
          </p:nvSpPr>
          <p:spPr bwMode="auto">
            <a:xfrm>
              <a:off x="3678" y="1694"/>
              <a:ext cx="847" cy="0"/>
            </a:xfrm>
            <a:prstGeom prst="line">
              <a:avLst/>
            </a:prstGeom>
            <a:noFill/>
            <a:ln w="9525">
              <a:solidFill>
                <a:schemeClr val="tx1"/>
              </a:solidFill>
              <a:round/>
              <a:headEnd/>
              <a:tailEnd/>
            </a:ln>
          </p:spPr>
          <p:txBody>
            <a:bodyPr/>
            <a:lstStyle/>
            <a:p>
              <a:endParaRPr lang="zh-CN" altLang="en-US"/>
            </a:p>
          </p:txBody>
        </p:sp>
        <p:sp>
          <p:nvSpPr>
            <p:cNvPr id="38958" name="Line 160"/>
            <p:cNvSpPr>
              <a:spLocks noChangeShapeType="1"/>
            </p:cNvSpPr>
            <p:nvPr/>
          </p:nvSpPr>
          <p:spPr bwMode="auto">
            <a:xfrm>
              <a:off x="4525" y="1704"/>
              <a:ext cx="0" cy="200"/>
            </a:xfrm>
            <a:prstGeom prst="line">
              <a:avLst/>
            </a:prstGeom>
            <a:noFill/>
            <a:ln w="9525">
              <a:solidFill>
                <a:schemeClr val="tx1"/>
              </a:solidFill>
              <a:round/>
              <a:headEnd/>
              <a:tailEnd type="triangle" w="sm" len="sm"/>
            </a:ln>
          </p:spPr>
          <p:txBody>
            <a:bodyPr/>
            <a:lstStyle/>
            <a:p>
              <a:endParaRPr lang="zh-CN" altLang="en-US"/>
            </a:p>
          </p:txBody>
        </p:sp>
        <p:sp>
          <p:nvSpPr>
            <p:cNvPr id="38959" name="Line 161"/>
            <p:cNvSpPr>
              <a:spLocks noChangeShapeType="1"/>
            </p:cNvSpPr>
            <p:nvPr/>
          </p:nvSpPr>
          <p:spPr bwMode="auto">
            <a:xfrm>
              <a:off x="4525" y="2350"/>
              <a:ext cx="0" cy="130"/>
            </a:xfrm>
            <a:prstGeom prst="line">
              <a:avLst/>
            </a:prstGeom>
            <a:noFill/>
            <a:ln w="9525">
              <a:solidFill>
                <a:schemeClr val="tx1"/>
              </a:solidFill>
              <a:round/>
              <a:headEnd/>
              <a:tailEnd type="triangle" w="sm" len="sm"/>
            </a:ln>
          </p:spPr>
          <p:txBody>
            <a:bodyPr/>
            <a:lstStyle/>
            <a:p>
              <a:endParaRPr lang="zh-CN" altLang="en-US"/>
            </a:p>
          </p:txBody>
        </p:sp>
        <p:sp>
          <p:nvSpPr>
            <p:cNvPr id="38960" name="Line 162"/>
            <p:cNvSpPr>
              <a:spLocks noChangeShapeType="1"/>
            </p:cNvSpPr>
            <p:nvPr/>
          </p:nvSpPr>
          <p:spPr bwMode="auto">
            <a:xfrm>
              <a:off x="2914" y="2358"/>
              <a:ext cx="0" cy="130"/>
            </a:xfrm>
            <a:prstGeom prst="line">
              <a:avLst/>
            </a:prstGeom>
            <a:noFill/>
            <a:ln w="9525">
              <a:solidFill>
                <a:schemeClr val="tx1"/>
              </a:solidFill>
              <a:round/>
              <a:headEnd/>
              <a:tailEnd type="triangle" w="sm" len="sm"/>
            </a:ln>
          </p:spPr>
          <p:txBody>
            <a:bodyPr/>
            <a:lstStyle/>
            <a:p>
              <a:endParaRPr lang="zh-CN" altLang="en-US"/>
            </a:p>
          </p:txBody>
        </p:sp>
        <p:sp>
          <p:nvSpPr>
            <p:cNvPr id="38961" name="Line 163"/>
            <p:cNvSpPr>
              <a:spLocks noChangeShapeType="1"/>
            </p:cNvSpPr>
            <p:nvPr/>
          </p:nvSpPr>
          <p:spPr bwMode="auto">
            <a:xfrm>
              <a:off x="1297" y="2358"/>
              <a:ext cx="0" cy="130"/>
            </a:xfrm>
            <a:prstGeom prst="line">
              <a:avLst/>
            </a:prstGeom>
            <a:noFill/>
            <a:ln w="9525">
              <a:solidFill>
                <a:schemeClr val="tx1"/>
              </a:solidFill>
              <a:round/>
              <a:headEnd/>
              <a:tailEnd type="triangle" w="sm" len="sm"/>
            </a:ln>
          </p:spPr>
          <p:txBody>
            <a:bodyPr/>
            <a:lstStyle/>
            <a:p>
              <a:endParaRPr lang="zh-CN" altLang="en-US"/>
            </a:p>
          </p:txBody>
        </p:sp>
        <p:sp>
          <p:nvSpPr>
            <p:cNvPr id="38962" name="Line 164"/>
            <p:cNvSpPr>
              <a:spLocks noChangeShapeType="1"/>
            </p:cNvSpPr>
            <p:nvPr/>
          </p:nvSpPr>
          <p:spPr bwMode="auto">
            <a:xfrm>
              <a:off x="1297" y="2630"/>
              <a:ext cx="0" cy="130"/>
            </a:xfrm>
            <a:prstGeom prst="line">
              <a:avLst/>
            </a:prstGeom>
            <a:noFill/>
            <a:ln w="9525">
              <a:solidFill>
                <a:schemeClr val="tx1"/>
              </a:solidFill>
              <a:round/>
              <a:headEnd/>
              <a:tailEnd type="triangle" w="sm" len="sm"/>
            </a:ln>
          </p:spPr>
          <p:txBody>
            <a:bodyPr/>
            <a:lstStyle/>
            <a:p>
              <a:endParaRPr lang="zh-CN" altLang="en-US"/>
            </a:p>
          </p:txBody>
        </p:sp>
        <p:sp>
          <p:nvSpPr>
            <p:cNvPr id="38963" name="Line 165"/>
            <p:cNvSpPr>
              <a:spLocks noChangeShapeType="1"/>
            </p:cNvSpPr>
            <p:nvPr/>
          </p:nvSpPr>
          <p:spPr bwMode="auto">
            <a:xfrm>
              <a:off x="2908" y="2645"/>
              <a:ext cx="0" cy="130"/>
            </a:xfrm>
            <a:prstGeom prst="line">
              <a:avLst/>
            </a:prstGeom>
            <a:noFill/>
            <a:ln w="9525">
              <a:solidFill>
                <a:schemeClr val="tx1"/>
              </a:solidFill>
              <a:round/>
              <a:headEnd/>
              <a:tailEnd type="triangle" w="sm" len="sm"/>
            </a:ln>
          </p:spPr>
          <p:txBody>
            <a:bodyPr/>
            <a:lstStyle/>
            <a:p>
              <a:endParaRPr lang="zh-CN" altLang="en-US"/>
            </a:p>
          </p:txBody>
        </p:sp>
        <p:sp>
          <p:nvSpPr>
            <p:cNvPr id="38964" name="Line 166"/>
            <p:cNvSpPr>
              <a:spLocks noChangeShapeType="1"/>
            </p:cNvSpPr>
            <p:nvPr/>
          </p:nvSpPr>
          <p:spPr bwMode="auto">
            <a:xfrm>
              <a:off x="4532" y="2637"/>
              <a:ext cx="0" cy="130"/>
            </a:xfrm>
            <a:prstGeom prst="line">
              <a:avLst/>
            </a:prstGeom>
            <a:noFill/>
            <a:ln w="9525">
              <a:solidFill>
                <a:schemeClr val="tx1"/>
              </a:solidFill>
              <a:round/>
              <a:headEnd/>
              <a:tailEnd type="triangle" w="sm" len="sm"/>
            </a:ln>
          </p:spPr>
          <p:txBody>
            <a:bodyPr/>
            <a:lstStyle/>
            <a:p>
              <a:endParaRPr lang="zh-CN" altLang="en-US"/>
            </a:p>
          </p:txBody>
        </p:sp>
        <p:sp>
          <p:nvSpPr>
            <p:cNvPr id="38965" name="Line 167"/>
            <p:cNvSpPr>
              <a:spLocks noChangeShapeType="1"/>
            </p:cNvSpPr>
            <p:nvPr/>
          </p:nvSpPr>
          <p:spPr bwMode="auto">
            <a:xfrm>
              <a:off x="1297" y="3054"/>
              <a:ext cx="0" cy="130"/>
            </a:xfrm>
            <a:prstGeom prst="line">
              <a:avLst/>
            </a:prstGeom>
            <a:noFill/>
            <a:ln w="9525">
              <a:solidFill>
                <a:schemeClr val="tx1"/>
              </a:solidFill>
              <a:round/>
              <a:headEnd/>
              <a:tailEnd type="triangle" w="sm" len="sm"/>
            </a:ln>
          </p:spPr>
          <p:txBody>
            <a:bodyPr/>
            <a:lstStyle/>
            <a:p>
              <a:endParaRPr lang="zh-CN" altLang="en-US"/>
            </a:p>
          </p:txBody>
        </p:sp>
        <p:sp>
          <p:nvSpPr>
            <p:cNvPr id="38966" name="Line 168"/>
            <p:cNvSpPr>
              <a:spLocks noChangeShapeType="1"/>
            </p:cNvSpPr>
            <p:nvPr/>
          </p:nvSpPr>
          <p:spPr bwMode="auto">
            <a:xfrm>
              <a:off x="2916" y="3043"/>
              <a:ext cx="0" cy="130"/>
            </a:xfrm>
            <a:prstGeom prst="line">
              <a:avLst/>
            </a:prstGeom>
            <a:noFill/>
            <a:ln w="9525">
              <a:solidFill>
                <a:schemeClr val="tx1"/>
              </a:solidFill>
              <a:round/>
              <a:headEnd/>
              <a:tailEnd type="triangle" w="sm" len="sm"/>
            </a:ln>
          </p:spPr>
          <p:txBody>
            <a:bodyPr/>
            <a:lstStyle/>
            <a:p>
              <a:endParaRPr lang="zh-CN" altLang="en-US"/>
            </a:p>
          </p:txBody>
        </p:sp>
        <p:sp>
          <p:nvSpPr>
            <p:cNvPr id="38967" name="Line 169"/>
            <p:cNvSpPr>
              <a:spLocks noChangeShapeType="1"/>
            </p:cNvSpPr>
            <p:nvPr/>
          </p:nvSpPr>
          <p:spPr bwMode="auto">
            <a:xfrm>
              <a:off x="4540" y="3061"/>
              <a:ext cx="0" cy="130"/>
            </a:xfrm>
            <a:prstGeom prst="line">
              <a:avLst/>
            </a:prstGeom>
            <a:noFill/>
            <a:ln w="9525">
              <a:solidFill>
                <a:schemeClr val="tx1"/>
              </a:solidFill>
              <a:round/>
              <a:headEnd/>
              <a:tailEnd type="triangle" w="sm" len="sm"/>
            </a:ln>
          </p:spPr>
          <p:txBody>
            <a:bodyPr/>
            <a:lstStyle/>
            <a:p>
              <a:endParaRPr lang="zh-CN" altLang="en-US"/>
            </a:p>
          </p:txBody>
        </p:sp>
        <p:sp>
          <p:nvSpPr>
            <p:cNvPr id="38968" name="Line 170"/>
            <p:cNvSpPr>
              <a:spLocks noChangeShapeType="1"/>
            </p:cNvSpPr>
            <p:nvPr/>
          </p:nvSpPr>
          <p:spPr bwMode="auto">
            <a:xfrm>
              <a:off x="1297" y="3342"/>
              <a:ext cx="0" cy="130"/>
            </a:xfrm>
            <a:prstGeom prst="line">
              <a:avLst/>
            </a:prstGeom>
            <a:noFill/>
            <a:ln w="9525">
              <a:solidFill>
                <a:schemeClr val="tx1"/>
              </a:solidFill>
              <a:round/>
              <a:headEnd/>
              <a:tailEnd type="triangle" w="sm" len="sm"/>
            </a:ln>
          </p:spPr>
          <p:txBody>
            <a:bodyPr/>
            <a:lstStyle/>
            <a:p>
              <a:endParaRPr lang="zh-CN" altLang="en-US"/>
            </a:p>
          </p:txBody>
        </p:sp>
        <p:sp>
          <p:nvSpPr>
            <p:cNvPr id="38969" name="Line 171"/>
            <p:cNvSpPr>
              <a:spLocks noChangeShapeType="1"/>
            </p:cNvSpPr>
            <p:nvPr/>
          </p:nvSpPr>
          <p:spPr bwMode="auto">
            <a:xfrm>
              <a:off x="2932" y="3323"/>
              <a:ext cx="0" cy="130"/>
            </a:xfrm>
            <a:prstGeom prst="line">
              <a:avLst/>
            </a:prstGeom>
            <a:noFill/>
            <a:ln w="9525">
              <a:solidFill>
                <a:schemeClr val="tx1"/>
              </a:solidFill>
              <a:round/>
              <a:headEnd/>
              <a:tailEnd type="triangle" w="sm" len="sm"/>
            </a:ln>
          </p:spPr>
          <p:txBody>
            <a:bodyPr/>
            <a:lstStyle/>
            <a:p>
              <a:endParaRPr lang="zh-CN" altLang="en-US"/>
            </a:p>
          </p:txBody>
        </p:sp>
        <p:sp>
          <p:nvSpPr>
            <p:cNvPr id="38970" name="Line 172"/>
            <p:cNvSpPr>
              <a:spLocks noChangeShapeType="1"/>
            </p:cNvSpPr>
            <p:nvPr/>
          </p:nvSpPr>
          <p:spPr bwMode="auto">
            <a:xfrm>
              <a:off x="4556" y="3341"/>
              <a:ext cx="0" cy="130"/>
            </a:xfrm>
            <a:prstGeom prst="line">
              <a:avLst/>
            </a:prstGeom>
            <a:noFill/>
            <a:ln w="9525">
              <a:solidFill>
                <a:schemeClr val="tx1"/>
              </a:solidFill>
              <a:round/>
              <a:headEnd/>
              <a:tailEnd type="triangle" w="sm" len="sm"/>
            </a:ln>
          </p:spPr>
          <p:txBody>
            <a:bodyPr/>
            <a:lstStyle/>
            <a:p>
              <a:endParaRPr lang="zh-CN" altLang="en-US"/>
            </a:p>
          </p:txBody>
        </p:sp>
        <p:sp>
          <p:nvSpPr>
            <p:cNvPr id="38971" name="Line 173"/>
            <p:cNvSpPr>
              <a:spLocks noChangeShapeType="1"/>
            </p:cNvSpPr>
            <p:nvPr/>
          </p:nvSpPr>
          <p:spPr bwMode="auto">
            <a:xfrm>
              <a:off x="2948" y="3691"/>
              <a:ext cx="0" cy="186"/>
            </a:xfrm>
            <a:prstGeom prst="line">
              <a:avLst/>
            </a:prstGeom>
            <a:noFill/>
            <a:ln w="9525">
              <a:solidFill>
                <a:schemeClr val="tx1"/>
              </a:solidFill>
              <a:round/>
              <a:headEnd/>
              <a:tailEnd type="triangle" w="sm" len="sm"/>
            </a:ln>
          </p:spPr>
          <p:txBody>
            <a:bodyPr/>
            <a:lstStyle/>
            <a:p>
              <a:endParaRPr lang="zh-CN" altLang="en-US"/>
            </a:p>
          </p:txBody>
        </p:sp>
        <p:sp>
          <p:nvSpPr>
            <p:cNvPr id="38972" name="Line 174"/>
            <p:cNvSpPr>
              <a:spLocks noChangeShapeType="1"/>
            </p:cNvSpPr>
            <p:nvPr/>
          </p:nvSpPr>
          <p:spPr bwMode="auto">
            <a:xfrm>
              <a:off x="2948" y="4017"/>
              <a:ext cx="0" cy="120"/>
            </a:xfrm>
            <a:prstGeom prst="line">
              <a:avLst/>
            </a:prstGeom>
            <a:noFill/>
            <a:ln w="9525">
              <a:solidFill>
                <a:schemeClr val="tx1"/>
              </a:solidFill>
              <a:round/>
              <a:headEnd/>
              <a:tailEnd/>
            </a:ln>
          </p:spPr>
          <p:txBody>
            <a:bodyPr/>
            <a:lstStyle/>
            <a:p>
              <a:endParaRPr lang="zh-CN" altLang="en-US"/>
            </a:p>
          </p:txBody>
        </p:sp>
        <p:sp>
          <p:nvSpPr>
            <p:cNvPr id="38973" name="Line 175"/>
            <p:cNvSpPr>
              <a:spLocks noChangeShapeType="1"/>
            </p:cNvSpPr>
            <p:nvPr/>
          </p:nvSpPr>
          <p:spPr bwMode="auto">
            <a:xfrm flipH="1">
              <a:off x="211" y="4137"/>
              <a:ext cx="2737" cy="0"/>
            </a:xfrm>
            <a:prstGeom prst="line">
              <a:avLst/>
            </a:prstGeom>
            <a:noFill/>
            <a:ln w="9525">
              <a:solidFill>
                <a:schemeClr val="tx1"/>
              </a:solidFill>
              <a:round/>
              <a:headEnd/>
              <a:tailEnd/>
            </a:ln>
          </p:spPr>
          <p:txBody>
            <a:bodyPr/>
            <a:lstStyle/>
            <a:p>
              <a:endParaRPr lang="zh-CN" altLang="en-US"/>
            </a:p>
          </p:txBody>
        </p:sp>
        <p:sp>
          <p:nvSpPr>
            <p:cNvPr id="38974" name="Line 176"/>
            <p:cNvSpPr>
              <a:spLocks noChangeShapeType="1"/>
            </p:cNvSpPr>
            <p:nvPr/>
          </p:nvSpPr>
          <p:spPr bwMode="auto">
            <a:xfrm flipV="1">
              <a:off x="211" y="1132"/>
              <a:ext cx="0" cy="3005"/>
            </a:xfrm>
            <a:prstGeom prst="line">
              <a:avLst/>
            </a:prstGeom>
            <a:noFill/>
            <a:ln w="9525">
              <a:solidFill>
                <a:schemeClr val="tx1"/>
              </a:solidFill>
              <a:round/>
              <a:headEnd/>
              <a:tailEnd/>
            </a:ln>
          </p:spPr>
          <p:txBody>
            <a:bodyPr/>
            <a:lstStyle/>
            <a:p>
              <a:endParaRPr lang="zh-CN" altLang="en-US"/>
            </a:p>
          </p:txBody>
        </p:sp>
        <p:sp>
          <p:nvSpPr>
            <p:cNvPr id="38975" name="Line 177"/>
            <p:cNvSpPr>
              <a:spLocks noChangeShapeType="1"/>
            </p:cNvSpPr>
            <p:nvPr/>
          </p:nvSpPr>
          <p:spPr bwMode="auto">
            <a:xfrm>
              <a:off x="211" y="1132"/>
              <a:ext cx="1816" cy="0"/>
            </a:xfrm>
            <a:prstGeom prst="line">
              <a:avLst/>
            </a:prstGeom>
            <a:noFill/>
            <a:ln w="9525">
              <a:solidFill>
                <a:schemeClr val="tx1"/>
              </a:solidFill>
              <a:round/>
              <a:headEnd/>
              <a:tailEnd type="triangle" w="med" len="med"/>
            </a:ln>
          </p:spPr>
          <p:txBody>
            <a:bodyPr/>
            <a:lstStyle/>
            <a:p>
              <a:endParaRPr lang="zh-CN" altLang="en-US"/>
            </a:p>
          </p:txBody>
        </p:sp>
        <p:sp>
          <p:nvSpPr>
            <p:cNvPr id="38976" name="Line 178"/>
            <p:cNvSpPr>
              <a:spLocks noChangeShapeType="1"/>
            </p:cNvSpPr>
            <p:nvPr/>
          </p:nvSpPr>
          <p:spPr bwMode="auto">
            <a:xfrm flipH="1">
              <a:off x="2206" y="3581"/>
              <a:ext cx="203" cy="0"/>
            </a:xfrm>
            <a:prstGeom prst="line">
              <a:avLst/>
            </a:prstGeom>
            <a:noFill/>
            <a:ln w="9525">
              <a:solidFill>
                <a:schemeClr val="tx1"/>
              </a:solidFill>
              <a:round/>
              <a:headEnd/>
              <a:tailEnd/>
            </a:ln>
          </p:spPr>
          <p:txBody>
            <a:bodyPr/>
            <a:lstStyle/>
            <a:p>
              <a:endParaRPr lang="zh-CN" altLang="en-US"/>
            </a:p>
          </p:txBody>
        </p:sp>
        <p:sp>
          <p:nvSpPr>
            <p:cNvPr id="38977" name="Line 179"/>
            <p:cNvSpPr>
              <a:spLocks noChangeShapeType="1"/>
            </p:cNvSpPr>
            <p:nvPr/>
          </p:nvSpPr>
          <p:spPr bwMode="auto">
            <a:xfrm flipV="1">
              <a:off x="2206" y="2112"/>
              <a:ext cx="0" cy="1469"/>
            </a:xfrm>
            <a:prstGeom prst="line">
              <a:avLst/>
            </a:prstGeom>
            <a:noFill/>
            <a:ln w="9525">
              <a:solidFill>
                <a:schemeClr val="tx1"/>
              </a:solidFill>
              <a:round/>
              <a:headEnd/>
              <a:tailEnd/>
            </a:ln>
          </p:spPr>
          <p:txBody>
            <a:bodyPr/>
            <a:lstStyle/>
            <a:p>
              <a:endParaRPr lang="zh-CN" altLang="en-US"/>
            </a:p>
          </p:txBody>
        </p:sp>
        <p:sp>
          <p:nvSpPr>
            <p:cNvPr id="38978" name="Line 180"/>
            <p:cNvSpPr>
              <a:spLocks noChangeShapeType="1"/>
            </p:cNvSpPr>
            <p:nvPr/>
          </p:nvSpPr>
          <p:spPr bwMode="auto">
            <a:xfrm>
              <a:off x="2206" y="2112"/>
              <a:ext cx="692" cy="0"/>
            </a:xfrm>
            <a:prstGeom prst="line">
              <a:avLst/>
            </a:prstGeom>
            <a:noFill/>
            <a:ln w="9525">
              <a:solidFill>
                <a:schemeClr val="tx1"/>
              </a:solidFill>
              <a:round/>
              <a:headEnd/>
              <a:tailEnd type="triangle" w="sm" len="med"/>
            </a:ln>
          </p:spPr>
          <p:txBody>
            <a:bodyPr/>
            <a:lstStyle/>
            <a:p>
              <a:endParaRPr lang="zh-CN" altLang="en-US"/>
            </a:p>
          </p:txBody>
        </p:sp>
        <p:sp>
          <p:nvSpPr>
            <p:cNvPr id="38979" name="Line 181"/>
            <p:cNvSpPr>
              <a:spLocks noChangeShapeType="1"/>
            </p:cNvSpPr>
            <p:nvPr/>
          </p:nvSpPr>
          <p:spPr bwMode="auto">
            <a:xfrm flipH="1">
              <a:off x="3718" y="3581"/>
              <a:ext cx="149" cy="0"/>
            </a:xfrm>
            <a:prstGeom prst="line">
              <a:avLst/>
            </a:prstGeom>
            <a:noFill/>
            <a:ln w="9525">
              <a:solidFill>
                <a:schemeClr val="tx1"/>
              </a:solidFill>
              <a:round/>
              <a:headEnd/>
              <a:tailEnd/>
            </a:ln>
          </p:spPr>
          <p:txBody>
            <a:bodyPr/>
            <a:lstStyle/>
            <a:p>
              <a:endParaRPr lang="zh-CN" altLang="en-US"/>
            </a:p>
          </p:txBody>
        </p:sp>
        <p:sp>
          <p:nvSpPr>
            <p:cNvPr id="38980" name="Line 182"/>
            <p:cNvSpPr>
              <a:spLocks noChangeShapeType="1"/>
            </p:cNvSpPr>
            <p:nvPr/>
          </p:nvSpPr>
          <p:spPr bwMode="auto">
            <a:xfrm flipV="1">
              <a:off x="3718" y="2112"/>
              <a:ext cx="0" cy="1469"/>
            </a:xfrm>
            <a:prstGeom prst="line">
              <a:avLst/>
            </a:prstGeom>
            <a:noFill/>
            <a:ln w="9525">
              <a:solidFill>
                <a:schemeClr val="tx1"/>
              </a:solidFill>
              <a:round/>
              <a:headEnd/>
              <a:tailEnd/>
            </a:ln>
          </p:spPr>
          <p:txBody>
            <a:bodyPr/>
            <a:lstStyle/>
            <a:p>
              <a:endParaRPr lang="zh-CN" altLang="en-US"/>
            </a:p>
          </p:txBody>
        </p:sp>
        <p:sp>
          <p:nvSpPr>
            <p:cNvPr id="38981" name="Line 183"/>
            <p:cNvSpPr>
              <a:spLocks noChangeShapeType="1"/>
            </p:cNvSpPr>
            <p:nvPr/>
          </p:nvSpPr>
          <p:spPr bwMode="auto">
            <a:xfrm>
              <a:off x="3718" y="2112"/>
              <a:ext cx="807" cy="0"/>
            </a:xfrm>
            <a:prstGeom prst="line">
              <a:avLst/>
            </a:prstGeom>
            <a:noFill/>
            <a:ln w="9525">
              <a:solidFill>
                <a:schemeClr val="tx1"/>
              </a:solidFill>
              <a:round/>
              <a:headEnd/>
              <a:tailEnd type="triangle" w="sm" len="med"/>
            </a:ln>
          </p:spPr>
          <p:txBody>
            <a:bodyPr/>
            <a:lstStyle/>
            <a:p>
              <a:endParaRPr lang="zh-CN" altLang="en-US"/>
            </a:p>
          </p:txBody>
        </p:sp>
        <p:sp>
          <p:nvSpPr>
            <p:cNvPr id="38982" name="Line 184"/>
            <p:cNvSpPr>
              <a:spLocks noChangeShapeType="1"/>
            </p:cNvSpPr>
            <p:nvPr/>
          </p:nvSpPr>
          <p:spPr bwMode="auto">
            <a:xfrm flipH="1">
              <a:off x="493" y="3581"/>
              <a:ext cx="287" cy="0"/>
            </a:xfrm>
            <a:prstGeom prst="line">
              <a:avLst/>
            </a:prstGeom>
            <a:noFill/>
            <a:ln w="9525">
              <a:solidFill>
                <a:schemeClr val="tx1"/>
              </a:solidFill>
              <a:round/>
              <a:headEnd/>
              <a:tailEnd/>
            </a:ln>
          </p:spPr>
          <p:txBody>
            <a:bodyPr/>
            <a:lstStyle/>
            <a:p>
              <a:endParaRPr lang="zh-CN" altLang="en-US"/>
            </a:p>
          </p:txBody>
        </p:sp>
        <p:sp>
          <p:nvSpPr>
            <p:cNvPr id="38983" name="Line 185"/>
            <p:cNvSpPr>
              <a:spLocks noChangeShapeType="1"/>
            </p:cNvSpPr>
            <p:nvPr/>
          </p:nvSpPr>
          <p:spPr bwMode="auto">
            <a:xfrm flipV="1">
              <a:off x="493" y="2120"/>
              <a:ext cx="0" cy="1461"/>
            </a:xfrm>
            <a:prstGeom prst="line">
              <a:avLst/>
            </a:prstGeom>
            <a:noFill/>
            <a:ln w="9525">
              <a:solidFill>
                <a:schemeClr val="tx1"/>
              </a:solidFill>
              <a:round/>
              <a:headEnd/>
              <a:tailEnd/>
            </a:ln>
          </p:spPr>
          <p:txBody>
            <a:bodyPr/>
            <a:lstStyle/>
            <a:p>
              <a:endParaRPr lang="zh-CN" altLang="en-US"/>
            </a:p>
          </p:txBody>
        </p:sp>
        <p:sp>
          <p:nvSpPr>
            <p:cNvPr id="38984" name="Line 186"/>
            <p:cNvSpPr>
              <a:spLocks noChangeShapeType="1"/>
            </p:cNvSpPr>
            <p:nvPr/>
          </p:nvSpPr>
          <p:spPr bwMode="auto">
            <a:xfrm>
              <a:off x="493" y="2120"/>
              <a:ext cx="804" cy="0"/>
            </a:xfrm>
            <a:prstGeom prst="line">
              <a:avLst/>
            </a:prstGeom>
            <a:noFill/>
            <a:ln w="9525">
              <a:solidFill>
                <a:schemeClr val="tx1"/>
              </a:solidFill>
              <a:round/>
              <a:headEnd/>
              <a:tailEnd type="triangle" w="sm" len="med"/>
            </a:ln>
          </p:spPr>
          <p:txBody>
            <a:bodyPr/>
            <a:lstStyle/>
            <a:p>
              <a:endParaRPr lang="zh-CN" altLang="en-US"/>
            </a:p>
          </p:txBody>
        </p:sp>
        <p:sp>
          <p:nvSpPr>
            <p:cNvPr id="38985" name="Line 187"/>
            <p:cNvSpPr>
              <a:spLocks noChangeShapeType="1"/>
            </p:cNvSpPr>
            <p:nvPr/>
          </p:nvSpPr>
          <p:spPr bwMode="auto">
            <a:xfrm>
              <a:off x="1313" y="3697"/>
              <a:ext cx="0" cy="76"/>
            </a:xfrm>
            <a:prstGeom prst="line">
              <a:avLst/>
            </a:prstGeom>
            <a:noFill/>
            <a:ln w="9525">
              <a:solidFill>
                <a:schemeClr val="tx1"/>
              </a:solidFill>
              <a:round/>
              <a:headEnd/>
              <a:tailEnd/>
            </a:ln>
          </p:spPr>
          <p:txBody>
            <a:bodyPr/>
            <a:lstStyle/>
            <a:p>
              <a:endParaRPr lang="zh-CN" altLang="en-US"/>
            </a:p>
          </p:txBody>
        </p:sp>
        <p:sp>
          <p:nvSpPr>
            <p:cNvPr id="38986" name="Line 188"/>
            <p:cNvSpPr>
              <a:spLocks noChangeShapeType="1"/>
            </p:cNvSpPr>
            <p:nvPr/>
          </p:nvSpPr>
          <p:spPr bwMode="auto">
            <a:xfrm>
              <a:off x="1313" y="3773"/>
              <a:ext cx="1619" cy="0"/>
            </a:xfrm>
            <a:prstGeom prst="line">
              <a:avLst/>
            </a:prstGeom>
            <a:noFill/>
            <a:ln w="9525">
              <a:solidFill>
                <a:schemeClr val="tx1"/>
              </a:solidFill>
              <a:round/>
              <a:headEnd/>
              <a:tailEnd type="triangle" w="sm" len="med"/>
            </a:ln>
          </p:spPr>
          <p:txBody>
            <a:bodyPr/>
            <a:lstStyle/>
            <a:p>
              <a:endParaRPr lang="zh-CN" altLang="en-US"/>
            </a:p>
          </p:txBody>
        </p:sp>
        <p:sp>
          <p:nvSpPr>
            <p:cNvPr id="38987" name="Line 189"/>
            <p:cNvSpPr>
              <a:spLocks noChangeShapeType="1"/>
            </p:cNvSpPr>
            <p:nvPr/>
          </p:nvSpPr>
          <p:spPr bwMode="auto">
            <a:xfrm flipH="1">
              <a:off x="2955" y="3773"/>
              <a:ext cx="1585" cy="0"/>
            </a:xfrm>
            <a:prstGeom prst="line">
              <a:avLst/>
            </a:prstGeom>
            <a:noFill/>
            <a:ln w="9525">
              <a:solidFill>
                <a:schemeClr val="tx1"/>
              </a:solidFill>
              <a:round/>
              <a:headEnd/>
              <a:tailEnd type="triangle" w="sm" len="med"/>
            </a:ln>
          </p:spPr>
          <p:txBody>
            <a:bodyPr/>
            <a:lstStyle/>
            <a:p>
              <a:endParaRPr lang="zh-CN" altLang="en-US"/>
            </a:p>
          </p:txBody>
        </p:sp>
        <p:sp>
          <p:nvSpPr>
            <p:cNvPr id="38988" name="Line 190"/>
            <p:cNvSpPr>
              <a:spLocks noChangeShapeType="1"/>
            </p:cNvSpPr>
            <p:nvPr/>
          </p:nvSpPr>
          <p:spPr bwMode="auto">
            <a:xfrm>
              <a:off x="4556" y="3685"/>
              <a:ext cx="0" cy="88"/>
            </a:xfrm>
            <a:prstGeom prst="line">
              <a:avLst/>
            </a:prstGeom>
            <a:noFill/>
            <a:ln w="9525">
              <a:solidFill>
                <a:schemeClr val="tx1"/>
              </a:solidFill>
              <a:round/>
              <a:headEnd/>
              <a:tailEnd/>
            </a:ln>
          </p:spPr>
          <p:txBody>
            <a:bodyPr/>
            <a:lstStyle/>
            <a:p>
              <a:endParaRPr lang="zh-CN" altLang="en-US"/>
            </a:p>
          </p:txBody>
        </p:sp>
        <p:sp>
          <p:nvSpPr>
            <p:cNvPr id="38989" name="Line 191"/>
            <p:cNvSpPr>
              <a:spLocks noChangeShapeType="1"/>
            </p:cNvSpPr>
            <p:nvPr/>
          </p:nvSpPr>
          <p:spPr bwMode="auto">
            <a:xfrm>
              <a:off x="3632" y="1132"/>
              <a:ext cx="993" cy="0"/>
            </a:xfrm>
            <a:prstGeom prst="line">
              <a:avLst/>
            </a:prstGeom>
            <a:noFill/>
            <a:ln w="9525">
              <a:solidFill>
                <a:schemeClr val="tx1"/>
              </a:solidFill>
              <a:round/>
              <a:headEnd/>
              <a:tailEnd type="triangle" w="sm" len="med"/>
            </a:ln>
          </p:spPr>
          <p:txBody>
            <a:bodyPr/>
            <a:lstStyle/>
            <a:p>
              <a:endParaRPr lang="zh-CN" altLang="en-US"/>
            </a:p>
          </p:txBody>
        </p:sp>
        <p:sp>
          <p:nvSpPr>
            <p:cNvPr id="38990" name="Line 192"/>
            <p:cNvSpPr>
              <a:spLocks noChangeShapeType="1"/>
            </p:cNvSpPr>
            <p:nvPr/>
          </p:nvSpPr>
          <p:spPr bwMode="auto">
            <a:xfrm>
              <a:off x="4952" y="1204"/>
              <a:ext cx="0" cy="154"/>
            </a:xfrm>
            <a:prstGeom prst="line">
              <a:avLst/>
            </a:prstGeom>
            <a:noFill/>
            <a:ln w="9525">
              <a:solidFill>
                <a:schemeClr val="tx1"/>
              </a:solidFill>
              <a:round/>
              <a:headEnd/>
              <a:tailEnd type="triangle" w="sm" len="sm"/>
            </a:ln>
          </p:spPr>
          <p:txBody>
            <a:bodyPr/>
            <a:lstStyle/>
            <a:p>
              <a:endParaRPr lang="zh-CN" altLang="en-US"/>
            </a:p>
          </p:txBody>
        </p:sp>
        <p:sp>
          <p:nvSpPr>
            <p:cNvPr id="38991" name="Text Box 193"/>
            <p:cNvSpPr txBox="1">
              <a:spLocks noChangeArrowheads="1"/>
            </p:cNvSpPr>
            <p:nvPr/>
          </p:nvSpPr>
          <p:spPr bwMode="auto">
            <a:xfrm>
              <a:off x="3574" y="951"/>
              <a:ext cx="208" cy="212"/>
            </a:xfrm>
            <a:prstGeom prst="rect">
              <a:avLst/>
            </a:prstGeom>
            <a:noFill/>
            <a:ln w="9525">
              <a:noFill/>
              <a:miter lim="800000"/>
              <a:headEnd/>
              <a:tailEnd/>
            </a:ln>
          </p:spPr>
          <p:txBody>
            <a:bodyPr wrap="none">
              <a:spAutoFit/>
            </a:bodyPr>
            <a:lstStyle/>
            <a:p>
              <a:pPr algn="ctr"/>
              <a:r>
                <a:rPr kumimoji="1" lang="en-US" altLang="zh-CN" sz="1600" b="1">
                  <a:latin typeface="Times New Roman" pitchFamily="18" charset="0"/>
                  <a:ea typeface="宋体" charset="-122"/>
                </a:rPr>
                <a:t>Y</a:t>
              </a:r>
            </a:p>
          </p:txBody>
        </p:sp>
        <p:sp>
          <p:nvSpPr>
            <p:cNvPr id="38992" name="Text Box 194"/>
            <p:cNvSpPr txBox="1">
              <a:spLocks noChangeArrowheads="1"/>
            </p:cNvSpPr>
            <p:nvPr/>
          </p:nvSpPr>
          <p:spPr bwMode="auto">
            <a:xfrm>
              <a:off x="2926" y="1199"/>
              <a:ext cx="208" cy="212"/>
            </a:xfrm>
            <a:prstGeom prst="rect">
              <a:avLst/>
            </a:prstGeom>
            <a:noFill/>
            <a:ln w="9525">
              <a:noFill/>
              <a:miter lim="800000"/>
              <a:headEnd/>
              <a:tailEnd/>
            </a:ln>
          </p:spPr>
          <p:txBody>
            <a:bodyPr wrap="none">
              <a:spAutoFit/>
            </a:bodyPr>
            <a:lstStyle/>
            <a:p>
              <a:pPr algn="ctr"/>
              <a:r>
                <a:rPr kumimoji="1" lang="en-US" altLang="zh-CN" sz="1600" b="1">
                  <a:latin typeface="Times New Roman" pitchFamily="18" charset="0"/>
                  <a:ea typeface="宋体" charset="-122"/>
                </a:rPr>
                <a:t>N</a:t>
              </a:r>
            </a:p>
          </p:txBody>
        </p:sp>
        <p:sp>
          <p:nvSpPr>
            <p:cNvPr id="38993" name="Text Box 195"/>
            <p:cNvSpPr txBox="1">
              <a:spLocks noChangeArrowheads="1"/>
            </p:cNvSpPr>
            <p:nvPr/>
          </p:nvSpPr>
          <p:spPr bwMode="auto">
            <a:xfrm>
              <a:off x="2995" y="3635"/>
              <a:ext cx="208" cy="212"/>
            </a:xfrm>
            <a:prstGeom prst="rect">
              <a:avLst/>
            </a:prstGeom>
            <a:noFill/>
            <a:ln w="9525">
              <a:noFill/>
              <a:miter lim="800000"/>
              <a:headEnd/>
              <a:tailEnd/>
            </a:ln>
          </p:spPr>
          <p:txBody>
            <a:bodyPr wrap="none">
              <a:spAutoFit/>
            </a:bodyPr>
            <a:lstStyle/>
            <a:p>
              <a:pPr algn="ctr"/>
              <a:r>
                <a:rPr kumimoji="1" lang="en-US" altLang="zh-CN" sz="1600" b="1">
                  <a:latin typeface="Times New Roman" pitchFamily="18" charset="0"/>
                  <a:ea typeface="宋体" charset="-122"/>
                </a:rPr>
                <a:t>Y</a:t>
              </a:r>
            </a:p>
          </p:txBody>
        </p:sp>
        <p:sp>
          <p:nvSpPr>
            <p:cNvPr id="38994" name="Text Box 196"/>
            <p:cNvSpPr txBox="1">
              <a:spLocks noChangeArrowheads="1"/>
            </p:cNvSpPr>
            <p:nvPr/>
          </p:nvSpPr>
          <p:spPr bwMode="auto">
            <a:xfrm>
              <a:off x="4585" y="3659"/>
              <a:ext cx="208" cy="212"/>
            </a:xfrm>
            <a:prstGeom prst="rect">
              <a:avLst/>
            </a:prstGeom>
            <a:noFill/>
            <a:ln w="9525">
              <a:noFill/>
              <a:miter lim="800000"/>
              <a:headEnd/>
              <a:tailEnd/>
            </a:ln>
          </p:spPr>
          <p:txBody>
            <a:bodyPr wrap="none">
              <a:spAutoFit/>
            </a:bodyPr>
            <a:lstStyle/>
            <a:p>
              <a:pPr algn="ctr"/>
              <a:r>
                <a:rPr kumimoji="1" lang="en-US" altLang="zh-CN" sz="1600" b="1">
                  <a:latin typeface="Times New Roman" pitchFamily="18" charset="0"/>
                  <a:ea typeface="宋体" charset="-122"/>
                </a:rPr>
                <a:t>Y</a:t>
              </a:r>
            </a:p>
          </p:txBody>
        </p:sp>
        <p:sp>
          <p:nvSpPr>
            <p:cNvPr id="38995" name="Text Box 197"/>
            <p:cNvSpPr txBox="1">
              <a:spLocks noChangeArrowheads="1"/>
            </p:cNvSpPr>
            <p:nvPr/>
          </p:nvSpPr>
          <p:spPr bwMode="auto">
            <a:xfrm>
              <a:off x="1152" y="3659"/>
              <a:ext cx="208" cy="212"/>
            </a:xfrm>
            <a:prstGeom prst="rect">
              <a:avLst/>
            </a:prstGeom>
            <a:noFill/>
            <a:ln w="9525">
              <a:noFill/>
              <a:miter lim="800000"/>
              <a:headEnd/>
              <a:tailEnd/>
            </a:ln>
          </p:spPr>
          <p:txBody>
            <a:bodyPr wrap="none">
              <a:spAutoFit/>
            </a:bodyPr>
            <a:lstStyle/>
            <a:p>
              <a:pPr algn="ctr"/>
              <a:r>
                <a:rPr kumimoji="1" lang="en-US" altLang="zh-CN" sz="1600" b="1">
                  <a:latin typeface="Times New Roman" pitchFamily="18" charset="0"/>
                  <a:ea typeface="宋体" charset="-122"/>
                </a:rPr>
                <a:t>Y</a:t>
              </a:r>
            </a:p>
          </p:txBody>
        </p:sp>
        <p:sp>
          <p:nvSpPr>
            <p:cNvPr id="38996" name="Text Box 198"/>
            <p:cNvSpPr txBox="1">
              <a:spLocks noChangeArrowheads="1"/>
            </p:cNvSpPr>
            <p:nvPr/>
          </p:nvSpPr>
          <p:spPr bwMode="auto">
            <a:xfrm>
              <a:off x="672" y="3395"/>
              <a:ext cx="208" cy="212"/>
            </a:xfrm>
            <a:prstGeom prst="rect">
              <a:avLst/>
            </a:prstGeom>
            <a:noFill/>
            <a:ln w="9525">
              <a:noFill/>
              <a:miter lim="800000"/>
              <a:headEnd/>
              <a:tailEnd/>
            </a:ln>
          </p:spPr>
          <p:txBody>
            <a:bodyPr wrap="none">
              <a:spAutoFit/>
            </a:bodyPr>
            <a:lstStyle/>
            <a:p>
              <a:pPr algn="ctr"/>
              <a:r>
                <a:rPr kumimoji="1" lang="en-US" altLang="zh-CN" sz="1600" b="1">
                  <a:latin typeface="Times New Roman" pitchFamily="18" charset="0"/>
                  <a:ea typeface="宋体" charset="-122"/>
                </a:rPr>
                <a:t>N</a:t>
              </a:r>
            </a:p>
          </p:txBody>
        </p:sp>
        <p:sp>
          <p:nvSpPr>
            <p:cNvPr id="38997" name="Text Box 199"/>
            <p:cNvSpPr txBox="1">
              <a:spLocks noChangeArrowheads="1"/>
            </p:cNvSpPr>
            <p:nvPr/>
          </p:nvSpPr>
          <p:spPr bwMode="auto">
            <a:xfrm>
              <a:off x="2297" y="3403"/>
              <a:ext cx="208" cy="212"/>
            </a:xfrm>
            <a:prstGeom prst="rect">
              <a:avLst/>
            </a:prstGeom>
            <a:noFill/>
            <a:ln w="9525">
              <a:noFill/>
              <a:miter lim="800000"/>
              <a:headEnd/>
              <a:tailEnd/>
            </a:ln>
          </p:spPr>
          <p:txBody>
            <a:bodyPr wrap="none">
              <a:spAutoFit/>
            </a:bodyPr>
            <a:lstStyle/>
            <a:p>
              <a:pPr algn="ctr"/>
              <a:r>
                <a:rPr kumimoji="1" lang="en-US" altLang="zh-CN" sz="1600" b="1">
                  <a:latin typeface="Times New Roman" pitchFamily="18" charset="0"/>
                  <a:ea typeface="宋体" charset="-122"/>
                </a:rPr>
                <a:t>N</a:t>
              </a:r>
            </a:p>
          </p:txBody>
        </p:sp>
        <p:sp>
          <p:nvSpPr>
            <p:cNvPr id="38998" name="Text Box 200"/>
            <p:cNvSpPr txBox="1">
              <a:spLocks noChangeArrowheads="1"/>
            </p:cNvSpPr>
            <p:nvPr/>
          </p:nvSpPr>
          <p:spPr bwMode="auto">
            <a:xfrm>
              <a:off x="3773" y="3403"/>
              <a:ext cx="208" cy="212"/>
            </a:xfrm>
            <a:prstGeom prst="rect">
              <a:avLst/>
            </a:prstGeom>
            <a:noFill/>
            <a:ln w="9525">
              <a:noFill/>
              <a:miter lim="800000"/>
              <a:headEnd/>
              <a:tailEnd/>
            </a:ln>
          </p:spPr>
          <p:txBody>
            <a:bodyPr wrap="none">
              <a:spAutoFit/>
            </a:bodyPr>
            <a:lstStyle/>
            <a:p>
              <a:pPr algn="ctr"/>
              <a:r>
                <a:rPr kumimoji="1" lang="en-US" altLang="zh-CN" sz="1600" b="1">
                  <a:latin typeface="Times New Roman" pitchFamily="18" charset="0"/>
                  <a:ea typeface="宋体" charset="-122"/>
                </a:rPr>
                <a:t>N</a:t>
              </a:r>
            </a:p>
          </p:txBody>
        </p:sp>
        <p:sp>
          <p:nvSpPr>
            <p:cNvPr id="38999" name="Text Box 201"/>
            <p:cNvSpPr txBox="1">
              <a:spLocks noChangeArrowheads="1"/>
            </p:cNvSpPr>
            <p:nvPr/>
          </p:nvSpPr>
          <p:spPr bwMode="auto">
            <a:xfrm>
              <a:off x="2938" y="1698"/>
              <a:ext cx="226" cy="212"/>
            </a:xfrm>
            <a:prstGeom prst="rect">
              <a:avLst/>
            </a:prstGeom>
            <a:noFill/>
            <a:ln w="9525">
              <a:noFill/>
              <a:miter lim="800000"/>
              <a:headEnd/>
              <a:tailEnd/>
            </a:ln>
          </p:spPr>
          <p:txBody>
            <a:bodyPr wrap="none">
              <a:spAutoFit/>
            </a:bodyPr>
            <a:lstStyle/>
            <a:p>
              <a:pPr algn="ctr"/>
              <a:r>
                <a:rPr kumimoji="1" lang="en-US" altLang="zh-CN" sz="1600" b="1">
                  <a:latin typeface="Times New Roman" pitchFamily="18" charset="0"/>
                  <a:ea typeface="宋体" charset="-122"/>
                </a:rPr>
                <a:t>p</a:t>
              </a:r>
              <a:r>
                <a:rPr kumimoji="1" lang="en-US" altLang="zh-CN" sz="1600" b="1" baseline="-25000">
                  <a:latin typeface="Times New Roman" pitchFamily="18" charset="0"/>
                  <a:ea typeface="宋体" charset="-122"/>
                </a:rPr>
                <a:t>c</a:t>
              </a:r>
              <a:endParaRPr kumimoji="1" lang="en-US" altLang="zh-CN" sz="1600" b="1">
                <a:latin typeface="Times New Roman" pitchFamily="18" charset="0"/>
                <a:ea typeface="宋体" charset="-122"/>
              </a:endParaRPr>
            </a:p>
          </p:txBody>
        </p:sp>
        <p:sp>
          <p:nvSpPr>
            <p:cNvPr id="39000" name="Text Box 202"/>
            <p:cNvSpPr txBox="1">
              <a:spLocks noChangeArrowheads="1"/>
            </p:cNvSpPr>
            <p:nvPr/>
          </p:nvSpPr>
          <p:spPr bwMode="auto">
            <a:xfrm>
              <a:off x="3969" y="1490"/>
              <a:ext cx="260" cy="212"/>
            </a:xfrm>
            <a:prstGeom prst="rect">
              <a:avLst/>
            </a:prstGeom>
            <a:noFill/>
            <a:ln w="9525">
              <a:noFill/>
              <a:miter lim="800000"/>
              <a:headEnd/>
              <a:tailEnd/>
            </a:ln>
          </p:spPr>
          <p:txBody>
            <a:bodyPr wrap="none">
              <a:spAutoFit/>
            </a:bodyPr>
            <a:lstStyle/>
            <a:p>
              <a:pPr algn="ctr"/>
              <a:r>
                <a:rPr kumimoji="1" lang="en-US" altLang="zh-CN" sz="1600" b="1">
                  <a:latin typeface="Times New Roman" pitchFamily="18" charset="0"/>
                  <a:ea typeface="宋体" charset="-122"/>
                </a:rPr>
                <a:t>p</a:t>
              </a:r>
              <a:r>
                <a:rPr kumimoji="1" lang="en-US" altLang="zh-CN" sz="1600" b="1" baseline="-25000">
                  <a:latin typeface="Times New Roman" pitchFamily="18" charset="0"/>
                  <a:ea typeface="宋体" charset="-122"/>
                </a:rPr>
                <a:t>m</a:t>
              </a:r>
              <a:endParaRPr kumimoji="1" lang="en-US" altLang="zh-CN" sz="1600" b="1">
                <a:latin typeface="Times New Roman" pitchFamily="18" charset="0"/>
                <a:ea typeface="宋体" charset="-122"/>
              </a:endParaRPr>
            </a:p>
          </p:txBody>
        </p:sp>
      </p:grpSp>
    </p:spTree>
  </p:cSld>
  <p:clrMapOvr>
    <a:masterClrMapping/>
  </p:clrMapOvr>
  <p:transition/>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7650" name="Picture 2"/>
          <p:cNvPicPr>
            <a:picLocks noChangeAspect="1" noChangeArrowheads="1"/>
          </p:cNvPicPr>
          <p:nvPr/>
        </p:nvPicPr>
        <p:blipFill>
          <a:blip r:embed="rId2" cstate="print"/>
          <a:srcRect/>
          <a:stretch>
            <a:fillRect/>
          </a:stretch>
        </p:blipFill>
        <p:spPr bwMode="auto">
          <a:xfrm>
            <a:off x="1143000" y="1600200"/>
            <a:ext cx="6697133" cy="3200400"/>
          </a:xfrm>
          <a:prstGeom prst="rect">
            <a:avLst/>
          </a:prstGeom>
          <a:noFill/>
          <a:ln w="9525">
            <a:noFill/>
            <a:miter lim="800000"/>
            <a:headEnd/>
            <a:tailEnd/>
          </a:ln>
        </p:spPr>
      </p:pic>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7042" name="Text Box 2"/>
          <p:cNvSpPr txBox="1">
            <a:spLocks noChangeArrowheads="1"/>
          </p:cNvSpPr>
          <p:nvPr/>
        </p:nvSpPr>
        <p:spPr bwMode="auto">
          <a:xfrm>
            <a:off x="395288" y="1412875"/>
            <a:ext cx="7632700" cy="1041400"/>
          </a:xfrm>
          <a:prstGeom prst="rect">
            <a:avLst/>
          </a:prstGeom>
          <a:noFill/>
          <a:ln w="9525">
            <a:noFill/>
            <a:miter lim="800000"/>
            <a:headEnd/>
            <a:tailEnd/>
          </a:ln>
        </p:spPr>
        <p:txBody>
          <a:bodyPr>
            <a:spAutoFit/>
          </a:bodyPr>
          <a:lstStyle/>
          <a:p>
            <a:pPr algn="just">
              <a:lnSpc>
                <a:spcPct val="130000"/>
              </a:lnSpc>
              <a:spcBef>
                <a:spcPct val="50000"/>
              </a:spcBef>
            </a:pPr>
            <a:r>
              <a:rPr kumimoji="1" lang="zh-CN" altLang="en-US" sz="2400">
                <a:latin typeface="Times New Roman" pitchFamily="18" charset="0"/>
                <a:ea typeface="宋体" charset="-122"/>
              </a:rPr>
              <a:t>　　</a:t>
            </a:r>
            <a:r>
              <a:rPr kumimoji="1" lang="zh-CN" altLang="en-US" sz="2400" b="1">
                <a:latin typeface="Times New Roman" pitchFamily="18" charset="0"/>
                <a:ea typeface="黑体" pitchFamily="2" charset="-122"/>
              </a:rPr>
              <a:t>例</a:t>
            </a:r>
            <a:r>
              <a:rPr kumimoji="1" lang="en-US" altLang="zh-CN" sz="2400" b="1">
                <a:latin typeface="Times New Roman" pitchFamily="18" charset="0"/>
                <a:ea typeface="黑体" pitchFamily="2" charset="-122"/>
              </a:rPr>
              <a:t>1 </a:t>
            </a:r>
            <a:r>
              <a:rPr kumimoji="1" lang="zh-CN" altLang="en-US" sz="2400" b="1">
                <a:latin typeface="Times New Roman" pitchFamily="18" charset="0"/>
                <a:ea typeface="黑体" pitchFamily="2" charset="-122"/>
              </a:rPr>
              <a:t>利用遗传算法求解区间［</a:t>
            </a:r>
            <a:r>
              <a:rPr kumimoji="1" lang="en-US" altLang="zh-CN" sz="2400" b="1">
                <a:latin typeface="Times New Roman" pitchFamily="18" charset="0"/>
                <a:ea typeface="黑体" pitchFamily="2" charset="-122"/>
              </a:rPr>
              <a:t>0,31</a:t>
            </a:r>
            <a:r>
              <a:rPr kumimoji="1" lang="zh-CN" altLang="en-US" sz="2400" b="1">
                <a:latin typeface="Times New Roman" pitchFamily="18" charset="0"/>
                <a:ea typeface="黑体" pitchFamily="2" charset="-122"/>
              </a:rPr>
              <a:t>］上的二次函数</a:t>
            </a:r>
            <a:r>
              <a:rPr kumimoji="1" lang="en-US" altLang="zh-CN" sz="2400" b="1">
                <a:latin typeface="Times New Roman" pitchFamily="18" charset="0"/>
                <a:ea typeface="黑体" pitchFamily="2" charset="-122"/>
              </a:rPr>
              <a:t>y=x</a:t>
            </a:r>
            <a:r>
              <a:rPr kumimoji="1" lang="en-US" altLang="zh-CN" sz="2400" b="1" baseline="30000">
                <a:latin typeface="Times New Roman" pitchFamily="18" charset="0"/>
                <a:ea typeface="黑体" pitchFamily="2" charset="-122"/>
              </a:rPr>
              <a:t>2</a:t>
            </a:r>
            <a:r>
              <a:rPr kumimoji="1" lang="zh-CN" altLang="en-US" sz="2400" b="1">
                <a:latin typeface="Times New Roman" pitchFamily="18" charset="0"/>
                <a:ea typeface="黑体" pitchFamily="2" charset="-122"/>
              </a:rPr>
              <a:t>的最大值，精度要求达到个位。</a:t>
            </a:r>
            <a:r>
              <a:rPr kumimoji="1" lang="zh-CN" altLang="en-US" sz="2400">
                <a:latin typeface="Times New Roman" pitchFamily="18" charset="0"/>
                <a:ea typeface="宋体" charset="-122"/>
              </a:rPr>
              <a:t>　　</a:t>
            </a:r>
          </a:p>
        </p:txBody>
      </p:sp>
      <p:grpSp>
        <p:nvGrpSpPr>
          <p:cNvPr id="2" name="Group 3"/>
          <p:cNvGrpSpPr>
            <a:grpSpLocks/>
          </p:cNvGrpSpPr>
          <p:nvPr/>
        </p:nvGrpSpPr>
        <p:grpSpPr bwMode="auto">
          <a:xfrm>
            <a:off x="2376488" y="2632075"/>
            <a:ext cx="3959225" cy="2549525"/>
            <a:chOff x="2381" y="1661"/>
            <a:chExt cx="2494" cy="1606"/>
          </a:xfrm>
        </p:grpSpPr>
        <p:sp>
          <p:nvSpPr>
            <p:cNvPr id="39941" name="Text Box 4"/>
            <p:cNvSpPr txBox="1">
              <a:spLocks noChangeArrowheads="1"/>
            </p:cNvSpPr>
            <p:nvPr/>
          </p:nvSpPr>
          <p:spPr bwMode="auto">
            <a:xfrm>
              <a:off x="3606" y="2024"/>
              <a:ext cx="499" cy="288"/>
            </a:xfrm>
            <a:prstGeom prst="rect">
              <a:avLst/>
            </a:prstGeom>
            <a:noFill/>
            <a:ln w="9525">
              <a:noFill/>
              <a:miter lim="800000"/>
              <a:headEnd/>
              <a:tailEnd/>
            </a:ln>
          </p:spPr>
          <p:txBody>
            <a:bodyPr>
              <a:spAutoFit/>
            </a:bodyPr>
            <a:lstStyle/>
            <a:p>
              <a:pPr>
                <a:spcBef>
                  <a:spcPct val="50000"/>
                </a:spcBef>
              </a:pPr>
              <a:r>
                <a:rPr kumimoji="1" lang="en-US" altLang="zh-CN" sz="2400" i="1">
                  <a:latin typeface="Times New Roman" pitchFamily="18" charset="0"/>
                  <a:ea typeface="宋体" charset="-122"/>
                </a:rPr>
                <a:t>y</a:t>
              </a:r>
              <a:r>
                <a:rPr kumimoji="1" lang="en-US" altLang="zh-CN" sz="2400">
                  <a:latin typeface="Times New Roman" pitchFamily="18" charset="0"/>
                  <a:ea typeface="宋体" charset="-122"/>
                </a:rPr>
                <a:t>=</a:t>
              </a:r>
              <a:r>
                <a:rPr kumimoji="1" lang="en-US" altLang="zh-CN" sz="2400" i="1">
                  <a:latin typeface="Times New Roman" pitchFamily="18" charset="0"/>
                  <a:ea typeface="宋体" charset="-122"/>
                </a:rPr>
                <a:t>x</a:t>
              </a:r>
              <a:r>
                <a:rPr kumimoji="1" lang="en-US" altLang="zh-CN" sz="2400" baseline="30000">
                  <a:latin typeface="Times New Roman" pitchFamily="18" charset="0"/>
                  <a:ea typeface="宋体" charset="-122"/>
                </a:rPr>
                <a:t>2</a:t>
              </a:r>
            </a:p>
          </p:txBody>
        </p:sp>
        <p:sp>
          <p:nvSpPr>
            <p:cNvPr id="39942" name="Line 5"/>
            <p:cNvSpPr>
              <a:spLocks noChangeShapeType="1"/>
            </p:cNvSpPr>
            <p:nvPr/>
          </p:nvSpPr>
          <p:spPr bwMode="auto">
            <a:xfrm flipV="1">
              <a:off x="2381" y="2988"/>
              <a:ext cx="2267" cy="0"/>
            </a:xfrm>
            <a:prstGeom prst="line">
              <a:avLst/>
            </a:prstGeom>
            <a:noFill/>
            <a:ln w="9525">
              <a:solidFill>
                <a:schemeClr val="tx1"/>
              </a:solidFill>
              <a:round/>
              <a:headEnd/>
              <a:tailEnd type="triangle" w="sm" len="lg"/>
            </a:ln>
          </p:spPr>
          <p:txBody>
            <a:bodyPr/>
            <a:lstStyle/>
            <a:p>
              <a:endParaRPr lang="zh-CN" altLang="en-US"/>
            </a:p>
          </p:txBody>
        </p:sp>
        <p:sp>
          <p:nvSpPr>
            <p:cNvPr id="39943" name="Text Box 6"/>
            <p:cNvSpPr txBox="1">
              <a:spLocks noChangeArrowheads="1"/>
            </p:cNvSpPr>
            <p:nvPr/>
          </p:nvSpPr>
          <p:spPr bwMode="auto">
            <a:xfrm>
              <a:off x="3967" y="2998"/>
              <a:ext cx="908" cy="250"/>
            </a:xfrm>
            <a:prstGeom prst="rect">
              <a:avLst/>
            </a:prstGeom>
            <a:noFill/>
            <a:ln w="9525">
              <a:noFill/>
              <a:miter lim="800000"/>
              <a:headEnd/>
              <a:tailEnd/>
            </a:ln>
          </p:spPr>
          <p:txBody>
            <a:bodyPr>
              <a:spAutoFit/>
            </a:bodyPr>
            <a:lstStyle/>
            <a:p>
              <a:pPr>
                <a:spcBef>
                  <a:spcPct val="50000"/>
                </a:spcBef>
              </a:pPr>
              <a:r>
                <a:rPr lang="zh-CN" altLang="en-US">
                  <a:ea typeface="宋体" charset="-122"/>
                </a:rPr>
                <a:t>  </a:t>
              </a:r>
              <a:r>
                <a:rPr lang="en-US" altLang="zh-CN" sz="2000">
                  <a:latin typeface="Times New Roman" pitchFamily="18" charset="0"/>
                  <a:ea typeface="宋体" charset="-122"/>
                </a:rPr>
                <a:t>31</a:t>
              </a:r>
              <a:r>
                <a:rPr lang="en-US" altLang="zh-CN">
                  <a:ea typeface="宋体" charset="-122"/>
                </a:rPr>
                <a:t>       </a:t>
              </a:r>
              <a:r>
                <a:rPr lang="en-US" altLang="zh-CN" i="1">
                  <a:latin typeface="Times New Roman" pitchFamily="18" charset="0"/>
                  <a:ea typeface="宋体" charset="-122"/>
                </a:rPr>
                <a:t> </a:t>
              </a:r>
              <a:r>
                <a:rPr lang="en-US" altLang="zh-CN" sz="2000" i="1">
                  <a:latin typeface="Times New Roman" pitchFamily="18" charset="0"/>
                  <a:ea typeface="宋体" charset="-122"/>
                </a:rPr>
                <a:t>X</a:t>
              </a:r>
            </a:p>
          </p:txBody>
        </p:sp>
        <p:sp>
          <p:nvSpPr>
            <p:cNvPr id="39944" name="Text Box 7"/>
            <p:cNvSpPr txBox="1">
              <a:spLocks noChangeArrowheads="1"/>
            </p:cNvSpPr>
            <p:nvPr/>
          </p:nvSpPr>
          <p:spPr bwMode="auto">
            <a:xfrm>
              <a:off x="2426" y="1665"/>
              <a:ext cx="181" cy="250"/>
            </a:xfrm>
            <a:prstGeom prst="rect">
              <a:avLst/>
            </a:prstGeom>
            <a:noFill/>
            <a:ln w="9525">
              <a:noFill/>
              <a:miter lim="800000"/>
              <a:headEnd/>
              <a:tailEnd/>
            </a:ln>
          </p:spPr>
          <p:txBody>
            <a:bodyPr>
              <a:spAutoFit/>
            </a:bodyPr>
            <a:lstStyle/>
            <a:p>
              <a:pPr>
                <a:spcBef>
                  <a:spcPct val="50000"/>
                </a:spcBef>
              </a:pPr>
              <a:r>
                <a:rPr lang="en-US" altLang="zh-CN" sz="2000" i="1">
                  <a:latin typeface="Times New Roman" pitchFamily="18" charset="0"/>
                  <a:ea typeface="宋体" charset="-122"/>
                </a:rPr>
                <a:t>Y</a:t>
              </a:r>
            </a:p>
          </p:txBody>
        </p:sp>
        <p:sp>
          <p:nvSpPr>
            <p:cNvPr id="39945" name="Line 8"/>
            <p:cNvSpPr>
              <a:spLocks noChangeShapeType="1"/>
            </p:cNvSpPr>
            <p:nvPr/>
          </p:nvSpPr>
          <p:spPr bwMode="auto">
            <a:xfrm flipV="1">
              <a:off x="2653" y="1680"/>
              <a:ext cx="0" cy="1587"/>
            </a:xfrm>
            <a:prstGeom prst="line">
              <a:avLst/>
            </a:prstGeom>
            <a:noFill/>
            <a:ln w="9525">
              <a:solidFill>
                <a:schemeClr val="tx1"/>
              </a:solidFill>
              <a:round/>
              <a:headEnd/>
              <a:tailEnd type="triangle" w="sm" len="lg"/>
            </a:ln>
          </p:spPr>
          <p:txBody>
            <a:bodyPr/>
            <a:lstStyle/>
            <a:p>
              <a:endParaRPr lang="zh-CN" altLang="en-US"/>
            </a:p>
          </p:txBody>
        </p:sp>
        <p:sp>
          <p:nvSpPr>
            <p:cNvPr id="39946" name="Arc 9"/>
            <p:cNvSpPr>
              <a:spLocks/>
            </p:cNvSpPr>
            <p:nvPr/>
          </p:nvSpPr>
          <p:spPr bwMode="auto">
            <a:xfrm flipV="1">
              <a:off x="2653" y="1661"/>
              <a:ext cx="1542" cy="1315"/>
            </a:xfrm>
            <a:custGeom>
              <a:avLst/>
              <a:gdLst>
                <a:gd name="T0" fmla="*/ 0 w 20978"/>
                <a:gd name="T1" fmla="*/ 0 h 21600"/>
                <a:gd name="T2" fmla="*/ 0 w 20978"/>
                <a:gd name="T3" fmla="*/ 0 h 21600"/>
                <a:gd name="T4" fmla="*/ 0 w 20978"/>
                <a:gd name="T5" fmla="*/ 0 h 21600"/>
                <a:gd name="T6" fmla="*/ 0 60000 65536"/>
                <a:gd name="T7" fmla="*/ 0 60000 65536"/>
                <a:gd name="T8" fmla="*/ 0 60000 65536"/>
                <a:gd name="T9" fmla="*/ 0 w 20978"/>
                <a:gd name="T10" fmla="*/ 0 h 21600"/>
                <a:gd name="T11" fmla="*/ 20978 w 20978"/>
                <a:gd name="T12" fmla="*/ 21600 h 21600"/>
              </a:gdLst>
              <a:ahLst/>
              <a:cxnLst>
                <a:cxn ang="T6">
                  <a:pos x="T0" y="T1"/>
                </a:cxn>
                <a:cxn ang="T7">
                  <a:pos x="T2" y="T3"/>
                </a:cxn>
                <a:cxn ang="T8">
                  <a:pos x="T4" y="T5"/>
                </a:cxn>
              </a:cxnLst>
              <a:rect l="T9" t="T10" r="T11" b="T12"/>
              <a:pathLst>
                <a:path w="20978" h="21600" fill="none" extrusionOk="0">
                  <a:moveTo>
                    <a:pt x="-1" y="0"/>
                  </a:moveTo>
                  <a:cubicBezTo>
                    <a:pt x="9947" y="0"/>
                    <a:pt x="18608" y="6793"/>
                    <a:pt x="20978" y="16453"/>
                  </a:cubicBezTo>
                </a:path>
                <a:path w="20978" h="21600" stroke="0" extrusionOk="0">
                  <a:moveTo>
                    <a:pt x="-1" y="0"/>
                  </a:moveTo>
                  <a:cubicBezTo>
                    <a:pt x="9947" y="0"/>
                    <a:pt x="18608" y="6793"/>
                    <a:pt x="20978" y="16453"/>
                  </a:cubicBezTo>
                  <a:lnTo>
                    <a:pt x="0" y="21600"/>
                  </a:lnTo>
                  <a:close/>
                </a:path>
              </a:pathLst>
            </a:custGeom>
            <a:noFill/>
            <a:ln w="28575">
              <a:solidFill>
                <a:schemeClr val="tx1"/>
              </a:solidFill>
              <a:round/>
              <a:headEnd/>
              <a:tailEnd/>
            </a:ln>
          </p:spPr>
          <p:txBody>
            <a:bodyPr wrap="none" anchor="ctr"/>
            <a:lstStyle/>
            <a:p>
              <a:endParaRPr lang="zh-CN" altLang="en-US"/>
            </a:p>
          </p:txBody>
        </p:sp>
        <p:sp>
          <p:nvSpPr>
            <p:cNvPr id="39947" name="Line 10"/>
            <p:cNvSpPr>
              <a:spLocks noChangeShapeType="1"/>
            </p:cNvSpPr>
            <p:nvPr/>
          </p:nvSpPr>
          <p:spPr bwMode="auto">
            <a:xfrm>
              <a:off x="4195" y="1979"/>
              <a:ext cx="0" cy="997"/>
            </a:xfrm>
            <a:prstGeom prst="line">
              <a:avLst/>
            </a:prstGeom>
            <a:noFill/>
            <a:ln w="9525">
              <a:solidFill>
                <a:schemeClr val="tx1"/>
              </a:solidFill>
              <a:prstDash val="dash"/>
              <a:round/>
              <a:headEnd/>
              <a:tailEnd/>
            </a:ln>
          </p:spPr>
          <p:txBody>
            <a:bodyPr/>
            <a:lstStyle/>
            <a:p>
              <a:endParaRPr lang="zh-CN" altLang="en-US"/>
            </a:p>
          </p:txBody>
        </p:sp>
      </p:grpSp>
      <p:sp>
        <p:nvSpPr>
          <p:cNvPr id="39940" name="Rectangle 11"/>
          <p:cNvSpPr>
            <a:spLocks noChangeArrowheads="1"/>
          </p:cNvSpPr>
          <p:nvPr/>
        </p:nvSpPr>
        <p:spPr bwMode="auto">
          <a:xfrm>
            <a:off x="762000" y="501650"/>
            <a:ext cx="7435850" cy="641350"/>
          </a:xfrm>
          <a:prstGeom prst="rect">
            <a:avLst/>
          </a:prstGeom>
          <a:noFill/>
          <a:ln w="9525">
            <a:noFill/>
            <a:miter lim="800000"/>
            <a:headEnd/>
            <a:tailEnd/>
          </a:ln>
        </p:spPr>
        <p:txBody>
          <a:bodyPr>
            <a:spAutoFit/>
          </a:bodyPr>
          <a:lstStyle/>
          <a:p>
            <a:pPr algn="ctr"/>
            <a:r>
              <a:rPr lang="zh-CN" altLang="en-US" sz="3600" b="1" dirty="0" smtClean="0">
                <a:solidFill>
                  <a:srgbClr val="CC6600"/>
                </a:solidFill>
                <a:latin typeface="Verdana" pitchFamily="34" charset="0"/>
                <a:ea typeface="宋体" charset="-122"/>
              </a:rPr>
              <a:t>遗传</a:t>
            </a:r>
            <a:r>
              <a:rPr lang="zh-CN" altLang="en-US" sz="3600" b="1" dirty="0">
                <a:solidFill>
                  <a:srgbClr val="CC6600"/>
                </a:solidFill>
                <a:latin typeface="Verdana" pitchFamily="34" charset="0"/>
                <a:ea typeface="宋体" charset="-122"/>
              </a:rPr>
              <a:t>算法简单举例：函数极值</a:t>
            </a:r>
            <a:endParaRPr lang="en-US" altLang="zh-CN" sz="3600" b="1" dirty="0">
              <a:solidFill>
                <a:srgbClr val="CC6600"/>
              </a:solidFill>
              <a:latin typeface="Verdana" pitchFamily="34" charset="0"/>
              <a:ea typeface="宋体" charset="-122"/>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87042">
                                            <p:txEl>
                                              <p:pRg st="0" end="0"/>
                                            </p:txEl>
                                          </p:spTgt>
                                        </p:tgtEl>
                                        <p:attrNameLst>
                                          <p:attrName>style.visibility</p:attrName>
                                        </p:attrNameLst>
                                      </p:cBhvr>
                                      <p:to>
                                        <p:strVal val="visible"/>
                                      </p:to>
                                    </p:set>
                                    <p:animEffect transition="in" filter="blinds(horizontal)">
                                      <p:cBhvr>
                                        <p:cTn id="7" dur="500"/>
                                        <p:tgtEl>
                                          <p:spTgt spid="87042">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nodeType="clickEffect">
                                  <p:stCondLst>
                                    <p:cond delay="0"/>
                                  </p:stCondLst>
                                  <p:childTnLst>
                                    <p:set>
                                      <p:cBhvr>
                                        <p:cTn id="11" dur="1" fill="hold">
                                          <p:stCondLst>
                                            <p:cond delay="0"/>
                                          </p:stCondLst>
                                        </p:cTn>
                                        <p:tgtEl>
                                          <p:spTgt spid="2"/>
                                        </p:tgtEl>
                                        <p:attrNameLst>
                                          <p:attrName>style.visibility</p:attrName>
                                        </p:attrNameLst>
                                      </p:cBhvr>
                                      <p:to>
                                        <p:strVal val="visible"/>
                                      </p:to>
                                    </p:set>
                                    <p:animEffect transition="in" filter="blinds(horizontal)">
                                      <p:cBhvr>
                                        <p:cTn id="12"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8674" name="Picture 2"/>
          <p:cNvPicPr>
            <a:picLocks noChangeAspect="1" noChangeArrowheads="1"/>
          </p:cNvPicPr>
          <p:nvPr/>
        </p:nvPicPr>
        <p:blipFill>
          <a:blip r:embed="rId2" cstate="print"/>
          <a:srcRect/>
          <a:stretch>
            <a:fillRect/>
          </a:stretch>
        </p:blipFill>
        <p:spPr bwMode="auto">
          <a:xfrm>
            <a:off x="1219200" y="1219200"/>
            <a:ext cx="6662627" cy="4114800"/>
          </a:xfrm>
          <a:prstGeom prst="rect">
            <a:avLst/>
          </a:prstGeom>
          <a:noFill/>
          <a:ln w="9525">
            <a:noFill/>
            <a:miter lim="800000"/>
            <a:headEnd/>
            <a:tailEnd/>
          </a:ln>
        </p:spPr>
      </p:pic>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9090" name="Text Box 2"/>
          <p:cNvSpPr txBox="1">
            <a:spLocks noChangeArrowheads="1"/>
          </p:cNvSpPr>
          <p:nvPr/>
        </p:nvSpPr>
        <p:spPr bwMode="auto">
          <a:xfrm>
            <a:off x="611188" y="1412875"/>
            <a:ext cx="7561262" cy="3749675"/>
          </a:xfrm>
          <a:prstGeom prst="rect">
            <a:avLst/>
          </a:prstGeom>
          <a:noFill/>
          <a:ln w="9525">
            <a:noFill/>
            <a:miter lim="800000"/>
            <a:headEnd/>
            <a:tailEnd/>
          </a:ln>
        </p:spPr>
        <p:txBody>
          <a:bodyPr>
            <a:spAutoFit/>
          </a:bodyPr>
          <a:lstStyle/>
          <a:p>
            <a:pPr algn="just">
              <a:lnSpc>
                <a:spcPct val="120000"/>
              </a:lnSpc>
              <a:spcBef>
                <a:spcPct val="10000"/>
              </a:spcBef>
            </a:pPr>
            <a:r>
              <a:rPr kumimoji="1" lang="zh-CN" altLang="en-US" sz="2400">
                <a:latin typeface="Times New Roman" pitchFamily="18" charset="0"/>
                <a:ea typeface="宋体" charset="-122"/>
              </a:rPr>
              <a:t>　</a:t>
            </a:r>
            <a:r>
              <a:rPr kumimoji="1" lang="zh-CN" altLang="en-US" sz="2400" b="1">
                <a:latin typeface="Times New Roman" pitchFamily="18" charset="0"/>
                <a:ea typeface="黑体" pitchFamily="2" charset="-122"/>
              </a:rPr>
              <a:t>　</a:t>
            </a:r>
            <a:r>
              <a:rPr kumimoji="1" lang="en-US" altLang="zh-CN" sz="2400" b="1">
                <a:latin typeface="Times New Roman" pitchFamily="18" charset="0"/>
                <a:ea typeface="黑体" pitchFamily="2" charset="-122"/>
              </a:rPr>
              <a:t>(1) </a:t>
            </a:r>
            <a:r>
              <a:rPr kumimoji="1" lang="zh-CN" altLang="en-US" sz="2400" b="1">
                <a:latin typeface="Times New Roman" pitchFamily="18" charset="0"/>
                <a:ea typeface="黑体" pitchFamily="2" charset="-122"/>
              </a:rPr>
              <a:t>设定种群规模</a:t>
            </a:r>
            <a:r>
              <a:rPr kumimoji="1" lang="en-US" altLang="zh-CN" sz="2400" b="1">
                <a:latin typeface="Times New Roman" pitchFamily="18" charset="0"/>
                <a:ea typeface="黑体" pitchFamily="2" charset="-122"/>
              </a:rPr>
              <a:t>,</a:t>
            </a:r>
            <a:r>
              <a:rPr kumimoji="1" lang="zh-CN" altLang="en-US" sz="2400" b="1">
                <a:latin typeface="Times New Roman" pitchFamily="18" charset="0"/>
                <a:ea typeface="黑体" pitchFamily="2" charset="-122"/>
              </a:rPr>
              <a:t>编码染色体，产生初始种群。</a:t>
            </a:r>
          </a:p>
          <a:p>
            <a:pPr algn="just">
              <a:lnSpc>
                <a:spcPct val="120000"/>
              </a:lnSpc>
              <a:spcBef>
                <a:spcPct val="10000"/>
              </a:spcBef>
            </a:pPr>
            <a:r>
              <a:rPr kumimoji="1" lang="zh-CN" altLang="en-US" sz="2400" b="1">
                <a:latin typeface="Times New Roman" pitchFamily="18" charset="0"/>
                <a:ea typeface="黑体" pitchFamily="2" charset="-122"/>
              </a:rPr>
              <a:t>    将种群规模设定为</a:t>
            </a:r>
            <a:r>
              <a:rPr kumimoji="1" lang="en-US" altLang="zh-CN" sz="2400" b="1">
                <a:latin typeface="Times New Roman" pitchFamily="18" charset="0"/>
                <a:ea typeface="黑体" pitchFamily="2" charset="-122"/>
              </a:rPr>
              <a:t>4</a:t>
            </a:r>
            <a:r>
              <a:rPr kumimoji="1" lang="zh-CN" altLang="en-US" sz="2400" b="1">
                <a:latin typeface="Times New Roman" pitchFamily="18" charset="0"/>
                <a:ea typeface="黑体" pitchFamily="2" charset="-122"/>
              </a:rPr>
              <a:t>；用</a:t>
            </a:r>
            <a:r>
              <a:rPr kumimoji="1" lang="en-US" altLang="zh-CN" sz="2400" b="1">
                <a:latin typeface="Times New Roman" pitchFamily="18" charset="0"/>
                <a:ea typeface="黑体" pitchFamily="2" charset="-122"/>
              </a:rPr>
              <a:t>5</a:t>
            </a:r>
            <a:r>
              <a:rPr kumimoji="1" lang="zh-CN" altLang="en-US" sz="2400" b="1">
                <a:latin typeface="Times New Roman" pitchFamily="18" charset="0"/>
                <a:ea typeface="黑体" pitchFamily="2" charset="-122"/>
              </a:rPr>
              <a:t>位二进制数编码染色体；取下列个体组成初始种群</a:t>
            </a:r>
            <a:r>
              <a:rPr kumimoji="1" lang="en-US" altLang="zh-CN" sz="2400" b="1">
                <a:latin typeface="Times New Roman" pitchFamily="18" charset="0"/>
                <a:ea typeface="黑体" pitchFamily="2" charset="-122"/>
              </a:rPr>
              <a:t>S1:</a:t>
            </a:r>
          </a:p>
          <a:p>
            <a:pPr algn="just">
              <a:lnSpc>
                <a:spcPct val="120000"/>
              </a:lnSpc>
              <a:spcBef>
                <a:spcPct val="20000"/>
              </a:spcBef>
            </a:pPr>
            <a:r>
              <a:rPr kumimoji="1" lang="en-US" altLang="zh-CN" sz="2800" i="1">
                <a:latin typeface="Times New Roman" pitchFamily="18" charset="0"/>
                <a:ea typeface="宋体" charset="-122"/>
              </a:rPr>
              <a:t>                     s</a:t>
            </a:r>
            <a:r>
              <a:rPr kumimoji="1" lang="en-US" altLang="zh-CN" sz="2800" baseline="-25000">
                <a:latin typeface="Times New Roman" pitchFamily="18" charset="0"/>
                <a:ea typeface="宋体" charset="-122"/>
              </a:rPr>
              <a:t>1</a:t>
            </a:r>
            <a:r>
              <a:rPr kumimoji="1" lang="en-US" altLang="zh-CN" sz="2800">
                <a:latin typeface="Times New Roman" pitchFamily="18" charset="0"/>
                <a:ea typeface="宋体" charset="-122"/>
              </a:rPr>
              <a:t>= 13 (01101),  </a:t>
            </a:r>
            <a:r>
              <a:rPr kumimoji="1" lang="en-US" altLang="zh-CN" sz="2800" i="1">
                <a:latin typeface="Times New Roman" pitchFamily="18" charset="0"/>
                <a:ea typeface="宋体" charset="-122"/>
              </a:rPr>
              <a:t>s</a:t>
            </a:r>
            <a:r>
              <a:rPr kumimoji="1" lang="en-US" altLang="zh-CN" sz="2800" baseline="-25000">
                <a:latin typeface="Times New Roman" pitchFamily="18" charset="0"/>
                <a:ea typeface="宋体" charset="-122"/>
              </a:rPr>
              <a:t>2</a:t>
            </a:r>
            <a:r>
              <a:rPr kumimoji="1" lang="en-US" altLang="zh-CN" sz="2800">
                <a:latin typeface="Times New Roman" pitchFamily="18" charset="0"/>
                <a:ea typeface="宋体" charset="-122"/>
              </a:rPr>
              <a:t>= 24 (11000)</a:t>
            </a:r>
          </a:p>
          <a:p>
            <a:pPr algn="just">
              <a:lnSpc>
                <a:spcPct val="120000"/>
              </a:lnSpc>
              <a:spcBef>
                <a:spcPct val="20000"/>
              </a:spcBef>
            </a:pPr>
            <a:r>
              <a:rPr kumimoji="1" lang="en-US" altLang="zh-CN" sz="2800" i="1">
                <a:latin typeface="Times New Roman" pitchFamily="18" charset="0"/>
                <a:ea typeface="宋体" charset="-122"/>
              </a:rPr>
              <a:t>                     s</a:t>
            </a:r>
            <a:r>
              <a:rPr kumimoji="1" lang="en-US" altLang="zh-CN" sz="2800" baseline="-25000">
                <a:latin typeface="Times New Roman" pitchFamily="18" charset="0"/>
                <a:ea typeface="宋体" charset="-122"/>
              </a:rPr>
              <a:t>3</a:t>
            </a:r>
            <a:r>
              <a:rPr kumimoji="1" lang="en-US" altLang="zh-CN" sz="2800">
                <a:latin typeface="Times New Roman" pitchFamily="18" charset="0"/>
                <a:ea typeface="宋体" charset="-122"/>
              </a:rPr>
              <a:t>= 8 (01000),    </a:t>
            </a:r>
            <a:r>
              <a:rPr kumimoji="1" lang="en-US" altLang="zh-CN" sz="2800" i="1">
                <a:latin typeface="Times New Roman" pitchFamily="18" charset="0"/>
                <a:ea typeface="宋体" charset="-122"/>
              </a:rPr>
              <a:t>s</a:t>
            </a:r>
            <a:r>
              <a:rPr kumimoji="1" lang="en-US" altLang="zh-CN" sz="2800" baseline="-25000">
                <a:latin typeface="Times New Roman" pitchFamily="18" charset="0"/>
                <a:ea typeface="宋体" charset="-122"/>
              </a:rPr>
              <a:t>4</a:t>
            </a:r>
            <a:r>
              <a:rPr kumimoji="1" lang="en-US" altLang="zh-CN" sz="2800">
                <a:latin typeface="Times New Roman" pitchFamily="18" charset="0"/>
                <a:ea typeface="宋体" charset="-122"/>
              </a:rPr>
              <a:t>= 19 (10011)</a:t>
            </a:r>
            <a:r>
              <a:rPr kumimoji="1" lang="en-US" altLang="zh-CN" sz="2800">
                <a:latin typeface="宋体" charset="-122"/>
                <a:ea typeface="宋体" charset="-122"/>
              </a:rPr>
              <a:t> </a:t>
            </a:r>
          </a:p>
          <a:p>
            <a:pPr algn="just">
              <a:lnSpc>
                <a:spcPct val="120000"/>
              </a:lnSpc>
              <a:spcBef>
                <a:spcPct val="20000"/>
              </a:spcBef>
            </a:pPr>
            <a:r>
              <a:rPr kumimoji="1" lang="en-US" altLang="zh-CN" sz="2400" b="1">
                <a:latin typeface="Times New Roman" pitchFamily="18" charset="0"/>
                <a:ea typeface="黑体" pitchFamily="2" charset="-122"/>
              </a:rPr>
              <a:t>         (2) </a:t>
            </a:r>
            <a:r>
              <a:rPr kumimoji="1" lang="zh-CN" altLang="en-US" sz="2400" b="1">
                <a:latin typeface="Times New Roman" pitchFamily="18" charset="0"/>
                <a:ea typeface="黑体" pitchFamily="2" charset="-122"/>
              </a:rPr>
              <a:t>定义适应度函数</a:t>
            </a:r>
            <a:r>
              <a:rPr kumimoji="1" lang="en-US" altLang="zh-CN" sz="2400" b="1">
                <a:latin typeface="Times New Roman" pitchFamily="18" charset="0"/>
                <a:ea typeface="黑体" pitchFamily="2" charset="-122"/>
              </a:rPr>
              <a:t>,</a:t>
            </a:r>
          </a:p>
          <a:p>
            <a:pPr algn="just">
              <a:lnSpc>
                <a:spcPct val="120000"/>
              </a:lnSpc>
              <a:spcBef>
                <a:spcPct val="20000"/>
              </a:spcBef>
            </a:pPr>
            <a:r>
              <a:rPr kumimoji="1" lang="en-US" altLang="zh-CN" sz="2800">
                <a:latin typeface="Times New Roman" pitchFamily="18" charset="0"/>
                <a:ea typeface="宋体" charset="-122"/>
              </a:rPr>
              <a:t>               </a:t>
            </a:r>
            <a:r>
              <a:rPr kumimoji="1" lang="zh-CN" altLang="en-US" sz="2400" b="1">
                <a:latin typeface="Times New Roman" pitchFamily="18" charset="0"/>
                <a:ea typeface="黑体" pitchFamily="2" charset="-122"/>
              </a:rPr>
              <a:t>取适应度函数：</a:t>
            </a:r>
            <a:r>
              <a:rPr kumimoji="1" lang="en-US" altLang="zh-CN" sz="2800" i="1">
                <a:latin typeface="Times New Roman" pitchFamily="18" charset="0"/>
                <a:ea typeface="宋体" charset="-122"/>
              </a:rPr>
              <a:t>f </a:t>
            </a:r>
            <a:r>
              <a:rPr kumimoji="1" lang="en-US" altLang="zh-CN" sz="2800">
                <a:latin typeface="Times New Roman" pitchFamily="18" charset="0"/>
                <a:ea typeface="宋体" charset="-122"/>
              </a:rPr>
              <a:t>(</a:t>
            </a:r>
            <a:r>
              <a:rPr kumimoji="1" lang="en-US" altLang="zh-CN" sz="2800" i="1">
                <a:latin typeface="Times New Roman" pitchFamily="18" charset="0"/>
                <a:ea typeface="宋体" charset="-122"/>
              </a:rPr>
              <a:t>x</a:t>
            </a:r>
            <a:r>
              <a:rPr kumimoji="1" lang="en-US" altLang="zh-CN" sz="2800">
                <a:latin typeface="Times New Roman" pitchFamily="18" charset="0"/>
                <a:ea typeface="宋体" charset="-122"/>
              </a:rPr>
              <a:t>)=</a:t>
            </a:r>
            <a:r>
              <a:rPr kumimoji="1" lang="en-US" altLang="zh-CN" sz="2800" i="1">
                <a:latin typeface="Times New Roman" pitchFamily="18" charset="0"/>
                <a:ea typeface="宋体" charset="-122"/>
              </a:rPr>
              <a:t>x</a:t>
            </a:r>
            <a:r>
              <a:rPr kumimoji="1" lang="en-US" altLang="zh-CN" sz="2800" baseline="30000">
                <a:latin typeface="Times New Roman" pitchFamily="18" charset="0"/>
                <a:ea typeface="宋体" charset="-122"/>
              </a:rPr>
              <a:t>2</a:t>
            </a:r>
            <a:r>
              <a:rPr kumimoji="1" lang="en-US" altLang="zh-CN" sz="2800">
                <a:latin typeface="Times New Roman" pitchFamily="18" charset="0"/>
                <a:ea typeface="宋体" charset="-122"/>
              </a:rPr>
              <a:t>               </a:t>
            </a: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89090">
                                            <p:txEl>
                                              <p:pRg st="0" end="0"/>
                                            </p:txEl>
                                          </p:spTgt>
                                        </p:tgtEl>
                                        <p:attrNameLst>
                                          <p:attrName>style.visibility</p:attrName>
                                        </p:attrNameLst>
                                      </p:cBhvr>
                                      <p:to>
                                        <p:strVal val="visible"/>
                                      </p:to>
                                    </p:set>
                                    <p:animEffect transition="in" filter="blinds(horizontal)">
                                      <p:cBhvr>
                                        <p:cTn id="7" dur="500"/>
                                        <p:tgtEl>
                                          <p:spTgt spid="89090">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nodeType="clickEffect">
                                  <p:stCondLst>
                                    <p:cond delay="0"/>
                                  </p:stCondLst>
                                  <p:childTnLst>
                                    <p:set>
                                      <p:cBhvr>
                                        <p:cTn id="11" dur="1" fill="hold">
                                          <p:stCondLst>
                                            <p:cond delay="0"/>
                                          </p:stCondLst>
                                        </p:cTn>
                                        <p:tgtEl>
                                          <p:spTgt spid="89090">
                                            <p:txEl>
                                              <p:pRg st="1" end="1"/>
                                            </p:txEl>
                                          </p:spTgt>
                                        </p:tgtEl>
                                        <p:attrNameLst>
                                          <p:attrName>style.visibility</p:attrName>
                                        </p:attrNameLst>
                                      </p:cBhvr>
                                      <p:to>
                                        <p:strVal val="visible"/>
                                      </p:to>
                                    </p:set>
                                    <p:animEffect transition="in" filter="blinds(horizontal)">
                                      <p:cBhvr>
                                        <p:cTn id="12" dur="500"/>
                                        <p:tgtEl>
                                          <p:spTgt spid="89090">
                                            <p:txEl>
                                              <p:pRg st="1" end="1"/>
                                            </p:txEl>
                                          </p:spTgt>
                                        </p:tgtEl>
                                      </p:cBhvr>
                                    </p:animEffect>
                                  </p:childTnLst>
                                </p:cTn>
                              </p:par>
                              <p:par>
                                <p:cTn id="13" presetID="3" presetClass="entr" presetSubtype="10" fill="hold" nodeType="withEffect">
                                  <p:stCondLst>
                                    <p:cond delay="0"/>
                                  </p:stCondLst>
                                  <p:childTnLst>
                                    <p:set>
                                      <p:cBhvr>
                                        <p:cTn id="14" dur="1" fill="hold">
                                          <p:stCondLst>
                                            <p:cond delay="0"/>
                                          </p:stCondLst>
                                        </p:cTn>
                                        <p:tgtEl>
                                          <p:spTgt spid="89090">
                                            <p:txEl>
                                              <p:pRg st="2" end="2"/>
                                            </p:txEl>
                                          </p:spTgt>
                                        </p:tgtEl>
                                        <p:attrNameLst>
                                          <p:attrName>style.visibility</p:attrName>
                                        </p:attrNameLst>
                                      </p:cBhvr>
                                      <p:to>
                                        <p:strVal val="visible"/>
                                      </p:to>
                                    </p:set>
                                    <p:animEffect transition="in" filter="blinds(horizontal)">
                                      <p:cBhvr>
                                        <p:cTn id="15" dur="500"/>
                                        <p:tgtEl>
                                          <p:spTgt spid="89090">
                                            <p:txEl>
                                              <p:pRg st="2" end="2"/>
                                            </p:txEl>
                                          </p:spTgt>
                                        </p:tgtEl>
                                      </p:cBhvr>
                                    </p:animEffect>
                                  </p:childTnLst>
                                </p:cTn>
                              </p:par>
                              <p:par>
                                <p:cTn id="16" presetID="3" presetClass="entr" presetSubtype="10" fill="hold" nodeType="withEffect">
                                  <p:stCondLst>
                                    <p:cond delay="0"/>
                                  </p:stCondLst>
                                  <p:childTnLst>
                                    <p:set>
                                      <p:cBhvr>
                                        <p:cTn id="17" dur="1" fill="hold">
                                          <p:stCondLst>
                                            <p:cond delay="0"/>
                                          </p:stCondLst>
                                        </p:cTn>
                                        <p:tgtEl>
                                          <p:spTgt spid="89090">
                                            <p:txEl>
                                              <p:pRg st="3" end="3"/>
                                            </p:txEl>
                                          </p:spTgt>
                                        </p:tgtEl>
                                        <p:attrNameLst>
                                          <p:attrName>style.visibility</p:attrName>
                                        </p:attrNameLst>
                                      </p:cBhvr>
                                      <p:to>
                                        <p:strVal val="visible"/>
                                      </p:to>
                                    </p:set>
                                    <p:animEffect transition="in" filter="blinds(horizontal)">
                                      <p:cBhvr>
                                        <p:cTn id="18" dur="500"/>
                                        <p:tgtEl>
                                          <p:spTgt spid="89090">
                                            <p:txEl>
                                              <p:pRg st="3" end="3"/>
                                            </p:txEl>
                                          </p:spTgt>
                                        </p:tgtEl>
                                      </p:cBhvr>
                                    </p:animEffect>
                                  </p:childTnLst>
                                </p:cTn>
                              </p:par>
                            </p:childTnLst>
                          </p:cTn>
                        </p:par>
                      </p:childTnLst>
                    </p:cTn>
                  </p:par>
                  <p:par>
                    <p:cTn id="19" fill="hold">
                      <p:stCondLst>
                        <p:cond delay="indefinite"/>
                      </p:stCondLst>
                      <p:childTnLst>
                        <p:par>
                          <p:cTn id="20" fill="hold">
                            <p:stCondLst>
                              <p:cond delay="0"/>
                            </p:stCondLst>
                            <p:childTnLst>
                              <p:par>
                                <p:cTn id="21" presetID="3" presetClass="entr" presetSubtype="10" fill="hold" nodeType="clickEffect">
                                  <p:stCondLst>
                                    <p:cond delay="0"/>
                                  </p:stCondLst>
                                  <p:childTnLst>
                                    <p:set>
                                      <p:cBhvr>
                                        <p:cTn id="22" dur="1" fill="hold">
                                          <p:stCondLst>
                                            <p:cond delay="0"/>
                                          </p:stCondLst>
                                        </p:cTn>
                                        <p:tgtEl>
                                          <p:spTgt spid="89090">
                                            <p:txEl>
                                              <p:pRg st="4" end="4"/>
                                            </p:txEl>
                                          </p:spTgt>
                                        </p:tgtEl>
                                        <p:attrNameLst>
                                          <p:attrName>style.visibility</p:attrName>
                                        </p:attrNameLst>
                                      </p:cBhvr>
                                      <p:to>
                                        <p:strVal val="visible"/>
                                      </p:to>
                                    </p:set>
                                    <p:animEffect transition="in" filter="blinds(horizontal)">
                                      <p:cBhvr>
                                        <p:cTn id="23" dur="500"/>
                                        <p:tgtEl>
                                          <p:spTgt spid="89090">
                                            <p:txEl>
                                              <p:pRg st="4" end="4"/>
                                            </p:txEl>
                                          </p:spTgt>
                                        </p:tgtEl>
                                      </p:cBhvr>
                                    </p:animEffect>
                                  </p:childTnLst>
                                </p:cTn>
                              </p:par>
                              <p:par>
                                <p:cTn id="24" presetID="3" presetClass="entr" presetSubtype="10" fill="hold" nodeType="withEffect">
                                  <p:stCondLst>
                                    <p:cond delay="0"/>
                                  </p:stCondLst>
                                  <p:childTnLst>
                                    <p:set>
                                      <p:cBhvr>
                                        <p:cTn id="25" dur="1" fill="hold">
                                          <p:stCondLst>
                                            <p:cond delay="0"/>
                                          </p:stCondLst>
                                        </p:cTn>
                                        <p:tgtEl>
                                          <p:spTgt spid="89090">
                                            <p:txEl>
                                              <p:pRg st="5" end="5"/>
                                            </p:txEl>
                                          </p:spTgt>
                                        </p:tgtEl>
                                        <p:attrNameLst>
                                          <p:attrName>style.visibility</p:attrName>
                                        </p:attrNameLst>
                                      </p:cBhvr>
                                      <p:to>
                                        <p:strVal val="visible"/>
                                      </p:to>
                                    </p:set>
                                    <p:animEffect transition="in" filter="blinds(horizontal)">
                                      <p:cBhvr>
                                        <p:cTn id="26" dur="500"/>
                                        <p:tgtEl>
                                          <p:spTgt spid="89090">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9698" name="Picture 2"/>
          <p:cNvPicPr>
            <a:picLocks noChangeAspect="1" noChangeArrowheads="1"/>
          </p:cNvPicPr>
          <p:nvPr/>
        </p:nvPicPr>
        <p:blipFill>
          <a:blip r:embed="rId2" cstate="print"/>
          <a:srcRect/>
          <a:stretch>
            <a:fillRect/>
          </a:stretch>
        </p:blipFill>
        <p:spPr bwMode="auto">
          <a:xfrm>
            <a:off x="1219200" y="1295400"/>
            <a:ext cx="6565600" cy="4419600"/>
          </a:xfrm>
          <a:prstGeom prst="rect">
            <a:avLst/>
          </a:prstGeom>
          <a:noFill/>
          <a:ln w="9525">
            <a:noFill/>
            <a:miter lim="800000"/>
            <a:headEnd/>
            <a:tailEnd/>
          </a:ln>
        </p:spPr>
      </p:pic>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Text Box 2"/>
          <p:cNvSpPr txBox="1">
            <a:spLocks noChangeArrowheads="1"/>
          </p:cNvSpPr>
          <p:nvPr/>
        </p:nvSpPr>
        <p:spPr bwMode="auto">
          <a:xfrm>
            <a:off x="2493963" y="5486400"/>
            <a:ext cx="3378200" cy="503238"/>
          </a:xfrm>
          <a:prstGeom prst="rect">
            <a:avLst/>
          </a:prstGeom>
          <a:solidFill>
            <a:srgbClr val="FFFFFF"/>
          </a:solidFill>
          <a:ln w="9525">
            <a:solidFill>
              <a:srgbClr val="FFFFFF"/>
            </a:solidFill>
            <a:miter lim="800000"/>
            <a:headEnd/>
            <a:tailEnd/>
          </a:ln>
        </p:spPr>
        <p:txBody>
          <a:bodyPr/>
          <a:lstStyle/>
          <a:p>
            <a:pPr algn="just"/>
            <a:r>
              <a:rPr lang="zh-CN" altLang="en-US" sz="2400" dirty="0">
                <a:latin typeface="Times New Roman" pitchFamily="18" charset="0"/>
                <a:ea typeface="宋体" charset="-122"/>
              </a:rPr>
              <a:t>      轮盘赌选择示意图</a:t>
            </a:r>
            <a:endParaRPr lang="zh-CN" altLang="en-US" sz="2400" dirty="0">
              <a:ea typeface="宋体" charset="-122"/>
            </a:endParaRPr>
          </a:p>
        </p:txBody>
      </p:sp>
      <p:grpSp>
        <p:nvGrpSpPr>
          <p:cNvPr id="2" name="Group 3"/>
          <p:cNvGrpSpPr>
            <a:grpSpLocks/>
          </p:cNvGrpSpPr>
          <p:nvPr/>
        </p:nvGrpSpPr>
        <p:grpSpPr bwMode="auto">
          <a:xfrm>
            <a:off x="2112963" y="1295400"/>
            <a:ext cx="4440237" cy="3960812"/>
            <a:chOff x="1791" y="709"/>
            <a:chExt cx="2797" cy="2495"/>
          </a:xfrm>
        </p:grpSpPr>
        <p:sp>
          <p:nvSpPr>
            <p:cNvPr id="44037" name="Oval 4"/>
            <p:cNvSpPr>
              <a:spLocks noChangeArrowheads="1"/>
            </p:cNvSpPr>
            <p:nvPr/>
          </p:nvSpPr>
          <p:spPr bwMode="auto">
            <a:xfrm>
              <a:off x="1791" y="709"/>
              <a:ext cx="2585" cy="2495"/>
            </a:xfrm>
            <a:prstGeom prst="ellipse">
              <a:avLst/>
            </a:prstGeom>
            <a:solidFill>
              <a:schemeClr val="accent1"/>
            </a:solidFill>
            <a:ln w="9525">
              <a:solidFill>
                <a:schemeClr val="tx1"/>
              </a:solidFill>
              <a:round/>
              <a:headEnd/>
              <a:tailEnd/>
            </a:ln>
          </p:spPr>
          <p:txBody>
            <a:bodyPr wrap="none" anchor="ctr"/>
            <a:lstStyle/>
            <a:p>
              <a:endParaRPr lang="zh-CN" altLang="en-US">
                <a:ea typeface="宋体" charset="-122"/>
              </a:endParaRPr>
            </a:p>
          </p:txBody>
        </p:sp>
        <p:sp>
          <p:nvSpPr>
            <p:cNvPr id="44038" name="Oval 5"/>
            <p:cNvSpPr>
              <a:spLocks noChangeArrowheads="1"/>
            </p:cNvSpPr>
            <p:nvPr/>
          </p:nvSpPr>
          <p:spPr bwMode="auto">
            <a:xfrm>
              <a:off x="2221" y="1143"/>
              <a:ext cx="1720" cy="1694"/>
            </a:xfrm>
            <a:prstGeom prst="ellipse">
              <a:avLst/>
            </a:prstGeom>
            <a:solidFill>
              <a:srgbClr val="FFFFFF"/>
            </a:solidFill>
            <a:ln w="9525">
              <a:solidFill>
                <a:srgbClr val="000000"/>
              </a:solidFill>
              <a:round/>
              <a:headEnd/>
              <a:tailEnd/>
            </a:ln>
          </p:spPr>
          <p:txBody>
            <a:bodyPr/>
            <a:lstStyle/>
            <a:p>
              <a:endParaRPr lang="zh-CN" altLang="en-US">
                <a:ea typeface="宋体" charset="-122"/>
              </a:endParaRPr>
            </a:p>
          </p:txBody>
        </p:sp>
        <p:sp>
          <p:nvSpPr>
            <p:cNvPr id="44039" name="Line 6"/>
            <p:cNvSpPr>
              <a:spLocks noChangeShapeType="1"/>
            </p:cNvSpPr>
            <p:nvPr/>
          </p:nvSpPr>
          <p:spPr bwMode="auto">
            <a:xfrm rot="20974642" flipV="1">
              <a:off x="3027" y="1423"/>
              <a:ext cx="695" cy="529"/>
            </a:xfrm>
            <a:prstGeom prst="line">
              <a:avLst/>
            </a:prstGeom>
            <a:noFill/>
            <a:ln w="9525">
              <a:solidFill>
                <a:srgbClr val="000000"/>
              </a:solidFill>
              <a:round/>
              <a:headEnd/>
              <a:tailEnd/>
            </a:ln>
          </p:spPr>
          <p:txBody>
            <a:bodyPr/>
            <a:lstStyle/>
            <a:p>
              <a:endParaRPr lang="zh-CN" altLang="en-US"/>
            </a:p>
          </p:txBody>
        </p:sp>
        <p:sp>
          <p:nvSpPr>
            <p:cNvPr id="44040" name="Line 7"/>
            <p:cNvSpPr>
              <a:spLocks noChangeShapeType="1"/>
            </p:cNvSpPr>
            <p:nvPr/>
          </p:nvSpPr>
          <p:spPr bwMode="auto">
            <a:xfrm rot="4899708" flipH="1">
              <a:off x="2444" y="1464"/>
              <a:ext cx="487" cy="714"/>
            </a:xfrm>
            <a:prstGeom prst="line">
              <a:avLst/>
            </a:prstGeom>
            <a:noFill/>
            <a:ln w="9525">
              <a:solidFill>
                <a:srgbClr val="000000"/>
              </a:solidFill>
              <a:round/>
              <a:headEnd/>
              <a:tailEnd/>
            </a:ln>
          </p:spPr>
          <p:txBody>
            <a:bodyPr/>
            <a:lstStyle/>
            <a:p>
              <a:endParaRPr lang="zh-CN" altLang="en-US"/>
            </a:p>
          </p:txBody>
        </p:sp>
        <p:sp>
          <p:nvSpPr>
            <p:cNvPr id="44041" name="Line 8"/>
            <p:cNvSpPr>
              <a:spLocks noChangeShapeType="1"/>
            </p:cNvSpPr>
            <p:nvPr/>
          </p:nvSpPr>
          <p:spPr bwMode="auto">
            <a:xfrm rot="10912059" flipV="1">
              <a:off x="2219" y="1988"/>
              <a:ext cx="867" cy="126"/>
            </a:xfrm>
            <a:prstGeom prst="line">
              <a:avLst/>
            </a:prstGeom>
            <a:noFill/>
            <a:ln w="9525">
              <a:solidFill>
                <a:srgbClr val="000000"/>
              </a:solidFill>
              <a:round/>
              <a:headEnd/>
              <a:tailEnd/>
            </a:ln>
          </p:spPr>
          <p:txBody>
            <a:bodyPr/>
            <a:lstStyle/>
            <a:p>
              <a:endParaRPr lang="zh-CN" altLang="en-US"/>
            </a:p>
          </p:txBody>
        </p:sp>
        <p:sp>
          <p:nvSpPr>
            <p:cNvPr id="44042" name="Text Box 9"/>
            <p:cNvSpPr txBox="1">
              <a:spLocks noChangeArrowheads="1"/>
            </p:cNvSpPr>
            <p:nvPr/>
          </p:nvSpPr>
          <p:spPr bwMode="auto">
            <a:xfrm>
              <a:off x="2947" y="1253"/>
              <a:ext cx="469" cy="400"/>
            </a:xfrm>
            <a:prstGeom prst="rect">
              <a:avLst/>
            </a:prstGeom>
            <a:solidFill>
              <a:srgbClr val="FFFFFF"/>
            </a:solidFill>
            <a:ln w="9525">
              <a:solidFill>
                <a:srgbClr val="FFFFFF"/>
              </a:solidFill>
              <a:miter lim="800000"/>
              <a:headEnd/>
              <a:tailEnd/>
            </a:ln>
          </p:spPr>
          <p:txBody>
            <a:bodyPr lIns="0" tIns="0" rIns="0" bIns="0"/>
            <a:lstStyle/>
            <a:p>
              <a:pPr algn="just"/>
              <a:r>
                <a:rPr lang="en-US" altLang="zh-CN" sz="2000" i="1" dirty="0">
                  <a:latin typeface="Times New Roman" pitchFamily="18" charset="0"/>
                  <a:ea typeface="宋体" charset="-122"/>
                </a:rPr>
                <a:t>s</a:t>
              </a:r>
              <a:r>
                <a:rPr lang="en-US" altLang="zh-CN" sz="2000" baseline="-25000" dirty="0">
                  <a:latin typeface="Times New Roman" pitchFamily="18" charset="0"/>
                  <a:ea typeface="宋体" charset="-122"/>
                </a:rPr>
                <a:t>4</a:t>
              </a:r>
              <a:endParaRPr lang="en-US" altLang="zh-CN" sz="2000" dirty="0">
                <a:latin typeface="Times New Roman" pitchFamily="18" charset="0"/>
                <a:ea typeface="宋体" charset="-122"/>
              </a:endParaRPr>
            </a:p>
            <a:p>
              <a:pPr algn="just"/>
              <a:r>
                <a:rPr lang="en-US" altLang="zh-CN" sz="2000" dirty="0">
                  <a:latin typeface="Times New Roman" pitchFamily="18" charset="0"/>
                  <a:ea typeface="宋体" charset="-122"/>
                </a:rPr>
                <a:t>0.31</a:t>
              </a:r>
              <a:endParaRPr lang="en-US" altLang="zh-CN" sz="2000" dirty="0">
                <a:ea typeface="宋体" charset="-122"/>
              </a:endParaRPr>
            </a:p>
          </p:txBody>
        </p:sp>
        <p:sp>
          <p:nvSpPr>
            <p:cNvPr id="44043" name="Text Box 10"/>
            <p:cNvSpPr txBox="1">
              <a:spLocks noChangeArrowheads="1"/>
            </p:cNvSpPr>
            <p:nvPr/>
          </p:nvSpPr>
          <p:spPr bwMode="auto">
            <a:xfrm>
              <a:off x="2947" y="2160"/>
              <a:ext cx="473" cy="378"/>
            </a:xfrm>
            <a:prstGeom prst="rect">
              <a:avLst/>
            </a:prstGeom>
            <a:solidFill>
              <a:srgbClr val="FFFFFF"/>
            </a:solidFill>
            <a:ln w="9525">
              <a:solidFill>
                <a:srgbClr val="FFFFFF"/>
              </a:solidFill>
              <a:miter lim="800000"/>
              <a:headEnd/>
              <a:tailEnd/>
            </a:ln>
          </p:spPr>
          <p:txBody>
            <a:bodyPr lIns="0" tIns="0" rIns="0" bIns="0"/>
            <a:lstStyle/>
            <a:p>
              <a:pPr algn="just"/>
              <a:r>
                <a:rPr lang="en-US" altLang="zh-CN" sz="2000" i="1" dirty="0">
                  <a:latin typeface="Times New Roman" pitchFamily="18" charset="0"/>
                  <a:ea typeface="宋体" charset="-122"/>
                </a:rPr>
                <a:t>s</a:t>
              </a:r>
              <a:r>
                <a:rPr lang="en-US" altLang="zh-CN" sz="2000" baseline="-25000" dirty="0">
                  <a:latin typeface="Times New Roman" pitchFamily="18" charset="0"/>
                  <a:ea typeface="宋体" charset="-122"/>
                </a:rPr>
                <a:t>2</a:t>
              </a:r>
              <a:endParaRPr lang="en-US" altLang="zh-CN" sz="2000" dirty="0">
                <a:latin typeface="Times New Roman" pitchFamily="18" charset="0"/>
                <a:ea typeface="宋体" charset="-122"/>
              </a:endParaRPr>
            </a:p>
            <a:p>
              <a:pPr algn="just"/>
              <a:r>
                <a:rPr lang="en-US" altLang="zh-CN" sz="2000" dirty="0">
                  <a:latin typeface="Times New Roman" pitchFamily="18" charset="0"/>
                  <a:ea typeface="宋体" charset="-122"/>
                </a:rPr>
                <a:t>0.49</a:t>
              </a:r>
              <a:endParaRPr lang="en-US" altLang="zh-CN" sz="2000" dirty="0">
                <a:ea typeface="宋体" charset="-122"/>
              </a:endParaRPr>
            </a:p>
          </p:txBody>
        </p:sp>
        <p:sp>
          <p:nvSpPr>
            <p:cNvPr id="44044" name="Text Box 11"/>
            <p:cNvSpPr txBox="1">
              <a:spLocks noChangeArrowheads="1"/>
            </p:cNvSpPr>
            <p:nvPr/>
          </p:nvSpPr>
          <p:spPr bwMode="auto">
            <a:xfrm>
              <a:off x="3482" y="1631"/>
              <a:ext cx="360" cy="339"/>
            </a:xfrm>
            <a:prstGeom prst="rect">
              <a:avLst/>
            </a:prstGeom>
            <a:solidFill>
              <a:srgbClr val="FFFFFF"/>
            </a:solidFill>
            <a:ln w="9525">
              <a:solidFill>
                <a:srgbClr val="FFFFFF"/>
              </a:solidFill>
              <a:miter lim="800000"/>
              <a:headEnd/>
              <a:tailEnd/>
            </a:ln>
          </p:spPr>
          <p:txBody>
            <a:bodyPr lIns="0" tIns="0" rIns="0" bIns="0"/>
            <a:lstStyle/>
            <a:p>
              <a:pPr algn="just"/>
              <a:r>
                <a:rPr lang="en-US" altLang="zh-CN" sz="2000" i="1">
                  <a:latin typeface="Times New Roman" pitchFamily="18" charset="0"/>
                  <a:ea typeface="宋体" charset="-122"/>
                </a:rPr>
                <a:t>s</a:t>
              </a:r>
              <a:r>
                <a:rPr lang="en-US" altLang="zh-CN" sz="2000" baseline="-25000">
                  <a:latin typeface="Times New Roman" pitchFamily="18" charset="0"/>
                  <a:ea typeface="宋体" charset="-122"/>
                </a:rPr>
                <a:t>1</a:t>
              </a:r>
              <a:endParaRPr lang="en-US" altLang="zh-CN" sz="2000">
                <a:latin typeface="Times New Roman" pitchFamily="18" charset="0"/>
                <a:ea typeface="宋体" charset="-122"/>
              </a:endParaRPr>
            </a:p>
            <a:p>
              <a:pPr algn="just"/>
              <a:r>
                <a:rPr lang="en-US" altLang="zh-CN" sz="2000">
                  <a:latin typeface="Times New Roman" pitchFamily="18" charset="0"/>
                  <a:ea typeface="宋体" charset="-122"/>
                </a:rPr>
                <a:t>0.14</a:t>
              </a:r>
              <a:endParaRPr lang="en-US" altLang="zh-CN" sz="2000">
                <a:ea typeface="宋体" charset="-122"/>
              </a:endParaRPr>
            </a:p>
          </p:txBody>
        </p:sp>
        <p:sp>
          <p:nvSpPr>
            <p:cNvPr id="44045" name="Line 12"/>
            <p:cNvSpPr>
              <a:spLocks noChangeShapeType="1"/>
            </p:cNvSpPr>
            <p:nvPr/>
          </p:nvSpPr>
          <p:spPr bwMode="auto">
            <a:xfrm>
              <a:off x="3080" y="2004"/>
              <a:ext cx="852" cy="35"/>
            </a:xfrm>
            <a:prstGeom prst="line">
              <a:avLst/>
            </a:prstGeom>
            <a:noFill/>
            <a:ln w="9525">
              <a:solidFill>
                <a:srgbClr val="000000"/>
              </a:solidFill>
              <a:round/>
              <a:headEnd/>
              <a:tailEnd/>
            </a:ln>
          </p:spPr>
          <p:txBody>
            <a:bodyPr/>
            <a:lstStyle/>
            <a:p>
              <a:endParaRPr lang="zh-CN" altLang="en-US"/>
            </a:p>
          </p:txBody>
        </p:sp>
        <p:sp>
          <p:nvSpPr>
            <p:cNvPr id="44046" name="AutoShape 13"/>
            <p:cNvSpPr>
              <a:spLocks noChangeArrowheads="1"/>
            </p:cNvSpPr>
            <p:nvPr/>
          </p:nvSpPr>
          <p:spPr bwMode="auto">
            <a:xfrm>
              <a:off x="3042" y="709"/>
              <a:ext cx="156" cy="400"/>
            </a:xfrm>
            <a:prstGeom prst="downArrow">
              <a:avLst>
                <a:gd name="adj1" fmla="val 50000"/>
                <a:gd name="adj2" fmla="val 64103"/>
              </a:avLst>
            </a:prstGeom>
            <a:solidFill>
              <a:srgbClr val="FFFFFF"/>
            </a:solidFill>
            <a:ln w="9525">
              <a:solidFill>
                <a:srgbClr val="000000"/>
              </a:solidFill>
              <a:miter lim="800000"/>
              <a:headEnd/>
              <a:tailEnd/>
            </a:ln>
          </p:spPr>
          <p:txBody>
            <a:bodyPr vert="eaVert"/>
            <a:lstStyle/>
            <a:p>
              <a:endParaRPr lang="zh-CN" altLang="en-US">
                <a:ea typeface="宋体" charset="-122"/>
              </a:endParaRPr>
            </a:p>
          </p:txBody>
        </p:sp>
        <p:sp>
          <p:nvSpPr>
            <p:cNvPr id="44047" name="Line 14"/>
            <p:cNvSpPr>
              <a:spLocks noChangeShapeType="1"/>
            </p:cNvSpPr>
            <p:nvPr/>
          </p:nvSpPr>
          <p:spPr bwMode="auto">
            <a:xfrm rot="17992015" flipH="1">
              <a:off x="4272" y="1924"/>
              <a:ext cx="398" cy="235"/>
            </a:xfrm>
            <a:prstGeom prst="line">
              <a:avLst/>
            </a:prstGeom>
            <a:noFill/>
            <a:ln w="9525">
              <a:solidFill>
                <a:srgbClr val="000000"/>
              </a:solidFill>
              <a:round/>
              <a:headEnd/>
              <a:tailEnd type="triangle" w="sm" len="lg"/>
            </a:ln>
          </p:spPr>
          <p:txBody>
            <a:bodyPr/>
            <a:lstStyle/>
            <a:p>
              <a:endParaRPr lang="zh-CN" altLang="en-US"/>
            </a:p>
          </p:txBody>
        </p:sp>
        <p:sp>
          <p:nvSpPr>
            <p:cNvPr id="44048" name="Text Box 15"/>
            <p:cNvSpPr txBox="1">
              <a:spLocks noChangeArrowheads="1"/>
            </p:cNvSpPr>
            <p:nvPr/>
          </p:nvSpPr>
          <p:spPr bwMode="auto">
            <a:xfrm>
              <a:off x="2245" y="1842"/>
              <a:ext cx="385" cy="159"/>
            </a:xfrm>
            <a:prstGeom prst="rect">
              <a:avLst/>
            </a:prstGeom>
            <a:solidFill>
              <a:srgbClr val="FFFFFF"/>
            </a:solidFill>
            <a:ln w="9525">
              <a:solidFill>
                <a:srgbClr val="FFFFFF"/>
              </a:solidFill>
              <a:miter lim="800000"/>
              <a:headEnd/>
              <a:tailEnd/>
            </a:ln>
          </p:spPr>
          <p:txBody>
            <a:bodyPr lIns="0" tIns="0" rIns="0" bIns="0"/>
            <a:lstStyle/>
            <a:p>
              <a:pPr algn="just">
                <a:lnSpc>
                  <a:spcPct val="50000"/>
                </a:lnSpc>
              </a:pPr>
              <a:r>
                <a:rPr lang="en-US" altLang="zh-CN" i="1">
                  <a:latin typeface="Times New Roman" pitchFamily="18" charset="0"/>
                  <a:ea typeface="宋体" charset="-122"/>
                </a:rPr>
                <a:t>s</a:t>
              </a:r>
              <a:r>
                <a:rPr lang="en-US" altLang="zh-CN" baseline="-25000">
                  <a:latin typeface="Times New Roman" pitchFamily="18" charset="0"/>
                  <a:ea typeface="宋体" charset="-122"/>
                </a:rPr>
                <a:t>3</a:t>
              </a:r>
              <a:r>
                <a:rPr lang="en-US" altLang="zh-CN">
                  <a:latin typeface="Times New Roman" pitchFamily="18" charset="0"/>
                  <a:ea typeface="宋体" charset="-122"/>
                </a:rPr>
                <a:t>0.0</a:t>
              </a:r>
              <a:r>
                <a:rPr lang="en-US" altLang="zh-CN" sz="2000">
                  <a:latin typeface="Times New Roman" pitchFamily="18" charset="0"/>
                  <a:ea typeface="宋体" charset="-122"/>
                </a:rPr>
                <a:t>6</a:t>
              </a:r>
              <a:endParaRPr lang="en-US" altLang="zh-CN" sz="2000">
                <a:ea typeface="宋体" charset="-122"/>
              </a:endParaRPr>
            </a:p>
          </p:txBody>
        </p:sp>
      </p:grpSp>
    </p:spTree>
  </p:cSld>
  <p:clrMapOvr>
    <a:masterClrMapping/>
  </p:clrMapOvr>
  <p:transition/>
  <p:timing>
    <p:tnLst>
      <p:par>
        <p:cTn id="1" dur="indefinite" restart="never" nodeType="tmRoot"/>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3186" name="Text Box 2"/>
          <p:cNvSpPr txBox="1">
            <a:spLocks noChangeArrowheads="1"/>
          </p:cNvSpPr>
          <p:nvPr/>
        </p:nvSpPr>
        <p:spPr bwMode="auto">
          <a:xfrm>
            <a:off x="742950" y="1171575"/>
            <a:ext cx="2133600" cy="519113"/>
          </a:xfrm>
          <a:prstGeom prst="rect">
            <a:avLst/>
          </a:prstGeom>
          <a:noFill/>
          <a:ln w="9525">
            <a:noFill/>
            <a:miter lim="800000"/>
            <a:headEnd/>
            <a:tailEnd/>
          </a:ln>
        </p:spPr>
        <p:txBody>
          <a:bodyPr>
            <a:spAutoFit/>
          </a:bodyPr>
          <a:lstStyle/>
          <a:p>
            <a:r>
              <a:rPr kumimoji="1" lang="zh-CN" altLang="en-US" sz="2800">
                <a:solidFill>
                  <a:srgbClr val="FF3300"/>
                </a:solidFill>
                <a:latin typeface="黑体" pitchFamily="2" charset="-122"/>
                <a:ea typeface="黑体" pitchFamily="2" charset="-122"/>
              </a:rPr>
              <a:t>选择</a:t>
            </a:r>
            <a:r>
              <a:rPr kumimoji="1" lang="en-US" altLang="zh-CN" sz="2800">
                <a:solidFill>
                  <a:srgbClr val="FF3300"/>
                </a:solidFill>
                <a:latin typeface="黑体" pitchFamily="2" charset="-122"/>
                <a:ea typeface="黑体" pitchFamily="2" charset="-122"/>
              </a:rPr>
              <a:t>-</a:t>
            </a:r>
            <a:r>
              <a:rPr kumimoji="1" lang="zh-CN" altLang="en-US" sz="2800">
                <a:solidFill>
                  <a:srgbClr val="FF3300"/>
                </a:solidFill>
                <a:latin typeface="黑体" pitchFamily="2" charset="-122"/>
                <a:ea typeface="黑体" pitchFamily="2" charset="-122"/>
              </a:rPr>
              <a:t>复制</a:t>
            </a:r>
            <a:r>
              <a:rPr kumimoji="1" lang="zh-CN" altLang="en-US" sz="2800">
                <a:latin typeface="Times New Roman" pitchFamily="18" charset="0"/>
                <a:ea typeface="宋体" charset="-122"/>
              </a:rPr>
              <a:t> 　</a:t>
            </a:r>
            <a:endParaRPr kumimoji="1" lang="zh-CN" altLang="en-US" sz="2400">
              <a:latin typeface="Times New Roman" pitchFamily="18" charset="0"/>
              <a:ea typeface="宋体" charset="-122"/>
            </a:endParaRPr>
          </a:p>
        </p:txBody>
      </p:sp>
      <p:graphicFrame>
        <p:nvGraphicFramePr>
          <p:cNvPr id="93222" name="Group 38"/>
          <p:cNvGraphicFramePr>
            <a:graphicFrameLocks noGrp="1"/>
          </p:cNvGraphicFramePr>
          <p:nvPr/>
        </p:nvGraphicFramePr>
        <p:xfrm>
          <a:off x="1066800" y="1857375"/>
          <a:ext cx="7696200" cy="2292352"/>
        </p:xfrm>
        <a:graphic>
          <a:graphicData uri="http://schemas.openxmlformats.org/drawingml/2006/table">
            <a:tbl>
              <a:tblPr/>
              <a:tblGrid>
                <a:gridCol w="1924050">
                  <a:extLst>
                    <a:ext uri="{9D8B030D-6E8A-4147-A177-3AD203B41FA5}">
                      <a16:colId xmlns:a16="http://schemas.microsoft.com/office/drawing/2014/main" val="20000"/>
                    </a:ext>
                  </a:extLst>
                </a:gridCol>
                <a:gridCol w="1922463">
                  <a:extLst>
                    <a:ext uri="{9D8B030D-6E8A-4147-A177-3AD203B41FA5}">
                      <a16:colId xmlns:a16="http://schemas.microsoft.com/office/drawing/2014/main" val="20001"/>
                    </a:ext>
                  </a:extLst>
                </a:gridCol>
                <a:gridCol w="1925637">
                  <a:extLst>
                    <a:ext uri="{9D8B030D-6E8A-4147-A177-3AD203B41FA5}">
                      <a16:colId xmlns:a16="http://schemas.microsoft.com/office/drawing/2014/main" val="20002"/>
                    </a:ext>
                  </a:extLst>
                </a:gridCol>
                <a:gridCol w="1924050">
                  <a:extLst>
                    <a:ext uri="{9D8B030D-6E8A-4147-A177-3AD203B41FA5}">
                      <a16:colId xmlns:a16="http://schemas.microsoft.com/office/drawing/2014/main" val="20003"/>
                    </a:ext>
                  </a:extLst>
                </a:gridCol>
              </a:tblGrid>
              <a:tr h="458788">
                <a:tc>
                  <a:txBody>
                    <a:bodyPr/>
                    <a:lstStyle/>
                    <a:p>
                      <a:pPr marL="0" marR="0" lvl="0" indent="0" algn="l" defTabSz="914400" rtl="0" eaLnBrk="0" fontAlgn="base" latinLnBrk="0" hangingPunct="0">
                        <a:lnSpc>
                          <a:spcPct val="100000"/>
                        </a:lnSpc>
                        <a:spcBef>
                          <a:spcPct val="40000"/>
                        </a:spcBef>
                        <a:spcAft>
                          <a:spcPct val="0"/>
                        </a:spcAft>
                        <a:buClr>
                          <a:schemeClr val="hlink"/>
                        </a:buClr>
                        <a:buSzTx/>
                        <a:buFont typeface="Wingdings" pitchFamily="2" charset="2"/>
                        <a:buNone/>
                        <a:tabLst/>
                      </a:pPr>
                      <a:r>
                        <a:rPr kumimoji="0" lang="zh-CN" altLang="en-US" sz="2400" b="1" i="0" u="none" strike="noStrike" cap="none" normalizeH="0" baseline="0" smtClean="0">
                          <a:ln>
                            <a:noFill/>
                          </a:ln>
                          <a:solidFill>
                            <a:schemeClr val="tx1"/>
                          </a:solidFill>
                          <a:effectLst/>
                          <a:latin typeface="Verdana" pitchFamily="34" charset="0"/>
                          <a:ea typeface="宋体" pitchFamily="2" charset="-122"/>
                        </a:rPr>
                        <a:t>  染色体</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40000"/>
                        </a:spcBef>
                        <a:spcAft>
                          <a:spcPct val="0"/>
                        </a:spcAft>
                        <a:buClr>
                          <a:schemeClr val="hlink"/>
                        </a:buClr>
                        <a:buSzTx/>
                        <a:buFont typeface="Wingdings" pitchFamily="2" charset="2"/>
                        <a:buNone/>
                        <a:tabLst/>
                      </a:pPr>
                      <a:r>
                        <a:rPr kumimoji="0" lang="zh-CN" altLang="en-US" sz="2400" b="1" i="0" u="none" strike="noStrike" cap="none" normalizeH="0" baseline="0" smtClean="0">
                          <a:ln>
                            <a:noFill/>
                          </a:ln>
                          <a:solidFill>
                            <a:schemeClr val="tx1"/>
                          </a:solidFill>
                          <a:effectLst/>
                          <a:latin typeface="Verdana" pitchFamily="34" charset="0"/>
                          <a:ea typeface="宋体" pitchFamily="2" charset="-122"/>
                        </a:rPr>
                        <a:t>  适应度</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40000"/>
                        </a:spcBef>
                        <a:spcAft>
                          <a:spcPct val="0"/>
                        </a:spcAft>
                        <a:buClr>
                          <a:schemeClr val="hlink"/>
                        </a:buClr>
                        <a:buSzTx/>
                        <a:buFont typeface="Wingdings" pitchFamily="2" charset="2"/>
                        <a:buNone/>
                        <a:tabLst/>
                      </a:pPr>
                      <a:r>
                        <a:rPr kumimoji="0" lang="zh-CN" altLang="en-US" sz="2400" b="1" i="0" u="none" strike="noStrike" cap="none" normalizeH="0" baseline="0" smtClean="0">
                          <a:ln>
                            <a:noFill/>
                          </a:ln>
                          <a:solidFill>
                            <a:schemeClr val="tx1"/>
                          </a:solidFill>
                          <a:effectLst/>
                          <a:latin typeface="Verdana" pitchFamily="34" charset="0"/>
                          <a:ea typeface="宋体" pitchFamily="2" charset="-122"/>
                        </a:rPr>
                        <a:t>选择概率</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40000"/>
                        </a:spcBef>
                        <a:spcAft>
                          <a:spcPct val="0"/>
                        </a:spcAft>
                        <a:buClr>
                          <a:schemeClr val="hlink"/>
                        </a:buClr>
                        <a:buSzTx/>
                        <a:buFont typeface="Wingdings" pitchFamily="2" charset="2"/>
                        <a:buNone/>
                        <a:tabLst/>
                      </a:pPr>
                      <a:r>
                        <a:rPr kumimoji="0" lang="zh-CN" altLang="en-US" sz="2400" b="1" i="0" u="none" strike="noStrike" cap="none" normalizeH="0" baseline="0" smtClean="0">
                          <a:ln>
                            <a:noFill/>
                          </a:ln>
                          <a:solidFill>
                            <a:schemeClr val="tx1"/>
                          </a:solidFill>
                          <a:effectLst/>
                          <a:latin typeface="Verdana" pitchFamily="34" charset="0"/>
                          <a:ea typeface="宋体" pitchFamily="2" charset="-122"/>
                        </a:rPr>
                        <a:t>选中次数</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458788">
                <a:tc>
                  <a:txBody>
                    <a:bodyPr/>
                    <a:lstStyle/>
                    <a:p>
                      <a:pPr marL="0" marR="0" lvl="0" indent="0" algn="l" defTabSz="914400" rtl="0" eaLnBrk="0" fontAlgn="base" latinLnBrk="0" hangingPunct="0">
                        <a:lnSpc>
                          <a:spcPct val="100000"/>
                        </a:lnSpc>
                        <a:spcBef>
                          <a:spcPct val="40000"/>
                        </a:spcBef>
                        <a:spcAft>
                          <a:spcPct val="0"/>
                        </a:spcAft>
                        <a:buClr>
                          <a:schemeClr val="hlink"/>
                        </a:buClr>
                        <a:buSzTx/>
                        <a:buFont typeface="Wingdings" pitchFamily="2" charset="2"/>
                        <a:buNone/>
                        <a:tabLst/>
                      </a:pPr>
                      <a:r>
                        <a:rPr kumimoji="0" lang="en-US" altLang="zh-CN" sz="2400" b="1" i="1" u="none" strike="noStrike" cap="none" normalizeH="0" baseline="0" smtClean="0">
                          <a:ln>
                            <a:noFill/>
                          </a:ln>
                          <a:solidFill>
                            <a:schemeClr val="tx1"/>
                          </a:solidFill>
                          <a:effectLst/>
                          <a:latin typeface="Verdana" pitchFamily="34" charset="0"/>
                          <a:ea typeface="宋体" pitchFamily="2" charset="-122"/>
                        </a:rPr>
                        <a:t>s</a:t>
                      </a:r>
                      <a:r>
                        <a:rPr kumimoji="0" lang="en-US" altLang="zh-CN" sz="2400" b="1" i="0" u="none" strike="noStrike" cap="none" normalizeH="0" baseline="-25000" smtClean="0">
                          <a:ln>
                            <a:noFill/>
                          </a:ln>
                          <a:solidFill>
                            <a:schemeClr val="tx1"/>
                          </a:solidFill>
                          <a:effectLst/>
                          <a:latin typeface="Verdana" pitchFamily="34" charset="0"/>
                          <a:ea typeface="宋体" pitchFamily="2" charset="-122"/>
                        </a:rPr>
                        <a:t>1</a:t>
                      </a:r>
                      <a:r>
                        <a:rPr kumimoji="0" lang="en-US" altLang="zh-CN" sz="2400" b="1" i="0" u="none" strike="noStrike" cap="none" normalizeH="0" baseline="0" smtClean="0">
                          <a:ln>
                            <a:noFill/>
                          </a:ln>
                          <a:solidFill>
                            <a:schemeClr val="tx1"/>
                          </a:solidFill>
                          <a:effectLst/>
                          <a:latin typeface="Verdana" pitchFamily="34" charset="0"/>
                          <a:ea typeface="宋体" pitchFamily="2" charset="-122"/>
                        </a:rPr>
                        <a:t>=01101</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40000"/>
                        </a:spcBef>
                        <a:spcAft>
                          <a:spcPct val="0"/>
                        </a:spcAft>
                        <a:buClr>
                          <a:schemeClr val="hlink"/>
                        </a:buClr>
                        <a:buSzTx/>
                        <a:buFont typeface="Wingdings" pitchFamily="2" charset="2"/>
                        <a:buNone/>
                        <a:tabLst/>
                      </a:pPr>
                      <a:r>
                        <a:rPr kumimoji="0" lang="zh-CN" altLang="en-US" sz="2400" b="1" i="0" u="none" strike="noStrike" cap="none" normalizeH="0" baseline="0" smtClean="0">
                          <a:ln>
                            <a:noFill/>
                          </a:ln>
                          <a:solidFill>
                            <a:schemeClr val="tx1"/>
                          </a:solidFill>
                          <a:effectLst/>
                          <a:latin typeface="Verdana" pitchFamily="34" charset="0"/>
                          <a:ea typeface="宋体" pitchFamily="2" charset="-122"/>
                        </a:rPr>
                        <a:t>    </a:t>
                      </a:r>
                      <a:r>
                        <a:rPr kumimoji="0" lang="en-US" altLang="zh-CN" sz="2400" b="1" i="0" u="none" strike="noStrike" cap="none" normalizeH="0" baseline="0" smtClean="0">
                          <a:ln>
                            <a:noFill/>
                          </a:ln>
                          <a:solidFill>
                            <a:schemeClr val="tx1"/>
                          </a:solidFill>
                          <a:effectLst/>
                          <a:latin typeface="Verdana" pitchFamily="34" charset="0"/>
                          <a:ea typeface="宋体" pitchFamily="2" charset="-122"/>
                        </a:rPr>
                        <a:t>169</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40000"/>
                        </a:spcBef>
                        <a:spcAft>
                          <a:spcPct val="0"/>
                        </a:spcAft>
                        <a:buClr>
                          <a:schemeClr val="hlink"/>
                        </a:buClr>
                        <a:buSzTx/>
                        <a:buFont typeface="Wingdings" pitchFamily="2" charset="2"/>
                        <a:buNone/>
                        <a:tabLst/>
                      </a:pPr>
                      <a:r>
                        <a:rPr kumimoji="0" lang="zh-CN" altLang="en-US" sz="2400" b="1" i="0" u="none" strike="noStrike" cap="none" normalizeH="0" baseline="0" smtClean="0">
                          <a:ln>
                            <a:noFill/>
                          </a:ln>
                          <a:solidFill>
                            <a:schemeClr val="tx1"/>
                          </a:solidFill>
                          <a:effectLst/>
                          <a:latin typeface="Verdana" pitchFamily="34" charset="0"/>
                          <a:ea typeface="宋体" pitchFamily="2" charset="-122"/>
                        </a:rPr>
                        <a:t>    </a:t>
                      </a:r>
                      <a:r>
                        <a:rPr kumimoji="0" lang="en-US" altLang="zh-CN" sz="2400" b="1" i="0" u="none" strike="noStrike" cap="none" normalizeH="0" baseline="0" smtClean="0">
                          <a:ln>
                            <a:noFill/>
                          </a:ln>
                          <a:solidFill>
                            <a:schemeClr val="tx1"/>
                          </a:solidFill>
                          <a:effectLst/>
                          <a:latin typeface="Verdana" pitchFamily="34" charset="0"/>
                          <a:ea typeface="宋体" pitchFamily="2" charset="-122"/>
                        </a:rPr>
                        <a:t>0.14</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40000"/>
                        </a:spcBef>
                        <a:spcAft>
                          <a:spcPct val="0"/>
                        </a:spcAft>
                        <a:buClr>
                          <a:schemeClr val="hlink"/>
                        </a:buClr>
                        <a:buSzTx/>
                        <a:buFont typeface="Wingdings" pitchFamily="2" charset="2"/>
                        <a:buNone/>
                        <a:tabLst/>
                      </a:pPr>
                      <a:r>
                        <a:rPr kumimoji="0" lang="zh-CN" altLang="en-US" sz="2400" b="1" i="0" u="none" strike="noStrike" cap="none" normalizeH="0" baseline="0" smtClean="0">
                          <a:ln>
                            <a:noFill/>
                          </a:ln>
                          <a:solidFill>
                            <a:schemeClr val="tx1"/>
                          </a:solidFill>
                          <a:effectLst/>
                          <a:latin typeface="Verdana" pitchFamily="34" charset="0"/>
                          <a:ea typeface="宋体" pitchFamily="2" charset="-122"/>
                        </a:rPr>
                        <a:t>      </a:t>
                      </a:r>
                      <a:r>
                        <a:rPr kumimoji="0" lang="en-US" altLang="zh-CN" sz="2400" b="1" i="0" u="none" strike="noStrike" cap="none" normalizeH="0" baseline="0" smtClean="0">
                          <a:ln>
                            <a:noFill/>
                          </a:ln>
                          <a:solidFill>
                            <a:schemeClr val="tx1"/>
                          </a:solidFill>
                          <a:effectLst/>
                          <a:latin typeface="Verdana" pitchFamily="34" charset="0"/>
                          <a:ea typeface="宋体" pitchFamily="2" charset="-122"/>
                        </a:rPr>
                        <a:t>1</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457200">
                <a:tc>
                  <a:txBody>
                    <a:bodyPr/>
                    <a:lstStyle/>
                    <a:p>
                      <a:pPr marL="0" marR="0" lvl="0" indent="0" algn="l" defTabSz="914400" rtl="0" eaLnBrk="0" fontAlgn="base" latinLnBrk="0" hangingPunct="0">
                        <a:lnSpc>
                          <a:spcPct val="100000"/>
                        </a:lnSpc>
                        <a:spcBef>
                          <a:spcPct val="40000"/>
                        </a:spcBef>
                        <a:spcAft>
                          <a:spcPct val="0"/>
                        </a:spcAft>
                        <a:buClr>
                          <a:schemeClr val="hlink"/>
                        </a:buClr>
                        <a:buSzTx/>
                        <a:buFont typeface="Wingdings" pitchFamily="2" charset="2"/>
                        <a:buNone/>
                        <a:tabLst/>
                      </a:pPr>
                      <a:r>
                        <a:rPr kumimoji="0" lang="en-US" altLang="zh-CN" sz="2400" b="1" i="1" u="none" strike="noStrike" cap="none" normalizeH="0" baseline="0" smtClean="0">
                          <a:ln>
                            <a:noFill/>
                          </a:ln>
                          <a:solidFill>
                            <a:schemeClr val="tx1"/>
                          </a:solidFill>
                          <a:effectLst/>
                          <a:latin typeface="Verdana" pitchFamily="34" charset="0"/>
                          <a:ea typeface="宋体" pitchFamily="2" charset="-122"/>
                        </a:rPr>
                        <a:t>s</a:t>
                      </a:r>
                      <a:r>
                        <a:rPr kumimoji="0" lang="en-US" altLang="zh-CN" sz="2400" b="1" i="0" u="none" strike="noStrike" cap="none" normalizeH="0" baseline="-25000" smtClean="0">
                          <a:ln>
                            <a:noFill/>
                          </a:ln>
                          <a:solidFill>
                            <a:schemeClr val="tx1"/>
                          </a:solidFill>
                          <a:effectLst/>
                          <a:latin typeface="Verdana" pitchFamily="34" charset="0"/>
                          <a:ea typeface="宋体" pitchFamily="2" charset="-122"/>
                        </a:rPr>
                        <a:t>2</a:t>
                      </a:r>
                      <a:r>
                        <a:rPr kumimoji="0" lang="en-US" altLang="zh-CN" sz="2400" b="1" i="0" u="none" strike="noStrike" cap="none" normalizeH="0" baseline="0" smtClean="0">
                          <a:ln>
                            <a:noFill/>
                          </a:ln>
                          <a:solidFill>
                            <a:schemeClr val="tx1"/>
                          </a:solidFill>
                          <a:effectLst/>
                          <a:latin typeface="Verdana" pitchFamily="34" charset="0"/>
                          <a:ea typeface="宋体" pitchFamily="2" charset="-122"/>
                        </a:rPr>
                        <a:t>=11000</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40000"/>
                        </a:spcBef>
                        <a:spcAft>
                          <a:spcPct val="0"/>
                        </a:spcAft>
                        <a:buClr>
                          <a:schemeClr val="hlink"/>
                        </a:buClr>
                        <a:buSzTx/>
                        <a:buFont typeface="Wingdings" pitchFamily="2" charset="2"/>
                        <a:buNone/>
                        <a:tabLst/>
                      </a:pPr>
                      <a:r>
                        <a:rPr kumimoji="0" lang="zh-CN" altLang="en-US" sz="2400" b="1" i="0" u="none" strike="noStrike" cap="none" normalizeH="0" baseline="0" smtClean="0">
                          <a:ln>
                            <a:noFill/>
                          </a:ln>
                          <a:solidFill>
                            <a:schemeClr val="tx1"/>
                          </a:solidFill>
                          <a:effectLst/>
                          <a:latin typeface="Verdana" pitchFamily="34" charset="0"/>
                          <a:ea typeface="宋体" pitchFamily="2" charset="-122"/>
                        </a:rPr>
                        <a:t>    </a:t>
                      </a:r>
                      <a:r>
                        <a:rPr kumimoji="0" lang="en-US" altLang="zh-CN" sz="2400" b="1" i="0" u="none" strike="noStrike" cap="none" normalizeH="0" baseline="0" smtClean="0">
                          <a:ln>
                            <a:noFill/>
                          </a:ln>
                          <a:solidFill>
                            <a:schemeClr val="tx1"/>
                          </a:solidFill>
                          <a:effectLst/>
                          <a:latin typeface="Verdana" pitchFamily="34" charset="0"/>
                          <a:ea typeface="宋体" pitchFamily="2" charset="-122"/>
                        </a:rPr>
                        <a:t>576</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40000"/>
                        </a:spcBef>
                        <a:spcAft>
                          <a:spcPct val="0"/>
                        </a:spcAft>
                        <a:buClr>
                          <a:schemeClr val="hlink"/>
                        </a:buClr>
                        <a:buSzTx/>
                        <a:buFont typeface="Wingdings" pitchFamily="2" charset="2"/>
                        <a:buNone/>
                        <a:tabLst/>
                      </a:pPr>
                      <a:r>
                        <a:rPr kumimoji="0" lang="zh-CN" altLang="en-US" sz="2400" b="1" i="0" u="none" strike="noStrike" cap="none" normalizeH="0" baseline="0" smtClean="0">
                          <a:ln>
                            <a:noFill/>
                          </a:ln>
                          <a:solidFill>
                            <a:schemeClr val="tx1"/>
                          </a:solidFill>
                          <a:effectLst/>
                          <a:latin typeface="Verdana" pitchFamily="34" charset="0"/>
                          <a:ea typeface="宋体" pitchFamily="2" charset="-122"/>
                        </a:rPr>
                        <a:t>    </a:t>
                      </a:r>
                      <a:r>
                        <a:rPr kumimoji="0" lang="en-US" altLang="zh-CN" sz="2400" b="1" i="0" u="none" strike="noStrike" cap="none" normalizeH="0" baseline="0" smtClean="0">
                          <a:ln>
                            <a:noFill/>
                          </a:ln>
                          <a:solidFill>
                            <a:schemeClr val="tx1"/>
                          </a:solidFill>
                          <a:effectLst/>
                          <a:latin typeface="Verdana" pitchFamily="34" charset="0"/>
                          <a:ea typeface="宋体" pitchFamily="2" charset="-122"/>
                        </a:rPr>
                        <a:t>0.49</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40000"/>
                        </a:spcBef>
                        <a:spcAft>
                          <a:spcPct val="0"/>
                        </a:spcAft>
                        <a:buClr>
                          <a:schemeClr val="hlink"/>
                        </a:buClr>
                        <a:buSzTx/>
                        <a:buFont typeface="Wingdings" pitchFamily="2" charset="2"/>
                        <a:buNone/>
                        <a:tabLst/>
                      </a:pPr>
                      <a:r>
                        <a:rPr kumimoji="0" lang="zh-CN" altLang="en-US" sz="2400" b="1" i="0" u="none" strike="noStrike" cap="none" normalizeH="0" baseline="0" smtClean="0">
                          <a:ln>
                            <a:noFill/>
                          </a:ln>
                          <a:solidFill>
                            <a:schemeClr val="tx1"/>
                          </a:solidFill>
                          <a:effectLst/>
                          <a:latin typeface="Verdana" pitchFamily="34" charset="0"/>
                          <a:ea typeface="宋体" pitchFamily="2" charset="-122"/>
                        </a:rPr>
                        <a:t>      </a:t>
                      </a:r>
                      <a:r>
                        <a:rPr kumimoji="0" lang="en-US" altLang="zh-CN" sz="2400" b="1" i="0" u="none" strike="noStrike" cap="none" normalizeH="0" baseline="0" smtClean="0">
                          <a:ln>
                            <a:noFill/>
                          </a:ln>
                          <a:solidFill>
                            <a:schemeClr val="tx1"/>
                          </a:solidFill>
                          <a:effectLst/>
                          <a:latin typeface="Verdana" pitchFamily="34" charset="0"/>
                          <a:ea typeface="宋体" pitchFamily="2" charset="-122"/>
                        </a:rPr>
                        <a:t>2</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458788">
                <a:tc>
                  <a:txBody>
                    <a:bodyPr/>
                    <a:lstStyle/>
                    <a:p>
                      <a:pPr marL="0" marR="0" lvl="0" indent="0" algn="l" defTabSz="914400" rtl="0" eaLnBrk="0" fontAlgn="base" latinLnBrk="0" hangingPunct="0">
                        <a:lnSpc>
                          <a:spcPct val="100000"/>
                        </a:lnSpc>
                        <a:spcBef>
                          <a:spcPct val="40000"/>
                        </a:spcBef>
                        <a:spcAft>
                          <a:spcPct val="0"/>
                        </a:spcAft>
                        <a:buClr>
                          <a:schemeClr val="hlink"/>
                        </a:buClr>
                        <a:buSzTx/>
                        <a:buFont typeface="Wingdings" pitchFamily="2" charset="2"/>
                        <a:buNone/>
                        <a:tabLst/>
                      </a:pPr>
                      <a:r>
                        <a:rPr kumimoji="0" lang="en-US" altLang="zh-CN" sz="2400" b="1" i="1" u="none" strike="noStrike" cap="none" normalizeH="0" baseline="0" smtClean="0">
                          <a:ln>
                            <a:noFill/>
                          </a:ln>
                          <a:solidFill>
                            <a:schemeClr val="tx1"/>
                          </a:solidFill>
                          <a:effectLst/>
                          <a:latin typeface="Verdana" pitchFamily="34" charset="0"/>
                          <a:ea typeface="宋体" pitchFamily="2" charset="-122"/>
                        </a:rPr>
                        <a:t>s</a:t>
                      </a:r>
                      <a:r>
                        <a:rPr kumimoji="0" lang="en-US" altLang="zh-CN" sz="2400" b="1" i="0" u="none" strike="noStrike" cap="none" normalizeH="0" baseline="-25000" smtClean="0">
                          <a:ln>
                            <a:noFill/>
                          </a:ln>
                          <a:solidFill>
                            <a:schemeClr val="tx1"/>
                          </a:solidFill>
                          <a:effectLst/>
                          <a:latin typeface="Verdana" pitchFamily="34" charset="0"/>
                          <a:ea typeface="宋体" pitchFamily="2" charset="-122"/>
                        </a:rPr>
                        <a:t>3</a:t>
                      </a:r>
                      <a:r>
                        <a:rPr kumimoji="0" lang="en-US" altLang="zh-CN" sz="2400" b="1" i="0" u="none" strike="noStrike" cap="none" normalizeH="0" baseline="0" smtClean="0">
                          <a:ln>
                            <a:noFill/>
                          </a:ln>
                          <a:solidFill>
                            <a:schemeClr val="tx1"/>
                          </a:solidFill>
                          <a:effectLst/>
                          <a:latin typeface="Verdana" pitchFamily="34" charset="0"/>
                          <a:ea typeface="宋体" pitchFamily="2" charset="-122"/>
                        </a:rPr>
                        <a:t>=01000</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40000"/>
                        </a:spcBef>
                        <a:spcAft>
                          <a:spcPct val="0"/>
                        </a:spcAft>
                        <a:buClr>
                          <a:schemeClr val="hlink"/>
                        </a:buClr>
                        <a:buSzTx/>
                        <a:buFont typeface="Wingdings" pitchFamily="2" charset="2"/>
                        <a:buNone/>
                        <a:tabLst/>
                      </a:pPr>
                      <a:r>
                        <a:rPr kumimoji="0" lang="zh-CN" altLang="en-US" sz="2400" b="1" i="0" u="none" strike="noStrike" cap="none" normalizeH="0" baseline="0" smtClean="0">
                          <a:ln>
                            <a:noFill/>
                          </a:ln>
                          <a:solidFill>
                            <a:schemeClr val="tx1"/>
                          </a:solidFill>
                          <a:effectLst/>
                          <a:latin typeface="Verdana" pitchFamily="34" charset="0"/>
                          <a:ea typeface="宋体" pitchFamily="2" charset="-122"/>
                        </a:rPr>
                        <a:t>      </a:t>
                      </a:r>
                      <a:r>
                        <a:rPr kumimoji="0" lang="en-US" altLang="zh-CN" sz="2400" b="1" i="0" u="none" strike="noStrike" cap="none" normalizeH="0" baseline="0" smtClean="0">
                          <a:ln>
                            <a:noFill/>
                          </a:ln>
                          <a:solidFill>
                            <a:schemeClr val="tx1"/>
                          </a:solidFill>
                          <a:effectLst/>
                          <a:latin typeface="Verdana" pitchFamily="34" charset="0"/>
                          <a:ea typeface="宋体" pitchFamily="2" charset="-122"/>
                        </a:rPr>
                        <a:t>64</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40000"/>
                        </a:spcBef>
                        <a:spcAft>
                          <a:spcPct val="0"/>
                        </a:spcAft>
                        <a:buClr>
                          <a:schemeClr val="hlink"/>
                        </a:buClr>
                        <a:buSzTx/>
                        <a:buFont typeface="Wingdings" pitchFamily="2" charset="2"/>
                        <a:buNone/>
                        <a:tabLst/>
                      </a:pPr>
                      <a:r>
                        <a:rPr kumimoji="0" lang="zh-CN" altLang="en-US" sz="2400" b="1" i="0" u="none" strike="noStrike" cap="none" normalizeH="0" baseline="0" smtClean="0">
                          <a:ln>
                            <a:noFill/>
                          </a:ln>
                          <a:solidFill>
                            <a:schemeClr val="tx1"/>
                          </a:solidFill>
                          <a:effectLst/>
                          <a:latin typeface="Verdana" pitchFamily="34" charset="0"/>
                          <a:ea typeface="宋体" pitchFamily="2" charset="-122"/>
                        </a:rPr>
                        <a:t>    </a:t>
                      </a:r>
                      <a:r>
                        <a:rPr kumimoji="0" lang="en-US" altLang="zh-CN" sz="2400" b="1" i="0" u="none" strike="noStrike" cap="none" normalizeH="0" baseline="0" smtClean="0">
                          <a:ln>
                            <a:noFill/>
                          </a:ln>
                          <a:solidFill>
                            <a:schemeClr val="tx1"/>
                          </a:solidFill>
                          <a:effectLst/>
                          <a:latin typeface="Verdana" pitchFamily="34" charset="0"/>
                          <a:ea typeface="宋体" pitchFamily="2" charset="-122"/>
                        </a:rPr>
                        <a:t>0.06</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40000"/>
                        </a:spcBef>
                        <a:spcAft>
                          <a:spcPct val="0"/>
                        </a:spcAft>
                        <a:buClr>
                          <a:schemeClr val="hlink"/>
                        </a:buClr>
                        <a:buSzTx/>
                        <a:buFont typeface="Wingdings" pitchFamily="2" charset="2"/>
                        <a:buNone/>
                        <a:tabLst/>
                      </a:pPr>
                      <a:r>
                        <a:rPr kumimoji="0" lang="zh-CN" altLang="en-US" sz="2400" b="1" i="0" u="none" strike="noStrike" cap="none" normalizeH="0" baseline="0" smtClean="0">
                          <a:ln>
                            <a:noFill/>
                          </a:ln>
                          <a:solidFill>
                            <a:schemeClr val="tx1"/>
                          </a:solidFill>
                          <a:effectLst/>
                          <a:latin typeface="Verdana" pitchFamily="34" charset="0"/>
                          <a:ea typeface="宋体" pitchFamily="2" charset="-122"/>
                        </a:rPr>
                        <a:t>      </a:t>
                      </a:r>
                      <a:r>
                        <a:rPr kumimoji="0" lang="en-US" altLang="zh-CN" sz="2400" b="1" i="0" u="none" strike="noStrike" cap="none" normalizeH="0" baseline="0" smtClean="0">
                          <a:ln>
                            <a:noFill/>
                          </a:ln>
                          <a:solidFill>
                            <a:schemeClr val="tx1"/>
                          </a:solidFill>
                          <a:effectLst/>
                          <a:latin typeface="Verdana" pitchFamily="34" charset="0"/>
                          <a:ea typeface="宋体" pitchFamily="2" charset="-122"/>
                        </a:rPr>
                        <a:t>0</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458788">
                <a:tc>
                  <a:txBody>
                    <a:bodyPr/>
                    <a:lstStyle/>
                    <a:p>
                      <a:pPr marL="0" marR="0" lvl="0" indent="0" algn="l" defTabSz="914400" rtl="0" eaLnBrk="0" fontAlgn="base" latinLnBrk="0" hangingPunct="0">
                        <a:lnSpc>
                          <a:spcPct val="100000"/>
                        </a:lnSpc>
                        <a:spcBef>
                          <a:spcPct val="40000"/>
                        </a:spcBef>
                        <a:spcAft>
                          <a:spcPct val="0"/>
                        </a:spcAft>
                        <a:buClr>
                          <a:schemeClr val="hlink"/>
                        </a:buClr>
                        <a:buSzTx/>
                        <a:buFont typeface="Wingdings" pitchFamily="2" charset="2"/>
                        <a:buNone/>
                        <a:tabLst/>
                      </a:pPr>
                      <a:r>
                        <a:rPr kumimoji="0" lang="en-US" altLang="zh-CN" sz="2400" b="1" i="1" u="none" strike="noStrike" cap="none" normalizeH="0" baseline="0" smtClean="0">
                          <a:ln>
                            <a:noFill/>
                          </a:ln>
                          <a:solidFill>
                            <a:schemeClr val="tx1"/>
                          </a:solidFill>
                          <a:effectLst/>
                          <a:latin typeface="Verdana" pitchFamily="34" charset="0"/>
                          <a:ea typeface="宋体" pitchFamily="2" charset="-122"/>
                        </a:rPr>
                        <a:t>s</a:t>
                      </a:r>
                      <a:r>
                        <a:rPr kumimoji="0" lang="en-US" altLang="zh-CN" sz="2400" b="1" i="0" u="none" strike="noStrike" cap="none" normalizeH="0" baseline="-25000" smtClean="0">
                          <a:ln>
                            <a:noFill/>
                          </a:ln>
                          <a:solidFill>
                            <a:schemeClr val="tx1"/>
                          </a:solidFill>
                          <a:effectLst/>
                          <a:latin typeface="Verdana" pitchFamily="34" charset="0"/>
                          <a:ea typeface="宋体" pitchFamily="2" charset="-122"/>
                        </a:rPr>
                        <a:t>4</a:t>
                      </a:r>
                      <a:r>
                        <a:rPr kumimoji="0" lang="en-US" altLang="zh-CN" sz="2400" b="1" i="0" u="none" strike="noStrike" cap="none" normalizeH="0" baseline="0" smtClean="0">
                          <a:ln>
                            <a:noFill/>
                          </a:ln>
                          <a:solidFill>
                            <a:schemeClr val="tx1"/>
                          </a:solidFill>
                          <a:effectLst/>
                          <a:latin typeface="Verdana" pitchFamily="34" charset="0"/>
                          <a:ea typeface="宋体" pitchFamily="2" charset="-122"/>
                        </a:rPr>
                        <a:t>=10011</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40000"/>
                        </a:spcBef>
                        <a:spcAft>
                          <a:spcPct val="0"/>
                        </a:spcAft>
                        <a:buClr>
                          <a:schemeClr val="hlink"/>
                        </a:buClr>
                        <a:buSzTx/>
                        <a:buFont typeface="Wingdings" pitchFamily="2" charset="2"/>
                        <a:buNone/>
                        <a:tabLst/>
                      </a:pPr>
                      <a:r>
                        <a:rPr kumimoji="0" lang="zh-CN" altLang="en-US" sz="2400" b="1" i="0" u="none" strike="noStrike" cap="none" normalizeH="0" baseline="0" smtClean="0">
                          <a:ln>
                            <a:noFill/>
                          </a:ln>
                          <a:solidFill>
                            <a:schemeClr val="tx1"/>
                          </a:solidFill>
                          <a:effectLst/>
                          <a:latin typeface="Verdana" pitchFamily="34" charset="0"/>
                          <a:ea typeface="宋体" pitchFamily="2" charset="-122"/>
                        </a:rPr>
                        <a:t>    </a:t>
                      </a:r>
                      <a:r>
                        <a:rPr kumimoji="0" lang="en-US" altLang="zh-CN" sz="2400" b="1" i="0" u="none" strike="noStrike" cap="none" normalizeH="0" baseline="0" smtClean="0">
                          <a:ln>
                            <a:noFill/>
                          </a:ln>
                          <a:solidFill>
                            <a:schemeClr val="tx1"/>
                          </a:solidFill>
                          <a:effectLst/>
                          <a:latin typeface="Verdana" pitchFamily="34" charset="0"/>
                          <a:ea typeface="宋体" pitchFamily="2" charset="-122"/>
                        </a:rPr>
                        <a:t>361</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40000"/>
                        </a:spcBef>
                        <a:spcAft>
                          <a:spcPct val="0"/>
                        </a:spcAft>
                        <a:buClr>
                          <a:schemeClr val="hlink"/>
                        </a:buClr>
                        <a:buSzTx/>
                        <a:buFont typeface="Wingdings" pitchFamily="2" charset="2"/>
                        <a:buNone/>
                        <a:tabLst/>
                      </a:pPr>
                      <a:r>
                        <a:rPr kumimoji="0" lang="zh-CN" altLang="en-US" sz="2400" b="1" i="0" u="none" strike="noStrike" cap="none" normalizeH="0" baseline="0" smtClean="0">
                          <a:ln>
                            <a:noFill/>
                          </a:ln>
                          <a:solidFill>
                            <a:schemeClr val="tx1"/>
                          </a:solidFill>
                          <a:effectLst/>
                          <a:latin typeface="Verdana" pitchFamily="34" charset="0"/>
                          <a:ea typeface="宋体" pitchFamily="2" charset="-122"/>
                        </a:rPr>
                        <a:t>    </a:t>
                      </a:r>
                      <a:r>
                        <a:rPr kumimoji="0" lang="en-US" altLang="zh-CN" sz="2400" b="1" i="0" u="none" strike="noStrike" cap="none" normalizeH="0" baseline="0" smtClean="0">
                          <a:ln>
                            <a:noFill/>
                          </a:ln>
                          <a:solidFill>
                            <a:schemeClr val="tx1"/>
                          </a:solidFill>
                          <a:effectLst/>
                          <a:latin typeface="Verdana" pitchFamily="34" charset="0"/>
                          <a:ea typeface="宋体" pitchFamily="2" charset="-122"/>
                        </a:rPr>
                        <a:t>0.31</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40000"/>
                        </a:spcBef>
                        <a:spcAft>
                          <a:spcPct val="0"/>
                        </a:spcAft>
                        <a:buClr>
                          <a:schemeClr val="hlink"/>
                        </a:buClr>
                        <a:buSzTx/>
                        <a:buFont typeface="Wingdings" pitchFamily="2" charset="2"/>
                        <a:buNone/>
                        <a:tabLst/>
                      </a:pPr>
                      <a:r>
                        <a:rPr kumimoji="0" lang="zh-CN" altLang="en-US" sz="2400" b="1" i="0" u="none" strike="noStrike" cap="none" normalizeH="0" baseline="0" smtClean="0">
                          <a:ln>
                            <a:noFill/>
                          </a:ln>
                          <a:solidFill>
                            <a:schemeClr val="tx1"/>
                          </a:solidFill>
                          <a:effectLst/>
                          <a:latin typeface="Verdana" pitchFamily="34" charset="0"/>
                          <a:ea typeface="宋体" pitchFamily="2" charset="-122"/>
                        </a:rPr>
                        <a:t>      </a:t>
                      </a:r>
                      <a:r>
                        <a:rPr kumimoji="0" lang="en-US" altLang="zh-CN" sz="2400" b="1" i="0" u="none" strike="noStrike" cap="none" normalizeH="0" baseline="0" smtClean="0">
                          <a:ln>
                            <a:noFill/>
                          </a:ln>
                          <a:solidFill>
                            <a:schemeClr val="tx1"/>
                          </a:solidFill>
                          <a:effectLst/>
                          <a:latin typeface="Verdana" pitchFamily="34" charset="0"/>
                          <a:ea typeface="宋体" pitchFamily="2" charset="-122"/>
                        </a:rPr>
                        <a:t>1</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bl>
          </a:graphicData>
        </a:graphic>
      </p:graphicFrame>
      <p:sp>
        <p:nvSpPr>
          <p:cNvPr id="93220" name="Text Box 36"/>
          <p:cNvSpPr txBox="1">
            <a:spLocks noChangeArrowheads="1"/>
          </p:cNvSpPr>
          <p:nvPr/>
        </p:nvSpPr>
        <p:spPr bwMode="auto">
          <a:xfrm>
            <a:off x="900113" y="4292600"/>
            <a:ext cx="7200900" cy="1973263"/>
          </a:xfrm>
          <a:prstGeom prst="rect">
            <a:avLst/>
          </a:prstGeom>
          <a:noFill/>
          <a:ln w="9525">
            <a:noFill/>
            <a:miter lim="800000"/>
            <a:headEnd/>
            <a:tailEnd/>
          </a:ln>
        </p:spPr>
        <p:txBody>
          <a:bodyPr>
            <a:spAutoFit/>
          </a:bodyPr>
          <a:lstStyle/>
          <a:p>
            <a:pPr>
              <a:lnSpc>
                <a:spcPct val="120000"/>
              </a:lnSpc>
              <a:spcBef>
                <a:spcPct val="30000"/>
              </a:spcBef>
            </a:pPr>
            <a:r>
              <a:rPr kumimoji="1" lang="zh-CN" altLang="en-US" sz="2800">
                <a:solidFill>
                  <a:srgbClr val="FF3300"/>
                </a:solidFill>
                <a:latin typeface="黑体" pitchFamily="2" charset="-122"/>
                <a:ea typeface="黑体" pitchFamily="2" charset="-122"/>
              </a:rPr>
              <a:t>于是，经选择复制得群体：</a:t>
            </a:r>
          </a:p>
          <a:p>
            <a:pPr>
              <a:lnSpc>
                <a:spcPct val="120000"/>
              </a:lnSpc>
              <a:spcBef>
                <a:spcPct val="50000"/>
              </a:spcBef>
            </a:pPr>
            <a:r>
              <a:rPr kumimoji="1" lang="en-US" altLang="zh-CN" sz="2800" i="1">
                <a:latin typeface="Times New Roman" pitchFamily="18" charset="0"/>
                <a:ea typeface="宋体" charset="-122"/>
              </a:rPr>
              <a:t>        s</a:t>
            </a:r>
            <a:r>
              <a:rPr kumimoji="1" lang="en-US" altLang="zh-CN" sz="2800" baseline="-30000">
                <a:latin typeface="Times New Roman" pitchFamily="18" charset="0"/>
                <a:ea typeface="宋体" charset="-122"/>
              </a:rPr>
              <a:t>1</a:t>
            </a:r>
            <a:r>
              <a:rPr kumimoji="1" lang="en-US" altLang="zh-CN" sz="2800" i="1">
                <a:latin typeface="Courier New" pitchFamily="49" charset="0"/>
                <a:ea typeface="宋体" charset="-122"/>
              </a:rPr>
              <a:t>’</a:t>
            </a:r>
            <a:r>
              <a:rPr kumimoji="1" lang="en-US" altLang="zh-CN" sz="2800" i="1">
                <a:latin typeface="Times New Roman" pitchFamily="18" charset="0"/>
                <a:ea typeface="宋体" charset="-122"/>
              </a:rPr>
              <a:t> </a:t>
            </a:r>
            <a:r>
              <a:rPr kumimoji="1" lang="en-US" altLang="zh-CN" sz="2800">
                <a:latin typeface="Times New Roman" pitchFamily="18" charset="0"/>
                <a:ea typeface="宋体" charset="-122"/>
              </a:rPr>
              <a:t>=11000</a:t>
            </a:r>
            <a:r>
              <a:rPr kumimoji="1" lang="zh-CN" altLang="en-US" sz="2800">
                <a:latin typeface="Times New Roman" pitchFamily="18" charset="0"/>
                <a:ea typeface="宋体" charset="-122"/>
              </a:rPr>
              <a:t>（</a:t>
            </a:r>
            <a:r>
              <a:rPr kumimoji="1" lang="en-US" altLang="zh-CN" sz="2800">
                <a:latin typeface="Times New Roman" pitchFamily="18" charset="0"/>
                <a:ea typeface="宋体" charset="-122"/>
              </a:rPr>
              <a:t>24</a:t>
            </a:r>
            <a:r>
              <a:rPr kumimoji="1" lang="zh-CN" altLang="en-US" sz="2800">
                <a:latin typeface="Times New Roman" pitchFamily="18" charset="0"/>
                <a:ea typeface="宋体" charset="-122"/>
              </a:rPr>
              <a:t>）</a:t>
            </a:r>
            <a:r>
              <a:rPr kumimoji="1" lang="en-US" altLang="zh-CN" sz="2800">
                <a:latin typeface="Times New Roman" pitchFamily="18" charset="0"/>
                <a:ea typeface="宋体" charset="-122"/>
              </a:rPr>
              <a:t>,  </a:t>
            </a:r>
            <a:r>
              <a:rPr kumimoji="1" lang="en-US" altLang="zh-CN" sz="2800" i="1">
                <a:latin typeface="Times New Roman" pitchFamily="18" charset="0"/>
                <a:ea typeface="宋体" charset="-122"/>
              </a:rPr>
              <a:t>s</a:t>
            </a:r>
            <a:r>
              <a:rPr kumimoji="1" lang="en-US" altLang="zh-CN" sz="2800" baseline="-30000">
                <a:latin typeface="Times New Roman" pitchFamily="18" charset="0"/>
                <a:ea typeface="宋体" charset="-122"/>
              </a:rPr>
              <a:t>2</a:t>
            </a:r>
            <a:r>
              <a:rPr kumimoji="1" lang="en-US" altLang="zh-CN" sz="2800" i="1">
                <a:latin typeface="Courier New" pitchFamily="49" charset="0"/>
                <a:ea typeface="宋体" charset="-122"/>
              </a:rPr>
              <a:t>’</a:t>
            </a:r>
            <a:r>
              <a:rPr kumimoji="1" lang="en-US" altLang="zh-CN" sz="2800" i="1">
                <a:latin typeface="Times New Roman" pitchFamily="18" charset="0"/>
                <a:ea typeface="宋体" charset="-122"/>
              </a:rPr>
              <a:t> </a:t>
            </a:r>
            <a:r>
              <a:rPr kumimoji="1" lang="en-US" altLang="zh-CN" sz="2800">
                <a:latin typeface="Times New Roman" pitchFamily="18" charset="0"/>
                <a:ea typeface="宋体" charset="-122"/>
              </a:rPr>
              <a:t>=01101</a:t>
            </a:r>
            <a:r>
              <a:rPr kumimoji="1" lang="zh-CN" altLang="en-US" sz="2800">
                <a:latin typeface="Times New Roman" pitchFamily="18" charset="0"/>
                <a:ea typeface="宋体" charset="-122"/>
              </a:rPr>
              <a:t>（</a:t>
            </a:r>
            <a:r>
              <a:rPr kumimoji="1" lang="en-US" altLang="zh-CN" sz="2800">
                <a:latin typeface="Times New Roman" pitchFamily="18" charset="0"/>
                <a:ea typeface="宋体" charset="-122"/>
              </a:rPr>
              <a:t>13</a:t>
            </a:r>
            <a:r>
              <a:rPr kumimoji="1" lang="zh-CN" altLang="en-US" sz="2800">
                <a:latin typeface="Times New Roman" pitchFamily="18" charset="0"/>
                <a:ea typeface="宋体" charset="-122"/>
              </a:rPr>
              <a:t>） </a:t>
            </a:r>
          </a:p>
          <a:p>
            <a:pPr>
              <a:lnSpc>
                <a:spcPct val="120000"/>
              </a:lnSpc>
              <a:spcBef>
                <a:spcPct val="30000"/>
              </a:spcBef>
            </a:pPr>
            <a:r>
              <a:rPr kumimoji="1" lang="en-US" altLang="zh-CN" sz="2800" i="1">
                <a:latin typeface="Times New Roman" pitchFamily="18" charset="0"/>
                <a:ea typeface="宋体" charset="-122"/>
              </a:rPr>
              <a:t>         s</a:t>
            </a:r>
            <a:r>
              <a:rPr kumimoji="1" lang="en-US" altLang="zh-CN" sz="2800" baseline="-30000">
                <a:latin typeface="Times New Roman" pitchFamily="18" charset="0"/>
                <a:ea typeface="宋体" charset="-122"/>
              </a:rPr>
              <a:t>3</a:t>
            </a:r>
            <a:r>
              <a:rPr kumimoji="1" lang="en-US" altLang="zh-CN" sz="2800" i="1">
                <a:latin typeface="Courier New" pitchFamily="49" charset="0"/>
                <a:ea typeface="宋体" charset="-122"/>
              </a:rPr>
              <a:t>’</a:t>
            </a:r>
            <a:r>
              <a:rPr kumimoji="1" lang="en-US" altLang="zh-CN" sz="2800" i="1">
                <a:latin typeface="Times New Roman" pitchFamily="18" charset="0"/>
                <a:ea typeface="宋体" charset="-122"/>
              </a:rPr>
              <a:t> </a:t>
            </a:r>
            <a:r>
              <a:rPr kumimoji="1" lang="en-US" altLang="zh-CN" sz="2800">
                <a:latin typeface="Times New Roman" pitchFamily="18" charset="0"/>
                <a:ea typeface="宋体" charset="-122"/>
              </a:rPr>
              <a:t>=11000</a:t>
            </a:r>
            <a:r>
              <a:rPr kumimoji="1" lang="zh-CN" altLang="en-US" sz="2800">
                <a:latin typeface="Times New Roman" pitchFamily="18" charset="0"/>
                <a:ea typeface="宋体" charset="-122"/>
              </a:rPr>
              <a:t>（</a:t>
            </a:r>
            <a:r>
              <a:rPr kumimoji="1" lang="en-US" altLang="zh-CN" sz="2800">
                <a:latin typeface="Times New Roman" pitchFamily="18" charset="0"/>
                <a:ea typeface="宋体" charset="-122"/>
              </a:rPr>
              <a:t>24</a:t>
            </a:r>
            <a:r>
              <a:rPr kumimoji="1" lang="zh-CN" altLang="en-US" sz="2800">
                <a:latin typeface="Times New Roman" pitchFamily="18" charset="0"/>
                <a:ea typeface="宋体" charset="-122"/>
              </a:rPr>
              <a:t>）</a:t>
            </a:r>
            <a:r>
              <a:rPr kumimoji="1" lang="en-US" altLang="zh-CN" sz="2800">
                <a:latin typeface="Times New Roman" pitchFamily="18" charset="0"/>
                <a:ea typeface="宋体" charset="-122"/>
              </a:rPr>
              <a:t>,  </a:t>
            </a:r>
            <a:r>
              <a:rPr kumimoji="1" lang="en-US" altLang="zh-CN" sz="2800" i="1">
                <a:latin typeface="Times New Roman" pitchFamily="18" charset="0"/>
                <a:ea typeface="宋体" charset="-122"/>
              </a:rPr>
              <a:t>s</a:t>
            </a:r>
            <a:r>
              <a:rPr kumimoji="1" lang="en-US" altLang="zh-CN" sz="2800" baseline="-30000">
                <a:latin typeface="Times New Roman" pitchFamily="18" charset="0"/>
                <a:ea typeface="宋体" charset="-122"/>
              </a:rPr>
              <a:t>4</a:t>
            </a:r>
            <a:r>
              <a:rPr kumimoji="1" lang="en-US" altLang="zh-CN" sz="2800" i="1">
                <a:latin typeface="Courier New" pitchFamily="49" charset="0"/>
                <a:ea typeface="宋体" charset="-122"/>
              </a:rPr>
              <a:t>’</a:t>
            </a:r>
            <a:r>
              <a:rPr kumimoji="1" lang="en-US" altLang="zh-CN" sz="2800" i="1">
                <a:latin typeface="Times New Roman" pitchFamily="18" charset="0"/>
                <a:ea typeface="宋体" charset="-122"/>
              </a:rPr>
              <a:t> </a:t>
            </a:r>
            <a:r>
              <a:rPr kumimoji="1" lang="en-US" altLang="zh-CN" sz="2800">
                <a:latin typeface="Times New Roman" pitchFamily="18" charset="0"/>
                <a:ea typeface="宋体" charset="-122"/>
              </a:rPr>
              <a:t>=10011</a:t>
            </a:r>
            <a:r>
              <a:rPr kumimoji="1" lang="zh-CN" altLang="en-US" sz="2800">
                <a:latin typeface="Times New Roman" pitchFamily="18" charset="0"/>
                <a:ea typeface="宋体" charset="-122"/>
              </a:rPr>
              <a:t>（</a:t>
            </a:r>
            <a:r>
              <a:rPr kumimoji="1" lang="en-US" altLang="zh-CN" sz="2800">
                <a:latin typeface="Times New Roman" pitchFamily="18" charset="0"/>
                <a:ea typeface="宋体" charset="-122"/>
              </a:rPr>
              <a:t>19</a:t>
            </a:r>
            <a:r>
              <a:rPr kumimoji="1" lang="zh-CN" altLang="en-US" sz="2800">
                <a:latin typeface="Times New Roman" pitchFamily="18" charset="0"/>
                <a:ea typeface="宋体" charset="-122"/>
              </a:rPr>
              <a:t>） </a:t>
            </a: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93186"/>
                                        </p:tgtEl>
                                        <p:attrNameLst>
                                          <p:attrName>style.visibility</p:attrName>
                                        </p:attrNameLst>
                                      </p:cBhvr>
                                      <p:to>
                                        <p:strVal val="visible"/>
                                      </p:to>
                                    </p:set>
                                    <p:animEffect transition="in" filter="blinds(horizontal)">
                                      <p:cBhvr>
                                        <p:cTn id="7" dur="500"/>
                                        <p:tgtEl>
                                          <p:spTgt spid="93186"/>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nodeType="clickEffect">
                                  <p:stCondLst>
                                    <p:cond delay="0"/>
                                  </p:stCondLst>
                                  <p:childTnLst>
                                    <p:set>
                                      <p:cBhvr>
                                        <p:cTn id="11" dur="1" fill="hold">
                                          <p:stCondLst>
                                            <p:cond delay="0"/>
                                          </p:stCondLst>
                                        </p:cTn>
                                        <p:tgtEl>
                                          <p:spTgt spid="93222"/>
                                        </p:tgtEl>
                                        <p:attrNameLst>
                                          <p:attrName>style.visibility</p:attrName>
                                        </p:attrNameLst>
                                      </p:cBhvr>
                                      <p:to>
                                        <p:strVal val="visible"/>
                                      </p:to>
                                    </p:set>
                                    <p:animEffect transition="in" filter="blinds(horizontal)">
                                      <p:cBhvr>
                                        <p:cTn id="12" dur="500"/>
                                        <p:tgtEl>
                                          <p:spTgt spid="93222"/>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grpId="0" nodeType="clickEffect">
                                  <p:stCondLst>
                                    <p:cond delay="0"/>
                                  </p:stCondLst>
                                  <p:childTnLst>
                                    <p:set>
                                      <p:cBhvr>
                                        <p:cTn id="16" dur="1" fill="hold">
                                          <p:stCondLst>
                                            <p:cond delay="0"/>
                                          </p:stCondLst>
                                        </p:cTn>
                                        <p:tgtEl>
                                          <p:spTgt spid="93220"/>
                                        </p:tgtEl>
                                        <p:attrNameLst>
                                          <p:attrName>style.visibility</p:attrName>
                                        </p:attrNameLst>
                                      </p:cBhvr>
                                      <p:to>
                                        <p:strVal val="visible"/>
                                      </p:to>
                                    </p:set>
                                    <p:animEffect transition="in" filter="blinds(horizontal)">
                                      <p:cBhvr>
                                        <p:cTn id="17" dur="500"/>
                                        <p:tgtEl>
                                          <p:spTgt spid="9322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3186" grpId="0"/>
      <p:bldP spid="93220" grpId="0"/>
    </p:bld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4210" name="Text Box 2"/>
          <p:cNvSpPr txBox="1">
            <a:spLocks noChangeArrowheads="1"/>
          </p:cNvSpPr>
          <p:nvPr/>
        </p:nvSpPr>
        <p:spPr bwMode="auto">
          <a:xfrm>
            <a:off x="900113" y="1341438"/>
            <a:ext cx="7775575" cy="4883150"/>
          </a:xfrm>
          <a:prstGeom prst="rect">
            <a:avLst/>
          </a:prstGeom>
          <a:noFill/>
          <a:ln w="9525">
            <a:noFill/>
            <a:miter lim="800000"/>
            <a:headEnd/>
            <a:tailEnd/>
          </a:ln>
        </p:spPr>
        <p:txBody>
          <a:bodyPr>
            <a:spAutoFit/>
          </a:bodyPr>
          <a:lstStyle/>
          <a:p>
            <a:pPr algn="just">
              <a:lnSpc>
                <a:spcPct val="120000"/>
              </a:lnSpc>
              <a:spcBef>
                <a:spcPct val="20000"/>
              </a:spcBef>
            </a:pPr>
            <a:r>
              <a:rPr kumimoji="1" lang="zh-CN" altLang="en-US" sz="2800" dirty="0">
                <a:solidFill>
                  <a:srgbClr val="FF3300"/>
                </a:solidFill>
                <a:latin typeface="Times New Roman" pitchFamily="18" charset="0"/>
                <a:ea typeface="黑体" pitchFamily="2" charset="-122"/>
              </a:rPr>
              <a:t>交叉</a:t>
            </a:r>
          </a:p>
          <a:p>
            <a:pPr algn="just">
              <a:lnSpc>
                <a:spcPct val="120000"/>
              </a:lnSpc>
              <a:spcBef>
                <a:spcPct val="20000"/>
              </a:spcBef>
            </a:pPr>
            <a:r>
              <a:rPr kumimoji="1" lang="zh-CN" altLang="en-US" sz="2800" dirty="0">
                <a:latin typeface="Times New Roman" pitchFamily="18" charset="0"/>
                <a:ea typeface="黑体" pitchFamily="2" charset="-122"/>
              </a:rPr>
              <a:t>      </a:t>
            </a:r>
            <a:r>
              <a:rPr kumimoji="1" lang="zh-CN" altLang="en-US" sz="2800" dirty="0">
                <a:latin typeface="Times New Roman" pitchFamily="18" charset="0"/>
                <a:ea typeface="宋体" charset="-122"/>
                <a:cs typeface="Times New Roman" pitchFamily="18" charset="0"/>
              </a:rPr>
              <a:t>  设交叉率</a:t>
            </a:r>
            <a:r>
              <a:rPr kumimoji="1" lang="en-US" altLang="zh-CN" sz="2800" i="1" dirty="0">
                <a:latin typeface="Times New Roman" pitchFamily="18" charset="0"/>
                <a:ea typeface="宋体" charset="-122"/>
                <a:cs typeface="Times New Roman" pitchFamily="18" charset="0"/>
              </a:rPr>
              <a:t>p</a:t>
            </a:r>
            <a:r>
              <a:rPr kumimoji="1" lang="en-US" altLang="zh-CN" sz="2800" i="1" baseline="-30000" dirty="0">
                <a:latin typeface="Times New Roman" pitchFamily="18" charset="0"/>
                <a:ea typeface="宋体" charset="-122"/>
                <a:cs typeface="Times New Roman" pitchFamily="18" charset="0"/>
              </a:rPr>
              <a:t>c</a:t>
            </a:r>
            <a:r>
              <a:rPr kumimoji="1" lang="en-US" altLang="zh-CN" sz="2800" dirty="0">
                <a:latin typeface="Times New Roman" pitchFamily="18" charset="0"/>
                <a:ea typeface="宋体" charset="-122"/>
                <a:cs typeface="Times New Roman" pitchFamily="18" charset="0"/>
              </a:rPr>
              <a:t>=100%</a:t>
            </a:r>
            <a:r>
              <a:rPr kumimoji="1" lang="zh-CN" altLang="en-US" sz="2800" dirty="0">
                <a:latin typeface="Times New Roman" pitchFamily="18" charset="0"/>
                <a:ea typeface="宋体" charset="-122"/>
                <a:cs typeface="Times New Roman" pitchFamily="18" charset="0"/>
              </a:rPr>
              <a:t>，即</a:t>
            </a:r>
            <a:r>
              <a:rPr kumimoji="1" lang="en-US" altLang="zh-CN" sz="2800" i="1" dirty="0">
                <a:latin typeface="Times New Roman" pitchFamily="18" charset="0"/>
                <a:ea typeface="宋体" charset="-122"/>
                <a:cs typeface="Times New Roman" pitchFamily="18" charset="0"/>
              </a:rPr>
              <a:t>S</a:t>
            </a:r>
            <a:r>
              <a:rPr kumimoji="1" lang="en-US" altLang="zh-CN" sz="2800" baseline="-30000" dirty="0">
                <a:latin typeface="Times New Roman" pitchFamily="18" charset="0"/>
                <a:ea typeface="宋体" charset="-122"/>
                <a:cs typeface="Times New Roman" pitchFamily="18" charset="0"/>
              </a:rPr>
              <a:t>1</a:t>
            </a:r>
            <a:r>
              <a:rPr kumimoji="1" lang="zh-CN" altLang="en-US" sz="2800" dirty="0">
                <a:latin typeface="Times New Roman" pitchFamily="18" charset="0"/>
                <a:ea typeface="宋体" charset="-122"/>
                <a:cs typeface="Times New Roman" pitchFamily="18" charset="0"/>
              </a:rPr>
              <a:t>中的全体染色体都参加交叉运算。</a:t>
            </a:r>
          </a:p>
          <a:p>
            <a:pPr algn="just">
              <a:lnSpc>
                <a:spcPct val="120000"/>
              </a:lnSpc>
              <a:spcBef>
                <a:spcPct val="20000"/>
              </a:spcBef>
            </a:pPr>
            <a:r>
              <a:rPr kumimoji="1" lang="zh-CN" altLang="en-US" sz="2800" dirty="0">
                <a:latin typeface="Times New Roman" pitchFamily="18" charset="0"/>
                <a:ea typeface="宋体" charset="-122"/>
                <a:cs typeface="Times New Roman" pitchFamily="18" charset="0"/>
              </a:rPr>
              <a:t>        设</a:t>
            </a:r>
            <a:r>
              <a:rPr kumimoji="1" lang="en-US" altLang="zh-CN" sz="2800" i="1" dirty="0">
                <a:latin typeface="Times New Roman" pitchFamily="18" charset="0"/>
                <a:ea typeface="宋体" charset="-122"/>
                <a:cs typeface="Times New Roman" pitchFamily="18" charset="0"/>
              </a:rPr>
              <a:t>s</a:t>
            </a:r>
            <a:r>
              <a:rPr kumimoji="1" lang="en-US" altLang="zh-CN" sz="2800" baseline="-30000" dirty="0">
                <a:latin typeface="Times New Roman" pitchFamily="18" charset="0"/>
                <a:ea typeface="宋体" charset="-122"/>
                <a:cs typeface="Times New Roman" pitchFamily="18" charset="0"/>
              </a:rPr>
              <a:t>1</a:t>
            </a:r>
            <a:r>
              <a:rPr kumimoji="1" lang="en-US" altLang="zh-CN" sz="2800" i="1" dirty="0">
                <a:latin typeface="Courier New" pitchFamily="49" charset="0"/>
                <a:ea typeface="宋体" charset="-122"/>
                <a:cs typeface="Times New Roman" pitchFamily="18" charset="0"/>
              </a:rPr>
              <a:t>’</a:t>
            </a:r>
            <a:r>
              <a:rPr kumimoji="1" lang="zh-CN" altLang="en-US" sz="2800" dirty="0">
                <a:latin typeface="Times New Roman" pitchFamily="18" charset="0"/>
                <a:ea typeface="宋体" charset="-122"/>
                <a:cs typeface="Times New Roman" pitchFamily="18" charset="0"/>
              </a:rPr>
              <a:t>与</a:t>
            </a:r>
            <a:r>
              <a:rPr kumimoji="1" lang="en-US" altLang="zh-CN" sz="2800" i="1" dirty="0">
                <a:latin typeface="Times New Roman" pitchFamily="18" charset="0"/>
                <a:ea typeface="宋体" charset="-122"/>
                <a:cs typeface="Times New Roman" pitchFamily="18" charset="0"/>
              </a:rPr>
              <a:t>s</a:t>
            </a:r>
            <a:r>
              <a:rPr kumimoji="1" lang="en-US" altLang="zh-CN" sz="2800" baseline="-30000" dirty="0">
                <a:latin typeface="Times New Roman" pitchFamily="18" charset="0"/>
                <a:ea typeface="宋体" charset="-122"/>
                <a:cs typeface="Times New Roman" pitchFamily="18" charset="0"/>
              </a:rPr>
              <a:t>2</a:t>
            </a:r>
            <a:r>
              <a:rPr kumimoji="1" lang="en-US" altLang="zh-CN" sz="2800" i="1" dirty="0">
                <a:latin typeface="Courier New" pitchFamily="49" charset="0"/>
                <a:ea typeface="宋体" charset="-122"/>
                <a:cs typeface="Times New Roman" pitchFamily="18" charset="0"/>
              </a:rPr>
              <a:t>’</a:t>
            </a:r>
            <a:r>
              <a:rPr kumimoji="1" lang="zh-CN" altLang="en-US" sz="2800" dirty="0">
                <a:latin typeface="Times New Roman" pitchFamily="18" charset="0"/>
                <a:ea typeface="宋体" charset="-122"/>
                <a:cs typeface="Times New Roman" pitchFamily="18" charset="0"/>
              </a:rPr>
              <a:t>配对，</a:t>
            </a:r>
            <a:r>
              <a:rPr kumimoji="1" lang="en-US" altLang="zh-CN" sz="2800" i="1" dirty="0">
                <a:latin typeface="Times New Roman" pitchFamily="18" charset="0"/>
                <a:ea typeface="宋体" charset="-122"/>
                <a:cs typeface="Times New Roman" pitchFamily="18" charset="0"/>
              </a:rPr>
              <a:t>s</a:t>
            </a:r>
            <a:r>
              <a:rPr kumimoji="1" lang="en-US" altLang="zh-CN" sz="2800" baseline="-30000" dirty="0">
                <a:latin typeface="Times New Roman" pitchFamily="18" charset="0"/>
                <a:ea typeface="宋体" charset="-122"/>
                <a:cs typeface="Times New Roman" pitchFamily="18" charset="0"/>
              </a:rPr>
              <a:t>3</a:t>
            </a:r>
            <a:r>
              <a:rPr kumimoji="1" lang="en-US" altLang="zh-CN" sz="2800" i="1" dirty="0">
                <a:latin typeface="Courier New" pitchFamily="49" charset="0"/>
                <a:ea typeface="宋体" charset="-122"/>
                <a:cs typeface="Times New Roman" pitchFamily="18" charset="0"/>
              </a:rPr>
              <a:t>’</a:t>
            </a:r>
            <a:r>
              <a:rPr kumimoji="1" lang="zh-CN" altLang="en-US" sz="2800" dirty="0">
                <a:latin typeface="Times New Roman" pitchFamily="18" charset="0"/>
                <a:ea typeface="宋体" charset="-122"/>
                <a:cs typeface="Times New Roman" pitchFamily="18" charset="0"/>
              </a:rPr>
              <a:t>与</a:t>
            </a:r>
            <a:r>
              <a:rPr kumimoji="1" lang="en-US" altLang="zh-CN" sz="2800" i="1" dirty="0">
                <a:latin typeface="Times New Roman" pitchFamily="18" charset="0"/>
                <a:ea typeface="宋体" charset="-122"/>
                <a:cs typeface="Times New Roman" pitchFamily="18" charset="0"/>
              </a:rPr>
              <a:t>s</a:t>
            </a:r>
            <a:r>
              <a:rPr kumimoji="1" lang="en-US" altLang="zh-CN" sz="2800" baseline="-30000" dirty="0">
                <a:latin typeface="Times New Roman" pitchFamily="18" charset="0"/>
                <a:ea typeface="宋体" charset="-122"/>
                <a:cs typeface="Times New Roman" pitchFamily="18" charset="0"/>
              </a:rPr>
              <a:t>4</a:t>
            </a:r>
            <a:r>
              <a:rPr kumimoji="1" lang="en-US" altLang="zh-CN" sz="2800" i="1" dirty="0">
                <a:latin typeface="Courier New" pitchFamily="49" charset="0"/>
                <a:ea typeface="宋体" charset="-122"/>
                <a:cs typeface="Times New Roman" pitchFamily="18" charset="0"/>
              </a:rPr>
              <a:t>’</a:t>
            </a:r>
            <a:r>
              <a:rPr kumimoji="1" lang="zh-CN" altLang="en-US" sz="2800" dirty="0">
                <a:latin typeface="Times New Roman" pitchFamily="18" charset="0"/>
                <a:ea typeface="宋体" charset="-122"/>
                <a:cs typeface="Times New Roman" pitchFamily="18" charset="0"/>
              </a:rPr>
              <a:t>配对。分别交换后两位基因，得新染色体：</a:t>
            </a:r>
            <a:endParaRPr kumimoji="1" lang="zh-CN" altLang="en-US" sz="2800" dirty="0">
              <a:latin typeface="宋体" charset="-122"/>
              <a:ea typeface="宋体" charset="-122"/>
            </a:endParaRPr>
          </a:p>
          <a:p>
            <a:pPr algn="ctr">
              <a:lnSpc>
                <a:spcPct val="120000"/>
              </a:lnSpc>
              <a:spcBef>
                <a:spcPct val="50000"/>
              </a:spcBef>
            </a:pPr>
            <a:r>
              <a:rPr kumimoji="1" lang="zh-CN" altLang="en-US" sz="2800" i="1" dirty="0">
                <a:latin typeface="Times New Roman" pitchFamily="18" charset="0"/>
                <a:ea typeface="宋体" charset="-122"/>
              </a:rPr>
              <a:t>   </a:t>
            </a:r>
            <a:r>
              <a:rPr kumimoji="1" lang="en-US" altLang="zh-CN" sz="2800" i="1" dirty="0">
                <a:latin typeface="Times New Roman" pitchFamily="18" charset="0"/>
                <a:ea typeface="宋体" charset="-122"/>
              </a:rPr>
              <a:t>s</a:t>
            </a:r>
            <a:r>
              <a:rPr kumimoji="1" lang="en-US" altLang="zh-CN" sz="2800" baseline="-30000" dirty="0">
                <a:latin typeface="Times New Roman" pitchFamily="18" charset="0"/>
                <a:ea typeface="宋体" charset="-122"/>
              </a:rPr>
              <a:t>1</a:t>
            </a:r>
            <a:r>
              <a:rPr kumimoji="1" lang="en-US" altLang="zh-CN" sz="2800" i="1" dirty="0">
                <a:latin typeface="Courier New" pitchFamily="49" charset="0"/>
                <a:ea typeface="宋体" charset="-122"/>
              </a:rPr>
              <a:t>’’</a:t>
            </a:r>
            <a:r>
              <a:rPr kumimoji="1" lang="en-US" altLang="zh-CN" sz="2800" dirty="0">
                <a:latin typeface="Times New Roman" pitchFamily="18" charset="0"/>
                <a:ea typeface="宋体" charset="-122"/>
              </a:rPr>
              <a:t>=</a:t>
            </a:r>
            <a:r>
              <a:rPr kumimoji="1" lang="en-US" altLang="zh-CN" sz="2800" dirty="0">
                <a:solidFill>
                  <a:srgbClr val="D252FA"/>
                </a:solidFill>
                <a:latin typeface="Times New Roman" pitchFamily="18" charset="0"/>
                <a:ea typeface="宋体" charset="-122"/>
              </a:rPr>
              <a:t>11</a:t>
            </a:r>
            <a:r>
              <a:rPr kumimoji="1" lang="en-US" altLang="zh-CN" sz="2800" dirty="0">
                <a:latin typeface="Times New Roman" pitchFamily="18" charset="0"/>
                <a:ea typeface="宋体" charset="-122"/>
              </a:rPr>
              <a:t>001</a:t>
            </a:r>
            <a:r>
              <a:rPr kumimoji="1" lang="zh-CN" altLang="en-US" sz="2800" dirty="0">
                <a:latin typeface="Times New Roman" pitchFamily="18" charset="0"/>
                <a:ea typeface="宋体" charset="-122"/>
              </a:rPr>
              <a:t>（</a:t>
            </a:r>
            <a:r>
              <a:rPr kumimoji="1" lang="en-US" altLang="zh-CN" sz="2800" dirty="0">
                <a:latin typeface="Times New Roman" pitchFamily="18" charset="0"/>
                <a:ea typeface="宋体" charset="-122"/>
              </a:rPr>
              <a:t>25</a:t>
            </a:r>
            <a:r>
              <a:rPr kumimoji="1" lang="zh-CN" altLang="en-US" sz="2800" dirty="0">
                <a:latin typeface="Times New Roman" pitchFamily="18" charset="0"/>
                <a:ea typeface="宋体" charset="-122"/>
              </a:rPr>
              <a:t>）</a:t>
            </a:r>
            <a:r>
              <a:rPr kumimoji="1" lang="en-US" altLang="zh-CN" sz="2800" dirty="0">
                <a:latin typeface="Times New Roman" pitchFamily="18" charset="0"/>
                <a:ea typeface="宋体" charset="-122"/>
              </a:rPr>
              <a:t>,  </a:t>
            </a:r>
            <a:r>
              <a:rPr kumimoji="1" lang="en-US" altLang="zh-CN" sz="2800" i="1" dirty="0">
                <a:latin typeface="Times New Roman" pitchFamily="18" charset="0"/>
                <a:ea typeface="宋体" charset="-122"/>
              </a:rPr>
              <a:t>s</a:t>
            </a:r>
            <a:r>
              <a:rPr kumimoji="1" lang="en-US" altLang="zh-CN" sz="2800" baseline="-30000" dirty="0">
                <a:latin typeface="Times New Roman" pitchFamily="18" charset="0"/>
                <a:ea typeface="宋体" charset="-122"/>
              </a:rPr>
              <a:t>2</a:t>
            </a:r>
            <a:r>
              <a:rPr kumimoji="1" lang="en-US" altLang="zh-CN" sz="2800" i="1" dirty="0">
                <a:latin typeface="Courier New" pitchFamily="49" charset="0"/>
                <a:ea typeface="宋体" charset="-122"/>
              </a:rPr>
              <a:t>’’</a:t>
            </a:r>
            <a:r>
              <a:rPr kumimoji="1" lang="en-US" altLang="zh-CN" sz="2800" dirty="0">
                <a:latin typeface="Times New Roman" pitchFamily="18" charset="0"/>
                <a:ea typeface="宋体" charset="-122"/>
              </a:rPr>
              <a:t>=</a:t>
            </a:r>
            <a:r>
              <a:rPr kumimoji="1" lang="en-US" altLang="zh-CN" sz="2800" dirty="0">
                <a:solidFill>
                  <a:srgbClr val="D252FA"/>
                </a:solidFill>
                <a:latin typeface="Times New Roman" pitchFamily="18" charset="0"/>
                <a:ea typeface="宋体" charset="-122"/>
              </a:rPr>
              <a:t>01</a:t>
            </a:r>
            <a:r>
              <a:rPr kumimoji="1" lang="en-US" altLang="zh-CN" sz="2800" dirty="0">
                <a:latin typeface="Times New Roman" pitchFamily="18" charset="0"/>
                <a:ea typeface="宋体" charset="-122"/>
              </a:rPr>
              <a:t>100</a:t>
            </a:r>
            <a:r>
              <a:rPr kumimoji="1" lang="zh-CN" altLang="en-US" sz="2800" dirty="0">
                <a:latin typeface="Times New Roman" pitchFamily="18" charset="0"/>
                <a:ea typeface="宋体" charset="-122"/>
              </a:rPr>
              <a:t>（</a:t>
            </a:r>
            <a:r>
              <a:rPr kumimoji="1" lang="en-US" altLang="zh-CN" sz="2800" dirty="0">
                <a:latin typeface="Times New Roman" pitchFamily="18" charset="0"/>
                <a:ea typeface="宋体" charset="-122"/>
              </a:rPr>
              <a:t>12</a:t>
            </a:r>
            <a:r>
              <a:rPr kumimoji="1" lang="zh-CN" altLang="en-US" sz="2800" dirty="0">
                <a:latin typeface="Times New Roman" pitchFamily="18" charset="0"/>
                <a:ea typeface="宋体" charset="-122"/>
              </a:rPr>
              <a:t>）</a:t>
            </a:r>
          </a:p>
          <a:p>
            <a:pPr algn="ctr">
              <a:lnSpc>
                <a:spcPct val="120000"/>
              </a:lnSpc>
              <a:spcBef>
                <a:spcPct val="20000"/>
              </a:spcBef>
            </a:pPr>
            <a:r>
              <a:rPr kumimoji="1" lang="zh-CN" altLang="en-US" sz="2800" dirty="0">
                <a:latin typeface="Times New Roman" pitchFamily="18" charset="0"/>
                <a:ea typeface="宋体" charset="-122"/>
              </a:rPr>
              <a:t>   </a:t>
            </a:r>
            <a:r>
              <a:rPr kumimoji="1" lang="en-US" altLang="zh-CN" sz="2800" i="1" dirty="0">
                <a:latin typeface="Times New Roman" pitchFamily="18" charset="0"/>
                <a:ea typeface="宋体" charset="-122"/>
              </a:rPr>
              <a:t>s</a:t>
            </a:r>
            <a:r>
              <a:rPr kumimoji="1" lang="en-US" altLang="zh-CN" sz="2800" baseline="-30000" dirty="0">
                <a:latin typeface="Times New Roman" pitchFamily="18" charset="0"/>
                <a:ea typeface="宋体" charset="-122"/>
              </a:rPr>
              <a:t>3</a:t>
            </a:r>
            <a:r>
              <a:rPr kumimoji="1" lang="en-US" altLang="zh-CN" sz="2800" i="1" dirty="0">
                <a:latin typeface="Courier New" pitchFamily="49" charset="0"/>
                <a:ea typeface="宋体" charset="-122"/>
              </a:rPr>
              <a:t>’’</a:t>
            </a:r>
            <a:r>
              <a:rPr kumimoji="1" lang="en-US" altLang="zh-CN" sz="2800" dirty="0">
                <a:latin typeface="Times New Roman" pitchFamily="18" charset="0"/>
                <a:ea typeface="宋体" charset="-122"/>
              </a:rPr>
              <a:t>=</a:t>
            </a:r>
            <a:r>
              <a:rPr kumimoji="1" lang="en-US" altLang="zh-CN" sz="2800" dirty="0">
                <a:solidFill>
                  <a:srgbClr val="0000FF"/>
                </a:solidFill>
                <a:latin typeface="Times New Roman" pitchFamily="18" charset="0"/>
                <a:ea typeface="宋体" charset="-122"/>
              </a:rPr>
              <a:t>11</a:t>
            </a:r>
            <a:r>
              <a:rPr kumimoji="1" lang="en-US" altLang="zh-CN" sz="2800" dirty="0">
                <a:latin typeface="Times New Roman" pitchFamily="18" charset="0"/>
                <a:ea typeface="宋体" charset="-122"/>
              </a:rPr>
              <a:t>011</a:t>
            </a:r>
            <a:r>
              <a:rPr kumimoji="1" lang="zh-CN" altLang="en-US" sz="2800" dirty="0">
                <a:latin typeface="Times New Roman" pitchFamily="18" charset="0"/>
                <a:ea typeface="宋体" charset="-122"/>
              </a:rPr>
              <a:t>（</a:t>
            </a:r>
            <a:r>
              <a:rPr kumimoji="1" lang="en-US" altLang="zh-CN" sz="2800" dirty="0">
                <a:latin typeface="Times New Roman" pitchFamily="18" charset="0"/>
                <a:ea typeface="宋体" charset="-122"/>
              </a:rPr>
              <a:t>27</a:t>
            </a:r>
            <a:r>
              <a:rPr kumimoji="1" lang="zh-CN" altLang="en-US" sz="2800" dirty="0">
                <a:latin typeface="Times New Roman" pitchFamily="18" charset="0"/>
                <a:ea typeface="宋体" charset="-122"/>
              </a:rPr>
              <a:t>）</a:t>
            </a:r>
            <a:r>
              <a:rPr kumimoji="1" lang="en-US" altLang="zh-CN" sz="2800" dirty="0">
                <a:latin typeface="Times New Roman" pitchFamily="18" charset="0"/>
                <a:ea typeface="宋体" charset="-122"/>
              </a:rPr>
              <a:t>,  </a:t>
            </a:r>
            <a:r>
              <a:rPr kumimoji="1" lang="en-US" altLang="zh-CN" sz="2800" i="1" dirty="0">
                <a:latin typeface="Times New Roman" pitchFamily="18" charset="0"/>
                <a:ea typeface="宋体" charset="-122"/>
              </a:rPr>
              <a:t>s</a:t>
            </a:r>
            <a:r>
              <a:rPr kumimoji="1" lang="en-US" altLang="zh-CN" sz="2800" baseline="-30000" dirty="0">
                <a:latin typeface="Times New Roman" pitchFamily="18" charset="0"/>
                <a:ea typeface="宋体" charset="-122"/>
              </a:rPr>
              <a:t>4</a:t>
            </a:r>
            <a:r>
              <a:rPr kumimoji="1" lang="en-US" altLang="zh-CN" sz="2800" i="1" dirty="0">
                <a:latin typeface="Courier New" pitchFamily="49" charset="0"/>
                <a:ea typeface="宋体" charset="-122"/>
              </a:rPr>
              <a:t>’’</a:t>
            </a:r>
            <a:r>
              <a:rPr kumimoji="1" lang="en-US" altLang="zh-CN" sz="2800" dirty="0">
                <a:latin typeface="Times New Roman" pitchFamily="18" charset="0"/>
                <a:ea typeface="宋体" charset="-122"/>
              </a:rPr>
              <a:t>=</a:t>
            </a:r>
            <a:r>
              <a:rPr kumimoji="1" lang="en-US" altLang="zh-CN" sz="2800" dirty="0">
                <a:solidFill>
                  <a:srgbClr val="0000FF"/>
                </a:solidFill>
                <a:latin typeface="Times New Roman" pitchFamily="18" charset="0"/>
                <a:ea typeface="宋体" charset="-122"/>
              </a:rPr>
              <a:t>10</a:t>
            </a:r>
            <a:r>
              <a:rPr kumimoji="1" lang="en-US" altLang="zh-CN" sz="2800" dirty="0">
                <a:latin typeface="Times New Roman" pitchFamily="18" charset="0"/>
                <a:ea typeface="宋体" charset="-122"/>
              </a:rPr>
              <a:t>000</a:t>
            </a:r>
            <a:r>
              <a:rPr kumimoji="1" lang="zh-CN" altLang="en-US" sz="2800" dirty="0">
                <a:latin typeface="Times New Roman" pitchFamily="18" charset="0"/>
                <a:ea typeface="宋体" charset="-122"/>
              </a:rPr>
              <a:t>（</a:t>
            </a:r>
            <a:r>
              <a:rPr kumimoji="1" lang="en-US" altLang="zh-CN" sz="2800" dirty="0">
                <a:latin typeface="Times New Roman" pitchFamily="18" charset="0"/>
                <a:ea typeface="宋体" charset="-122"/>
              </a:rPr>
              <a:t>16</a:t>
            </a:r>
            <a:r>
              <a:rPr kumimoji="1" lang="zh-CN" altLang="en-US" sz="2800" dirty="0">
                <a:latin typeface="Times New Roman" pitchFamily="18" charset="0"/>
                <a:ea typeface="宋体" charset="-122"/>
              </a:rPr>
              <a:t>）</a:t>
            </a:r>
            <a:endParaRPr kumimoji="1" lang="zh-CN" altLang="en-US" sz="2800" dirty="0">
              <a:latin typeface="宋体" charset="-122"/>
              <a:ea typeface="宋体" charset="-122"/>
            </a:endParaRPr>
          </a:p>
          <a:p>
            <a:pPr algn="just">
              <a:lnSpc>
                <a:spcPct val="120000"/>
              </a:lnSpc>
              <a:spcBef>
                <a:spcPct val="80000"/>
              </a:spcBef>
            </a:pPr>
            <a:r>
              <a:rPr kumimoji="1" lang="zh-CN" altLang="en-US" sz="2400" dirty="0">
                <a:latin typeface="Times New Roman" pitchFamily="18" charset="0"/>
                <a:ea typeface="黑体" pitchFamily="2" charset="-122"/>
              </a:rPr>
              <a:t>　</a:t>
            </a:r>
            <a:endParaRPr kumimoji="1" lang="zh-CN" altLang="en-US" sz="2800" dirty="0">
              <a:latin typeface="Times New Roman" pitchFamily="18" charset="0"/>
              <a:ea typeface="宋体" charset="-122"/>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94210">
                                            <p:txEl>
                                              <p:pRg st="0" end="0"/>
                                            </p:txEl>
                                          </p:spTgt>
                                        </p:tgtEl>
                                        <p:attrNameLst>
                                          <p:attrName>style.visibility</p:attrName>
                                        </p:attrNameLst>
                                      </p:cBhvr>
                                      <p:to>
                                        <p:strVal val="visible"/>
                                      </p:to>
                                    </p:set>
                                    <p:animEffect transition="in" filter="blinds(horizontal)">
                                      <p:cBhvr>
                                        <p:cTn id="7" dur="500"/>
                                        <p:tgtEl>
                                          <p:spTgt spid="94210">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nodeType="clickEffect">
                                  <p:stCondLst>
                                    <p:cond delay="0"/>
                                  </p:stCondLst>
                                  <p:childTnLst>
                                    <p:set>
                                      <p:cBhvr>
                                        <p:cTn id="11" dur="1" fill="hold">
                                          <p:stCondLst>
                                            <p:cond delay="0"/>
                                          </p:stCondLst>
                                        </p:cTn>
                                        <p:tgtEl>
                                          <p:spTgt spid="94210">
                                            <p:txEl>
                                              <p:pRg st="1" end="1"/>
                                            </p:txEl>
                                          </p:spTgt>
                                        </p:tgtEl>
                                        <p:attrNameLst>
                                          <p:attrName>style.visibility</p:attrName>
                                        </p:attrNameLst>
                                      </p:cBhvr>
                                      <p:to>
                                        <p:strVal val="visible"/>
                                      </p:to>
                                    </p:set>
                                    <p:animEffect transition="in" filter="blinds(horizontal)">
                                      <p:cBhvr>
                                        <p:cTn id="12" dur="500"/>
                                        <p:tgtEl>
                                          <p:spTgt spid="94210">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nodeType="clickEffect">
                                  <p:stCondLst>
                                    <p:cond delay="0"/>
                                  </p:stCondLst>
                                  <p:childTnLst>
                                    <p:set>
                                      <p:cBhvr>
                                        <p:cTn id="16" dur="1" fill="hold">
                                          <p:stCondLst>
                                            <p:cond delay="0"/>
                                          </p:stCondLst>
                                        </p:cTn>
                                        <p:tgtEl>
                                          <p:spTgt spid="94210">
                                            <p:txEl>
                                              <p:pRg st="2" end="2"/>
                                            </p:txEl>
                                          </p:spTgt>
                                        </p:tgtEl>
                                        <p:attrNameLst>
                                          <p:attrName>style.visibility</p:attrName>
                                        </p:attrNameLst>
                                      </p:cBhvr>
                                      <p:to>
                                        <p:strVal val="visible"/>
                                      </p:to>
                                    </p:set>
                                    <p:animEffect transition="in" filter="blinds(horizontal)">
                                      <p:cBhvr>
                                        <p:cTn id="17" dur="500"/>
                                        <p:tgtEl>
                                          <p:spTgt spid="94210">
                                            <p:txEl>
                                              <p:pRg st="2" end="2"/>
                                            </p:txEl>
                                          </p:spTgt>
                                        </p:tgtEl>
                                      </p:cBhvr>
                                    </p:animEffect>
                                  </p:childTnLst>
                                </p:cTn>
                              </p:par>
                              <p:par>
                                <p:cTn id="18" presetID="3" presetClass="entr" presetSubtype="10" fill="hold" nodeType="withEffect">
                                  <p:stCondLst>
                                    <p:cond delay="0"/>
                                  </p:stCondLst>
                                  <p:childTnLst>
                                    <p:set>
                                      <p:cBhvr>
                                        <p:cTn id="19" dur="1" fill="hold">
                                          <p:stCondLst>
                                            <p:cond delay="0"/>
                                          </p:stCondLst>
                                        </p:cTn>
                                        <p:tgtEl>
                                          <p:spTgt spid="94210">
                                            <p:txEl>
                                              <p:pRg st="3" end="3"/>
                                            </p:txEl>
                                          </p:spTgt>
                                        </p:tgtEl>
                                        <p:attrNameLst>
                                          <p:attrName>style.visibility</p:attrName>
                                        </p:attrNameLst>
                                      </p:cBhvr>
                                      <p:to>
                                        <p:strVal val="visible"/>
                                      </p:to>
                                    </p:set>
                                    <p:animEffect transition="in" filter="blinds(horizontal)">
                                      <p:cBhvr>
                                        <p:cTn id="20" dur="500"/>
                                        <p:tgtEl>
                                          <p:spTgt spid="94210">
                                            <p:txEl>
                                              <p:pRg st="3" end="3"/>
                                            </p:txEl>
                                          </p:spTgt>
                                        </p:tgtEl>
                                      </p:cBhvr>
                                    </p:animEffect>
                                  </p:childTnLst>
                                </p:cTn>
                              </p:par>
                              <p:par>
                                <p:cTn id="21" presetID="3" presetClass="entr" presetSubtype="10" fill="hold" nodeType="withEffect">
                                  <p:stCondLst>
                                    <p:cond delay="0"/>
                                  </p:stCondLst>
                                  <p:childTnLst>
                                    <p:set>
                                      <p:cBhvr>
                                        <p:cTn id="22" dur="1" fill="hold">
                                          <p:stCondLst>
                                            <p:cond delay="0"/>
                                          </p:stCondLst>
                                        </p:cTn>
                                        <p:tgtEl>
                                          <p:spTgt spid="94210">
                                            <p:txEl>
                                              <p:pRg st="4" end="4"/>
                                            </p:txEl>
                                          </p:spTgt>
                                        </p:tgtEl>
                                        <p:attrNameLst>
                                          <p:attrName>style.visibility</p:attrName>
                                        </p:attrNameLst>
                                      </p:cBhvr>
                                      <p:to>
                                        <p:strVal val="visible"/>
                                      </p:to>
                                    </p:set>
                                    <p:animEffect transition="in" filter="blinds(horizontal)">
                                      <p:cBhvr>
                                        <p:cTn id="23" dur="500"/>
                                        <p:tgtEl>
                                          <p:spTgt spid="94210">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0722" name="Picture 2"/>
          <p:cNvPicPr>
            <a:picLocks noChangeAspect="1" noChangeArrowheads="1"/>
          </p:cNvPicPr>
          <p:nvPr/>
        </p:nvPicPr>
        <p:blipFill>
          <a:blip r:embed="rId2" cstate="print"/>
          <a:srcRect/>
          <a:stretch>
            <a:fillRect/>
          </a:stretch>
        </p:blipFill>
        <p:spPr bwMode="auto">
          <a:xfrm>
            <a:off x="1066800" y="1371600"/>
            <a:ext cx="6867161" cy="4267200"/>
          </a:xfrm>
          <a:prstGeom prst="rect">
            <a:avLst/>
          </a:prstGeom>
          <a:noFill/>
          <a:ln w="9525">
            <a:noFill/>
            <a:miter lim="800000"/>
            <a:headEnd/>
            <a:tailEnd/>
          </a:ln>
        </p:spPr>
      </p:pic>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0" name="Text Box 2"/>
          <p:cNvSpPr txBox="1">
            <a:spLocks noChangeArrowheads="1"/>
          </p:cNvSpPr>
          <p:nvPr/>
        </p:nvSpPr>
        <p:spPr bwMode="auto">
          <a:xfrm>
            <a:off x="1116013" y="1484313"/>
            <a:ext cx="4570412" cy="457200"/>
          </a:xfrm>
          <a:prstGeom prst="rect">
            <a:avLst/>
          </a:prstGeom>
          <a:noFill/>
          <a:ln w="9525">
            <a:noFill/>
            <a:miter lim="800000"/>
            <a:headEnd/>
            <a:tailEnd/>
          </a:ln>
        </p:spPr>
        <p:txBody>
          <a:bodyPr wrap="none">
            <a:spAutoFit/>
          </a:bodyPr>
          <a:lstStyle/>
          <a:p>
            <a:r>
              <a:rPr kumimoji="1" lang="zh-CN" altLang="en-US" sz="2400" b="1">
                <a:latin typeface="Times New Roman" pitchFamily="18" charset="0"/>
                <a:ea typeface="宋体" charset="-122"/>
              </a:rPr>
              <a:t> </a:t>
            </a:r>
            <a:r>
              <a:rPr kumimoji="1" lang="zh-CN" altLang="en-US" sz="2400" b="1">
                <a:latin typeface="宋体" charset="-122"/>
                <a:ea typeface="宋体" charset="-122"/>
              </a:rPr>
              <a:t>第二代种群</a:t>
            </a:r>
            <a:r>
              <a:rPr kumimoji="1" lang="en-US" altLang="zh-CN" sz="2400" b="1" i="1">
                <a:latin typeface="Times New Roman" pitchFamily="18" charset="0"/>
                <a:ea typeface="宋体" charset="-122"/>
              </a:rPr>
              <a:t>S</a:t>
            </a:r>
            <a:r>
              <a:rPr kumimoji="1" lang="en-US" altLang="zh-CN" sz="2400" b="1" baseline="-25000">
                <a:latin typeface="Times New Roman" pitchFamily="18" charset="0"/>
                <a:ea typeface="宋体" charset="-122"/>
              </a:rPr>
              <a:t>2</a:t>
            </a:r>
            <a:r>
              <a:rPr kumimoji="1" lang="zh-CN" altLang="en-US" sz="2400" b="1">
                <a:latin typeface="宋体" charset="-122"/>
                <a:ea typeface="宋体" charset="-122"/>
              </a:rPr>
              <a:t>中各染色体的情况</a:t>
            </a:r>
            <a:r>
              <a:rPr kumimoji="1" lang="zh-CN" altLang="en-US" sz="2400" b="1">
                <a:latin typeface="Times New Roman" pitchFamily="18" charset="0"/>
                <a:ea typeface="宋体" charset="-122"/>
              </a:rPr>
              <a:t> </a:t>
            </a:r>
          </a:p>
        </p:txBody>
      </p:sp>
      <p:graphicFrame>
        <p:nvGraphicFramePr>
          <p:cNvPr id="96294" name="Group 38"/>
          <p:cNvGraphicFramePr>
            <a:graphicFrameLocks noGrp="1"/>
          </p:cNvGraphicFramePr>
          <p:nvPr/>
        </p:nvGraphicFramePr>
        <p:xfrm>
          <a:off x="1187450" y="2205038"/>
          <a:ext cx="7499350" cy="3204465"/>
        </p:xfrm>
        <a:graphic>
          <a:graphicData uri="http://schemas.openxmlformats.org/drawingml/2006/table">
            <a:tbl>
              <a:tblPr/>
              <a:tblGrid>
                <a:gridCol w="1874838">
                  <a:extLst>
                    <a:ext uri="{9D8B030D-6E8A-4147-A177-3AD203B41FA5}">
                      <a16:colId xmlns:a16="http://schemas.microsoft.com/office/drawing/2014/main" val="20000"/>
                    </a:ext>
                  </a:extLst>
                </a:gridCol>
                <a:gridCol w="1873250">
                  <a:extLst>
                    <a:ext uri="{9D8B030D-6E8A-4147-A177-3AD203B41FA5}">
                      <a16:colId xmlns:a16="http://schemas.microsoft.com/office/drawing/2014/main" val="20001"/>
                    </a:ext>
                  </a:extLst>
                </a:gridCol>
                <a:gridCol w="1876425">
                  <a:extLst>
                    <a:ext uri="{9D8B030D-6E8A-4147-A177-3AD203B41FA5}">
                      <a16:colId xmlns:a16="http://schemas.microsoft.com/office/drawing/2014/main" val="20002"/>
                    </a:ext>
                  </a:extLst>
                </a:gridCol>
                <a:gridCol w="1874837">
                  <a:extLst>
                    <a:ext uri="{9D8B030D-6E8A-4147-A177-3AD203B41FA5}">
                      <a16:colId xmlns:a16="http://schemas.microsoft.com/office/drawing/2014/main" val="20003"/>
                    </a:ext>
                  </a:extLst>
                </a:gridCol>
              </a:tblGrid>
              <a:tr h="766763">
                <a:tc>
                  <a:txBody>
                    <a:bodyPr/>
                    <a:lstStyle/>
                    <a:p>
                      <a:pPr marL="0" marR="0" lvl="0" indent="0" algn="l" defTabSz="914400" rtl="0" eaLnBrk="0" fontAlgn="base" latinLnBrk="0" hangingPunct="0">
                        <a:lnSpc>
                          <a:spcPct val="100000"/>
                        </a:lnSpc>
                        <a:spcBef>
                          <a:spcPct val="40000"/>
                        </a:spcBef>
                        <a:spcAft>
                          <a:spcPct val="0"/>
                        </a:spcAft>
                        <a:buClr>
                          <a:schemeClr val="hlink"/>
                        </a:buClr>
                        <a:buSzTx/>
                        <a:buFont typeface="Wingdings" pitchFamily="2" charset="2"/>
                        <a:buNone/>
                        <a:tabLst/>
                      </a:pPr>
                      <a:r>
                        <a:rPr kumimoji="0" lang="zh-CN" altLang="en-US" sz="2400" b="1" i="0" u="none" strike="noStrike" cap="none" normalizeH="0" baseline="0" smtClean="0">
                          <a:ln>
                            <a:noFill/>
                          </a:ln>
                          <a:solidFill>
                            <a:schemeClr val="tx1"/>
                          </a:solidFill>
                          <a:effectLst/>
                          <a:latin typeface="Verdana" pitchFamily="34" charset="0"/>
                          <a:ea typeface="宋体" pitchFamily="2" charset="-122"/>
                        </a:rPr>
                        <a:t>  染色体</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40000"/>
                        </a:spcBef>
                        <a:spcAft>
                          <a:spcPct val="0"/>
                        </a:spcAft>
                        <a:buClr>
                          <a:schemeClr val="hlink"/>
                        </a:buClr>
                        <a:buSzTx/>
                        <a:buFont typeface="Wingdings" pitchFamily="2" charset="2"/>
                        <a:buNone/>
                        <a:tabLst/>
                      </a:pPr>
                      <a:r>
                        <a:rPr kumimoji="0" lang="zh-CN" altLang="en-US" sz="2400" b="1" i="0" u="none" strike="noStrike" cap="none" normalizeH="0" baseline="0" smtClean="0">
                          <a:ln>
                            <a:noFill/>
                          </a:ln>
                          <a:solidFill>
                            <a:schemeClr val="tx1"/>
                          </a:solidFill>
                          <a:effectLst/>
                          <a:latin typeface="Verdana" pitchFamily="34" charset="0"/>
                          <a:ea typeface="宋体" pitchFamily="2" charset="-122"/>
                        </a:rPr>
                        <a:t>  适应度</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40000"/>
                        </a:spcBef>
                        <a:spcAft>
                          <a:spcPct val="0"/>
                        </a:spcAft>
                        <a:buClr>
                          <a:schemeClr val="hlink"/>
                        </a:buClr>
                        <a:buSzTx/>
                        <a:buFont typeface="Wingdings" pitchFamily="2" charset="2"/>
                        <a:buNone/>
                        <a:tabLst/>
                      </a:pPr>
                      <a:r>
                        <a:rPr kumimoji="0" lang="zh-CN" altLang="en-US" sz="2400" b="1" i="0" u="none" strike="noStrike" cap="none" normalizeH="0" baseline="0" smtClean="0">
                          <a:ln>
                            <a:noFill/>
                          </a:ln>
                          <a:solidFill>
                            <a:schemeClr val="tx1"/>
                          </a:solidFill>
                          <a:effectLst/>
                          <a:latin typeface="Verdana" pitchFamily="34" charset="0"/>
                          <a:ea typeface="宋体" pitchFamily="2" charset="-122"/>
                        </a:rPr>
                        <a:t>选择概率</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40000"/>
                        </a:spcBef>
                        <a:spcAft>
                          <a:spcPct val="0"/>
                        </a:spcAft>
                        <a:buClr>
                          <a:schemeClr val="hlink"/>
                        </a:buClr>
                        <a:buSzTx/>
                        <a:buFont typeface="Wingdings" pitchFamily="2" charset="2"/>
                        <a:buNone/>
                        <a:tabLst/>
                      </a:pPr>
                      <a:r>
                        <a:rPr kumimoji="0" lang="zh-CN" altLang="en-US" sz="2400" b="1" i="0" u="none" strike="noStrike" cap="none" normalizeH="0" baseline="0" smtClean="0">
                          <a:ln>
                            <a:noFill/>
                          </a:ln>
                          <a:solidFill>
                            <a:schemeClr val="tx1"/>
                          </a:solidFill>
                          <a:effectLst/>
                          <a:latin typeface="Verdana" pitchFamily="34" charset="0"/>
                          <a:ea typeface="宋体" pitchFamily="2" charset="-122"/>
                        </a:rPr>
                        <a:t>  估计的</a:t>
                      </a:r>
                    </a:p>
                    <a:p>
                      <a:pPr marL="0" marR="0" lvl="0" indent="0" algn="l" defTabSz="914400" rtl="0" eaLnBrk="0" fontAlgn="base" latinLnBrk="0" hangingPunct="0">
                        <a:lnSpc>
                          <a:spcPct val="100000"/>
                        </a:lnSpc>
                        <a:spcBef>
                          <a:spcPct val="40000"/>
                        </a:spcBef>
                        <a:spcAft>
                          <a:spcPct val="0"/>
                        </a:spcAft>
                        <a:buClr>
                          <a:schemeClr val="hlink"/>
                        </a:buClr>
                        <a:buSzTx/>
                        <a:buFont typeface="Wingdings" pitchFamily="2" charset="2"/>
                        <a:buNone/>
                        <a:tabLst/>
                      </a:pPr>
                      <a:r>
                        <a:rPr kumimoji="0" lang="zh-CN" altLang="en-US" sz="2400" b="1" i="0" u="none" strike="noStrike" cap="none" normalizeH="0" baseline="0" smtClean="0">
                          <a:ln>
                            <a:noFill/>
                          </a:ln>
                          <a:solidFill>
                            <a:schemeClr val="tx1"/>
                          </a:solidFill>
                          <a:effectLst/>
                          <a:latin typeface="Verdana" pitchFamily="34" charset="0"/>
                          <a:ea typeface="宋体" pitchFamily="2" charset="-122"/>
                        </a:rPr>
                        <a:t>选中次数</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515938">
                <a:tc>
                  <a:txBody>
                    <a:bodyPr/>
                    <a:lstStyle/>
                    <a:p>
                      <a:pPr marL="0" marR="0" lvl="0" indent="0" algn="l" defTabSz="914400" rtl="0" eaLnBrk="0" fontAlgn="base" latinLnBrk="0" hangingPunct="0">
                        <a:lnSpc>
                          <a:spcPct val="100000"/>
                        </a:lnSpc>
                        <a:spcBef>
                          <a:spcPct val="40000"/>
                        </a:spcBef>
                        <a:spcAft>
                          <a:spcPct val="0"/>
                        </a:spcAft>
                        <a:buClr>
                          <a:schemeClr val="hlink"/>
                        </a:buClr>
                        <a:buSzTx/>
                        <a:buFont typeface="Wingdings" pitchFamily="2" charset="2"/>
                        <a:buNone/>
                        <a:tabLst/>
                      </a:pPr>
                      <a:r>
                        <a:rPr kumimoji="0" lang="en-US" altLang="zh-CN" sz="2400" b="1" i="1" u="none" strike="noStrike" cap="none" normalizeH="0" baseline="0" smtClean="0">
                          <a:ln>
                            <a:noFill/>
                          </a:ln>
                          <a:solidFill>
                            <a:schemeClr val="tx1"/>
                          </a:solidFill>
                          <a:effectLst/>
                          <a:latin typeface="Verdana" pitchFamily="34" charset="0"/>
                          <a:ea typeface="宋体" pitchFamily="2" charset="-122"/>
                        </a:rPr>
                        <a:t>s</a:t>
                      </a:r>
                      <a:r>
                        <a:rPr kumimoji="0" lang="en-US" altLang="zh-CN" sz="2400" b="1" i="0" u="none" strike="noStrike" cap="none" normalizeH="0" baseline="-25000" smtClean="0">
                          <a:ln>
                            <a:noFill/>
                          </a:ln>
                          <a:solidFill>
                            <a:schemeClr val="tx1"/>
                          </a:solidFill>
                          <a:effectLst/>
                          <a:latin typeface="Verdana" pitchFamily="34" charset="0"/>
                          <a:ea typeface="宋体" pitchFamily="2" charset="-122"/>
                        </a:rPr>
                        <a:t>1</a:t>
                      </a:r>
                      <a:r>
                        <a:rPr kumimoji="0" lang="en-US" altLang="zh-CN" sz="2400" b="1" i="0" u="none" strike="noStrike" cap="none" normalizeH="0" baseline="0" smtClean="0">
                          <a:ln>
                            <a:noFill/>
                          </a:ln>
                          <a:solidFill>
                            <a:schemeClr val="tx1"/>
                          </a:solidFill>
                          <a:effectLst/>
                          <a:latin typeface="Verdana" pitchFamily="34" charset="0"/>
                          <a:ea typeface="宋体" pitchFamily="2" charset="-122"/>
                        </a:rPr>
                        <a:t>=11001</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40000"/>
                        </a:spcBef>
                        <a:spcAft>
                          <a:spcPct val="0"/>
                        </a:spcAft>
                        <a:buClr>
                          <a:schemeClr val="hlink"/>
                        </a:buClr>
                        <a:buSzTx/>
                        <a:buFont typeface="Wingdings" pitchFamily="2" charset="2"/>
                        <a:buNone/>
                        <a:tabLst/>
                      </a:pPr>
                      <a:r>
                        <a:rPr kumimoji="0" lang="zh-CN" altLang="en-US" sz="2400" b="1" i="0" u="none" strike="noStrike" cap="none" normalizeH="0" baseline="0" smtClean="0">
                          <a:ln>
                            <a:noFill/>
                          </a:ln>
                          <a:solidFill>
                            <a:schemeClr val="tx1"/>
                          </a:solidFill>
                          <a:effectLst/>
                          <a:latin typeface="Verdana" pitchFamily="34" charset="0"/>
                          <a:ea typeface="宋体" pitchFamily="2" charset="-122"/>
                        </a:rPr>
                        <a:t>    </a:t>
                      </a:r>
                      <a:r>
                        <a:rPr kumimoji="0" lang="en-US" altLang="zh-CN" sz="2400" b="1" i="0" u="none" strike="noStrike" cap="none" normalizeH="0" baseline="0" smtClean="0">
                          <a:ln>
                            <a:noFill/>
                          </a:ln>
                          <a:solidFill>
                            <a:schemeClr val="tx1"/>
                          </a:solidFill>
                          <a:effectLst/>
                          <a:latin typeface="Verdana" pitchFamily="34" charset="0"/>
                          <a:ea typeface="宋体" pitchFamily="2" charset="-122"/>
                        </a:rPr>
                        <a:t>625</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40000"/>
                        </a:spcBef>
                        <a:spcAft>
                          <a:spcPct val="0"/>
                        </a:spcAft>
                        <a:buClr>
                          <a:schemeClr val="hlink"/>
                        </a:buClr>
                        <a:buSzTx/>
                        <a:buFont typeface="Wingdings" pitchFamily="2" charset="2"/>
                        <a:buNone/>
                        <a:tabLst/>
                      </a:pPr>
                      <a:r>
                        <a:rPr kumimoji="0" lang="zh-CN" altLang="en-US" sz="2400" b="1" i="0" u="none" strike="noStrike" cap="none" normalizeH="0" baseline="0" smtClean="0">
                          <a:ln>
                            <a:noFill/>
                          </a:ln>
                          <a:solidFill>
                            <a:schemeClr val="tx1"/>
                          </a:solidFill>
                          <a:effectLst/>
                          <a:latin typeface="Verdana" pitchFamily="34" charset="0"/>
                          <a:ea typeface="宋体" pitchFamily="2" charset="-122"/>
                        </a:rPr>
                        <a:t>    </a:t>
                      </a:r>
                      <a:r>
                        <a:rPr kumimoji="0" lang="en-US" altLang="zh-CN" sz="2400" b="1" i="0" u="none" strike="noStrike" cap="none" normalizeH="0" baseline="0" smtClean="0">
                          <a:ln>
                            <a:noFill/>
                          </a:ln>
                          <a:solidFill>
                            <a:schemeClr val="tx1"/>
                          </a:solidFill>
                          <a:effectLst/>
                          <a:latin typeface="Verdana" pitchFamily="34" charset="0"/>
                          <a:ea typeface="宋体" pitchFamily="2" charset="-122"/>
                        </a:rPr>
                        <a:t>0.36</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40000"/>
                        </a:spcBef>
                        <a:spcAft>
                          <a:spcPct val="0"/>
                        </a:spcAft>
                        <a:buClr>
                          <a:schemeClr val="hlink"/>
                        </a:buClr>
                        <a:buSzTx/>
                        <a:buFont typeface="Wingdings" pitchFamily="2" charset="2"/>
                        <a:buNone/>
                        <a:tabLst/>
                      </a:pPr>
                      <a:r>
                        <a:rPr kumimoji="0" lang="zh-CN" altLang="en-US" sz="2400" b="1" i="0" u="none" strike="noStrike" cap="none" normalizeH="0" baseline="0" smtClean="0">
                          <a:ln>
                            <a:noFill/>
                          </a:ln>
                          <a:solidFill>
                            <a:schemeClr val="tx1"/>
                          </a:solidFill>
                          <a:effectLst/>
                          <a:latin typeface="Verdana" pitchFamily="34" charset="0"/>
                          <a:ea typeface="宋体" pitchFamily="2" charset="-122"/>
                        </a:rPr>
                        <a:t>      </a:t>
                      </a:r>
                      <a:r>
                        <a:rPr kumimoji="0" lang="en-US" altLang="zh-CN" sz="2400" b="1" i="0" u="none" strike="noStrike" cap="none" normalizeH="0" baseline="0" smtClean="0">
                          <a:ln>
                            <a:noFill/>
                          </a:ln>
                          <a:solidFill>
                            <a:schemeClr val="tx1"/>
                          </a:solidFill>
                          <a:effectLst/>
                          <a:latin typeface="Verdana" pitchFamily="34" charset="0"/>
                          <a:ea typeface="宋体" pitchFamily="2" charset="-122"/>
                        </a:rPr>
                        <a:t>1</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571500">
                <a:tc>
                  <a:txBody>
                    <a:bodyPr/>
                    <a:lstStyle/>
                    <a:p>
                      <a:pPr marL="0" marR="0" lvl="0" indent="0" algn="l" defTabSz="914400" rtl="0" eaLnBrk="0" fontAlgn="base" latinLnBrk="0" hangingPunct="0">
                        <a:lnSpc>
                          <a:spcPct val="100000"/>
                        </a:lnSpc>
                        <a:spcBef>
                          <a:spcPct val="40000"/>
                        </a:spcBef>
                        <a:spcAft>
                          <a:spcPct val="0"/>
                        </a:spcAft>
                        <a:buClr>
                          <a:schemeClr val="hlink"/>
                        </a:buClr>
                        <a:buSzTx/>
                        <a:buFont typeface="Wingdings" pitchFamily="2" charset="2"/>
                        <a:buNone/>
                        <a:tabLst/>
                      </a:pPr>
                      <a:r>
                        <a:rPr kumimoji="0" lang="en-US" altLang="zh-CN" sz="2400" b="1" i="1" u="none" strike="noStrike" cap="none" normalizeH="0" baseline="0" smtClean="0">
                          <a:ln>
                            <a:noFill/>
                          </a:ln>
                          <a:solidFill>
                            <a:schemeClr val="tx1"/>
                          </a:solidFill>
                          <a:effectLst/>
                          <a:latin typeface="Verdana" pitchFamily="34" charset="0"/>
                          <a:ea typeface="宋体" pitchFamily="2" charset="-122"/>
                        </a:rPr>
                        <a:t>s</a:t>
                      </a:r>
                      <a:r>
                        <a:rPr kumimoji="0" lang="en-US" altLang="zh-CN" sz="2400" b="1" i="0" u="none" strike="noStrike" cap="none" normalizeH="0" baseline="-25000" smtClean="0">
                          <a:ln>
                            <a:noFill/>
                          </a:ln>
                          <a:solidFill>
                            <a:schemeClr val="tx1"/>
                          </a:solidFill>
                          <a:effectLst/>
                          <a:latin typeface="Verdana" pitchFamily="34" charset="0"/>
                          <a:ea typeface="宋体" pitchFamily="2" charset="-122"/>
                        </a:rPr>
                        <a:t>2</a:t>
                      </a:r>
                      <a:r>
                        <a:rPr kumimoji="0" lang="en-US" altLang="zh-CN" sz="2400" b="1" i="0" u="none" strike="noStrike" cap="none" normalizeH="0" baseline="0" smtClean="0">
                          <a:ln>
                            <a:noFill/>
                          </a:ln>
                          <a:solidFill>
                            <a:schemeClr val="tx1"/>
                          </a:solidFill>
                          <a:effectLst/>
                          <a:latin typeface="Verdana" pitchFamily="34" charset="0"/>
                          <a:ea typeface="宋体" pitchFamily="2" charset="-122"/>
                        </a:rPr>
                        <a:t>=01100</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40000"/>
                        </a:spcBef>
                        <a:spcAft>
                          <a:spcPct val="0"/>
                        </a:spcAft>
                        <a:buClr>
                          <a:schemeClr val="hlink"/>
                        </a:buClr>
                        <a:buSzTx/>
                        <a:buFont typeface="Wingdings" pitchFamily="2" charset="2"/>
                        <a:buNone/>
                        <a:tabLst/>
                      </a:pPr>
                      <a:r>
                        <a:rPr kumimoji="0" lang="zh-CN" altLang="en-US" sz="2400" b="1" i="0" u="none" strike="noStrike" cap="none" normalizeH="0" baseline="0" smtClean="0">
                          <a:ln>
                            <a:noFill/>
                          </a:ln>
                          <a:solidFill>
                            <a:schemeClr val="tx1"/>
                          </a:solidFill>
                          <a:effectLst/>
                          <a:latin typeface="Verdana" pitchFamily="34" charset="0"/>
                          <a:ea typeface="宋体" pitchFamily="2" charset="-122"/>
                        </a:rPr>
                        <a:t>    </a:t>
                      </a:r>
                      <a:r>
                        <a:rPr kumimoji="0" lang="en-US" altLang="zh-CN" sz="2400" b="1" i="0" u="none" strike="noStrike" cap="none" normalizeH="0" baseline="0" smtClean="0">
                          <a:ln>
                            <a:noFill/>
                          </a:ln>
                          <a:solidFill>
                            <a:schemeClr val="tx1"/>
                          </a:solidFill>
                          <a:effectLst/>
                          <a:latin typeface="Verdana" pitchFamily="34" charset="0"/>
                          <a:ea typeface="宋体" pitchFamily="2" charset="-122"/>
                        </a:rPr>
                        <a:t>144</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40000"/>
                        </a:spcBef>
                        <a:spcAft>
                          <a:spcPct val="0"/>
                        </a:spcAft>
                        <a:buClr>
                          <a:schemeClr val="hlink"/>
                        </a:buClr>
                        <a:buSzTx/>
                        <a:buFont typeface="Wingdings" pitchFamily="2" charset="2"/>
                        <a:buNone/>
                        <a:tabLst/>
                      </a:pPr>
                      <a:r>
                        <a:rPr kumimoji="0" lang="zh-CN" altLang="en-US" sz="2400" b="1" i="0" u="none" strike="noStrike" cap="none" normalizeH="0" baseline="0" smtClean="0">
                          <a:ln>
                            <a:noFill/>
                          </a:ln>
                          <a:solidFill>
                            <a:schemeClr val="tx1"/>
                          </a:solidFill>
                          <a:effectLst/>
                          <a:latin typeface="Verdana" pitchFamily="34" charset="0"/>
                          <a:ea typeface="宋体" pitchFamily="2" charset="-122"/>
                        </a:rPr>
                        <a:t>    </a:t>
                      </a:r>
                      <a:r>
                        <a:rPr kumimoji="0" lang="en-US" altLang="zh-CN" sz="2400" b="1" i="0" u="none" strike="noStrike" cap="none" normalizeH="0" baseline="0" smtClean="0">
                          <a:ln>
                            <a:noFill/>
                          </a:ln>
                          <a:solidFill>
                            <a:schemeClr val="tx1"/>
                          </a:solidFill>
                          <a:effectLst/>
                          <a:latin typeface="Verdana" pitchFamily="34" charset="0"/>
                          <a:ea typeface="宋体" pitchFamily="2" charset="-122"/>
                        </a:rPr>
                        <a:t>0.08</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40000"/>
                        </a:spcBef>
                        <a:spcAft>
                          <a:spcPct val="0"/>
                        </a:spcAft>
                        <a:buClr>
                          <a:schemeClr val="hlink"/>
                        </a:buClr>
                        <a:buSzTx/>
                        <a:buFont typeface="Wingdings" pitchFamily="2" charset="2"/>
                        <a:buNone/>
                        <a:tabLst/>
                      </a:pPr>
                      <a:r>
                        <a:rPr kumimoji="0" lang="zh-CN" altLang="en-US" sz="2400" b="1" i="0" u="none" strike="noStrike" cap="none" normalizeH="0" baseline="0" smtClean="0">
                          <a:ln>
                            <a:noFill/>
                          </a:ln>
                          <a:solidFill>
                            <a:schemeClr val="tx1"/>
                          </a:solidFill>
                          <a:effectLst/>
                          <a:latin typeface="Verdana" pitchFamily="34" charset="0"/>
                          <a:ea typeface="宋体" pitchFamily="2" charset="-122"/>
                        </a:rPr>
                        <a:t>      </a:t>
                      </a:r>
                      <a:r>
                        <a:rPr kumimoji="0" lang="en-US" altLang="zh-CN" sz="2400" b="1" i="0" u="none" strike="noStrike" cap="none" normalizeH="0" baseline="0" smtClean="0">
                          <a:ln>
                            <a:noFill/>
                          </a:ln>
                          <a:solidFill>
                            <a:schemeClr val="tx1"/>
                          </a:solidFill>
                          <a:effectLst/>
                          <a:latin typeface="Verdana" pitchFamily="34" charset="0"/>
                          <a:ea typeface="宋体" pitchFamily="2" charset="-122"/>
                        </a:rPr>
                        <a:t>0</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574675">
                <a:tc>
                  <a:txBody>
                    <a:bodyPr/>
                    <a:lstStyle/>
                    <a:p>
                      <a:pPr marL="0" marR="0" lvl="0" indent="0" algn="l" defTabSz="914400" rtl="0" eaLnBrk="0" fontAlgn="base" latinLnBrk="0" hangingPunct="0">
                        <a:lnSpc>
                          <a:spcPct val="100000"/>
                        </a:lnSpc>
                        <a:spcBef>
                          <a:spcPct val="40000"/>
                        </a:spcBef>
                        <a:spcAft>
                          <a:spcPct val="0"/>
                        </a:spcAft>
                        <a:buClr>
                          <a:schemeClr val="hlink"/>
                        </a:buClr>
                        <a:buSzTx/>
                        <a:buFont typeface="Wingdings" pitchFamily="2" charset="2"/>
                        <a:buNone/>
                        <a:tabLst/>
                      </a:pPr>
                      <a:r>
                        <a:rPr kumimoji="0" lang="en-US" altLang="zh-CN" sz="2400" b="1" i="1" u="none" strike="noStrike" cap="none" normalizeH="0" baseline="0" smtClean="0">
                          <a:ln>
                            <a:noFill/>
                          </a:ln>
                          <a:solidFill>
                            <a:schemeClr val="tx1"/>
                          </a:solidFill>
                          <a:effectLst/>
                          <a:latin typeface="Verdana" pitchFamily="34" charset="0"/>
                          <a:ea typeface="宋体" pitchFamily="2" charset="-122"/>
                        </a:rPr>
                        <a:t>s</a:t>
                      </a:r>
                      <a:r>
                        <a:rPr kumimoji="0" lang="en-US" altLang="zh-CN" sz="2400" b="1" i="0" u="none" strike="noStrike" cap="none" normalizeH="0" baseline="-25000" smtClean="0">
                          <a:ln>
                            <a:noFill/>
                          </a:ln>
                          <a:solidFill>
                            <a:schemeClr val="tx1"/>
                          </a:solidFill>
                          <a:effectLst/>
                          <a:latin typeface="Verdana" pitchFamily="34" charset="0"/>
                          <a:ea typeface="宋体" pitchFamily="2" charset="-122"/>
                        </a:rPr>
                        <a:t>3</a:t>
                      </a:r>
                      <a:r>
                        <a:rPr kumimoji="0" lang="en-US" altLang="zh-CN" sz="2400" b="1" i="0" u="none" strike="noStrike" cap="none" normalizeH="0" baseline="0" smtClean="0">
                          <a:ln>
                            <a:noFill/>
                          </a:ln>
                          <a:solidFill>
                            <a:schemeClr val="tx1"/>
                          </a:solidFill>
                          <a:effectLst/>
                          <a:latin typeface="Verdana" pitchFamily="34" charset="0"/>
                          <a:ea typeface="宋体" pitchFamily="2" charset="-122"/>
                        </a:rPr>
                        <a:t>=11011</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40000"/>
                        </a:spcBef>
                        <a:spcAft>
                          <a:spcPct val="0"/>
                        </a:spcAft>
                        <a:buClr>
                          <a:schemeClr val="hlink"/>
                        </a:buClr>
                        <a:buSzTx/>
                        <a:buFont typeface="Wingdings" pitchFamily="2" charset="2"/>
                        <a:buNone/>
                        <a:tabLst/>
                      </a:pPr>
                      <a:r>
                        <a:rPr kumimoji="0" lang="zh-CN" altLang="en-US" sz="2400" b="1" i="0" u="none" strike="noStrike" cap="none" normalizeH="0" baseline="0" smtClean="0">
                          <a:ln>
                            <a:noFill/>
                          </a:ln>
                          <a:solidFill>
                            <a:schemeClr val="tx1"/>
                          </a:solidFill>
                          <a:effectLst/>
                          <a:latin typeface="Verdana" pitchFamily="34" charset="0"/>
                          <a:ea typeface="宋体" pitchFamily="2" charset="-122"/>
                        </a:rPr>
                        <a:t>    </a:t>
                      </a:r>
                      <a:r>
                        <a:rPr kumimoji="0" lang="en-US" altLang="zh-CN" sz="2400" b="1" i="0" u="none" strike="noStrike" cap="none" normalizeH="0" baseline="0" smtClean="0">
                          <a:ln>
                            <a:noFill/>
                          </a:ln>
                          <a:solidFill>
                            <a:schemeClr val="tx1"/>
                          </a:solidFill>
                          <a:effectLst/>
                          <a:latin typeface="Verdana" pitchFamily="34" charset="0"/>
                          <a:ea typeface="宋体" pitchFamily="2" charset="-122"/>
                        </a:rPr>
                        <a:t>729</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40000"/>
                        </a:spcBef>
                        <a:spcAft>
                          <a:spcPct val="0"/>
                        </a:spcAft>
                        <a:buClr>
                          <a:schemeClr val="hlink"/>
                        </a:buClr>
                        <a:buSzTx/>
                        <a:buFont typeface="Wingdings" pitchFamily="2" charset="2"/>
                        <a:buNone/>
                        <a:tabLst/>
                      </a:pPr>
                      <a:r>
                        <a:rPr kumimoji="0" lang="zh-CN" altLang="en-US" sz="2400" b="1" i="0" u="none" strike="noStrike" cap="none" normalizeH="0" baseline="0" smtClean="0">
                          <a:ln>
                            <a:noFill/>
                          </a:ln>
                          <a:solidFill>
                            <a:schemeClr val="tx1"/>
                          </a:solidFill>
                          <a:effectLst/>
                          <a:latin typeface="Verdana" pitchFamily="34" charset="0"/>
                          <a:ea typeface="宋体" pitchFamily="2" charset="-122"/>
                        </a:rPr>
                        <a:t>    </a:t>
                      </a:r>
                      <a:r>
                        <a:rPr kumimoji="0" lang="en-US" altLang="zh-CN" sz="2400" b="1" i="0" u="none" strike="noStrike" cap="none" normalizeH="0" baseline="0" smtClean="0">
                          <a:ln>
                            <a:noFill/>
                          </a:ln>
                          <a:solidFill>
                            <a:schemeClr val="tx1"/>
                          </a:solidFill>
                          <a:effectLst/>
                          <a:latin typeface="Verdana" pitchFamily="34" charset="0"/>
                          <a:ea typeface="宋体" pitchFamily="2" charset="-122"/>
                        </a:rPr>
                        <a:t>0.41</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40000"/>
                        </a:spcBef>
                        <a:spcAft>
                          <a:spcPct val="0"/>
                        </a:spcAft>
                        <a:buClr>
                          <a:schemeClr val="hlink"/>
                        </a:buClr>
                        <a:buSzTx/>
                        <a:buFont typeface="Wingdings" pitchFamily="2" charset="2"/>
                        <a:buNone/>
                        <a:tabLst/>
                      </a:pPr>
                      <a:r>
                        <a:rPr kumimoji="0" lang="zh-CN" altLang="en-US" sz="2400" b="1" i="0" u="none" strike="noStrike" cap="none" normalizeH="0" baseline="0" smtClean="0">
                          <a:ln>
                            <a:noFill/>
                          </a:ln>
                          <a:solidFill>
                            <a:schemeClr val="tx1"/>
                          </a:solidFill>
                          <a:effectLst/>
                          <a:latin typeface="Verdana" pitchFamily="34" charset="0"/>
                          <a:ea typeface="宋体" pitchFamily="2" charset="-122"/>
                        </a:rPr>
                        <a:t>      </a:t>
                      </a:r>
                      <a:r>
                        <a:rPr kumimoji="0" lang="en-US" altLang="zh-CN" sz="2400" b="1" i="0" u="none" strike="noStrike" cap="none" normalizeH="0" baseline="0" smtClean="0">
                          <a:ln>
                            <a:noFill/>
                          </a:ln>
                          <a:solidFill>
                            <a:schemeClr val="tx1"/>
                          </a:solidFill>
                          <a:effectLst/>
                          <a:latin typeface="Verdana" pitchFamily="34" charset="0"/>
                          <a:ea typeface="宋体" pitchFamily="2" charset="-122"/>
                        </a:rPr>
                        <a:t>2</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573088">
                <a:tc>
                  <a:txBody>
                    <a:bodyPr/>
                    <a:lstStyle/>
                    <a:p>
                      <a:pPr marL="0" marR="0" lvl="0" indent="0" algn="l" defTabSz="914400" rtl="0" eaLnBrk="0" fontAlgn="base" latinLnBrk="0" hangingPunct="0">
                        <a:lnSpc>
                          <a:spcPct val="100000"/>
                        </a:lnSpc>
                        <a:spcBef>
                          <a:spcPct val="40000"/>
                        </a:spcBef>
                        <a:spcAft>
                          <a:spcPct val="0"/>
                        </a:spcAft>
                        <a:buClr>
                          <a:schemeClr val="hlink"/>
                        </a:buClr>
                        <a:buSzTx/>
                        <a:buFont typeface="Wingdings" pitchFamily="2" charset="2"/>
                        <a:buNone/>
                        <a:tabLst/>
                      </a:pPr>
                      <a:r>
                        <a:rPr kumimoji="0" lang="en-US" altLang="zh-CN" sz="2400" b="1" i="1" u="none" strike="noStrike" cap="none" normalizeH="0" baseline="0" smtClean="0">
                          <a:ln>
                            <a:noFill/>
                          </a:ln>
                          <a:solidFill>
                            <a:schemeClr val="tx1"/>
                          </a:solidFill>
                          <a:effectLst/>
                          <a:latin typeface="Verdana" pitchFamily="34" charset="0"/>
                          <a:ea typeface="宋体" pitchFamily="2" charset="-122"/>
                        </a:rPr>
                        <a:t>s</a:t>
                      </a:r>
                      <a:r>
                        <a:rPr kumimoji="0" lang="en-US" altLang="zh-CN" sz="2400" b="1" i="0" u="none" strike="noStrike" cap="none" normalizeH="0" baseline="-25000" smtClean="0">
                          <a:ln>
                            <a:noFill/>
                          </a:ln>
                          <a:solidFill>
                            <a:schemeClr val="tx1"/>
                          </a:solidFill>
                          <a:effectLst/>
                          <a:latin typeface="Verdana" pitchFamily="34" charset="0"/>
                          <a:ea typeface="宋体" pitchFamily="2" charset="-122"/>
                        </a:rPr>
                        <a:t>4</a:t>
                      </a:r>
                      <a:r>
                        <a:rPr kumimoji="0" lang="en-US" altLang="zh-CN" sz="2400" b="1" i="0" u="none" strike="noStrike" cap="none" normalizeH="0" baseline="0" smtClean="0">
                          <a:ln>
                            <a:noFill/>
                          </a:ln>
                          <a:solidFill>
                            <a:schemeClr val="tx1"/>
                          </a:solidFill>
                          <a:effectLst/>
                          <a:latin typeface="Verdana" pitchFamily="34" charset="0"/>
                          <a:ea typeface="宋体" pitchFamily="2" charset="-122"/>
                        </a:rPr>
                        <a:t>=10000</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40000"/>
                        </a:spcBef>
                        <a:spcAft>
                          <a:spcPct val="0"/>
                        </a:spcAft>
                        <a:buClr>
                          <a:schemeClr val="hlink"/>
                        </a:buClr>
                        <a:buSzTx/>
                        <a:buFont typeface="Wingdings" pitchFamily="2" charset="2"/>
                        <a:buNone/>
                        <a:tabLst/>
                      </a:pPr>
                      <a:r>
                        <a:rPr kumimoji="0" lang="zh-CN" altLang="en-US" sz="2400" b="1" i="0" u="none" strike="noStrike" cap="none" normalizeH="0" baseline="0" smtClean="0">
                          <a:ln>
                            <a:noFill/>
                          </a:ln>
                          <a:solidFill>
                            <a:schemeClr val="tx1"/>
                          </a:solidFill>
                          <a:effectLst/>
                          <a:latin typeface="Verdana" pitchFamily="34" charset="0"/>
                          <a:ea typeface="宋体" pitchFamily="2" charset="-122"/>
                        </a:rPr>
                        <a:t>    </a:t>
                      </a:r>
                      <a:r>
                        <a:rPr kumimoji="0" lang="en-US" altLang="zh-CN" sz="2400" b="1" i="0" u="none" strike="noStrike" cap="none" normalizeH="0" baseline="0" smtClean="0">
                          <a:ln>
                            <a:noFill/>
                          </a:ln>
                          <a:solidFill>
                            <a:schemeClr val="tx1"/>
                          </a:solidFill>
                          <a:effectLst/>
                          <a:latin typeface="Verdana" pitchFamily="34" charset="0"/>
                          <a:ea typeface="宋体" pitchFamily="2" charset="-122"/>
                        </a:rPr>
                        <a:t>256</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40000"/>
                        </a:spcBef>
                        <a:spcAft>
                          <a:spcPct val="0"/>
                        </a:spcAft>
                        <a:buClr>
                          <a:schemeClr val="hlink"/>
                        </a:buClr>
                        <a:buSzTx/>
                        <a:buFont typeface="Wingdings" pitchFamily="2" charset="2"/>
                        <a:buNone/>
                        <a:tabLst/>
                      </a:pPr>
                      <a:r>
                        <a:rPr kumimoji="0" lang="zh-CN" altLang="en-US" sz="2400" b="1" i="0" u="none" strike="noStrike" cap="none" normalizeH="0" baseline="0" smtClean="0">
                          <a:ln>
                            <a:noFill/>
                          </a:ln>
                          <a:solidFill>
                            <a:schemeClr val="tx1"/>
                          </a:solidFill>
                          <a:effectLst/>
                          <a:latin typeface="Verdana" pitchFamily="34" charset="0"/>
                          <a:ea typeface="宋体" pitchFamily="2" charset="-122"/>
                        </a:rPr>
                        <a:t>    </a:t>
                      </a:r>
                      <a:r>
                        <a:rPr kumimoji="0" lang="en-US" altLang="zh-CN" sz="2400" b="1" i="0" u="none" strike="noStrike" cap="none" normalizeH="0" baseline="0" smtClean="0">
                          <a:ln>
                            <a:noFill/>
                          </a:ln>
                          <a:solidFill>
                            <a:schemeClr val="tx1"/>
                          </a:solidFill>
                          <a:effectLst/>
                          <a:latin typeface="Verdana" pitchFamily="34" charset="0"/>
                          <a:ea typeface="宋体" pitchFamily="2" charset="-122"/>
                        </a:rPr>
                        <a:t>0.15</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40000"/>
                        </a:spcBef>
                        <a:spcAft>
                          <a:spcPct val="0"/>
                        </a:spcAft>
                        <a:buClr>
                          <a:schemeClr val="hlink"/>
                        </a:buClr>
                        <a:buSzTx/>
                        <a:buFont typeface="Wingdings" pitchFamily="2" charset="2"/>
                        <a:buNone/>
                        <a:tabLst/>
                      </a:pPr>
                      <a:r>
                        <a:rPr kumimoji="0" lang="zh-CN" altLang="en-US" sz="2400" b="1" i="0" u="none" strike="noStrike" cap="none" normalizeH="0" baseline="0" smtClean="0">
                          <a:ln>
                            <a:noFill/>
                          </a:ln>
                          <a:solidFill>
                            <a:schemeClr val="tx1"/>
                          </a:solidFill>
                          <a:effectLst/>
                          <a:latin typeface="Verdana" pitchFamily="34" charset="0"/>
                          <a:ea typeface="宋体" pitchFamily="2" charset="-122"/>
                        </a:rPr>
                        <a:t>      </a:t>
                      </a:r>
                      <a:r>
                        <a:rPr kumimoji="0" lang="en-US" altLang="zh-CN" sz="2400" b="1" i="0" u="none" strike="noStrike" cap="none" normalizeH="0" baseline="0" smtClean="0">
                          <a:ln>
                            <a:noFill/>
                          </a:ln>
                          <a:solidFill>
                            <a:schemeClr val="tx1"/>
                          </a:solidFill>
                          <a:effectLst/>
                          <a:latin typeface="Verdana" pitchFamily="34" charset="0"/>
                          <a:ea typeface="宋体" pitchFamily="2" charset="-122"/>
                        </a:rPr>
                        <a:t>1</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bl>
          </a:graphicData>
        </a:graphic>
      </p:graphicFrame>
    </p:spTree>
  </p:cSld>
  <p:clrMapOvr>
    <a:masterClrMapping/>
  </p:clrMapOvr>
  <p:transition/>
  <p:timing>
    <p:tnLst>
      <p:par>
        <p:cTn id="1" dur="indefinite" restart="never" nodeType="tmRoot"/>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7282" name="Text Box 2"/>
          <p:cNvSpPr txBox="1">
            <a:spLocks noChangeArrowheads="1"/>
          </p:cNvSpPr>
          <p:nvPr/>
        </p:nvSpPr>
        <p:spPr bwMode="auto">
          <a:xfrm>
            <a:off x="827088" y="1341438"/>
            <a:ext cx="7705725" cy="822325"/>
          </a:xfrm>
          <a:prstGeom prst="rect">
            <a:avLst/>
          </a:prstGeom>
          <a:noFill/>
          <a:ln w="9525">
            <a:noFill/>
            <a:miter lim="800000"/>
            <a:headEnd/>
            <a:tailEnd/>
          </a:ln>
        </p:spPr>
        <p:txBody>
          <a:bodyPr>
            <a:spAutoFit/>
          </a:bodyPr>
          <a:lstStyle/>
          <a:p>
            <a:pPr>
              <a:lnSpc>
                <a:spcPct val="120000"/>
              </a:lnSpc>
              <a:spcBef>
                <a:spcPct val="20000"/>
              </a:spcBef>
            </a:pPr>
            <a:r>
              <a:rPr kumimoji="1" lang="zh-CN" altLang="en-US" sz="2000">
                <a:latin typeface="宋体" charset="-122"/>
                <a:ea typeface="宋体" charset="-122"/>
              </a:rPr>
              <a:t>假设这一轮选择</a:t>
            </a:r>
            <a:r>
              <a:rPr kumimoji="1" lang="en-US" altLang="zh-CN" sz="2000">
                <a:latin typeface="Times New Roman" pitchFamily="18" charset="0"/>
                <a:ea typeface="宋体" charset="-122"/>
              </a:rPr>
              <a:t>-</a:t>
            </a:r>
            <a:r>
              <a:rPr kumimoji="1" lang="zh-CN" altLang="en-US" sz="2000">
                <a:latin typeface="宋体" charset="-122"/>
                <a:ea typeface="宋体" charset="-122"/>
              </a:rPr>
              <a:t>复制操作中，种群</a:t>
            </a:r>
            <a:r>
              <a:rPr kumimoji="1" lang="en-US" altLang="zh-CN" sz="2000" i="1">
                <a:latin typeface="Times New Roman" pitchFamily="18" charset="0"/>
                <a:ea typeface="宋体" charset="-122"/>
              </a:rPr>
              <a:t>S</a:t>
            </a:r>
            <a:r>
              <a:rPr kumimoji="1" lang="en-US" altLang="zh-CN" sz="2000" baseline="-30000">
                <a:latin typeface="Times New Roman" pitchFamily="18" charset="0"/>
                <a:ea typeface="宋体" charset="-122"/>
              </a:rPr>
              <a:t>2</a:t>
            </a:r>
            <a:r>
              <a:rPr kumimoji="1" lang="zh-CN" altLang="en-US" sz="2000">
                <a:latin typeface="宋体" charset="-122"/>
                <a:ea typeface="宋体" charset="-122"/>
              </a:rPr>
              <a:t>中的</a:t>
            </a:r>
            <a:r>
              <a:rPr kumimoji="1" lang="en-US" altLang="zh-CN" sz="2000" b="1">
                <a:latin typeface="Times New Roman" pitchFamily="18" charset="0"/>
                <a:ea typeface="宋体" charset="-122"/>
              </a:rPr>
              <a:t>4</a:t>
            </a:r>
            <a:r>
              <a:rPr kumimoji="1" lang="zh-CN" altLang="en-US" sz="2000" b="1">
                <a:latin typeface="宋体" charset="-122"/>
                <a:ea typeface="宋体" charset="-122"/>
              </a:rPr>
              <a:t>个染色体都被选中</a:t>
            </a:r>
            <a:r>
              <a:rPr kumimoji="1" lang="zh-CN" altLang="en-US" sz="2000">
                <a:latin typeface="宋体" charset="-122"/>
                <a:ea typeface="宋体" charset="-122"/>
              </a:rPr>
              <a:t>，则得到群体：</a:t>
            </a:r>
            <a:r>
              <a:rPr kumimoji="1" lang="zh-CN" altLang="en-US" sz="2000">
                <a:latin typeface="Times New Roman" pitchFamily="18" charset="0"/>
                <a:ea typeface="宋体" charset="-122"/>
              </a:rPr>
              <a:t> </a:t>
            </a:r>
          </a:p>
        </p:txBody>
      </p:sp>
      <p:sp>
        <p:nvSpPr>
          <p:cNvPr id="97283" name="Text Box 3"/>
          <p:cNvSpPr txBox="1">
            <a:spLocks noChangeArrowheads="1"/>
          </p:cNvSpPr>
          <p:nvPr/>
        </p:nvSpPr>
        <p:spPr bwMode="auto">
          <a:xfrm>
            <a:off x="1476375" y="2133600"/>
            <a:ext cx="6480175" cy="882650"/>
          </a:xfrm>
          <a:prstGeom prst="rect">
            <a:avLst/>
          </a:prstGeom>
          <a:noFill/>
          <a:ln w="9525">
            <a:noFill/>
            <a:miter lim="800000"/>
            <a:headEnd/>
            <a:tailEnd/>
          </a:ln>
        </p:spPr>
        <p:txBody>
          <a:bodyPr>
            <a:spAutoFit/>
          </a:bodyPr>
          <a:lstStyle/>
          <a:p>
            <a:pPr>
              <a:lnSpc>
                <a:spcPct val="120000"/>
              </a:lnSpc>
              <a:spcBef>
                <a:spcPct val="20000"/>
              </a:spcBef>
            </a:pPr>
            <a:r>
              <a:rPr kumimoji="1" lang="zh-CN" altLang="en-US" sz="2000" i="1">
                <a:latin typeface="Times New Roman" pitchFamily="18" charset="0"/>
                <a:ea typeface="宋体" charset="-122"/>
              </a:rPr>
              <a:t> </a:t>
            </a:r>
            <a:r>
              <a:rPr kumimoji="1" lang="en-US" altLang="zh-CN" sz="2000" i="1">
                <a:latin typeface="Times New Roman" pitchFamily="18" charset="0"/>
                <a:ea typeface="宋体" charset="-122"/>
              </a:rPr>
              <a:t>s</a:t>
            </a:r>
            <a:r>
              <a:rPr kumimoji="1" lang="en-US" altLang="zh-CN" sz="2000" baseline="-30000">
                <a:latin typeface="Times New Roman" pitchFamily="18" charset="0"/>
                <a:ea typeface="宋体" charset="-122"/>
              </a:rPr>
              <a:t>1</a:t>
            </a:r>
            <a:r>
              <a:rPr kumimoji="1" lang="en-US" altLang="zh-CN" sz="2000" i="1">
                <a:latin typeface="Courier New" pitchFamily="49" charset="0"/>
                <a:ea typeface="宋体" charset="-122"/>
              </a:rPr>
              <a:t>’</a:t>
            </a:r>
            <a:r>
              <a:rPr kumimoji="1" lang="en-US" altLang="zh-CN" sz="2000">
                <a:latin typeface="Times New Roman" pitchFamily="18" charset="0"/>
                <a:ea typeface="宋体" charset="-122"/>
              </a:rPr>
              <a:t>=11001</a:t>
            </a:r>
            <a:r>
              <a:rPr kumimoji="1" lang="zh-CN" altLang="en-US" sz="2000">
                <a:latin typeface="宋体" charset="-122"/>
                <a:ea typeface="宋体" charset="-122"/>
              </a:rPr>
              <a:t>（</a:t>
            </a:r>
            <a:r>
              <a:rPr kumimoji="1" lang="en-US" altLang="zh-CN" sz="2000">
                <a:latin typeface="Times New Roman" pitchFamily="18" charset="0"/>
                <a:ea typeface="宋体" charset="-122"/>
              </a:rPr>
              <a:t>25</a:t>
            </a:r>
            <a:r>
              <a:rPr kumimoji="1" lang="zh-CN" altLang="en-US" sz="2000">
                <a:latin typeface="宋体" charset="-122"/>
                <a:ea typeface="宋体" charset="-122"/>
              </a:rPr>
              <a:t>）</a:t>
            </a:r>
            <a:r>
              <a:rPr kumimoji="1" lang="en-US" altLang="zh-CN" sz="2000">
                <a:latin typeface="Times New Roman" pitchFamily="18" charset="0"/>
                <a:ea typeface="宋体" charset="-122"/>
              </a:rPr>
              <a:t>,  </a:t>
            </a:r>
            <a:r>
              <a:rPr kumimoji="1" lang="en-US" altLang="zh-CN" sz="2000" i="1">
                <a:latin typeface="Times New Roman" pitchFamily="18" charset="0"/>
                <a:ea typeface="宋体" charset="-122"/>
              </a:rPr>
              <a:t>s</a:t>
            </a:r>
            <a:r>
              <a:rPr kumimoji="1" lang="en-US" altLang="zh-CN" sz="2000" baseline="-30000">
                <a:latin typeface="Times New Roman" pitchFamily="18" charset="0"/>
                <a:ea typeface="宋体" charset="-122"/>
              </a:rPr>
              <a:t>2</a:t>
            </a:r>
            <a:r>
              <a:rPr kumimoji="1" lang="en-US" altLang="zh-CN" sz="2000" i="1">
                <a:latin typeface="Courier New" pitchFamily="49" charset="0"/>
                <a:ea typeface="宋体" charset="-122"/>
              </a:rPr>
              <a:t>’</a:t>
            </a:r>
            <a:r>
              <a:rPr kumimoji="1" lang="en-US" altLang="zh-CN" sz="2000">
                <a:latin typeface="Times New Roman" pitchFamily="18" charset="0"/>
                <a:ea typeface="宋体" charset="-122"/>
              </a:rPr>
              <a:t>= 11011</a:t>
            </a:r>
            <a:r>
              <a:rPr kumimoji="1" lang="zh-CN" altLang="en-US" sz="2000">
                <a:latin typeface="宋体" charset="-122"/>
                <a:ea typeface="宋体" charset="-122"/>
              </a:rPr>
              <a:t>（</a:t>
            </a:r>
            <a:r>
              <a:rPr kumimoji="1" lang="en-US" altLang="zh-CN" sz="2000">
                <a:latin typeface="Times New Roman" pitchFamily="18" charset="0"/>
                <a:ea typeface="宋体" charset="-122"/>
              </a:rPr>
              <a:t>27</a:t>
            </a:r>
            <a:r>
              <a:rPr kumimoji="1" lang="zh-CN" altLang="en-US" sz="2000">
                <a:latin typeface="宋体" charset="-122"/>
                <a:ea typeface="宋体" charset="-122"/>
              </a:rPr>
              <a:t>）</a:t>
            </a:r>
          </a:p>
          <a:p>
            <a:pPr>
              <a:lnSpc>
                <a:spcPct val="120000"/>
              </a:lnSpc>
              <a:spcBef>
                <a:spcPct val="20000"/>
              </a:spcBef>
            </a:pPr>
            <a:r>
              <a:rPr kumimoji="1" lang="zh-CN" altLang="en-US" sz="2000">
                <a:latin typeface="Times New Roman" pitchFamily="18" charset="0"/>
                <a:ea typeface="宋体" charset="-122"/>
              </a:rPr>
              <a:t> </a:t>
            </a:r>
            <a:r>
              <a:rPr kumimoji="1" lang="en-US" altLang="zh-CN" sz="2000" i="1">
                <a:latin typeface="Times New Roman" pitchFamily="18" charset="0"/>
                <a:ea typeface="宋体" charset="-122"/>
              </a:rPr>
              <a:t>s</a:t>
            </a:r>
            <a:r>
              <a:rPr kumimoji="1" lang="en-US" altLang="zh-CN" sz="2000" baseline="-30000">
                <a:latin typeface="Times New Roman" pitchFamily="18" charset="0"/>
                <a:ea typeface="宋体" charset="-122"/>
              </a:rPr>
              <a:t>3</a:t>
            </a:r>
            <a:r>
              <a:rPr kumimoji="1" lang="en-US" altLang="zh-CN" sz="2000" i="1">
                <a:latin typeface="Courier New" pitchFamily="49" charset="0"/>
                <a:ea typeface="宋体" charset="-122"/>
              </a:rPr>
              <a:t>’</a:t>
            </a:r>
            <a:r>
              <a:rPr kumimoji="1" lang="en-US" altLang="zh-CN" sz="2000">
                <a:latin typeface="Times New Roman" pitchFamily="18" charset="0"/>
                <a:ea typeface="宋体" charset="-122"/>
              </a:rPr>
              <a:t>=11011</a:t>
            </a:r>
            <a:r>
              <a:rPr kumimoji="1" lang="zh-CN" altLang="en-US" sz="2000">
                <a:latin typeface="宋体" charset="-122"/>
                <a:ea typeface="宋体" charset="-122"/>
              </a:rPr>
              <a:t>（</a:t>
            </a:r>
            <a:r>
              <a:rPr kumimoji="1" lang="en-US" altLang="zh-CN" sz="2000">
                <a:latin typeface="Times New Roman" pitchFamily="18" charset="0"/>
                <a:ea typeface="宋体" charset="-122"/>
              </a:rPr>
              <a:t>27</a:t>
            </a:r>
            <a:r>
              <a:rPr kumimoji="1" lang="zh-CN" altLang="en-US" sz="2000">
                <a:latin typeface="宋体" charset="-122"/>
                <a:ea typeface="宋体" charset="-122"/>
              </a:rPr>
              <a:t>）</a:t>
            </a:r>
            <a:r>
              <a:rPr kumimoji="1" lang="en-US" altLang="zh-CN" sz="2000">
                <a:latin typeface="Times New Roman" pitchFamily="18" charset="0"/>
                <a:ea typeface="宋体" charset="-122"/>
              </a:rPr>
              <a:t>,  </a:t>
            </a:r>
            <a:r>
              <a:rPr kumimoji="1" lang="en-US" altLang="zh-CN" sz="2000" i="1">
                <a:latin typeface="Times New Roman" pitchFamily="18" charset="0"/>
                <a:ea typeface="宋体" charset="-122"/>
              </a:rPr>
              <a:t>s</a:t>
            </a:r>
            <a:r>
              <a:rPr kumimoji="1" lang="en-US" altLang="zh-CN" sz="2000" baseline="-30000">
                <a:latin typeface="Times New Roman" pitchFamily="18" charset="0"/>
                <a:ea typeface="宋体" charset="-122"/>
              </a:rPr>
              <a:t>4</a:t>
            </a:r>
            <a:r>
              <a:rPr kumimoji="1" lang="en-US" altLang="zh-CN" sz="2000" i="1">
                <a:latin typeface="Courier New" pitchFamily="49" charset="0"/>
                <a:ea typeface="宋体" charset="-122"/>
              </a:rPr>
              <a:t>’</a:t>
            </a:r>
            <a:r>
              <a:rPr kumimoji="1" lang="en-US" altLang="zh-CN" sz="2000">
                <a:latin typeface="Times New Roman" pitchFamily="18" charset="0"/>
                <a:ea typeface="宋体" charset="-122"/>
              </a:rPr>
              <a:t>= 10000</a:t>
            </a:r>
            <a:r>
              <a:rPr kumimoji="1" lang="zh-CN" altLang="en-US" sz="2000">
                <a:latin typeface="宋体" charset="-122"/>
                <a:ea typeface="宋体" charset="-122"/>
              </a:rPr>
              <a:t>（</a:t>
            </a:r>
            <a:r>
              <a:rPr kumimoji="1" lang="en-US" altLang="zh-CN" sz="2000">
                <a:latin typeface="Times New Roman" pitchFamily="18" charset="0"/>
                <a:ea typeface="宋体" charset="-122"/>
              </a:rPr>
              <a:t>16</a:t>
            </a:r>
            <a:r>
              <a:rPr kumimoji="1" lang="zh-CN" altLang="en-US" sz="2000">
                <a:latin typeface="宋体" charset="-122"/>
                <a:ea typeface="宋体" charset="-122"/>
              </a:rPr>
              <a:t>）</a:t>
            </a:r>
            <a:r>
              <a:rPr kumimoji="1" lang="zh-CN" altLang="en-US" sz="2000">
                <a:latin typeface="Times New Roman" pitchFamily="18" charset="0"/>
                <a:ea typeface="宋体" charset="-122"/>
              </a:rPr>
              <a:t> </a:t>
            </a:r>
          </a:p>
        </p:txBody>
      </p:sp>
      <p:sp>
        <p:nvSpPr>
          <p:cNvPr id="97284" name="Text Box 4"/>
          <p:cNvSpPr txBox="1">
            <a:spLocks noChangeArrowheads="1"/>
          </p:cNvSpPr>
          <p:nvPr/>
        </p:nvSpPr>
        <p:spPr bwMode="auto">
          <a:xfrm>
            <a:off x="395288" y="3068638"/>
            <a:ext cx="7778750" cy="457200"/>
          </a:xfrm>
          <a:prstGeom prst="rect">
            <a:avLst/>
          </a:prstGeom>
          <a:noFill/>
          <a:ln w="9525">
            <a:noFill/>
            <a:miter lim="800000"/>
            <a:headEnd/>
            <a:tailEnd/>
          </a:ln>
        </p:spPr>
        <p:txBody>
          <a:bodyPr>
            <a:spAutoFit/>
          </a:bodyPr>
          <a:lstStyle/>
          <a:p>
            <a:pPr>
              <a:lnSpc>
                <a:spcPct val="120000"/>
              </a:lnSpc>
              <a:spcBef>
                <a:spcPct val="20000"/>
              </a:spcBef>
            </a:pPr>
            <a:r>
              <a:rPr kumimoji="1" lang="zh-CN" altLang="en-US" sz="2000">
                <a:latin typeface="宋体" charset="-122"/>
                <a:ea typeface="宋体" charset="-122"/>
              </a:rPr>
              <a:t>     做交叉运算，让</a:t>
            </a:r>
            <a:r>
              <a:rPr kumimoji="1" lang="en-US" altLang="zh-CN" sz="2000" i="1">
                <a:latin typeface="Times New Roman" pitchFamily="18" charset="0"/>
                <a:ea typeface="宋体" charset="-122"/>
              </a:rPr>
              <a:t>s</a:t>
            </a:r>
            <a:r>
              <a:rPr kumimoji="1" lang="en-US" altLang="zh-CN" sz="2000" baseline="-30000">
                <a:latin typeface="Times New Roman" pitchFamily="18" charset="0"/>
                <a:ea typeface="宋体" charset="-122"/>
              </a:rPr>
              <a:t>1</a:t>
            </a:r>
            <a:r>
              <a:rPr kumimoji="1" lang="en-US" altLang="zh-CN" sz="2000" i="1">
                <a:latin typeface="Times New Roman" pitchFamily="18" charset="0"/>
                <a:ea typeface="宋体" charset="-122"/>
              </a:rPr>
              <a:t>’</a:t>
            </a:r>
            <a:r>
              <a:rPr kumimoji="1" lang="zh-CN" altLang="en-US" sz="2000">
                <a:latin typeface="宋体" charset="-122"/>
                <a:ea typeface="宋体" charset="-122"/>
              </a:rPr>
              <a:t>与</a:t>
            </a:r>
            <a:r>
              <a:rPr kumimoji="1" lang="en-US" altLang="zh-CN" sz="2000" i="1">
                <a:latin typeface="Times New Roman" pitchFamily="18" charset="0"/>
                <a:ea typeface="宋体" charset="-122"/>
              </a:rPr>
              <a:t>s</a:t>
            </a:r>
            <a:r>
              <a:rPr kumimoji="1" lang="en-US" altLang="zh-CN" sz="2000" baseline="-30000">
                <a:latin typeface="Times New Roman" pitchFamily="18" charset="0"/>
                <a:ea typeface="宋体" charset="-122"/>
              </a:rPr>
              <a:t>2</a:t>
            </a:r>
            <a:r>
              <a:rPr kumimoji="1" lang="en-US" altLang="zh-CN" sz="2000" i="1">
                <a:latin typeface="Times New Roman" pitchFamily="18" charset="0"/>
                <a:ea typeface="宋体" charset="-122"/>
              </a:rPr>
              <a:t>’</a:t>
            </a:r>
            <a:r>
              <a:rPr kumimoji="1" lang="zh-CN" altLang="en-US" sz="2000">
                <a:latin typeface="宋体" charset="-122"/>
                <a:ea typeface="宋体" charset="-122"/>
              </a:rPr>
              <a:t>，</a:t>
            </a:r>
            <a:r>
              <a:rPr kumimoji="1" lang="en-US" altLang="zh-CN" sz="2000" i="1">
                <a:latin typeface="Times New Roman" pitchFamily="18" charset="0"/>
                <a:ea typeface="宋体" charset="-122"/>
              </a:rPr>
              <a:t>s</a:t>
            </a:r>
            <a:r>
              <a:rPr kumimoji="1" lang="en-US" altLang="zh-CN" sz="2000" baseline="-30000">
                <a:latin typeface="Times New Roman" pitchFamily="18" charset="0"/>
                <a:ea typeface="宋体" charset="-122"/>
              </a:rPr>
              <a:t>3</a:t>
            </a:r>
            <a:r>
              <a:rPr kumimoji="1" lang="en-US" altLang="zh-CN" sz="2000" i="1">
                <a:latin typeface="Times New Roman" pitchFamily="18" charset="0"/>
                <a:ea typeface="宋体" charset="-122"/>
              </a:rPr>
              <a:t>’</a:t>
            </a:r>
            <a:r>
              <a:rPr kumimoji="1" lang="zh-CN" altLang="en-US" sz="2000">
                <a:latin typeface="宋体" charset="-122"/>
                <a:ea typeface="宋体" charset="-122"/>
              </a:rPr>
              <a:t>与</a:t>
            </a:r>
            <a:r>
              <a:rPr kumimoji="1" lang="en-US" altLang="zh-CN" sz="2000" i="1">
                <a:latin typeface="Times New Roman" pitchFamily="18" charset="0"/>
                <a:ea typeface="宋体" charset="-122"/>
              </a:rPr>
              <a:t>s</a:t>
            </a:r>
            <a:r>
              <a:rPr kumimoji="1" lang="en-US" altLang="zh-CN" sz="2000" baseline="-30000">
                <a:latin typeface="Times New Roman" pitchFamily="18" charset="0"/>
                <a:ea typeface="宋体" charset="-122"/>
              </a:rPr>
              <a:t>4</a:t>
            </a:r>
            <a:r>
              <a:rPr kumimoji="1" lang="en-US" altLang="zh-CN" sz="2000" i="1">
                <a:latin typeface="Times New Roman" pitchFamily="18" charset="0"/>
                <a:ea typeface="宋体" charset="-122"/>
              </a:rPr>
              <a:t>’</a:t>
            </a:r>
            <a:r>
              <a:rPr kumimoji="1" lang="en-US" altLang="zh-CN" sz="2000">
                <a:latin typeface="Times New Roman" pitchFamily="18" charset="0"/>
                <a:ea typeface="宋体" charset="-122"/>
              </a:rPr>
              <a:t> </a:t>
            </a:r>
            <a:r>
              <a:rPr kumimoji="1" lang="zh-CN" altLang="en-US" sz="2000">
                <a:latin typeface="宋体" charset="-122"/>
                <a:ea typeface="宋体" charset="-122"/>
              </a:rPr>
              <a:t>分别交换后三位基因，得</a:t>
            </a:r>
            <a:r>
              <a:rPr kumimoji="1" lang="zh-CN" altLang="en-US" sz="2000">
                <a:latin typeface="Times New Roman" pitchFamily="18" charset="0"/>
                <a:ea typeface="宋体" charset="-122"/>
              </a:rPr>
              <a:t> </a:t>
            </a:r>
          </a:p>
        </p:txBody>
      </p:sp>
      <p:sp>
        <p:nvSpPr>
          <p:cNvPr id="97285" name="Text Box 5"/>
          <p:cNvSpPr txBox="1">
            <a:spLocks noChangeArrowheads="1"/>
          </p:cNvSpPr>
          <p:nvPr/>
        </p:nvSpPr>
        <p:spPr bwMode="auto">
          <a:xfrm>
            <a:off x="1258888" y="3500438"/>
            <a:ext cx="6553200" cy="882650"/>
          </a:xfrm>
          <a:prstGeom prst="rect">
            <a:avLst/>
          </a:prstGeom>
          <a:noFill/>
          <a:ln w="9525">
            <a:noFill/>
            <a:miter lim="800000"/>
            <a:headEnd/>
            <a:tailEnd/>
          </a:ln>
        </p:spPr>
        <p:txBody>
          <a:bodyPr>
            <a:spAutoFit/>
          </a:bodyPr>
          <a:lstStyle/>
          <a:p>
            <a:pPr>
              <a:lnSpc>
                <a:spcPct val="120000"/>
              </a:lnSpc>
              <a:spcBef>
                <a:spcPct val="20000"/>
              </a:spcBef>
            </a:pPr>
            <a:r>
              <a:rPr kumimoji="1" lang="zh-CN" altLang="en-US" sz="2000" i="1">
                <a:latin typeface="Times New Roman" pitchFamily="18" charset="0"/>
                <a:ea typeface="宋体" charset="-122"/>
              </a:rPr>
              <a:t>     </a:t>
            </a:r>
            <a:r>
              <a:rPr kumimoji="1" lang="en-US" altLang="zh-CN" sz="2000" i="1">
                <a:latin typeface="Times New Roman" pitchFamily="18" charset="0"/>
                <a:ea typeface="宋体" charset="-122"/>
              </a:rPr>
              <a:t>s</a:t>
            </a:r>
            <a:r>
              <a:rPr kumimoji="1" lang="en-US" altLang="zh-CN" sz="2000" baseline="-30000">
                <a:latin typeface="Times New Roman" pitchFamily="18" charset="0"/>
                <a:ea typeface="宋体" charset="-122"/>
              </a:rPr>
              <a:t>1</a:t>
            </a:r>
            <a:r>
              <a:rPr kumimoji="1" lang="en-US" altLang="zh-CN" sz="2000" i="1">
                <a:latin typeface="Times New Roman" pitchFamily="18" charset="0"/>
                <a:ea typeface="宋体" charset="-122"/>
              </a:rPr>
              <a:t>’’ </a:t>
            </a:r>
            <a:r>
              <a:rPr kumimoji="1" lang="en-US" altLang="zh-CN" sz="2000">
                <a:latin typeface="Times New Roman" pitchFamily="18" charset="0"/>
                <a:ea typeface="宋体" charset="-122"/>
              </a:rPr>
              <a:t>=11100</a:t>
            </a:r>
            <a:r>
              <a:rPr kumimoji="1" lang="zh-CN" altLang="en-US" sz="2000">
                <a:latin typeface="宋体" charset="-122"/>
                <a:ea typeface="宋体" charset="-122"/>
              </a:rPr>
              <a:t>（</a:t>
            </a:r>
            <a:r>
              <a:rPr kumimoji="1" lang="en-US" altLang="zh-CN" sz="2000">
                <a:latin typeface="Times New Roman" pitchFamily="18" charset="0"/>
                <a:ea typeface="宋体" charset="-122"/>
              </a:rPr>
              <a:t>28</a:t>
            </a:r>
            <a:r>
              <a:rPr kumimoji="1" lang="zh-CN" altLang="en-US" sz="2000">
                <a:latin typeface="宋体" charset="-122"/>
                <a:ea typeface="宋体" charset="-122"/>
              </a:rPr>
              <a:t>）</a:t>
            </a:r>
            <a:r>
              <a:rPr kumimoji="1" lang="en-US" altLang="zh-CN" sz="2000">
                <a:latin typeface="Times New Roman" pitchFamily="18" charset="0"/>
                <a:ea typeface="宋体" charset="-122"/>
              </a:rPr>
              <a:t>, </a:t>
            </a:r>
            <a:r>
              <a:rPr kumimoji="1" lang="en-US" altLang="zh-CN" sz="2000" i="1">
                <a:latin typeface="Times New Roman" pitchFamily="18" charset="0"/>
                <a:ea typeface="宋体" charset="-122"/>
              </a:rPr>
              <a:t>s</a:t>
            </a:r>
            <a:r>
              <a:rPr kumimoji="1" lang="en-US" altLang="zh-CN" sz="2000" baseline="-30000">
                <a:latin typeface="Times New Roman" pitchFamily="18" charset="0"/>
                <a:ea typeface="宋体" charset="-122"/>
              </a:rPr>
              <a:t>2</a:t>
            </a:r>
            <a:r>
              <a:rPr kumimoji="1" lang="en-US" altLang="zh-CN" sz="2000" i="1">
                <a:latin typeface="Times New Roman" pitchFamily="18" charset="0"/>
                <a:ea typeface="宋体" charset="-122"/>
              </a:rPr>
              <a:t>’’ </a:t>
            </a:r>
            <a:r>
              <a:rPr kumimoji="1" lang="en-US" altLang="zh-CN" sz="2000">
                <a:latin typeface="Times New Roman" pitchFamily="18" charset="0"/>
                <a:ea typeface="宋体" charset="-122"/>
              </a:rPr>
              <a:t>= 01001</a:t>
            </a:r>
            <a:r>
              <a:rPr kumimoji="1" lang="zh-CN" altLang="en-US" sz="2000">
                <a:latin typeface="宋体" charset="-122"/>
                <a:ea typeface="宋体" charset="-122"/>
              </a:rPr>
              <a:t>（</a:t>
            </a:r>
            <a:r>
              <a:rPr kumimoji="1" lang="en-US" altLang="zh-CN" sz="2000">
                <a:latin typeface="Times New Roman" pitchFamily="18" charset="0"/>
                <a:ea typeface="宋体" charset="-122"/>
              </a:rPr>
              <a:t>9</a:t>
            </a:r>
            <a:r>
              <a:rPr kumimoji="1" lang="zh-CN" altLang="en-US" sz="2000">
                <a:latin typeface="宋体" charset="-122"/>
                <a:ea typeface="宋体" charset="-122"/>
              </a:rPr>
              <a:t>）</a:t>
            </a:r>
          </a:p>
          <a:p>
            <a:pPr>
              <a:lnSpc>
                <a:spcPct val="120000"/>
              </a:lnSpc>
              <a:spcBef>
                <a:spcPct val="20000"/>
              </a:spcBef>
            </a:pPr>
            <a:r>
              <a:rPr kumimoji="1" lang="zh-CN" altLang="en-US" sz="2000">
                <a:latin typeface="Times New Roman" pitchFamily="18" charset="0"/>
                <a:ea typeface="宋体" charset="-122"/>
              </a:rPr>
              <a:t>     </a:t>
            </a:r>
            <a:r>
              <a:rPr kumimoji="1" lang="en-US" altLang="zh-CN" sz="2000" i="1">
                <a:latin typeface="Times New Roman" pitchFamily="18" charset="0"/>
                <a:ea typeface="宋体" charset="-122"/>
              </a:rPr>
              <a:t>s</a:t>
            </a:r>
            <a:r>
              <a:rPr kumimoji="1" lang="en-US" altLang="zh-CN" sz="2000" baseline="-30000">
                <a:latin typeface="Times New Roman" pitchFamily="18" charset="0"/>
                <a:ea typeface="宋体" charset="-122"/>
              </a:rPr>
              <a:t>3</a:t>
            </a:r>
            <a:r>
              <a:rPr kumimoji="1" lang="en-US" altLang="zh-CN" sz="2000" i="1">
                <a:latin typeface="Times New Roman" pitchFamily="18" charset="0"/>
                <a:ea typeface="宋体" charset="-122"/>
              </a:rPr>
              <a:t>’’ </a:t>
            </a:r>
            <a:r>
              <a:rPr kumimoji="1" lang="en-US" altLang="zh-CN" sz="2000">
                <a:latin typeface="Times New Roman" pitchFamily="18" charset="0"/>
                <a:ea typeface="宋体" charset="-122"/>
              </a:rPr>
              <a:t>=11000</a:t>
            </a:r>
            <a:r>
              <a:rPr kumimoji="1" lang="zh-CN" altLang="en-US" sz="2000">
                <a:latin typeface="宋体" charset="-122"/>
                <a:ea typeface="宋体" charset="-122"/>
              </a:rPr>
              <a:t>（</a:t>
            </a:r>
            <a:r>
              <a:rPr kumimoji="1" lang="en-US" altLang="zh-CN" sz="2000">
                <a:latin typeface="Times New Roman" pitchFamily="18" charset="0"/>
                <a:ea typeface="宋体" charset="-122"/>
              </a:rPr>
              <a:t>24</a:t>
            </a:r>
            <a:r>
              <a:rPr kumimoji="1" lang="zh-CN" altLang="en-US" sz="2000">
                <a:latin typeface="宋体" charset="-122"/>
                <a:ea typeface="宋体" charset="-122"/>
              </a:rPr>
              <a:t>）</a:t>
            </a:r>
            <a:r>
              <a:rPr kumimoji="1" lang="en-US" altLang="zh-CN" sz="2000">
                <a:latin typeface="Times New Roman" pitchFamily="18" charset="0"/>
                <a:ea typeface="宋体" charset="-122"/>
              </a:rPr>
              <a:t>, </a:t>
            </a:r>
            <a:r>
              <a:rPr kumimoji="1" lang="en-US" altLang="zh-CN" sz="2000" i="1">
                <a:latin typeface="Times New Roman" pitchFamily="18" charset="0"/>
                <a:ea typeface="宋体" charset="-122"/>
              </a:rPr>
              <a:t>s</a:t>
            </a:r>
            <a:r>
              <a:rPr kumimoji="1" lang="en-US" altLang="zh-CN" sz="2000" baseline="-30000">
                <a:latin typeface="Times New Roman" pitchFamily="18" charset="0"/>
                <a:ea typeface="宋体" charset="-122"/>
              </a:rPr>
              <a:t>4</a:t>
            </a:r>
            <a:r>
              <a:rPr kumimoji="1" lang="en-US" altLang="zh-CN" sz="2000" i="1">
                <a:latin typeface="Times New Roman" pitchFamily="18" charset="0"/>
                <a:ea typeface="宋体" charset="-122"/>
              </a:rPr>
              <a:t>’’ </a:t>
            </a:r>
            <a:r>
              <a:rPr kumimoji="1" lang="en-US" altLang="zh-CN" sz="2000">
                <a:latin typeface="Times New Roman" pitchFamily="18" charset="0"/>
                <a:ea typeface="宋体" charset="-122"/>
              </a:rPr>
              <a:t>= 10011</a:t>
            </a:r>
            <a:r>
              <a:rPr kumimoji="1" lang="zh-CN" altLang="en-US" sz="2000">
                <a:latin typeface="宋体" charset="-122"/>
                <a:ea typeface="宋体" charset="-122"/>
              </a:rPr>
              <a:t>（</a:t>
            </a:r>
            <a:r>
              <a:rPr kumimoji="1" lang="en-US" altLang="zh-CN" sz="2000">
                <a:latin typeface="Times New Roman" pitchFamily="18" charset="0"/>
                <a:ea typeface="宋体" charset="-122"/>
              </a:rPr>
              <a:t>19</a:t>
            </a:r>
            <a:r>
              <a:rPr kumimoji="1" lang="zh-CN" altLang="en-US" sz="2000">
                <a:latin typeface="宋体" charset="-122"/>
                <a:ea typeface="宋体" charset="-122"/>
              </a:rPr>
              <a:t>）</a:t>
            </a:r>
            <a:r>
              <a:rPr kumimoji="1" lang="zh-CN" altLang="en-US" sz="2000">
                <a:latin typeface="Times New Roman" pitchFamily="18" charset="0"/>
                <a:ea typeface="宋体" charset="-122"/>
              </a:rPr>
              <a:t> </a:t>
            </a:r>
          </a:p>
        </p:txBody>
      </p:sp>
      <p:sp>
        <p:nvSpPr>
          <p:cNvPr id="97286" name="Text Box 6"/>
          <p:cNvSpPr txBox="1">
            <a:spLocks noChangeArrowheads="1"/>
          </p:cNvSpPr>
          <p:nvPr/>
        </p:nvSpPr>
        <p:spPr bwMode="auto">
          <a:xfrm>
            <a:off x="1042988" y="4508500"/>
            <a:ext cx="3295650" cy="396875"/>
          </a:xfrm>
          <a:prstGeom prst="rect">
            <a:avLst/>
          </a:prstGeom>
          <a:noFill/>
          <a:ln w="9525">
            <a:noFill/>
            <a:miter lim="800000"/>
            <a:headEnd/>
            <a:tailEnd/>
          </a:ln>
        </p:spPr>
        <p:txBody>
          <a:bodyPr wrap="none">
            <a:spAutoFit/>
          </a:bodyPr>
          <a:lstStyle/>
          <a:p>
            <a:r>
              <a:rPr kumimoji="1" lang="zh-CN" altLang="en-US" sz="2000">
                <a:latin typeface="宋体" charset="-122"/>
                <a:ea typeface="宋体" charset="-122"/>
              </a:rPr>
              <a:t>这一轮仍然不会发生变异。</a:t>
            </a:r>
            <a:r>
              <a:rPr kumimoji="1" lang="zh-CN" altLang="en-US" sz="2000">
                <a:latin typeface="Times New Roman" pitchFamily="18" charset="0"/>
                <a:ea typeface="宋体" charset="-122"/>
              </a:rPr>
              <a:t> </a:t>
            </a:r>
          </a:p>
        </p:txBody>
      </p:sp>
      <p:sp>
        <p:nvSpPr>
          <p:cNvPr id="49159" name="Text Box 7"/>
          <p:cNvSpPr txBox="1">
            <a:spLocks noChangeArrowheads="1"/>
          </p:cNvSpPr>
          <p:nvPr/>
        </p:nvSpPr>
        <p:spPr bwMode="auto">
          <a:xfrm>
            <a:off x="1476375" y="4941888"/>
            <a:ext cx="5761038" cy="1400175"/>
          </a:xfrm>
          <a:prstGeom prst="rect">
            <a:avLst/>
          </a:prstGeom>
          <a:noFill/>
          <a:ln w="9525">
            <a:noFill/>
            <a:miter lim="800000"/>
            <a:headEnd/>
            <a:tailEnd/>
          </a:ln>
        </p:spPr>
        <p:txBody>
          <a:bodyPr>
            <a:spAutoFit/>
          </a:bodyPr>
          <a:lstStyle/>
          <a:p>
            <a:pPr>
              <a:lnSpc>
                <a:spcPct val="120000"/>
              </a:lnSpc>
              <a:spcBef>
                <a:spcPct val="20000"/>
              </a:spcBef>
            </a:pPr>
            <a:r>
              <a:rPr kumimoji="1" lang="zh-CN" altLang="en-US" sz="2000">
                <a:ea typeface="宋体" charset="-122"/>
              </a:rPr>
              <a:t>于是，得第三代种群</a:t>
            </a:r>
            <a:r>
              <a:rPr kumimoji="1" lang="en-US" altLang="zh-CN" sz="2000" i="1">
                <a:ea typeface="宋体" charset="-122"/>
              </a:rPr>
              <a:t>S</a:t>
            </a:r>
            <a:r>
              <a:rPr kumimoji="1" lang="en-US" altLang="zh-CN" sz="1400">
                <a:ea typeface="宋体" charset="-122"/>
              </a:rPr>
              <a:t>3</a:t>
            </a:r>
            <a:r>
              <a:rPr kumimoji="1" lang="zh-CN" altLang="en-US" sz="2000">
                <a:ea typeface="宋体" charset="-122"/>
              </a:rPr>
              <a:t>：</a:t>
            </a:r>
            <a:endParaRPr kumimoji="1" lang="zh-CN" altLang="en-US" sz="2000" i="1">
              <a:latin typeface="Times New Roman" pitchFamily="18" charset="0"/>
              <a:ea typeface="宋体" charset="-122"/>
            </a:endParaRPr>
          </a:p>
          <a:p>
            <a:pPr>
              <a:lnSpc>
                <a:spcPct val="120000"/>
              </a:lnSpc>
              <a:spcBef>
                <a:spcPct val="50000"/>
              </a:spcBef>
            </a:pPr>
            <a:r>
              <a:rPr kumimoji="1" lang="zh-CN" altLang="en-US" sz="2000" i="1">
                <a:ea typeface="宋体" charset="-122"/>
              </a:rPr>
              <a:t> </a:t>
            </a:r>
            <a:r>
              <a:rPr kumimoji="1" lang="en-US" altLang="zh-CN" sz="2000" i="1">
                <a:ea typeface="宋体" charset="-122"/>
              </a:rPr>
              <a:t>s</a:t>
            </a:r>
            <a:r>
              <a:rPr kumimoji="1" lang="en-US" altLang="zh-CN" sz="2000" baseline="-30000">
                <a:ea typeface="宋体" charset="-122"/>
              </a:rPr>
              <a:t>1</a:t>
            </a:r>
            <a:r>
              <a:rPr kumimoji="1" lang="en-US" altLang="zh-CN" sz="2000">
                <a:ea typeface="宋体" charset="-122"/>
              </a:rPr>
              <a:t>=11100</a:t>
            </a:r>
            <a:r>
              <a:rPr kumimoji="1" lang="zh-CN" altLang="en-US" sz="2000">
                <a:ea typeface="宋体" charset="-122"/>
              </a:rPr>
              <a:t>（</a:t>
            </a:r>
            <a:r>
              <a:rPr kumimoji="1" lang="en-US" altLang="zh-CN" sz="2000">
                <a:ea typeface="宋体" charset="-122"/>
              </a:rPr>
              <a:t>28</a:t>
            </a:r>
            <a:r>
              <a:rPr kumimoji="1" lang="zh-CN" altLang="en-US" sz="2000">
                <a:ea typeface="宋体" charset="-122"/>
              </a:rPr>
              <a:t>）</a:t>
            </a:r>
            <a:r>
              <a:rPr kumimoji="1" lang="en-US" altLang="zh-CN" sz="2000">
                <a:ea typeface="宋体" charset="-122"/>
              </a:rPr>
              <a:t>, </a:t>
            </a:r>
            <a:r>
              <a:rPr kumimoji="1" lang="en-US" altLang="zh-CN" sz="2000" i="1">
                <a:ea typeface="宋体" charset="-122"/>
              </a:rPr>
              <a:t>s</a:t>
            </a:r>
            <a:r>
              <a:rPr kumimoji="1" lang="en-US" altLang="zh-CN" sz="2000" baseline="-30000">
                <a:ea typeface="宋体" charset="-122"/>
              </a:rPr>
              <a:t>2</a:t>
            </a:r>
            <a:r>
              <a:rPr kumimoji="1" lang="en-US" altLang="zh-CN" sz="2000">
                <a:ea typeface="宋体" charset="-122"/>
              </a:rPr>
              <a:t>=01001</a:t>
            </a:r>
            <a:r>
              <a:rPr kumimoji="1" lang="zh-CN" altLang="en-US" sz="2000">
                <a:ea typeface="宋体" charset="-122"/>
              </a:rPr>
              <a:t>（</a:t>
            </a:r>
            <a:r>
              <a:rPr kumimoji="1" lang="en-US" altLang="zh-CN" sz="2000">
                <a:ea typeface="宋体" charset="-122"/>
              </a:rPr>
              <a:t>9</a:t>
            </a:r>
            <a:r>
              <a:rPr kumimoji="1" lang="zh-CN" altLang="en-US" sz="2000">
                <a:ea typeface="宋体" charset="-122"/>
              </a:rPr>
              <a:t>）</a:t>
            </a:r>
          </a:p>
          <a:p>
            <a:pPr>
              <a:lnSpc>
                <a:spcPct val="120000"/>
              </a:lnSpc>
              <a:spcBef>
                <a:spcPct val="20000"/>
              </a:spcBef>
            </a:pPr>
            <a:r>
              <a:rPr kumimoji="1" lang="zh-CN" altLang="en-US" sz="2000">
                <a:ea typeface="宋体" charset="-122"/>
              </a:rPr>
              <a:t> </a:t>
            </a:r>
            <a:r>
              <a:rPr kumimoji="1" lang="en-US" altLang="zh-CN" sz="2000" i="1">
                <a:ea typeface="宋体" charset="-122"/>
              </a:rPr>
              <a:t>s</a:t>
            </a:r>
            <a:r>
              <a:rPr kumimoji="1" lang="en-US" altLang="zh-CN" sz="2000" baseline="-30000">
                <a:ea typeface="宋体" charset="-122"/>
              </a:rPr>
              <a:t>3</a:t>
            </a:r>
            <a:r>
              <a:rPr kumimoji="1" lang="en-US" altLang="zh-CN" sz="2000">
                <a:ea typeface="宋体" charset="-122"/>
              </a:rPr>
              <a:t>=11000</a:t>
            </a:r>
            <a:r>
              <a:rPr kumimoji="1" lang="zh-CN" altLang="en-US" sz="2000">
                <a:ea typeface="宋体" charset="-122"/>
              </a:rPr>
              <a:t>（</a:t>
            </a:r>
            <a:r>
              <a:rPr kumimoji="1" lang="en-US" altLang="zh-CN" sz="2000">
                <a:ea typeface="宋体" charset="-122"/>
              </a:rPr>
              <a:t>24</a:t>
            </a:r>
            <a:r>
              <a:rPr kumimoji="1" lang="zh-CN" altLang="en-US" sz="2000">
                <a:ea typeface="宋体" charset="-122"/>
              </a:rPr>
              <a:t>）</a:t>
            </a:r>
            <a:r>
              <a:rPr kumimoji="1" lang="en-US" altLang="zh-CN" sz="2000">
                <a:ea typeface="宋体" charset="-122"/>
              </a:rPr>
              <a:t>, </a:t>
            </a:r>
            <a:r>
              <a:rPr kumimoji="1" lang="en-US" altLang="zh-CN" sz="2000" i="1">
                <a:ea typeface="宋体" charset="-122"/>
              </a:rPr>
              <a:t>s</a:t>
            </a:r>
            <a:r>
              <a:rPr kumimoji="1" lang="en-US" altLang="zh-CN" sz="2000" baseline="-30000">
                <a:ea typeface="宋体" charset="-122"/>
              </a:rPr>
              <a:t>4</a:t>
            </a:r>
            <a:r>
              <a:rPr kumimoji="1" lang="en-US" altLang="zh-CN" sz="2000">
                <a:ea typeface="宋体" charset="-122"/>
              </a:rPr>
              <a:t>=10011</a:t>
            </a:r>
            <a:r>
              <a:rPr kumimoji="1" lang="zh-CN" altLang="en-US" sz="2000">
                <a:ea typeface="宋体" charset="-122"/>
              </a:rPr>
              <a:t>（</a:t>
            </a:r>
            <a:r>
              <a:rPr kumimoji="1" lang="en-US" altLang="zh-CN" sz="2000">
                <a:ea typeface="宋体" charset="-122"/>
              </a:rPr>
              <a:t>19</a:t>
            </a:r>
            <a:r>
              <a:rPr kumimoji="1" lang="zh-CN" altLang="en-US" sz="2000">
                <a:ea typeface="宋体" charset="-122"/>
              </a:rPr>
              <a:t>）</a:t>
            </a:r>
            <a:r>
              <a:rPr kumimoji="1" lang="zh-CN" altLang="en-US" sz="2000">
                <a:latin typeface="Times New Roman" pitchFamily="18" charset="0"/>
                <a:ea typeface="宋体" charset="-122"/>
              </a:rPr>
              <a:t> </a:t>
            </a: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97282"/>
                                        </p:tgtEl>
                                        <p:attrNameLst>
                                          <p:attrName>style.visibility</p:attrName>
                                        </p:attrNameLst>
                                      </p:cBhvr>
                                      <p:to>
                                        <p:strVal val="visible"/>
                                      </p:to>
                                    </p:set>
                                    <p:animEffect transition="in" filter="blinds(horizontal)">
                                      <p:cBhvr>
                                        <p:cTn id="7" dur="500"/>
                                        <p:tgtEl>
                                          <p:spTgt spid="97282"/>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97283"/>
                                        </p:tgtEl>
                                        <p:attrNameLst>
                                          <p:attrName>style.visibility</p:attrName>
                                        </p:attrNameLst>
                                      </p:cBhvr>
                                      <p:to>
                                        <p:strVal val="visible"/>
                                      </p:to>
                                    </p:set>
                                    <p:animEffect transition="in" filter="blinds(horizontal)">
                                      <p:cBhvr>
                                        <p:cTn id="12" dur="500"/>
                                        <p:tgtEl>
                                          <p:spTgt spid="97283"/>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grpId="0" nodeType="clickEffect">
                                  <p:stCondLst>
                                    <p:cond delay="0"/>
                                  </p:stCondLst>
                                  <p:childTnLst>
                                    <p:set>
                                      <p:cBhvr>
                                        <p:cTn id="16" dur="1" fill="hold">
                                          <p:stCondLst>
                                            <p:cond delay="0"/>
                                          </p:stCondLst>
                                        </p:cTn>
                                        <p:tgtEl>
                                          <p:spTgt spid="97284"/>
                                        </p:tgtEl>
                                        <p:attrNameLst>
                                          <p:attrName>style.visibility</p:attrName>
                                        </p:attrNameLst>
                                      </p:cBhvr>
                                      <p:to>
                                        <p:strVal val="visible"/>
                                      </p:to>
                                    </p:set>
                                    <p:animEffect transition="in" filter="blinds(horizontal)">
                                      <p:cBhvr>
                                        <p:cTn id="17" dur="500"/>
                                        <p:tgtEl>
                                          <p:spTgt spid="97284"/>
                                        </p:tgtEl>
                                      </p:cBhvr>
                                    </p:animEffect>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grpId="0" nodeType="clickEffect">
                                  <p:stCondLst>
                                    <p:cond delay="0"/>
                                  </p:stCondLst>
                                  <p:childTnLst>
                                    <p:set>
                                      <p:cBhvr>
                                        <p:cTn id="21" dur="1" fill="hold">
                                          <p:stCondLst>
                                            <p:cond delay="0"/>
                                          </p:stCondLst>
                                        </p:cTn>
                                        <p:tgtEl>
                                          <p:spTgt spid="97285"/>
                                        </p:tgtEl>
                                        <p:attrNameLst>
                                          <p:attrName>style.visibility</p:attrName>
                                        </p:attrNameLst>
                                      </p:cBhvr>
                                      <p:to>
                                        <p:strVal val="visible"/>
                                      </p:to>
                                    </p:set>
                                    <p:animEffect transition="in" filter="blinds(horizontal)">
                                      <p:cBhvr>
                                        <p:cTn id="22" dur="500"/>
                                        <p:tgtEl>
                                          <p:spTgt spid="97285"/>
                                        </p:tgtEl>
                                      </p:cBhvr>
                                    </p:animEffect>
                                  </p:childTnLst>
                                </p:cTn>
                              </p:par>
                            </p:childTnLst>
                          </p:cTn>
                        </p:par>
                      </p:childTnLst>
                    </p:cTn>
                  </p:par>
                  <p:par>
                    <p:cTn id="23" fill="hold">
                      <p:stCondLst>
                        <p:cond delay="indefinite"/>
                      </p:stCondLst>
                      <p:childTnLst>
                        <p:par>
                          <p:cTn id="24" fill="hold">
                            <p:stCondLst>
                              <p:cond delay="0"/>
                            </p:stCondLst>
                            <p:childTnLst>
                              <p:par>
                                <p:cTn id="25" presetID="3" presetClass="entr" presetSubtype="10" fill="hold" grpId="0" nodeType="clickEffect">
                                  <p:stCondLst>
                                    <p:cond delay="0"/>
                                  </p:stCondLst>
                                  <p:childTnLst>
                                    <p:set>
                                      <p:cBhvr>
                                        <p:cTn id="26" dur="1" fill="hold">
                                          <p:stCondLst>
                                            <p:cond delay="0"/>
                                          </p:stCondLst>
                                        </p:cTn>
                                        <p:tgtEl>
                                          <p:spTgt spid="97286"/>
                                        </p:tgtEl>
                                        <p:attrNameLst>
                                          <p:attrName>style.visibility</p:attrName>
                                        </p:attrNameLst>
                                      </p:cBhvr>
                                      <p:to>
                                        <p:strVal val="visible"/>
                                      </p:to>
                                    </p:set>
                                    <p:animEffect transition="in" filter="blinds(horizontal)">
                                      <p:cBhvr>
                                        <p:cTn id="27" dur="500"/>
                                        <p:tgtEl>
                                          <p:spTgt spid="9728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7282" grpId="0"/>
      <p:bldP spid="97283" grpId="0"/>
      <p:bldP spid="97284" grpId="0"/>
      <p:bldP spid="97285" grpId="0"/>
      <p:bldP spid="97286" grpId="0"/>
    </p:bld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8" name="Text Box 2"/>
          <p:cNvSpPr txBox="1">
            <a:spLocks noChangeArrowheads="1"/>
          </p:cNvSpPr>
          <p:nvPr/>
        </p:nvSpPr>
        <p:spPr bwMode="auto">
          <a:xfrm>
            <a:off x="2057400" y="1557338"/>
            <a:ext cx="4976813" cy="457200"/>
          </a:xfrm>
          <a:prstGeom prst="rect">
            <a:avLst/>
          </a:prstGeom>
          <a:noFill/>
          <a:ln w="9525">
            <a:noFill/>
            <a:miter lim="800000"/>
            <a:headEnd/>
            <a:tailEnd/>
          </a:ln>
        </p:spPr>
        <p:txBody>
          <a:bodyPr wrap="none">
            <a:spAutoFit/>
          </a:bodyPr>
          <a:lstStyle/>
          <a:p>
            <a:r>
              <a:rPr kumimoji="1" lang="zh-CN" altLang="en-US" sz="2400" b="1">
                <a:latin typeface="宋体" charset="-122"/>
                <a:ea typeface="宋体" charset="-122"/>
              </a:rPr>
              <a:t>   第三代种群</a:t>
            </a:r>
            <a:r>
              <a:rPr kumimoji="1" lang="en-US" altLang="zh-CN" sz="2400" b="1" i="1">
                <a:latin typeface="Times New Roman" pitchFamily="18" charset="0"/>
                <a:ea typeface="宋体" charset="-122"/>
              </a:rPr>
              <a:t>S</a:t>
            </a:r>
            <a:r>
              <a:rPr kumimoji="1" lang="en-US" altLang="zh-CN" sz="2400" b="1" baseline="-30000">
                <a:latin typeface="Times New Roman" pitchFamily="18" charset="0"/>
                <a:ea typeface="宋体" charset="-122"/>
              </a:rPr>
              <a:t>3</a:t>
            </a:r>
            <a:r>
              <a:rPr kumimoji="1" lang="zh-CN" altLang="en-US" sz="2400" b="1">
                <a:latin typeface="宋体" charset="-122"/>
                <a:ea typeface="宋体" charset="-122"/>
              </a:rPr>
              <a:t>中各染色体的情况</a:t>
            </a:r>
            <a:r>
              <a:rPr kumimoji="1" lang="zh-CN" altLang="en-US" sz="2400" b="1">
                <a:latin typeface="Times New Roman" pitchFamily="18" charset="0"/>
                <a:ea typeface="宋体" charset="-122"/>
              </a:rPr>
              <a:t> </a:t>
            </a:r>
          </a:p>
        </p:txBody>
      </p:sp>
      <p:graphicFrame>
        <p:nvGraphicFramePr>
          <p:cNvPr id="98341" name="Group 37"/>
          <p:cNvGraphicFramePr>
            <a:graphicFrameLocks noGrp="1"/>
          </p:cNvGraphicFramePr>
          <p:nvPr/>
        </p:nvGraphicFramePr>
        <p:xfrm>
          <a:off x="914400" y="2187575"/>
          <a:ext cx="7848600" cy="3263202"/>
        </p:xfrm>
        <a:graphic>
          <a:graphicData uri="http://schemas.openxmlformats.org/drawingml/2006/table">
            <a:tbl>
              <a:tblPr/>
              <a:tblGrid>
                <a:gridCol w="1962150">
                  <a:extLst>
                    <a:ext uri="{9D8B030D-6E8A-4147-A177-3AD203B41FA5}">
                      <a16:colId xmlns:a16="http://schemas.microsoft.com/office/drawing/2014/main" val="20000"/>
                    </a:ext>
                  </a:extLst>
                </a:gridCol>
                <a:gridCol w="1960563">
                  <a:extLst>
                    <a:ext uri="{9D8B030D-6E8A-4147-A177-3AD203B41FA5}">
                      <a16:colId xmlns:a16="http://schemas.microsoft.com/office/drawing/2014/main" val="20001"/>
                    </a:ext>
                  </a:extLst>
                </a:gridCol>
                <a:gridCol w="1963737">
                  <a:extLst>
                    <a:ext uri="{9D8B030D-6E8A-4147-A177-3AD203B41FA5}">
                      <a16:colId xmlns:a16="http://schemas.microsoft.com/office/drawing/2014/main" val="20002"/>
                    </a:ext>
                  </a:extLst>
                </a:gridCol>
                <a:gridCol w="1962150">
                  <a:extLst>
                    <a:ext uri="{9D8B030D-6E8A-4147-A177-3AD203B41FA5}">
                      <a16:colId xmlns:a16="http://schemas.microsoft.com/office/drawing/2014/main" val="20003"/>
                    </a:ext>
                  </a:extLst>
                </a:gridCol>
              </a:tblGrid>
              <a:tr h="893763">
                <a:tc>
                  <a:txBody>
                    <a:bodyPr/>
                    <a:lstStyle/>
                    <a:p>
                      <a:pPr marL="0" marR="0" lvl="0" indent="0" algn="l" defTabSz="914400" rtl="0" eaLnBrk="0" fontAlgn="base" latinLnBrk="0" hangingPunct="0">
                        <a:lnSpc>
                          <a:spcPct val="100000"/>
                        </a:lnSpc>
                        <a:spcBef>
                          <a:spcPct val="40000"/>
                        </a:spcBef>
                        <a:spcAft>
                          <a:spcPct val="0"/>
                        </a:spcAft>
                        <a:buClr>
                          <a:schemeClr val="hlink"/>
                        </a:buClr>
                        <a:buSzTx/>
                        <a:buFont typeface="Wingdings" pitchFamily="2" charset="2"/>
                        <a:buNone/>
                        <a:tabLst/>
                      </a:pPr>
                      <a:r>
                        <a:rPr kumimoji="0" lang="zh-CN" altLang="en-US" sz="2400" b="1" i="0" u="none" strike="noStrike" cap="none" normalizeH="0" baseline="0" smtClean="0">
                          <a:ln>
                            <a:noFill/>
                          </a:ln>
                          <a:solidFill>
                            <a:schemeClr val="tx1"/>
                          </a:solidFill>
                          <a:effectLst/>
                          <a:latin typeface="Verdana" pitchFamily="34" charset="0"/>
                          <a:ea typeface="宋体" pitchFamily="2" charset="-122"/>
                        </a:rPr>
                        <a:t>  染色体</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40000"/>
                        </a:spcBef>
                        <a:spcAft>
                          <a:spcPct val="0"/>
                        </a:spcAft>
                        <a:buClr>
                          <a:schemeClr val="hlink"/>
                        </a:buClr>
                        <a:buSzTx/>
                        <a:buFont typeface="Wingdings" pitchFamily="2" charset="2"/>
                        <a:buNone/>
                        <a:tabLst/>
                      </a:pPr>
                      <a:r>
                        <a:rPr kumimoji="0" lang="zh-CN" altLang="en-US" sz="2400" b="1" i="0" u="none" strike="noStrike" cap="none" normalizeH="0" baseline="0" smtClean="0">
                          <a:ln>
                            <a:noFill/>
                          </a:ln>
                          <a:solidFill>
                            <a:schemeClr val="tx1"/>
                          </a:solidFill>
                          <a:effectLst/>
                          <a:latin typeface="Verdana" pitchFamily="34" charset="0"/>
                          <a:ea typeface="宋体" pitchFamily="2" charset="-122"/>
                        </a:rPr>
                        <a:t>  适应度</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40000"/>
                        </a:spcBef>
                        <a:spcAft>
                          <a:spcPct val="0"/>
                        </a:spcAft>
                        <a:buClr>
                          <a:schemeClr val="hlink"/>
                        </a:buClr>
                        <a:buSzTx/>
                        <a:buFont typeface="Wingdings" pitchFamily="2" charset="2"/>
                        <a:buNone/>
                        <a:tabLst/>
                      </a:pPr>
                      <a:r>
                        <a:rPr kumimoji="0" lang="zh-CN" altLang="en-US" sz="2400" b="1" i="0" u="none" strike="noStrike" cap="none" normalizeH="0" baseline="0" smtClean="0">
                          <a:ln>
                            <a:noFill/>
                          </a:ln>
                          <a:solidFill>
                            <a:schemeClr val="tx1"/>
                          </a:solidFill>
                          <a:effectLst/>
                          <a:latin typeface="Verdana" pitchFamily="34" charset="0"/>
                          <a:ea typeface="宋体" pitchFamily="2" charset="-122"/>
                        </a:rPr>
                        <a:t>选择概率</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40000"/>
                        </a:spcBef>
                        <a:spcAft>
                          <a:spcPct val="0"/>
                        </a:spcAft>
                        <a:buClr>
                          <a:schemeClr val="hlink"/>
                        </a:buClr>
                        <a:buSzTx/>
                        <a:buFont typeface="Wingdings" pitchFamily="2" charset="2"/>
                        <a:buNone/>
                        <a:tabLst/>
                      </a:pPr>
                      <a:r>
                        <a:rPr kumimoji="0" lang="zh-CN" altLang="en-US" sz="2400" b="1" i="0" u="none" strike="noStrike" cap="none" normalizeH="0" baseline="0" smtClean="0">
                          <a:ln>
                            <a:noFill/>
                          </a:ln>
                          <a:solidFill>
                            <a:schemeClr val="tx1"/>
                          </a:solidFill>
                          <a:effectLst/>
                          <a:latin typeface="Verdana" pitchFamily="34" charset="0"/>
                          <a:ea typeface="宋体" pitchFamily="2" charset="-122"/>
                        </a:rPr>
                        <a:t>  估计的</a:t>
                      </a:r>
                    </a:p>
                    <a:p>
                      <a:pPr marL="0" marR="0" lvl="0" indent="0" algn="l" defTabSz="914400" rtl="0" eaLnBrk="0" fontAlgn="base" latinLnBrk="0" hangingPunct="0">
                        <a:lnSpc>
                          <a:spcPct val="100000"/>
                        </a:lnSpc>
                        <a:spcBef>
                          <a:spcPct val="40000"/>
                        </a:spcBef>
                        <a:spcAft>
                          <a:spcPct val="0"/>
                        </a:spcAft>
                        <a:buClr>
                          <a:schemeClr val="hlink"/>
                        </a:buClr>
                        <a:buSzTx/>
                        <a:buFont typeface="Wingdings" pitchFamily="2" charset="2"/>
                        <a:buNone/>
                        <a:tabLst/>
                      </a:pPr>
                      <a:r>
                        <a:rPr kumimoji="0" lang="zh-CN" altLang="en-US" sz="2400" b="1" i="0" u="none" strike="noStrike" cap="none" normalizeH="0" baseline="0" smtClean="0">
                          <a:ln>
                            <a:noFill/>
                          </a:ln>
                          <a:solidFill>
                            <a:schemeClr val="tx1"/>
                          </a:solidFill>
                          <a:effectLst/>
                          <a:latin typeface="Verdana" pitchFamily="34" charset="0"/>
                          <a:ea typeface="宋体" pitchFamily="2" charset="-122"/>
                        </a:rPr>
                        <a:t>选中次数</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574675">
                <a:tc>
                  <a:txBody>
                    <a:bodyPr/>
                    <a:lstStyle/>
                    <a:p>
                      <a:pPr marL="0" marR="0" lvl="0" indent="0" algn="l" defTabSz="914400" rtl="0" eaLnBrk="0" fontAlgn="base" latinLnBrk="0" hangingPunct="0">
                        <a:lnSpc>
                          <a:spcPct val="100000"/>
                        </a:lnSpc>
                        <a:spcBef>
                          <a:spcPct val="40000"/>
                        </a:spcBef>
                        <a:spcAft>
                          <a:spcPct val="0"/>
                        </a:spcAft>
                        <a:buClr>
                          <a:schemeClr val="hlink"/>
                        </a:buClr>
                        <a:buSzTx/>
                        <a:buFont typeface="Wingdings" pitchFamily="2" charset="2"/>
                        <a:buNone/>
                        <a:tabLst/>
                      </a:pPr>
                      <a:r>
                        <a:rPr kumimoji="0" lang="en-US" altLang="zh-CN" sz="2400" b="1" i="1" u="none" strike="noStrike" cap="none" normalizeH="0" baseline="0" smtClean="0">
                          <a:ln>
                            <a:noFill/>
                          </a:ln>
                          <a:solidFill>
                            <a:schemeClr val="tx1"/>
                          </a:solidFill>
                          <a:effectLst/>
                          <a:latin typeface="Verdana" pitchFamily="34" charset="0"/>
                          <a:ea typeface="宋体" pitchFamily="2" charset="-122"/>
                        </a:rPr>
                        <a:t>s</a:t>
                      </a:r>
                      <a:r>
                        <a:rPr kumimoji="0" lang="en-US" altLang="zh-CN" sz="2400" b="1" i="0" u="none" strike="noStrike" cap="none" normalizeH="0" baseline="-25000" smtClean="0">
                          <a:ln>
                            <a:noFill/>
                          </a:ln>
                          <a:solidFill>
                            <a:schemeClr val="tx1"/>
                          </a:solidFill>
                          <a:effectLst/>
                          <a:latin typeface="Verdana" pitchFamily="34" charset="0"/>
                          <a:ea typeface="宋体" pitchFamily="2" charset="-122"/>
                        </a:rPr>
                        <a:t>1</a:t>
                      </a:r>
                      <a:r>
                        <a:rPr kumimoji="0" lang="en-US" altLang="zh-CN" sz="2400" b="1" i="0" u="none" strike="noStrike" cap="none" normalizeH="0" baseline="0" smtClean="0">
                          <a:ln>
                            <a:noFill/>
                          </a:ln>
                          <a:solidFill>
                            <a:schemeClr val="tx1"/>
                          </a:solidFill>
                          <a:effectLst/>
                          <a:latin typeface="Verdana" pitchFamily="34" charset="0"/>
                          <a:ea typeface="宋体" pitchFamily="2" charset="-122"/>
                        </a:rPr>
                        <a:t>=11100</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40000"/>
                        </a:spcBef>
                        <a:spcAft>
                          <a:spcPct val="0"/>
                        </a:spcAft>
                        <a:buClr>
                          <a:schemeClr val="hlink"/>
                        </a:buClr>
                        <a:buSzTx/>
                        <a:buFont typeface="Wingdings" pitchFamily="2" charset="2"/>
                        <a:buNone/>
                        <a:tabLst/>
                      </a:pPr>
                      <a:r>
                        <a:rPr kumimoji="0" lang="zh-CN" altLang="en-US" sz="2400" b="1" i="0" u="none" strike="noStrike" cap="none" normalizeH="0" baseline="0" smtClean="0">
                          <a:ln>
                            <a:noFill/>
                          </a:ln>
                          <a:solidFill>
                            <a:schemeClr val="tx1"/>
                          </a:solidFill>
                          <a:effectLst/>
                          <a:latin typeface="Verdana" pitchFamily="34" charset="0"/>
                          <a:ea typeface="宋体" pitchFamily="2" charset="-122"/>
                        </a:rPr>
                        <a:t>    </a:t>
                      </a:r>
                      <a:r>
                        <a:rPr kumimoji="0" lang="en-US" altLang="zh-CN" sz="2400" b="1" i="0" u="none" strike="noStrike" cap="none" normalizeH="0" baseline="0" smtClean="0">
                          <a:ln>
                            <a:noFill/>
                          </a:ln>
                          <a:solidFill>
                            <a:schemeClr val="tx1"/>
                          </a:solidFill>
                          <a:effectLst/>
                          <a:latin typeface="Verdana" pitchFamily="34" charset="0"/>
                          <a:ea typeface="宋体" pitchFamily="2" charset="-122"/>
                        </a:rPr>
                        <a:t>784</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40000"/>
                        </a:spcBef>
                        <a:spcAft>
                          <a:spcPct val="0"/>
                        </a:spcAft>
                        <a:buClr>
                          <a:schemeClr val="hlink"/>
                        </a:buClr>
                        <a:buSzTx/>
                        <a:buFont typeface="Wingdings" pitchFamily="2" charset="2"/>
                        <a:buNone/>
                        <a:tabLst/>
                      </a:pPr>
                      <a:r>
                        <a:rPr kumimoji="0" lang="zh-CN" altLang="en-US" sz="2400" b="1" i="0" u="none" strike="noStrike" cap="none" normalizeH="0" baseline="0" smtClean="0">
                          <a:ln>
                            <a:noFill/>
                          </a:ln>
                          <a:solidFill>
                            <a:schemeClr val="tx1"/>
                          </a:solidFill>
                          <a:effectLst/>
                          <a:latin typeface="Verdana" pitchFamily="34" charset="0"/>
                          <a:ea typeface="宋体" pitchFamily="2" charset="-122"/>
                        </a:rPr>
                        <a:t>    </a:t>
                      </a:r>
                      <a:r>
                        <a:rPr kumimoji="0" lang="en-US" altLang="zh-CN" sz="2400" b="1" i="0" u="none" strike="noStrike" cap="none" normalizeH="0" baseline="0" smtClean="0">
                          <a:ln>
                            <a:noFill/>
                          </a:ln>
                          <a:solidFill>
                            <a:schemeClr val="tx1"/>
                          </a:solidFill>
                          <a:effectLst/>
                          <a:latin typeface="Verdana" pitchFamily="34" charset="0"/>
                          <a:ea typeface="宋体" pitchFamily="2" charset="-122"/>
                        </a:rPr>
                        <a:t>0.44</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40000"/>
                        </a:spcBef>
                        <a:spcAft>
                          <a:spcPct val="0"/>
                        </a:spcAft>
                        <a:buClr>
                          <a:schemeClr val="hlink"/>
                        </a:buClr>
                        <a:buSzTx/>
                        <a:buFont typeface="Wingdings" pitchFamily="2" charset="2"/>
                        <a:buNone/>
                        <a:tabLst/>
                      </a:pPr>
                      <a:r>
                        <a:rPr kumimoji="0" lang="zh-CN" altLang="en-US" sz="2400" b="1" i="0" u="none" strike="noStrike" cap="none" normalizeH="0" baseline="0" smtClean="0">
                          <a:ln>
                            <a:noFill/>
                          </a:ln>
                          <a:solidFill>
                            <a:schemeClr val="tx1"/>
                          </a:solidFill>
                          <a:effectLst/>
                          <a:latin typeface="Verdana" pitchFamily="34" charset="0"/>
                          <a:ea typeface="宋体" pitchFamily="2" charset="-122"/>
                        </a:rPr>
                        <a:t>      </a:t>
                      </a:r>
                      <a:r>
                        <a:rPr kumimoji="0" lang="en-US" altLang="zh-CN" sz="2400" b="1" i="0" u="none" strike="noStrike" cap="none" normalizeH="0" baseline="0" smtClean="0">
                          <a:ln>
                            <a:noFill/>
                          </a:ln>
                          <a:solidFill>
                            <a:schemeClr val="tx1"/>
                          </a:solidFill>
                          <a:effectLst/>
                          <a:latin typeface="Verdana" pitchFamily="34" charset="0"/>
                          <a:ea typeface="宋体" pitchFamily="2" charset="-122"/>
                        </a:rPr>
                        <a:t>2</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571500">
                <a:tc>
                  <a:txBody>
                    <a:bodyPr/>
                    <a:lstStyle/>
                    <a:p>
                      <a:pPr marL="0" marR="0" lvl="0" indent="0" algn="l" defTabSz="914400" rtl="0" eaLnBrk="0" fontAlgn="base" latinLnBrk="0" hangingPunct="0">
                        <a:lnSpc>
                          <a:spcPct val="100000"/>
                        </a:lnSpc>
                        <a:spcBef>
                          <a:spcPct val="40000"/>
                        </a:spcBef>
                        <a:spcAft>
                          <a:spcPct val="0"/>
                        </a:spcAft>
                        <a:buClr>
                          <a:schemeClr val="hlink"/>
                        </a:buClr>
                        <a:buSzTx/>
                        <a:buFont typeface="Wingdings" pitchFamily="2" charset="2"/>
                        <a:buNone/>
                        <a:tabLst/>
                      </a:pPr>
                      <a:r>
                        <a:rPr kumimoji="0" lang="en-US" altLang="zh-CN" sz="2400" b="1" i="1" u="none" strike="noStrike" cap="none" normalizeH="0" baseline="0" smtClean="0">
                          <a:ln>
                            <a:noFill/>
                          </a:ln>
                          <a:solidFill>
                            <a:schemeClr val="tx1"/>
                          </a:solidFill>
                          <a:effectLst/>
                          <a:latin typeface="Verdana" pitchFamily="34" charset="0"/>
                          <a:ea typeface="宋体" pitchFamily="2" charset="-122"/>
                        </a:rPr>
                        <a:t>s</a:t>
                      </a:r>
                      <a:r>
                        <a:rPr kumimoji="0" lang="en-US" altLang="zh-CN" sz="2400" b="1" i="0" u="none" strike="noStrike" cap="none" normalizeH="0" baseline="-25000" smtClean="0">
                          <a:ln>
                            <a:noFill/>
                          </a:ln>
                          <a:solidFill>
                            <a:schemeClr val="tx1"/>
                          </a:solidFill>
                          <a:effectLst/>
                          <a:latin typeface="Verdana" pitchFamily="34" charset="0"/>
                          <a:ea typeface="宋体" pitchFamily="2" charset="-122"/>
                        </a:rPr>
                        <a:t>2</a:t>
                      </a:r>
                      <a:r>
                        <a:rPr kumimoji="0" lang="en-US" altLang="zh-CN" sz="2400" b="1" i="0" u="none" strike="noStrike" cap="none" normalizeH="0" baseline="0" smtClean="0">
                          <a:ln>
                            <a:noFill/>
                          </a:ln>
                          <a:solidFill>
                            <a:schemeClr val="tx1"/>
                          </a:solidFill>
                          <a:effectLst/>
                          <a:latin typeface="Verdana" pitchFamily="34" charset="0"/>
                          <a:ea typeface="宋体" pitchFamily="2" charset="-122"/>
                        </a:rPr>
                        <a:t>=01001</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40000"/>
                        </a:spcBef>
                        <a:spcAft>
                          <a:spcPct val="0"/>
                        </a:spcAft>
                        <a:buClr>
                          <a:schemeClr val="hlink"/>
                        </a:buClr>
                        <a:buSzTx/>
                        <a:buFont typeface="Wingdings" pitchFamily="2" charset="2"/>
                        <a:buNone/>
                        <a:tabLst/>
                      </a:pPr>
                      <a:r>
                        <a:rPr kumimoji="0" lang="zh-CN" altLang="en-US" sz="2400" b="1" i="0" u="none" strike="noStrike" cap="none" normalizeH="0" baseline="0" smtClean="0">
                          <a:ln>
                            <a:noFill/>
                          </a:ln>
                          <a:solidFill>
                            <a:schemeClr val="tx1"/>
                          </a:solidFill>
                          <a:effectLst/>
                          <a:latin typeface="Verdana" pitchFamily="34" charset="0"/>
                          <a:ea typeface="宋体" pitchFamily="2" charset="-122"/>
                        </a:rPr>
                        <a:t>      </a:t>
                      </a:r>
                      <a:r>
                        <a:rPr kumimoji="0" lang="en-US" altLang="zh-CN" sz="2400" b="1" i="0" u="none" strike="noStrike" cap="none" normalizeH="0" baseline="0" smtClean="0">
                          <a:ln>
                            <a:noFill/>
                          </a:ln>
                          <a:solidFill>
                            <a:schemeClr val="tx1"/>
                          </a:solidFill>
                          <a:effectLst/>
                          <a:latin typeface="Verdana" pitchFamily="34" charset="0"/>
                          <a:ea typeface="宋体" pitchFamily="2" charset="-122"/>
                        </a:rPr>
                        <a:t>81</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40000"/>
                        </a:spcBef>
                        <a:spcAft>
                          <a:spcPct val="0"/>
                        </a:spcAft>
                        <a:buClr>
                          <a:schemeClr val="hlink"/>
                        </a:buClr>
                        <a:buSzTx/>
                        <a:buFont typeface="Wingdings" pitchFamily="2" charset="2"/>
                        <a:buNone/>
                        <a:tabLst/>
                      </a:pPr>
                      <a:r>
                        <a:rPr kumimoji="0" lang="zh-CN" altLang="en-US" sz="2400" b="1" i="0" u="none" strike="noStrike" cap="none" normalizeH="0" baseline="0" smtClean="0">
                          <a:ln>
                            <a:noFill/>
                          </a:ln>
                          <a:solidFill>
                            <a:schemeClr val="tx1"/>
                          </a:solidFill>
                          <a:effectLst/>
                          <a:latin typeface="Verdana" pitchFamily="34" charset="0"/>
                          <a:ea typeface="宋体" pitchFamily="2" charset="-122"/>
                        </a:rPr>
                        <a:t>    </a:t>
                      </a:r>
                      <a:r>
                        <a:rPr kumimoji="0" lang="en-US" altLang="zh-CN" sz="2400" b="1" i="0" u="none" strike="noStrike" cap="none" normalizeH="0" baseline="0" smtClean="0">
                          <a:ln>
                            <a:noFill/>
                          </a:ln>
                          <a:solidFill>
                            <a:schemeClr val="tx1"/>
                          </a:solidFill>
                          <a:effectLst/>
                          <a:latin typeface="Verdana" pitchFamily="34" charset="0"/>
                          <a:ea typeface="宋体" pitchFamily="2" charset="-122"/>
                        </a:rPr>
                        <a:t>0.04</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40000"/>
                        </a:spcBef>
                        <a:spcAft>
                          <a:spcPct val="0"/>
                        </a:spcAft>
                        <a:buClr>
                          <a:schemeClr val="hlink"/>
                        </a:buClr>
                        <a:buSzTx/>
                        <a:buFont typeface="Wingdings" pitchFamily="2" charset="2"/>
                        <a:buNone/>
                        <a:tabLst/>
                      </a:pPr>
                      <a:r>
                        <a:rPr kumimoji="0" lang="zh-CN" altLang="en-US" sz="2400" b="1" i="0" u="none" strike="noStrike" cap="none" normalizeH="0" baseline="0" smtClean="0">
                          <a:ln>
                            <a:noFill/>
                          </a:ln>
                          <a:solidFill>
                            <a:schemeClr val="tx1"/>
                          </a:solidFill>
                          <a:effectLst/>
                          <a:latin typeface="Verdana" pitchFamily="34" charset="0"/>
                          <a:ea typeface="宋体" pitchFamily="2" charset="-122"/>
                        </a:rPr>
                        <a:t>      </a:t>
                      </a:r>
                      <a:r>
                        <a:rPr kumimoji="0" lang="en-US" altLang="zh-CN" sz="2400" b="1" i="0" u="none" strike="noStrike" cap="none" normalizeH="0" baseline="0" smtClean="0">
                          <a:ln>
                            <a:noFill/>
                          </a:ln>
                          <a:solidFill>
                            <a:schemeClr val="tx1"/>
                          </a:solidFill>
                          <a:effectLst/>
                          <a:latin typeface="Verdana" pitchFamily="34" charset="0"/>
                          <a:ea typeface="宋体" pitchFamily="2" charset="-122"/>
                        </a:rPr>
                        <a:t>0</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574675">
                <a:tc>
                  <a:txBody>
                    <a:bodyPr/>
                    <a:lstStyle/>
                    <a:p>
                      <a:pPr marL="0" marR="0" lvl="0" indent="0" algn="l" defTabSz="914400" rtl="0" eaLnBrk="0" fontAlgn="base" latinLnBrk="0" hangingPunct="0">
                        <a:lnSpc>
                          <a:spcPct val="100000"/>
                        </a:lnSpc>
                        <a:spcBef>
                          <a:spcPct val="40000"/>
                        </a:spcBef>
                        <a:spcAft>
                          <a:spcPct val="0"/>
                        </a:spcAft>
                        <a:buClr>
                          <a:schemeClr val="hlink"/>
                        </a:buClr>
                        <a:buSzTx/>
                        <a:buFont typeface="Wingdings" pitchFamily="2" charset="2"/>
                        <a:buNone/>
                        <a:tabLst/>
                      </a:pPr>
                      <a:r>
                        <a:rPr kumimoji="0" lang="en-US" altLang="zh-CN" sz="2400" b="1" i="1" u="none" strike="noStrike" cap="none" normalizeH="0" baseline="0" smtClean="0">
                          <a:ln>
                            <a:noFill/>
                          </a:ln>
                          <a:solidFill>
                            <a:schemeClr val="tx1"/>
                          </a:solidFill>
                          <a:effectLst/>
                          <a:latin typeface="Verdana" pitchFamily="34" charset="0"/>
                          <a:ea typeface="宋体" pitchFamily="2" charset="-122"/>
                        </a:rPr>
                        <a:t>s</a:t>
                      </a:r>
                      <a:r>
                        <a:rPr kumimoji="0" lang="en-US" altLang="zh-CN" sz="2400" b="1" i="0" u="none" strike="noStrike" cap="none" normalizeH="0" baseline="-25000" smtClean="0">
                          <a:ln>
                            <a:noFill/>
                          </a:ln>
                          <a:solidFill>
                            <a:schemeClr val="tx1"/>
                          </a:solidFill>
                          <a:effectLst/>
                          <a:latin typeface="Verdana" pitchFamily="34" charset="0"/>
                          <a:ea typeface="宋体" pitchFamily="2" charset="-122"/>
                        </a:rPr>
                        <a:t>3</a:t>
                      </a:r>
                      <a:r>
                        <a:rPr kumimoji="0" lang="en-US" altLang="zh-CN" sz="2400" b="1" i="0" u="none" strike="noStrike" cap="none" normalizeH="0" baseline="0" smtClean="0">
                          <a:ln>
                            <a:noFill/>
                          </a:ln>
                          <a:solidFill>
                            <a:schemeClr val="tx1"/>
                          </a:solidFill>
                          <a:effectLst/>
                          <a:latin typeface="Verdana" pitchFamily="34" charset="0"/>
                          <a:ea typeface="宋体" pitchFamily="2" charset="-122"/>
                        </a:rPr>
                        <a:t>=11000</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40000"/>
                        </a:spcBef>
                        <a:spcAft>
                          <a:spcPct val="0"/>
                        </a:spcAft>
                        <a:buClr>
                          <a:schemeClr val="hlink"/>
                        </a:buClr>
                        <a:buSzTx/>
                        <a:buFont typeface="Wingdings" pitchFamily="2" charset="2"/>
                        <a:buNone/>
                        <a:tabLst/>
                      </a:pPr>
                      <a:r>
                        <a:rPr kumimoji="0" lang="zh-CN" altLang="en-US" sz="2400" b="1" i="0" u="none" strike="noStrike" cap="none" normalizeH="0" baseline="0" smtClean="0">
                          <a:ln>
                            <a:noFill/>
                          </a:ln>
                          <a:solidFill>
                            <a:schemeClr val="tx1"/>
                          </a:solidFill>
                          <a:effectLst/>
                          <a:latin typeface="Verdana" pitchFamily="34" charset="0"/>
                          <a:ea typeface="宋体" pitchFamily="2" charset="-122"/>
                        </a:rPr>
                        <a:t>    </a:t>
                      </a:r>
                      <a:r>
                        <a:rPr kumimoji="0" lang="en-US" altLang="zh-CN" sz="2400" b="1" i="0" u="none" strike="noStrike" cap="none" normalizeH="0" baseline="0" smtClean="0">
                          <a:ln>
                            <a:noFill/>
                          </a:ln>
                          <a:solidFill>
                            <a:schemeClr val="tx1"/>
                          </a:solidFill>
                          <a:effectLst/>
                          <a:latin typeface="Verdana" pitchFamily="34" charset="0"/>
                          <a:ea typeface="宋体" pitchFamily="2" charset="-122"/>
                        </a:rPr>
                        <a:t>576</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40000"/>
                        </a:spcBef>
                        <a:spcAft>
                          <a:spcPct val="0"/>
                        </a:spcAft>
                        <a:buClr>
                          <a:schemeClr val="hlink"/>
                        </a:buClr>
                        <a:buSzTx/>
                        <a:buFont typeface="Wingdings" pitchFamily="2" charset="2"/>
                        <a:buNone/>
                        <a:tabLst/>
                      </a:pPr>
                      <a:r>
                        <a:rPr kumimoji="0" lang="zh-CN" altLang="en-US" sz="2400" b="1" i="0" u="none" strike="noStrike" cap="none" normalizeH="0" baseline="0" smtClean="0">
                          <a:ln>
                            <a:noFill/>
                          </a:ln>
                          <a:solidFill>
                            <a:schemeClr val="tx1"/>
                          </a:solidFill>
                          <a:effectLst/>
                          <a:latin typeface="Verdana" pitchFamily="34" charset="0"/>
                          <a:ea typeface="宋体" pitchFamily="2" charset="-122"/>
                        </a:rPr>
                        <a:t>    </a:t>
                      </a:r>
                      <a:r>
                        <a:rPr kumimoji="0" lang="en-US" altLang="zh-CN" sz="2400" b="1" i="0" u="none" strike="noStrike" cap="none" normalizeH="0" baseline="0" smtClean="0">
                          <a:ln>
                            <a:noFill/>
                          </a:ln>
                          <a:solidFill>
                            <a:schemeClr val="tx1"/>
                          </a:solidFill>
                          <a:effectLst/>
                          <a:latin typeface="Verdana" pitchFamily="34" charset="0"/>
                          <a:ea typeface="宋体" pitchFamily="2" charset="-122"/>
                        </a:rPr>
                        <a:t>0.32</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40000"/>
                        </a:spcBef>
                        <a:spcAft>
                          <a:spcPct val="0"/>
                        </a:spcAft>
                        <a:buClr>
                          <a:schemeClr val="hlink"/>
                        </a:buClr>
                        <a:buSzTx/>
                        <a:buFont typeface="Wingdings" pitchFamily="2" charset="2"/>
                        <a:buNone/>
                        <a:tabLst/>
                      </a:pPr>
                      <a:r>
                        <a:rPr kumimoji="0" lang="zh-CN" altLang="en-US" sz="2400" b="1" i="0" u="none" strike="noStrike" cap="none" normalizeH="0" baseline="0" smtClean="0">
                          <a:ln>
                            <a:noFill/>
                          </a:ln>
                          <a:solidFill>
                            <a:schemeClr val="tx1"/>
                          </a:solidFill>
                          <a:effectLst/>
                          <a:latin typeface="Verdana" pitchFamily="34" charset="0"/>
                          <a:ea typeface="宋体" pitchFamily="2" charset="-122"/>
                        </a:rPr>
                        <a:t>      </a:t>
                      </a:r>
                      <a:r>
                        <a:rPr kumimoji="0" lang="en-US" altLang="zh-CN" sz="2400" b="1" i="0" u="none" strike="noStrike" cap="none" normalizeH="0" baseline="0" smtClean="0">
                          <a:ln>
                            <a:noFill/>
                          </a:ln>
                          <a:solidFill>
                            <a:schemeClr val="tx1"/>
                          </a:solidFill>
                          <a:effectLst/>
                          <a:latin typeface="Verdana" pitchFamily="34" charset="0"/>
                          <a:ea typeface="宋体" pitchFamily="2" charset="-122"/>
                        </a:rPr>
                        <a:t>1</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573088">
                <a:tc>
                  <a:txBody>
                    <a:bodyPr/>
                    <a:lstStyle/>
                    <a:p>
                      <a:pPr marL="0" marR="0" lvl="0" indent="0" algn="l" defTabSz="914400" rtl="0" eaLnBrk="0" fontAlgn="base" latinLnBrk="0" hangingPunct="0">
                        <a:lnSpc>
                          <a:spcPct val="100000"/>
                        </a:lnSpc>
                        <a:spcBef>
                          <a:spcPct val="40000"/>
                        </a:spcBef>
                        <a:spcAft>
                          <a:spcPct val="0"/>
                        </a:spcAft>
                        <a:buClr>
                          <a:schemeClr val="hlink"/>
                        </a:buClr>
                        <a:buSzTx/>
                        <a:buFont typeface="Wingdings" pitchFamily="2" charset="2"/>
                        <a:buNone/>
                        <a:tabLst/>
                      </a:pPr>
                      <a:r>
                        <a:rPr kumimoji="0" lang="en-US" altLang="zh-CN" sz="2400" b="1" i="1" u="none" strike="noStrike" cap="none" normalizeH="0" baseline="0" smtClean="0">
                          <a:ln>
                            <a:noFill/>
                          </a:ln>
                          <a:solidFill>
                            <a:schemeClr val="tx1"/>
                          </a:solidFill>
                          <a:effectLst/>
                          <a:latin typeface="Verdana" pitchFamily="34" charset="0"/>
                          <a:ea typeface="宋体" pitchFamily="2" charset="-122"/>
                        </a:rPr>
                        <a:t>s</a:t>
                      </a:r>
                      <a:r>
                        <a:rPr kumimoji="0" lang="en-US" altLang="zh-CN" sz="2400" b="1" i="0" u="none" strike="noStrike" cap="none" normalizeH="0" baseline="-25000" smtClean="0">
                          <a:ln>
                            <a:noFill/>
                          </a:ln>
                          <a:solidFill>
                            <a:schemeClr val="tx1"/>
                          </a:solidFill>
                          <a:effectLst/>
                          <a:latin typeface="Verdana" pitchFamily="34" charset="0"/>
                          <a:ea typeface="宋体" pitchFamily="2" charset="-122"/>
                        </a:rPr>
                        <a:t>4</a:t>
                      </a:r>
                      <a:r>
                        <a:rPr kumimoji="0" lang="en-US" altLang="zh-CN" sz="2400" b="1" i="0" u="none" strike="noStrike" cap="none" normalizeH="0" baseline="0" smtClean="0">
                          <a:ln>
                            <a:noFill/>
                          </a:ln>
                          <a:solidFill>
                            <a:schemeClr val="tx1"/>
                          </a:solidFill>
                          <a:effectLst/>
                          <a:latin typeface="Verdana" pitchFamily="34" charset="0"/>
                          <a:ea typeface="宋体" pitchFamily="2" charset="-122"/>
                        </a:rPr>
                        <a:t>=10011</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40000"/>
                        </a:spcBef>
                        <a:spcAft>
                          <a:spcPct val="0"/>
                        </a:spcAft>
                        <a:buClr>
                          <a:schemeClr val="hlink"/>
                        </a:buClr>
                        <a:buSzTx/>
                        <a:buFont typeface="Wingdings" pitchFamily="2" charset="2"/>
                        <a:buNone/>
                        <a:tabLst/>
                      </a:pPr>
                      <a:r>
                        <a:rPr kumimoji="0" lang="zh-CN" altLang="en-US" sz="2400" b="1" i="0" u="none" strike="noStrike" cap="none" normalizeH="0" baseline="0" smtClean="0">
                          <a:ln>
                            <a:noFill/>
                          </a:ln>
                          <a:solidFill>
                            <a:schemeClr val="tx1"/>
                          </a:solidFill>
                          <a:effectLst/>
                          <a:latin typeface="Verdana" pitchFamily="34" charset="0"/>
                          <a:ea typeface="宋体" pitchFamily="2" charset="-122"/>
                        </a:rPr>
                        <a:t>    </a:t>
                      </a:r>
                      <a:r>
                        <a:rPr kumimoji="0" lang="en-US" altLang="zh-CN" sz="2400" b="1" i="0" u="none" strike="noStrike" cap="none" normalizeH="0" baseline="0" smtClean="0">
                          <a:ln>
                            <a:noFill/>
                          </a:ln>
                          <a:solidFill>
                            <a:schemeClr val="tx1"/>
                          </a:solidFill>
                          <a:effectLst/>
                          <a:latin typeface="Verdana" pitchFamily="34" charset="0"/>
                          <a:ea typeface="宋体" pitchFamily="2" charset="-122"/>
                        </a:rPr>
                        <a:t>361</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40000"/>
                        </a:spcBef>
                        <a:spcAft>
                          <a:spcPct val="0"/>
                        </a:spcAft>
                        <a:buClr>
                          <a:schemeClr val="hlink"/>
                        </a:buClr>
                        <a:buSzTx/>
                        <a:buFont typeface="Wingdings" pitchFamily="2" charset="2"/>
                        <a:buNone/>
                        <a:tabLst/>
                      </a:pPr>
                      <a:r>
                        <a:rPr kumimoji="0" lang="zh-CN" altLang="en-US" sz="2400" b="1" i="0" u="none" strike="noStrike" cap="none" normalizeH="0" baseline="0" smtClean="0">
                          <a:ln>
                            <a:noFill/>
                          </a:ln>
                          <a:solidFill>
                            <a:schemeClr val="tx1"/>
                          </a:solidFill>
                          <a:effectLst/>
                          <a:latin typeface="Verdana" pitchFamily="34" charset="0"/>
                          <a:ea typeface="宋体" pitchFamily="2" charset="-122"/>
                        </a:rPr>
                        <a:t>    </a:t>
                      </a:r>
                      <a:r>
                        <a:rPr kumimoji="0" lang="en-US" altLang="zh-CN" sz="2400" b="1" i="0" u="none" strike="noStrike" cap="none" normalizeH="0" baseline="0" smtClean="0">
                          <a:ln>
                            <a:noFill/>
                          </a:ln>
                          <a:solidFill>
                            <a:schemeClr val="tx1"/>
                          </a:solidFill>
                          <a:effectLst/>
                          <a:latin typeface="Verdana" pitchFamily="34" charset="0"/>
                          <a:ea typeface="宋体" pitchFamily="2" charset="-122"/>
                        </a:rPr>
                        <a:t>0.20</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40000"/>
                        </a:spcBef>
                        <a:spcAft>
                          <a:spcPct val="0"/>
                        </a:spcAft>
                        <a:buClr>
                          <a:schemeClr val="hlink"/>
                        </a:buClr>
                        <a:buSzTx/>
                        <a:buFont typeface="Wingdings" pitchFamily="2" charset="2"/>
                        <a:buNone/>
                        <a:tabLst/>
                      </a:pPr>
                      <a:r>
                        <a:rPr kumimoji="0" lang="zh-CN" altLang="en-US" sz="2400" b="1" i="0" u="none" strike="noStrike" cap="none" normalizeH="0" baseline="0" smtClean="0">
                          <a:ln>
                            <a:noFill/>
                          </a:ln>
                          <a:solidFill>
                            <a:schemeClr val="tx1"/>
                          </a:solidFill>
                          <a:effectLst/>
                          <a:latin typeface="Verdana" pitchFamily="34" charset="0"/>
                          <a:ea typeface="宋体" pitchFamily="2" charset="-122"/>
                        </a:rPr>
                        <a:t>      </a:t>
                      </a:r>
                      <a:r>
                        <a:rPr kumimoji="0" lang="en-US" altLang="zh-CN" sz="2400" b="1" i="0" u="none" strike="noStrike" cap="none" normalizeH="0" baseline="0" smtClean="0">
                          <a:ln>
                            <a:noFill/>
                          </a:ln>
                          <a:solidFill>
                            <a:schemeClr val="tx1"/>
                          </a:solidFill>
                          <a:effectLst/>
                          <a:latin typeface="Verdana" pitchFamily="34" charset="0"/>
                          <a:ea typeface="宋体" pitchFamily="2" charset="-122"/>
                        </a:rPr>
                        <a:t>1</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bl>
          </a:graphicData>
        </a:graphic>
      </p:graphicFrame>
    </p:spTree>
  </p:cSld>
  <p:clrMapOvr>
    <a:masterClrMapping/>
  </p:clrMapOvr>
  <p:transition/>
  <p:timing>
    <p:tnLst>
      <p:par>
        <p:cTn id="1" dur="indefinite" restart="never" nodeType="tmRoot"/>
      </p:par>
    </p:tn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9330" name="Text Box 2"/>
          <p:cNvSpPr txBox="1">
            <a:spLocks noChangeArrowheads="1"/>
          </p:cNvSpPr>
          <p:nvPr/>
        </p:nvSpPr>
        <p:spPr bwMode="auto">
          <a:xfrm>
            <a:off x="684213" y="1341438"/>
            <a:ext cx="6985000" cy="1308100"/>
          </a:xfrm>
          <a:prstGeom prst="rect">
            <a:avLst/>
          </a:prstGeom>
          <a:noFill/>
          <a:ln w="9525">
            <a:noFill/>
            <a:miter lim="800000"/>
            <a:headEnd/>
            <a:tailEnd/>
          </a:ln>
        </p:spPr>
        <p:txBody>
          <a:bodyPr>
            <a:spAutoFit/>
          </a:bodyPr>
          <a:lstStyle/>
          <a:p>
            <a:pPr>
              <a:lnSpc>
                <a:spcPct val="120000"/>
              </a:lnSpc>
              <a:spcBef>
                <a:spcPct val="20000"/>
              </a:spcBef>
            </a:pPr>
            <a:r>
              <a:rPr kumimoji="1" lang="zh-CN" altLang="en-US" sz="2000">
                <a:ea typeface="宋体" charset="-122"/>
              </a:rPr>
              <a:t>      设这一轮的选择</a:t>
            </a:r>
            <a:r>
              <a:rPr kumimoji="1" lang="en-US" altLang="zh-CN" sz="2000">
                <a:ea typeface="宋体" charset="-122"/>
              </a:rPr>
              <a:t>-</a:t>
            </a:r>
            <a:r>
              <a:rPr kumimoji="1" lang="zh-CN" altLang="en-US" sz="2000">
                <a:ea typeface="宋体" charset="-122"/>
              </a:rPr>
              <a:t>复制结果为：</a:t>
            </a:r>
            <a:endParaRPr kumimoji="1" lang="zh-CN" altLang="en-US" sz="2000" i="1">
              <a:latin typeface="Times New Roman" pitchFamily="18" charset="0"/>
              <a:ea typeface="宋体" charset="-122"/>
            </a:endParaRPr>
          </a:p>
          <a:p>
            <a:pPr>
              <a:lnSpc>
                <a:spcPct val="120000"/>
              </a:lnSpc>
              <a:spcBef>
                <a:spcPct val="20000"/>
              </a:spcBef>
            </a:pPr>
            <a:r>
              <a:rPr kumimoji="1" lang="zh-CN" altLang="en-US" sz="2000" i="1">
                <a:latin typeface="Times New Roman" pitchFamily="18" charset="0"/>
                <a:ea typeface="宋体" charset="-122"/>
              </a:rPr>
              <a:t>                    </a:t>
            </a:r>
            <a:r>
              <a:rPr kumimoji="1" lang="en-US" altLang="zh-CN" sz="2000" i="1">
                <a:latin typeface="Times New Roman" pitchFamily="18" charset="0"/>
                <a:ea typeface="宋体" charset="-122"/>
              </a:rPr>
              <a:t>s</a:t>
            </a:r>
            <a:r>
              <a:rPr kumimoji="1" lang="en-US" altLang="zh-CN" sz="2000" baseline="-30000">
                <a:latin typeface="Times New Roman" pitchFamily="18" charset="0"/>
                <a:ea typeface="宋体" charset="-122"/>
              </a:rPr>
              <a:t>1</a:t>
            </a:r>
            <a:r>
              <a:rPr kumimoji="1" lang="en-US" altLang="zh-CN" sz="2000" i="1">
                <a:latin typeface="Courier New" pitchFamily="49" charset="0"/>
                <a:ea typeface="宋体" charset="-122"/>
              </a:rPr>
              <a:t>’</a:t>
            </a:r>
            <a:r>
              <a:rPr kumimoji="1" lang="en-US" altLang="zh-CN" sz="2000">
                <a:latin typeface="Times New Roman" pitchFamily="18" charset="0"/>
                <a:ea typeface="宋体" charset="-122"/>
              </a:rPr>
              <a:t>=111</a:t>
            </a:r>
            <a:r>
              <a:rPr kumimoji="1" lang="en-US" altLang="zh-CN" sz="2000">
                <a:solidFill>
                  <a:srgbClr val="0033CC"/>
                </a:solidFill>
                <a:latin typeface="Times New Roman" pitchFamily="18" charset="0"/>
                <a:ea typeface="宋体" charset="-122"/>
              </a:rPr>
              <a:t>00</a:t>
            </a:r>
            <a:r>
              <a:rPr kumimoji="1" lang="zh-CN" altLang="en-US" sz="2000">
                <a:latin typeface="Times New Roman" pitchFamily="18" charset="0"/>
                <a:ea typeface="宋体" charset="-122"/>
              </a:rPr>
              <a:t>（</a:t>
            </a:r>
            <a:r>
              <a:rPr kumimoji="1" lang="en-US" altLang="zh-CN" sz="2000">
                <a:latin typeface="Times New Roman" pitchFamily="18" charset="0"/>
                <a:ea typeface="宋体" charset="-122"/>
              </a:rPr>
              <a:t>28</a:t>
            </a:r>
            <a:r>
              <a:rPr kumimoji="1" lang="zh-CN" altLang="en-US" sz="2000">
                <a:latin typeface="Times New Roman" pitchFamily="18" charset="0"/>
                <a:ea typeface="宋体" charset="-122"/>
              </a:rPr>
              <a:t>）</a:t>
            </a:r>
            <a:r>
              <a:rPr kumimoji="1" lang="en-US" altLang="zh-CN" sz="2000">
                <a:latin typeface="Times New Roman" pitchFamily="18" charset="0"/>
                <a:ea typeface="宋体" charset="-122"/>
              </a:rPr>
              <a:t>,  </a:t>
            </a:r>
            <a:r>
              <a:rPr kumimoji="1" lang="en-US" altLang="zh-CN" sz="2000" i="1">
                <a:latin typeface="Times New Roman" pitchFamily="18" charset="0"/>
                <a:ea typeface="宋体" charset="-122"/>
              </a:rPr>
              <a:t>s</a:t>
            </a:r>
            <a:r>
              <a:rPr kumimoji="1" lang="en-US" altLang="zh-CN" sz="2000" baseline="-30000">
                <a:latin typeface="Times New Roman" pitchFamily="18" charset="0"/>
                <a:ea typeface="宋体" charset="-122"/>
              </a:rPr>
              <a:t>2</a:t>
            </a:r>
            <a:r>
              <a:rPr kumimoji="1" lang="en-US" altLang="zh-CN" sz="2000" i="1">
                <a:latin typeface="Courier New" pitchFamily="49" charset="0"/>
                <a:ea typeface="宋体" charset="-122"/>
              </a:rPr>
              <a:t>’</a:t>
            </a:r>
            <a:r>
              <a:rPr kumimoji="1" lang="en-US" altLang="zh-CN" sz="2000">
                <a:latin typeface="Times New Roman" pitchFamily="18" charset="0"/>
                <a:ea typeface="宋体" charset="-122"/>
              </a:rPr>
              <a:t>=111</a:t>
            </a:r>
            <a:r>
              <a:rPr kumimoji="1" lang="en-US" altLang="zh-CN" sz="2000">
                <a:solidFill>
                  <a:srgbClr val="006600"/>
                </a:solidFill>
                <a:latin typeface="Times New Roman" pitchFamily="18" charset="0"/>
                <a:ea typeface="宋体" charset="-122"/>
              </a:rPr>
              <a:t>00</a:t>
            </a:r>
            <a:r>
              <a:rPr kumimoji="1" lang="zh-CN" altLang="en-US" sz="2000">
                <a:latin typeface="Times New Roman" pitchFamily="18" charset="0"/>
                <a:ea typeface="宋体" charset="-122"/>
              </a:rPr>
              <a:t>（</a:t>
            </a:r>
            <a:r>
              <a:rPr kumimoji="1" lang="en-US" altLang="zh-CN" sz="2000">
                <a:latin typeface="Times New Roman" pitchFamily="18" charset="0"/>
                <a:ea typeface="宋体" charset="-122"/>
              </a:rPr>
              <a:t>28</a:t>
            </a:r>
            <a:r>
              <a:rPr kumimoji="1" lang="zh-CN" altLang="en-US" sz="2000">
                <a:latin typeface="Times New Roman" pitchFamily="18" charset="0"/>
                <a:ea typeface="宋体" charset="-122"/>
              </a:rPr>
              <a:t>）</a:t>
            </a:r>
          </a:p>
          <a:p>
            <a:pPr>
              <a:lnSpc>
                <a:spcPct val="120000"/>
              </a:lnSpc>
              <a:spcBef>
                <a:spcPct val="20000"/>
              </a:spcBef>
            </a:pPr>
            <a:r>
              <a:rPr kumimoji="1" lang="zh-CN" altLang="en-US" sz="2000">
                <a:latin typeface="Times New Roman" pitchFamily="18" charset="0"/>
                <a:ea typeface="宋体" charset="-122"/>
              </a:rPr>
              <a:t>                    </a:t>
            </a:r>
            <a:r>
              <a:rPr kumimoji="1" lang="en-US" altLang="zh-CN" sz="2000" i="1">
                <a:latin typeface="Times New Roman" pitchFamily="18" charset="0"/>
                <a:ea typeface="宋体" charset="-122"/>
              </a:rPr>
              <a:t>s</a:t>
            </a:r>
            <a:r>
              <a:rPr kumimoji="1" lang="en-US" altLang="zh-CN" sz="2000" baseline="-30000">
                <a:latin typeface="Times New Roman" pitchFamily="18" charset="0"/>
                <a:ea typeface="宋体" charset="-122"/>
              </a:rPr>
              <a:t>3</a:t>
            </a:r>
            <a:r>
              <a:rPr kumimoji="1" lang="en-US" altLang="zh-CN" sz="2000" i="1">
                <a:latin typeface="Courier New" pitchFamily="49" charset="0"/>
                <a:ea typeface="宋体" charset="-122"/>
              </a:rPr>
              <a:t>’</a:t>
            </a:r>
            <a:r>
              <a:rPr kumimoji="1" lang="en-US" altLang="zh-CN" sz="2000">
                <a:latin typeface="Times New Roman" pitchFamily="18" charset="0"/>
                <a:ea typeface="宋体" charset="-122"/>
              </a:rPr>
              <a:t>=110</a:t>
            </a:r>
            <a:r>
              <a:rPr kumimoji="1" lang="en-US" altLang="zh-CN" sz="2000">
                <a:solidFill>
                  <a:srgbClr val="CC9900"/>
                </a:solidFill>
                <a:latin typeface="Times New Roman" pitchFamily="18" charset="0"/>
                <a:ea typeface="宋体" charset="-122"/>
              </a:rPr>
              <a:t>00</a:t>
            </a:r>
            <a:r>
              <a:rPr kumimoji="1" lang="zh-CN" altLang="en-US" sz="2000">
                <a:latin typeface="Times New Roman" pitchFamily="18" charset="0"/>
                <a:ea typeface="宋体" charset="-122"/>
              </a:rPr>
              <a:t>（</a:t>
            </a:r>
            <a:r>
              <a:rPr kumimoji="1" lang="en-US" altLang="zh-CN" sz="2000">
                <a:latin typeface="Times New Roman" pitchFamily="18" charset="0"/>
                <a:ea typeface="宋体" charset="-122"/>
              </a:rPr>
              <a:t>24</a:t>
            </a:r>
            <a:r>
              <a:rPr kumimoji="1" lang="zh-CN" altLang="en-US" sz="2000">
                <a:latin typeface="Times New Roman" pitchFamily="18" charset="0"/>
                <a:ea typeface="宋体" charset="-122"/>
              </a:rPr>
              <a:t>）</a:t>
            </a:r>
            <a:r>
              <a:rPr kumimoji="1" lang="en-US" altLang="zh-CN" sz="2000">
                <a:latin typeface="Times New Roman" pitchFamily="18" charset="0"/>
                <a:ea typeface="宋体" charset="-122"/>
              </a:rPr>
              <a:t>,  </a:t>
            </a:r>
            <a:r>
              <a:rPr kumimoji="1" lang="en-US" altLang="zh-CN" sz="2000" i="1">
                <a:latin typeface="Times New Roman" pitchFamily="18" charset="0"/>
                <a:ea typeface="宋体" charset="-122"/>
              </a:rPr>
              <a:t>s</a:t>
            </a:r>
            <a:r>
              <a:rPr kumimoji="1" lang="en-US" altLang="zh-CN" sz="2000" baseline="-30000">
                <a:latin typeface="Times New Roman" pitchFamily="18" charset="0"/>
                <a:ea typeface="宋体" charset="-122"/>
              </a:rPr>
              <a:t>4</a:t>
            </a:r>
            <a:r>
              <a:rPr kumimoji="1" lang="en-US" altLang="zh-CN" sz="2000" i="1">
                <a:latin typeface="Courier New" pitchFamily="49" charset="0"/>
                <a:ea typeface="宋体" charset="-122"/>
              </a:rPr>
              <a:t>’</a:t>
            </a:r>
            <a:r>
              <a:rPr kumimoji="1" lang="en-US" altLang="zh-CN" sz="2000">
                <a:latin typeface="Times New Roman" pitchFamily="18" charset="0"/>
                <a:ea typeface="宋体" charset="-122"/>
              </a:rPr>
              <a:t>=100</a:t>
            </a:r>
            <a:r>
              <a:rPr kumimoji="1" lang="en-US" altLang="zh-CN" sz="2000">
                <a:solidFill>
                  <a:srgbClr val="FF3300"/>
                </a:solidFill>
                <a:latin typeface="Times New Roman" pitchFamily="18" charset="0"/>
                <a:ea typeface="宋体" charset="-122"/>
              </a:rPr>
              <a:t>11</a:t>
            </a:r>
            <a:r>
              <a:rPr kumimoji="1" lang="zh-CN" altLang="en-US" sz="2000">
                <a:latin typeface="Times New Roman" pitchFamily="18" charset="0"/>
                <a:ea typeface="宋体" charset="-122"/>
              </a:rPr>
              <a:t>（</a:t>
            </a:r>
            <a:r>
              <a:rPr kumimoji="1" lang="en-US" altLang="zh-CN" sz="2000">
                <a:latin typeface="Times New Roman" pitchFamily="18" charset="0"/>
                <a:ea typeface="宋体" charset="-122"/>
              </a:rPr>
              <a:t>19</a:t>
            </a:r>
            <a:r>
              <a:rPr kumimoji="1" lang="zh-CN" altLang="en-US" sz="2000">
                <a:latin typeface="Times New Roman" pitchFamily="18" charset="0"/>
                <a:ea typeface="宋体" charset="-122"/>
              </a:rPr>
              <a:t>） </a:t>
            </a:r>
          </a:p>
        </p:txBody>
      </p:sp>
      <p:sp>
        <p:nvSpPr>
          <p:cNvPr id="99331" name="Text Box 3"/>
          <p:cNvSpPr txBox="1">
            <a:spLocks noChangeArrowheads="1"/>
          </p:cNvSpPr>
          <p:nvPr/>
        </p:nvSpPr>
        <p:spPr bwMode="auto">
          <a:xfrm>
            <a:off x="539750" y="2708275"/>
            <a:ext cx="7704138" cy="457200"/>
          </a:xfrm>
          <a:prstGeom prst="rect">
            <a:avLst/>
          </a:prstGeom>
          <a:noFill/>
          <a:ln w="9525">
            <a:noFill/>
            <a:miter lim="800000"/>
            <a:headEnd/>
            <a:tailEnd/>
          </a:ln>
        </p:spPr>
        <p:txBody>
          <a:bodyPr>
            <a:spAutoFit/>
          </a:bodyPr>
          <a:lstStyle/>
          <a:p>
            <a:pPr>
              <a:lnSpc>
                <a:spcPct val="120000"/>
              </a:lnSpc>
              <a:spcBef>
                <a:spcPct val="20000"/>
              </a:spcBef>
            </a:pPr>
            <a:r>
              <a:rPr kumimoji="1" lang="zh-CN" altLang="en-US" sz="2000">
                <a:latin typeface="宋体" charset="-122"/>
                <a:ea typeface="宋体" charset="-122"/>
              </a:rPr>
              <a:t>    做交叉运算，让</a:t>
            </a:r>
            <a:r>
              <a:rPr kumimoji="1" lang="en-US" altLang="zh-CN" sz="2000" i="1">
                <a:latin typeface="Times New Roman" pitchFamily="18" charset="0"/>
                <a:ea typeface="宋体" charset="-122"/>
              </a:rPr>
              <a:t>s</a:t>
            </a:r>
            <a:r>
              <a:rPr kumimoji="1" lang="en-US" altLang="zh-CN" sz="2000" baseline="-30000">
                <a:latin typeface="Times New Roman" pitchFamily="18" charset="0"/>
                <a:ea typeface="宋体" charset="-122"/>
              </a:rPr>
              <a:t>1</a:t>
            </a:r>
            <a:r>
              <a:rPr kumimoji="1" lang="en-US" altLang="zh-CN" sz="2000" i="1">
                <a:latin typeface="Times New Roman" pitchFamily="18" charset="0"/>
                <a:ea typeface="宋体" charset="-122"/>
              </a:rPr>
              <a:t>’</a:t>
            </a:r>
            <a:r>
              <a:rPr kumimoji="1" lang="zh-CN" altLang="en-US" sz="2000">
                <a:latin typeface="宋体" charset="-122"/>
                <a:ea typeface="宋体" charset="-122"/>
              </a:rPr>
              <a:t>与</a:t>
            </a:r>
            <a:r>
              <a:rPr kumimoji="1" lang="en-US" altLang="zh-CN" sz="2000" i="1">
                <a:latin typeface="Times New Roman" pitchFamily="18" charset="0"/>
                <a:ea typeface="宋体" charset="-122"/>
              </a:rPr>
              <a:t>s</a:t>
            </a:r>
            <a:r>
              <a:rPr kumimoji="1" lang="en-US" altLang="zh-CN" sz="2000" baseline="-30000">
                <a:latin typeface="Times New Roman" pitchFamily="18" charset="0"/>
                <a:ea typeface="宋体" charset="-122"/>
              </a:rPr>
              <a:t>4</a:t>
            </a:r>
            <a:r>
              <a:rPr kumimoji="1" lang="en-US" altLang="zh-CN" sz="2000" i="1">
                <a:latin typeface="Times New Roman" pitchFamily="18" charset="0"/>
                <a:ea typeface="宋体" charset="-122"/>
              </a:rPr>
              <a:t>’</a:t>
            </a:r>
            <a:r>
              <a:rPr kumimoji="1" lang="zh-CN" altLang="en-US" sz="2000">
                <a:latin typeface="宋体" charset="-122"/>
                <a:ea typeface="宋体" charset="-122"/>
              </a:rPr>
              <a:t>，</a:t>
            </a:r>
            <a:r>
              <a:rPr kumimoji="1" lang="en-US" altLang="zh-CN" sz="2000" i="1">
                <a:latin typeface="Times New Roman" pitchFamily="18" charset="0"/>
                <a:ea typeface="宋体" charset="-122"/>
              </a:rPr>
              <a:t>s</a:t>
            </a:r>
            <a:r>
              <a:rPr kumimoji="1" lang="en-US" altLang="zh-CN" sz="2000" baseline="-30000">
                <a:latin typeface="Times New Roman" pitchFamily="18" charset="0"/>
                <a:ea typeface="宋体" charset="-122"/>
              </a:rPr>
              <a:t>2</a:t>
            </a:r>
            <a:r>
              <a:rPr kumimoji="1" lang="en-US" altLang="zh-CN" sz="2000" i="1">
                <a:latin typeface="Times New Roman" pitchFamily="18" charset="0"/>
                <a:ea typeface="宋体" charset="-122"/>
              </a:rPr>
              <a:t>’</a:t>
            </a:r>
            <a:r>
              <a:rPr kumimoji="1" lang="zh-CN" altLang="en-US" sz="2000">
                <a:latin typeface="宋体" charset="-122"/>
                <a:ea typeface="宋体" charset="-122"/>
              </a:rPr>
              <a:t>与</a:t>
            </a:r>
            <a:r>
              <a:rPr kumimoji="1" lang="en-US" altLang="zh-CN" sz="2000" i="1">
                <a:latin typeface="Times New Roman" pitchFamily="18" charset="0"/>
                <a:ea typeface="宋体" charset="-122"/>
              </a:rPr>
              <a:t>s</a:t>
            </a:r>
            <a:r>
              <a:rPr kumimoji="1" lang="en-US" altLang="zh-CN" sz="2000" baseline="-30000">
                <a:latin typeface="Times New Roman" pitchFamily="18" charset="0"/>
                <a:ea typeface="宋体" charset="-122"/>
              </a:rPr>
              <a:t>3</a:t>
            </a:r>
            <a:r>
              <a:rPr kumimoji="1" lang="en-US" altLang="zh-CN" sz="2000" i="1">
                <a:latin typeface="Times New Roman" pitchFamily="18" charset="0"/>
                <a:ea typeface="宋体" charset="-122"/>
              </a:rPr>
              <a:t>’</a:t>
            </a:r>
            <a:r>
              <a:rPr kumimoji="1" lang="en-US" altLang="zh-CN" sz="2000">
                <a:latin typeface="Times New Roman" pitchFamily="18" charset="0"/>
                <a:ea typeface="宋体" charset="-122"/>
              </a:rPr>
              <a:t> </a:t>
            </a:r>
            <a:r>
              <a:rPr kumimoji="1" lang="zh-CN" altLang="en-US" sz="2000">
                <a:latin typeface="宋体" charset="-122"/>
                <a:ea typeface="宋体" charset="-122"/>
              </a:rPr>
              <a:t>分别交换后两位基因，得</a:t>
            </a:r>
            <a:r>
              <a:rPr kumimoji="1" lang="zh-CN" altLang="en-US" sz="2000">
                <a:latin typeface="Times New Roman" pitchFamily="18" charset="0"/>
                <a:ea typeface="宋体" charset="-122"/>
              </a:rPr>
              <a:t> </a:t>
            </a:r>
          </a:p>
        </p:txBody>
      </p:sp>
      <p:sp>
        <p:nvSpPr>
          <p:cNvPr id="99332" name="Text Box 4"/>
          <p:cNvSpPr txBox="1">
            <a:spLocks noChangeArrowheads="1"/>
          </p:cNvSpPr>
          <p:nvPr/>
        </p:nvSpPr>
        <p:spPr bwMode="auto">
          <a:xfrm>
            <a:off x="1692275" y="3284538"/>
            <a:ext cx="6624638" cy="882650"/>
          </a:xfrm>
          <a:prstGeom prst="rect">
            <a:avLst/>
          </a:prstGeom>
          <a:noFill/>
          <a:ln w="9525">
            <a:noFill/>
            <a:miter lim="800000"/>
            <a:headEnd/>
            <a:tailEnd/>
          </a:ln>
        </p:spPr>
        <p:txBody>
          <a:bodyPr>
            <a:spAutoFit/>
          </a:bodyPr>
          <a:lstStyle/>
          <a:p>
            <a:pPr>
              <a:lnSpc>
                <a:spcPct val="120000"/>
              </a:lnSpc>
              <a:spcBef>
                <a:spcPct val="20000"/>
              </a:spcBef>
            </a:pPr>
            <a:r>
              <a:rPr kumimoji="1" lang="zh-CN" altLang="en-US" sz="2000" i="1">
                <a:latin typeface="Times New Roman" pitchFamily="18" charset="0"/>
                <a:ea typeface="宋体" charset="-122"/>
              </a:rPr>
              <a:t>   </a:t>
            </a:r>
            <a:r>
              <a:rPr kumimoji="1" lang="en-US" altLang="zh-CN" sz="2000" i="1">
                <a:latin typeface="Times New Roman" pitchFamily="18" charset="0"/>
                <a:ea typeface="宋体" charset="-122"/>
              </a:rPr>
              <a:t>s</a:t>
            </a:r>
            <a:r>
              <a:rPr kumimoji="1" lang="en-US" altLang="zh-CN" sz="2000" baseline="-30000">
                <a:latin typeface="Times New Roman" pitchFamily="18" charset="0"/>
                <a:ea typeface="宋体" charset="-122"/>
              </a:rPr>
              <a:t>1</a:t>
            </a:r>
            <a:r>
              <a:rPr kumimoji="1" lang="en-US" altLang="zh-CN" sz="2000" i="1">
                <a:latin typeface="Courier New" pitchFamily="49" charset="0"/>
                <a:ea typeface="宋体" charset="-122"/>
              </a:rPr>
              <a:t>’’</a:t>
            </a:r>
            <a:r>
              <a:rPr kumimoji="1" lang="en-US" altLang="zh-CN" sz="2000">
                <a:latin typeface="Times New Roman" pitchFamily="18" charset="0"/>
                <a:ea typeface="宋体" charset="-122"/>
              </a:rPr>
              <a:t>=111</a:t>
            </a:r>
            <a:r>
              <a:rPr kumimoji="1" lang="en-US" altLang="zh-CN" sz="2000">
                <a:solidFill>
                  <a:srgbClr val="FF3300"/>
                </a:solidFill>
                <a:latin typeface="Times New Roman" pitchFamily="18" charset="0"/>
                <a:ea typeface="宋体" charset="-122"/>
              </a:rPr>
              <a:t>11</a:t>
            </a:r>
            <a:r>
              <a:rPr kumimoji="1" lang="zh-CN" altLang="en-US" sz="2000">
                <a:latin typeface="宋体" charset="-122"/>
                <a:ea typeface="宋体" charset="-122"/>
              </a:rPr>
              <a:t>（</a:t>
            </a:r>
            <a:r>
              <a:rPr kumimoji="1" lang="en-US" altLang="zh-CN" sz="2000">
                <a:latin typeface="Times New Roman" pitchFamily="18" charset="0"/>
                <a:ea typeface="宋体" charset="-122"/>
              </a:rPr>
              <a:t>31</a:t>
            </a:r>
            <a:r>
              <a:rPr kumimoji="1" lang="zh-CN" altLang="en-US" sz="2000">
                <a:latin typeface="宋体" charset="-122"/>
                <a:ea typeface="宋体" charset="-122"/>
              </a:rPr>
              <a:t>）</a:t>
            </a:r>
            <a:r>
              <a:rPr kumimoji="1" lang="en-US" altLang="zh-CN" sz="2000">
                <a:latin typeface="Times New Roman" pitchFamily="18" charset="0"/>
                <a:ea typeface="宋体" charset="-122"/>
              </a:rPr>
              <a:t>, </a:t>
            </a:r>
            <a:r>
              <a:rPr kumimoji="1" lang="en-US" altLang="zh-CN" sz="2000" i="1">
                <a:latin typeface="Times New Roman" pitchFamily="18" charset="0"/>
                <a:ea typeface="宋体" charset="-122"/>
              </a:rPr>
              <a:t>s</a:t>
            </a:r>
            <a:r>
              <a:rPr kumimoji="1" lang="en-US" altLang="zh-CN" sz="2000" baseline="-30000">
                <a:latin typeface="Times New Roman" pitchFamily="18" charset="0"/>
                <a:ea typeface="宋体" charset="-122"/>
              </a:rPr>
              <a:t>2</a:t>
            </a:r>
            <a:r>
              <a:rPr kumimoji="1" lang="en-US" altLang="zh-CN" sz="2000" i="1">
                <a:latin typeface="Courier New" pitchFamily="49" charset="0"/>
                <a:ea typeface="宋体" charset="-122"/>
              </a:rPr>
              <a:t>’’</a:t>
            </a:r>
            <a:r>
              <a:rPr kumimoji="1" lang="en-US" altLang="zh-CN" sz="2000">
                <a:latin typeface="Times New Roman" pitchFamily="18" charset="0"/>
                <a:ea typeface="宋体" charset="-122"/>
              </a:rPr>
              <a:t>=111</a:t>
            </a:r>
            <a:r>
              <a:rPr kumimoji="1" lang="en-US" altLang="zh-CN" sz="2000">
                <a:solidFill>
                  <a:srgbClr val="CC9900"/>
                </a:solidFill>
                <a:latin typeface="Times New Roman" pitchFamily="18" charset="0"/>
                <a:ea typeface="宋体" charset="-122"/>
              </a:rPr>
              <a:t>00</a:t>
            </a:r>
            <a:r>
              <a:rPr kumimoji="1" lang="zh-CN" altLang="en-US" sz="2000">
                <a:latin typeface="宋体" charset="-122"/>
                <a:ea typeface="宋体" charset="-122"/>
              </a:rPr>
              <a:t>（</a:t>
            </a:r>
            <a:r>
              <a:rPr kumimoji="1" lang="en-US" altLang="zh-CN" sz="2000">
                <a:latin typeface="Times New Roman" pitchFamily="18" charset="0"/>
                <a:ea typeface="宋体" charset="-122"/>
              </a:rPr>
              <a:t>28</a:t>
            </a:r>
            <a:r>
              <a:rPr kumimoji="1" lang="zh-CN" altLang="en-US" sz="2000">
                <a:latin typeface="宋体" charset="-122"/>
                <a:ea typeface="宋体" charset="-122"/>
              </a:rPr>
              <a:t>）</a:t>
            </a:r>
          </a:p>
          <a:p>
            <a:pPr>
              <a:lnSpc>
                <a:spcPct val="120000"/>
              </a:lnSpc>
              <a:spcBef>
                <a:spcPct val="20000"/>
              </a:spcBef>
            </a:pPr>
            <a:r>
              <a:rPr kumimoji="1" lang="zh-CN" altLang="en-US" sz="2000">
                <a:latin typeface="Times New Roman" pitchFamily="18" charset="0"/>
                <a:ea typeface="宋体" charset="-122"/>
              </a:rPr>
              <a:t>   </a:t>
            </a:r>
            <a:r>
              <a:rPr kumimoji="1" lang="en-US" altLang="zh-CN" sz="2000" i="1">
                <a:latin typeface="Times New Roman" pitchFamily="18" charset="0"/>
                <a:ea typeface="宋体" charset="-122"/>
              </a:rPr>
              <a:t>s</a:t>
            </a:r>
            <a:r>
              <a:rPr kumimoji="1" lang="en-US" altLang="zh-CN" sz="2000" baseline="-30000">
                <a:latin typeface="Times New Roman" pitchFamily="18" charset="0"/>
                <a:ea typeface="宋体" charset="-122"/>
              </a:rPr>
              <a:t>3</a:t>
            </a:r>
            <a:r>
              <a:rPr kumimoji="1" lang="en-US" altLang="zh-CN" sz="2000" i="1">
                <a:latin typeface="Courier New" pitchFamily="49" charset="0"/>
                <a:ea typeface="宋体" charset="-122"/>
              </a:rPr>
              <a:t>’’</a:t>
            </a:r>
            <a:r>
              <a:rPr kumimoji="1" lang="en-US" altLang="zh-CN" sz="2000">
                <a:latin typeface="Times New Roman" pitchFamily="18" charset="0"/>
                <a:ea typeface="宋体" charset="-122"/>
              </a:rPr>
              <a:t>=110</a:t>
            </a:r>
            <a:r>
              <a:rPr kumimoji="1" lang="en-US" altLang="zh-CN" sz="2000">
                <a:solidFill>
                  <a:srgbClr val="006600"/>
                </a:solidFill>
                <a:latin typeface="Times New Roman" pitchFamily="18" charset="0"/>
                <a:ea typeface="宋体" charset="-122"/>
              </a:rPr>
              <a:t>00</a:t>
            </a:r>
            <a:r>
              <a:rPr kumimoji="1" lang="zh-CN" altLang="en-US" sz="2000">
                <a:latin typeface="宋体" charset="-122"/>
                <a:ea typeface="宋体" charset="-122"/>
              </a:rPr>
              <a:t>（</a:t>
            </a:r>
            <a:r>
              <a:rPr kumimoji="1" lang="en-US" altLang="zh-CN" sz="2000">
                <a:latin typeface="Times New Roman" pitchFamily="18" charset="0"/>
                <a:ea typeface="宋体" charset="-122"/>
              </a:rPr>
              <a:t>24</a:t>
            </a:r>
            <a:r>
              <a:rPr kumimoji="1" lang="zh-CN" altLang="en-US" sz="2000">
                <a:latin typeface="宋体" charset="-122"/>
                <a:ea typeface="宋体" charset="-122"/>
              </a:rPr>
              <a:t>）</a:t>
            </a:r>
            <a:r>
              <a:rPr kumimoji="1" lang="en-US" altLang="zh-CN" sz="2000">
                <a:latin typeface="Times New Roman" pitchFamily="18" charset="0"/>
                <a:ea typeface="宋体" charset="-122"/>
              </a:rPr>
              <a:t>, </a:t>
            </a:r>
            <a:r>
              <a:rPr kumimoji="1" lang="en-US" altLang="zh-CN" sz="2000" i="1">
                <a:latin typeface="Times New Roman" pitchFamily="18" charset="0"/>
                <a:ea typeface="宋体" charset="-122"/>
              </a:rPr>
              <a:t>s</a:t>
            </a:r>
            <a:r>
              <a:rPr kumimoji="1" lang="en-US" altLang="zh-CN" sz="2000" baseline="-30000">
                <a:latin typeface="Times New Roman" pitchFamily="18" charset="0"/>
                <a:ea typeface="宋体" charset="-122"/>
              </a:rPr>
              <a:t>4</a:t>
            </a:r>
            <a:r>
              <a:rPr kumimoji="1" lang="en-US" altLang="zh-CN" sz="2000" i="1">
                <a:latin typeface="Courier New" pitchFamily="49" charset="0"/>
                <a:ea typeface="宋体" charset="-122"/>
              </a:rPr>
              <a:t>’’</a:t>
            </a:r>
            <a:r>
              <a:rPr kumimoji="1" lang="en-US" altLang="zh-CN" sz="2000">
                <a:latin typeface="Times New Roman" pitchFamily="18" charset="0"/>
                <a:ea typeface="宋体" charset="-122"/>
              </a:rPr>
              <a:t>=100</a:t>
            </a:r>
            <a:r>
              <a:rPr kumimoji="1" lang="en-US" altLang="zh-CN" sz="2000">
                <a:solidFill>
                  <a:srgbClr val="0033CC"/>
                </a:solidFill>
                <a:latin typeface="Times New Roman" pitchFamily="18" charset="0"/>
                <a:ea typeface="宋体" charset="-122"/>
              </a:rPr>
              <a:t>00</a:t>
            </a:r>
            <a:r>
              <a:rPr kumimoji="1" lang="zh-CN" altLang="en-US" sz="2000">
                <a:latin typeface="宋体" charset="-122"/>
                <a:ea typeface="宋体" charset="-122"/>
              </a:rPr>
              <a:t>（</a:t>
            </a:r>
            <a:r>
              <a:rPr kumimoji="1" lang="en-US" altLang="zh-CN" sz="2000">
                <a:latin typeface="Times New Roman" pitchFamily="18" charset="0"/>
                <a:ea typeface="宋体" charset="-122"/>
              </a:rPr>
              <a:t>16</a:t>
            </a:r>
            <a:r>
              <a:rPr kumimoji="1" lang="zh-CN" altLang="en-US" sz="2000">
                <a:latin typeface="宋体" charset="-122"/>
                <a:ea typeface="宋体" charset="-122"/>
              </a:rPr>
              <a:t>）</a:t>
            </a:r>
            <a:r>
              <a:rPr kumimoji="1" lang="zh-CN" altLang="en-US" sz="2000">
                <a:latin typeface="Times New Roman" pitchFamily="18" charset="0"/>
                <a:ea typeface="宋体" charset="-122"/>
              </a:rPr>
              <a:t> </a:t>
            </a:r>
          </a:p>
        </p:txBody>
      </p:sp>
      <p:sp>
        <p:nvSpPr>
          <p:cNvPr id="99333" name="Text Box 5"/>
          <p:cNvSpPr txBox="1">
            <a:spLocks noChangeArrowheads="1"/>
          </p:cNvSpPr>
          <p:nvPr/>
        </p:nvSpPr>
        <p:spPr bwMode="auto">
          <a:xfrm>
            <a:off x="971550" y="4111625"/>
            <a:ext cx="3359150" cy="396875"/>
          </a:xfrm>
          <a:prstGeom prst="rect">
            <a:avLst/>
          </a:prstGeom>
          <a:noFill/>
          <a:ln w="9525">
            <a:noFill/>
            <a:miter lim="800000"/>
            <a:headEnd/>
            <a:tailEnd/>
          </a:ln>
        </p:spPr>
        <p:txBody>
          <a:bodyPr wrap="none">
            <a:spAutoFit/>
          </a:bodyPr>
          <a:lstStyle/>
          <a:p>
            <a:r>
              <a:rPr kumimoji="1" lang="zh-CN" altLang="en-US" sz="2000">
                <a:latin typeface="宋体" charset="-122"/>
                <a:ea typeface="宋体" charset="-122"/>
              </a:rPr>
              <a:t> 这一轮仍然不会发生变异。</a:t>
            </a:r>
            <a:endParaRPr kumimoji="1" lang="zh-CN" altLang="en-US" sz="2000">
              <a:latin typeface="Times New Roman" pitchFamily="18" charset="0"/>
              <a:ea typeface="宋体" charset="-122"/>
            </a:endParaRPr>
          </a:p>
        </p:txBody>
      </p:sp>
      <p:sp>
        <p:nvSpPr>
          <p:cNvPr id="51206" name="Text Box 6"/>
          <p:cNvSpPr txBox="1">
            <a:spLocks noChangeArrowheads="1"/>
          </p:cNvSpPr>
          <p:nvPr/>
        </p:nvSpPr>
        <p:spPr bwMode="auto">
          <a:xfrm>
            <a:off x="1042988" y="4652963"/>
            <a:ext cx="6696075" cy="1531937"/>
          </a:xfrm>
          <a:prstGeom prst="rect">
            <a:avLst/>
          </a:prstGeom>
          <a:noFill/>
          <a:ln w="9525">
            <a:noFill/>
            <a:miter lim="800000"/>
            <a:headEnd/>
            <a:tailEnd/>
          </a:ln>
        </p:spPr>
        <p:txBody>
          <a:bodyPr>
            <a:spAutoFit/>
          </a:bodyPr>
          <a:lstStyle/>
          <a:p>
            <a:pPr>
              <a:lnSpc>
                <a:spcPct val="120000"/>
              </a:lnSpc>
              <a:spcBef>
                <a:spcPct val="20000"/>
              </a:spcBef>
            </a:pPr>
            <a:r>
              <a:rPr kumimoji="1" lang="zh-CN" altLang="en-US" sz="2200">
                <a:ea typeface="宋体" charset="-122"/>
              </a:rPr>
              <a:t>        于是，得第四代种群</a:t>
            </a:r>
            <a:r>
              <a:rPr kumimoji="1" lang="en-US" altLang="zh-CN" sz="2200" i="1">
                <a:ea typeface="宋体" charset="-122"/>
              </a:rPr>
              <a:t>S</a:t>
            </a:r>
            <a:r>
              <a:rPr kumimoji="1" lang="en-US" altLang="zh-CN" sz="2200" baseline="-25000">
                <a:ea typeface="宋体" charset="-122"/>
              </a:rPr>
              <a:t>4</a:t>
            </a:r>
            <a:r>
              <a:rPr kumimoji="1" lang="zh-CN" altLang="en-US" sz="2200">
                <a:ea typeface="宋体" charset="-122"/>
              </a:rPr>
              <a:t>：</a:t>
            </a:r>
            <a:r>
              <a:rPr kumimoji="1" lang="zh-CN" altLang="en-US" sz="2200" i="1">
                <a:latin typeface="Times New Roman" pitchFamily="18" charset="0"/>
                <a:ea typeface="宋体" charset="-122"/>
              </a:rPr>
              <a:t> </a:t>
            </a:r>
          </a:p>
          <a:p>
            <a:pPr>
              <a:lnSpc>
                <a:spcPct val="120000"/>
              </a:lnSpc>
              <a:spcBef>
                <a:spcPct val="50000"/>
              </a:spcBef>
            </a:pPr>
            <a:r>
              <a:rPr kumimoji="1" lang="zh-CN" altLang="en-US" sz="2200" i="1">
                <a:latin typeface="Times New Roman" pitchFamily="18" charset="0"/>
                <a:ea typeface="宋体" charset="-122"/>
              </a:rPr>
              <a:t>          </a:t>
            </a:r>
            <a:r>
              <a:rPr kumimoji="1" lang="en-US" altLang="zh-CN" sz="2200" i="1">
                <a:ea typeface="宋体" charset="-122"/>
              </a:rPr>
              <a:t>s</a:t>
            </a:r>
            <a:r>
              <a:rPr kumimoji="1" lang="en-US" altLang="zh-CN" sz="2200" baseline="-30000">
                <a:ea typeface="宋体" charset="-122"/>
              </a:rPr>
              <a:t>1</a:t>
            </a:r>
            <a:r>
              <a:rPr kumimoji="1" lang="en-US" altLang="zh-CN" sz="2200">
                <a:ea typeface="宋体" charset="-122"/>
              </a:rPr>
              <a:t>=11111</a:t>
            </a:r>
            <a:r>
              <a:rPr kumimoji="1" lang="zh-CN" altLang="en-US" sz="2200">
                <a:ea typeface="宋体" charset="-122"/>
              </a:rPr>
              <a:t>（</a:t>
            </a:r>
            <a:r>
              <a:rPr kumimoji="1" lang="en-US" altLang="zh-CN" sz="2200">
                <a:ea typeface="宋体" charset="-122"/>
              </a:rPr>
              <a:t>31</a:t>
            </a:r>
            <a:r>
              <a:rPr kumimoji="1" lang="zh-CN" altLang="en-US" sz="2200">
                <a:ea typeface="宋体" charset="-122"/>
              </a:rPr>
              <a:t>）</a:t>
            </a:r>
            <a:r>
              <a:rPr kumimoji="1" lang="en-US" altLang="zh-CN" sz="2200">
                <a:ea typeface="宋体" charset="-122"/>
              </a:rPr>
              <a:t>,  </a:t>
            </a:r>
            <a:r>
              <a:rPr kumimoji="1" lang="en-US" altLang="zh-CN" sz="2200" i="1">
                <a:ea typeface="宋体" charset="-122"/>
              </a:rPr>
              <a:t>s</a:t>
            </a:r>
            <a:r>
              <a:rPr kumimoji="1" lang="en-US" altLang="zh-CN" sz="2200" baseline="-30000">
                <a:ea typeface="宋体" charset="-122"/>
              </a:rPr>
              <a:t>2</a:t>
            </a:r>
            <a:r>
              <a:rPr kumimoji="1" lang="en-US" altLang="zh-CN" sz="2200">
                <a:ea typeface="宋体" charset="-122"/>
              </a:rPr>
              <a:t>=11100</a:t>
            </a:r>
            <a:r>
              <a:rPr kumimoji="1" lang="zh-CN" altLang="en-US" sz="2200">
                <a:ea typeface="宋体" charset="-122"/>
              </a:rPr>
              <a:t>（</a:t>
            </a:r>
            <a:r>
              <a:rPr kumimoji="1" lang="en-US" altLang="zh-CN" sz="2200">
                <a:ea typeface="宋体" charset="-122"/>
              </a:rPr>
              <a:t>28</a:t>
            </a:r>
            <a:r>
              <a:rPr kumimoji="1" lang="zh-CN" altLang="en-US" sz="2200">
                <a:ea typeface="宋体" charset="-122"/>
              </a:rPr>
              <a:t>）</a:t>
            </a:r>
          </a:p>
          <a:p>
            <a:pPr>
              <a:lnSpc>
                <a:spcPct val="120000"/>
              </a:lnSpc>
              <a:spcBef>
                <a:spcPct val="20000"/>
              </a:spcBef>
            </a:pPr>
            <a:r>
              <a:rPr kumimoji="1" lang="zh-CN" altLang="en-US" sz="2200">
                <a:ea typeface="宋体" charset="-122"/>
              </a:rPr>
              <a:t>         </a:t>
            </a:r>
            <a:r>
              <a:rPr kumimoji="1" lang="en-US" altLang="zh-CN" sz="2200" i="1">
                <a:ea typeface="宋体" charset="-122"/>
              </a:rPr>
              <a:t>s</a:t>
            </a:r>
            <a:r>
              <a:rPr kumimoji="1" lang="en-US" altLang="zh-CN" sz="2200" baseline="-30000">
                <a:ea typeface="宋体" charset="-122"/>
              </a:rPr>
              <a:t>3</a:t>
            </a:r>
            <a:r>
              <a:rPr kumimoji="1" lang="en-US" altLang="zh-CN" sz="2200">
                <a:ea typeface="宋体" charset="-122"/>
              </a:rPr>
              <a:t>=11000</a:t>
            </a:r>
            <a:r>
              <a:rPr kumimoji="1" lang="zh-CN" altLang="en-US" sz="2200">
                <a:ea typeface="宋体" charset="-122"/>
              </a:rPr>
              <a:t>（</a:t>
            </a:r>
            <a:r>
              <a:rPr kumimoji="1" lang="en-US" altLang="zh-CN" sz="2200">
                <a:ea typeface="宋体" charset="-122"/>
              </a:rPr>
              <a:t>24</a:t>
            </a:r>
            <a:r>
              <a:rPr kumimoji="1" lang="zh-CN" altLang="en-US" sz="2200">
                <a:ea typeface="宋体" charset="-122"/>
              </a:rPr>
              <a:t>）</a:t>
            </a:r>
            <a:r>
              <a:rPr kumimoji="1" lang="en-US" altLang="zh-CN" sz="2200">
                <a:ea typeface="宋体" charset="-122"/>
              </a:rPr>
              <a:t>,  </a:t>
            </a:r>
            <a:r>
              <a:rPr kumimoji="1" lang="en-US" altLang="zh-CN" sz="2200" i="1">
                <a:ea typeface="宋体" charset="-122"/>
              </a:rPr>
              <a:t>s</a:t>
            </a:r>
            <a:r>
              <a:rPr kumimoji="1" lang="en-US" altLang="zh-CN" sz="2200" baseline="-30000">
                <a:ea typeface="宋体" charset="-122"/>
              </a:rPr>
              <a:t>4</a:t>
            </a:r>
            <a:r>
              <a:rPr kumimoji="1" lang="en-US" altLang="zh-CN" sz="2200">
                <a:ea typeface="宋体" charset="-122"/>
              </a:rPr>
              <a:t>=10000</a:t>
            </a:r>
            <a:r>
              <a:rPr kumimoji="1" lang="zh-CN" altLang="en-US" sz="2200">
                <a:ea typeface="宋体" charset="-122"/>
              </a:rPr>
              <a:t>（</a:t>
            </a:r>
            <a:r>
              <a:rPr kumimoji="1" lang="en-US" altLang="zh-CN" sz="2200">
                <a:ea typeface="宋体" charset="-122"/>
              </a:rPr>
              <a:t>16</a:t>
            </a:r>
            <a:r>
              <a:rPr kumimoji="1" lang="zh-CN" altLang="en-US" sz="2200">
                <a:ea typeface="宋体" charset="-122"/>
              </a:rPr>
              <a:t>）</a:t>
            </a:r>
            <a:r>
              <a:rPr kumimoji="1" lang="zh-CN" altLang="en-US" sz="2200">
                <a:latin typeface="Times New Roman" pitchFamily="18" charset="0"/>
                <a:ea typeface="宋体" charset="-122"/>
              </a:rPr>
              <a:t> </a:t>
            </a: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99330"/>
                                        </p:tgtEl>
                                        <p:attrNameLst>
                                          <p:attrName>style.visibility</p:attrName>
                                        </p:attrNameLst>
                                      </p:cBhvr>
                                      <p:to>
                                        <p:strVal val="visible"/>
                                      </p:to>
                                    </p:set>
                                    <p:animEffect transition="in" filter="blinds(horizontal)">
                                      <p:cBhvr>
                                        <p:cTn id="7" dur="500"/>
                                        <p:tgtEl>
                                          <p:spTgt spid="99330"/>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99331"/>
                                        </p:tgtEl>
                                        <p:attrNameLst>
                                          <p:attrName>style.visibility</p:attrName>
                                        </p:attrNameLst>
                                      </p:cBhvr>
                                      <p:to>
                                        <p:strVal val="visible"/>
                                      </p:to>
                                    </p:set>
                                    <p:animEffect transition="in" filter="blinds(horizontal)">
                                      <p:cBhvr>
                                        <p:cTn id="12" dur="500"/>
                                        <p:tgtEl>
                                          <p:spTgt spid="99331"/>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grpId="0" nodeType="clickEffect">
                                  <p:stCondLst>
                                    <p:cond delay="0"/>
                                  </p:stCondLst>
                                  <p:childTnLst>
                                    <p:set>
                                      <p:cBhvr>
                                        <p:cTn id="16" dur="1" fill="hold">
                                          <p:stCondLst>
                                            <p:cond delay="0"/>
                                          </p:stCondLst>
                                        </p:cTn>
                                        <p:tgtEl>
                                          <p:spTgt spid="99332"/>
                                        </p:tgtEl>
                                        <p:attrNameLst>
                                          <p:attrName>style.visibility</p:attrName>
                                        </p:attrNameLst>
                                      </p:cBhvr>
                                      <p:to>
                                        <p:strVal val="visible"/>
                                      </p:to>
                                    </p:set>
                                    <p:animEffect transition="in" filter="blinds(horizontal)">
                                      <p:cBhvr>
                                        <p:cTn id="17" dur="500"/>
                                        <p:tgtEl>
                                          <p:spTgt spid="99332"/>
                                        </p:tgtEl>
                                      </p:cBhvr>
                                    </p:animEffect>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grpId="0" nodeType="clickEffect">
                                  <p:stCondLst>
                                    <p:cond delay="0"/>
                                  </p:stCondLst>
                                  <p:childTnLst>
                                    <p:set>
                                      <p:cBhvr>
                                        <p:cTn id="21" dur="1" fill="hold">
                                          <p:stCondLst>
                                            <p:cond delay="0"/>
                                          </p:stCondLst>
                                        </p:cTn>
                                        <p:tgtEl>
                                          <p:spTgt spid="99333"/>
                                        </p:tgtEl>
                                        <p:attrNameLst>
                                          <p:attrName>style.visibility</p:attrName>
                                        </p:attrNameLst>
                                      </p:cBhvr>
                                      <p:to>
                                        <p:strVal val="visible"/>
                                      </p:to>
                                    </p:set>
                                    <p:animEffect transition="in" filter="blinds(horizontal)">
                                      <p:cBhvr>
                                        <p:cTn id="22" dur="500"/>
                                        <p:tgtEl>
                                          <p:spTgt spid="9933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9330" grpId="0"/>
      <p:bldP spid="99331" grpId="0"/>
      <p:bldP spid="99332" grpId="0"/>
      <p:bldP spid="99333" grpId="0"/>
    </p:bld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354" name="Text Box 2"/>
          <p:cNvSpPr txBox="1">
            <a:spLocks noChangeArrowheads="1"/>
          </p:cNvSpPr>
          <p:nvPr/>
        </p:nvSpPr>
        <p:spPr bwMode="auto">
          <a:xfrm>
            <a:off x="755650" y="1412875"/>
            <a:ext cx="7632700" cy="4110038"/>
          </a:xfrm>
          <a:prstGeom prst="rect">
            <a:avLst/>
          </a:prstGeom>
          <a:noFill/>
          <a:ln w="9525">
            <a:noFill/>
            <a:miter lim="800000"/>
            <a:headEnd/>
            <a:tailEnd/>
          </a:ln>
        </p:spPr>
        <p:txBody>
          <a:bodyPr>
            <a:spAutoFit/>
          </a:bodyPr>
          <a:lstStyle/>
          <a:p>
            <a:pPr algn="just">
              <a:lnSpc>
                <a:spcPct val="120000"/>
              </a:lnSpc>
              <a:spcBef>
                <a:spcPct val="50000"/>
              </a:spcBef>
            </a:pPr>
            <a:r>
              <a:rPr kumimoji="1" lang="zh-CN" altLang="en-US" sz="2800">
                <a:latin typeface="宋体" charset="-122"/>
                <a:ea typeface="宋体" charset="-122"/>
              </a:rPr>
              <a:t>　  显然，在这一代种群中已经出现了适应度最高的染色体</a:t>
            </a:r>
            <a:r>
              <a:rPr kumimoji="1" lang="en-US" altLang="zh-CN" sz="2800" i="1">
                <a:latin typeface="Times New Roman" pitchFamily="18" charset="0"/>
                <a:ea typeface="宋体" charset="-122"/>
                <a:cs typeface="Times New Roman" pitchFamily="18" charset="0"/>
              </a:rPr>
              <a:t>s</a:t>
            </a:r>
            <a:r>
              <a:rPr kumimoji="1" lang="en-US" altLang="zh-CN" sz="2800" baseline="-30000">
                <a:latin typeface="Times New Roman" pitchFamily="18" charset="0"/>
                <a:ea typeface="宋体" charset="-122"/>
                <a:cs typeface="Times New Roman" pitchFamily="18" charset="0"/>
              </a:rPr>
              <a:t>1</a:t>
            </a:r>
            <a:r>
              <a:rPr kumimoji="1" lang="en-US" altLang="zh-CN" sz="2800">
                <a:latin typeface="Times New Roman" pitchFamily="18" charset="0"/>
                <a:ea typeface="宋体" charset="-122"/>
                <a:cs typeface="Times New Roman" pitchFamily="18" charset="0"/>
              </a:rPr>
              <a:t>=11111</a:t>
            </a:r>
            <a:r>
              <a:rPr kumimoji="1" lang="zh-CN" altLang="en-US" sz="2800">
                <a:latin typeface="Times New Roman" pitchFamily="18" charset="0"/>
                <a:ea typeface="宋体" charset="-122"/>
                <a:cs typeface="Times New Roman" pitchFamily="18" charset="0"/>
              </a:rPr>
              <a:t>。于是，遗传操作终止，将</a:t>
            </a:r>
            <a:r>
              <a:rPr kumimoji="1" lang="zh-CN" altLang="en-US" sz="2800">
                <a:latin typeface="宋体" charset="-122"/>
                <a:ea typeface="宋体" charset="-122"/>
              </a:rPr>
              <a:t>染色体</a:t>
            </a:r>
            <a:r>
              <a:rPr kumimoji="1" lang="zh-CN" altLang="en-US" sz="2800">
                <a:latin typeface="Courier New" pitchFamily="49" charset="0"/>
                <a:ea typeface="宋体" charset="-122"/>
              </a:rPr>
              <a:t>“</a:t>
            </a:r>
            <a:r>
              <a:rPr kumimoji="1" lang="en-US" altLang="zh-CN" sz="2800">
                <a:latin typeface="Times New Roman" pitchFamily="18" charset="0"/>
                <a:ea typeface="宋体" charset="-122"/>
              </a:rPr>
              <a:t>11111</a:t>
            </a:r>
            <a:r>
              <a:rPr kumimoji="1" lang="en-US" altLang="zh-CN" sz="2800">
                <a:latin typeface="Courier New" pitchFamily="49" charset="0"/>
                <a:ea typeface="宋体" charset="-122"/>
              </a:rPr>
              <a:t>”</a:t>
            </a:r>
            <a:r>
              <a:rPr kumimoji="1" lang="zh-CN" altLang="en-US" sz="2800">
                <a:latin typeface="Times New Roman" pitchFamily="18" charset="0"/>
                <a:ea typeface="宋体" charset="-122"/>
              </a:rPr>
              <a:t>作为最终结果输出。</a:t>
            </a:r>
            <a:endParaRPr kumimoji="1" lang="zh-CN" altLang="en-US" sz="2800">
              <a:latin typeface="宋体" charset="-122"/>
              <a:ea typeface="宋体" charset="-122"/>
            </a:endParaRPr>
          </a:p>
          <a:p>
            <a:pPr>
              <a:lnSpc>
                <a:spcPct val="120000"/>
              </a:lnSpc>
              <a:spcBef>
                <a:spcPct val="50000"/>
              </a:spcBef>
            </a:pPr>
            <a:r>
              <a:rPr kumimoji="1" lang="zh-CN" altLang="en-US" sz="2800">
                <a:latin typeface="宋体" charset="-122"/>
                <a:ea typeface="宋体" charset="-122"/>
              </a:rPr>
              <a:t>　　然后，将染色体</a:t>
            </a:r>
            <a:r>
              <a:rPr kumimoji="1" lang="zh-CN" altLang="en-US" sz="2800">
                <a:latin typeface="Times New Roman" pitchFamily="18" charset="0"/>
                <a:ea typeface="宋体" charset="-122"/>
              </a:rPr>
              <a:t>“</a:t>
            </a:r>
            <a:r>
              <a:rPr kumimoji="1" lang="en-US" altLang="zh-CN" sz="2800">
                <a:latin typeface="Times New Roman" pitchFamily="18" charset="0"/>
                <a:ea typeface="宋体" charset="-122"/>
              </a:rPr>
              <a:t>11111”</a:t>
            </a:r>
            <a:r>
              <a:rPr kumimoji="1" lang="zh-CN" altLang="en-US" sz="2800">
                <a:latin typeface="宋体" charset="-122"/>
                <a:ea typeface="宋体" charset="-122"/>
              </a:rPr>
              <a:t>解码为表现型，即得所求的最优解：</a:t>
            </a:r>
            <a:r>
              <a:rPr kumimoji="1" lang="en-US" altLang="zh-CN" sz="2800">
                <a:latin typeface="Times New Roman" pitchFamily="18" charset="0"/>
                <a:ea typeface="宋体" charset="-122"/>
              </a:rPr>
              <a:t>31</a:t>
            </a:r>
            <a:r>
              <a:rPr kumimoji="1" lang="zh-CN" altLang="en-US" sz="2800">
                <a:latin typeface="宋体" charset="-122"/>
                <a:ea typeface="宋体" charset="-122"/>
              </a:rPr>
              <a:t>。</a:t>
            </a:r>
          </a:p>
          <a:p>
            <a:pPr>
              <a:lnSpc>
                <a:spcPct val="120000"/>
              </a:lnSpc>
              <a:spcBef>
                <a:spcPct val="50000"/>
              </a:spcBef>
            </a:pPr>
            <a:r>
              <a:rPr kumimoji="1" lang="zh-CN" altLang="en-US" sz="2800">
                <a:latin typeface="宋体" charset="-122"/>
                <a:ea typeface="宋体" charset="-122"/>
              </a:rPr>
              <a:t>    将</a:t>
            </a:r>
            <a:r>
              <a:rPr kumimoji="1" lang="en-US" altLang="zh-CN" sz="2800">
                <a:latin typeface="Times New Roman" pitchFamily="18" charset="0"/>
                <a:ea typeface="宋体" charset="-122"/>
              </a:rPr>
              <a:t>31</a:t>
            </a:r>
            <a:r>
              <a:rPr kumimoji="1" lang="zh-CN" altLang="en-US" sz="2800">
                <a:latin typeface="宋体" charset="-122"/>
                <a:ea typeface="宋体" charset="-122"/>
              </a:rPr>
              <a:t>代入函数</a:t>
            </a:r>
            <a:r>
              <a:rPr kumimoji="1" lang="en-US" altLang="zh-CN" sz="2800" i="1">
                <a:latin typeface="Times New Roman" pitchFamily="18" charset="0"/>
                <a:ea typeface="宋体" charset="-122"/>
              </a:rPr>
              <a:t>y</a:t>
            </a:r>
            <a:r>
              <a:rPr kumimoji="1" lang="en-US" altLang="zh-CN" sz="2800">
                <a:latin typeface="Times New Roman" pitchFamily="18" charset="0"/>
                <a:ea typeface="宋体" charset="-122"/>
              </a:rPr>
              <a:t>=</a:t>
            </a:r>
            <a:r>
              <a:rPr kumimoji="1" lang="en-US" altLang="zh-CN" sz="2800" i="1">
                <a:latin typeface="Times New Roman" pitchFamily="18" charset="0"/>
                <a:ea typeface="宋体" charset="-122"/>
              </a:rPr>
              <a:t>x</a:t>
            </a:r>
            <a:r>
              <a:rPr kumimoji="1" lang="en-US" altLang="zh-CN" sz="2800" baseline="30000">
                <a:latin typeface="Times New Roman" pitchFamily="18" charset="0"/>
                <a:ea typeface="宋体" charset="-122"/>
              </a:rPr>
              <a:t>2</a:t>
            </a:r>
            <a:r>
              <a:rPr kumimoji="1" lang="zh-CN" altLang="en-US" sz="2800">
                <a:latin typeface="宋体" charset="-122"/>
                <a:ea typeface="宋体" charset="-122"/>
              </a:rPr>
              <a:t>中，即得原问题的解，即函数</a:t>
            </a:r>
            <a:r>
              <a:rPr kumimoji="1" lang="en-US" altLang="zh-CN" sz="2800" i="1">
                <a:latin typeface="Times New Roman" pitchFamily="18" charset="0"/>
                <a:ea typeface="宋体" charset="-122"/>
              </a:rPr>
              <a:t>y</a:t>
            </a:r>
            <a:r>
              <a:rPr kumimoji="1" lang="en-US" altLang="zh-CN" sz="2800">
                <a:latin typeface="Times New Roman" pitchFamily="18" charset="0"/>
                <a:ea typeface="宋体" charset="-122"/>
              </a:rPr>
              <a:t>=</a:t>
            </a:r>
            <a:r>
              <a:rPr kumimoji="1" lang="en-US" altLang="zh-CN" sz="2800" i="1">
                <a:latin typeface="Times New Roman" pitchFamily="18" charset="0"/>
                <a:ea typeface="宋体" charset="-122"/>
              </a:rPr>
              <a:t>x</a:t>
            </a:r>
            <a:r>
              <a:rPr kumimoji="1" lang="en-US" altLang="zh-CN" sz="2800" baseline="30000">
                <a:latin typeface="Times New Roman" pitchFamily="18" charset="0"/>
                <a:ea typeface="宋体" charset="-122"/>
              </a:rPr>
              <a:t>2</a:t>
            </a:r>
            <a:r>
              <a:rPr kumimoji="1" lang="zh-CN" altLang="en-US" sz="2800">
                <a:latin typeface="宋体" charset="-122"/>
                <a:ea typeface="宋体" charset="-122"/>
              </a:rPr>
              <a:t>的最大值为</a:t>
            </a:r>
            <a:r>
              <a:rPr kumimoji="1" lang="en-US" altLang="zh-CN" sz="2800">
                <a:latin typeface="Times New Roman" pitchFamily="18" charset="0"/>
                <a:ea typeface="宋体" charset="-122"/>
              </a:rPr>
              <a:t>961</a:t>
            </a:r>
            <a:r>
              <a:rPr kumimoji="1" lang="zh-CN" altLang="en-US" sz="2800">
                <a:latin typeface="宋体" charset="-122"/>
                <a:ea typeface="宋体" charset="-122"/>
              </a:rPr>
              <a:t>。</a:t>
            </a:r>
            <a:r>
              <a:rPr kumimoji="1" lang="zh-CN" altLang="en-US" sz="2800">
                <a:latin typeface="Times New Roman" pitchFamily="18" charset="0"/>
                <a:ea typeface="宋体" charset="-122"/>
              </a:rPr>
              <a:t> </a:t>
            </a: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100354">
                                            <p:txEl>
                                              <p:pRg st="0" end="0"/>
                                            </p:txEl>
                                          </p:spTgt>
                                        </p:tgtEl>
                                        <p:attrNameLst>
                                          <p:attrName>style.visibility</p:attrName>
                                        </p:attrNameLst>
                                      </p:cBhvr>
                                      <p:to>
                                        <p:strVal val="visible"/>
                                      </p:to>
                                    </p:set>
                                    <p:animEffect transition="in" filter="blinds(horizontal)">
                                      <p:cBhvr>
                                        <p:cTn id="7" dur="500"/>
                                        <p:tgtEl>
                                          <p:spTgt spid="100354">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nodeType="clickEffect">
                                  <p:stCondLst>
                                    <p:cond delay="0"/>
                                  </p:stCondLst>
                                  <p:childTnLst>
                                    <p:set>
                                      <p:cBhvr>
                                        <p:cTn id="11" dur="1" fill="hold">
                                          <p:stCondLst>
                                            <p:cond delay="0"/>
                                          </p:stCondLst>
                                        </p:cTn>
                                        <p:tgtEl>
                                          <p:spTgt spid="100354">
                                            <p:txEl>
                                              <p:pRg st="1" end="1"/>
                                            </p:txEl>
                                          </p:spTgt>
                                        </p:tgtEl>
                                        <p:attrNameLst>
                                          <p:attrName>style.visibility</p:attrName>
                                        </p:attrNameLst>
                                      </p:cBhvr>
                                      <p:to>
                                        <p:strVal val="visible"/>
                                      </p:to>
                                    </p:set>
                                    <p:animEffect transition="in" filter="blinds(horizontal)">
                                      <p:cBhvr>
                                        <p:cTn id="12" dur="500"/>
                                        <p:tgtEl>
                                          <p:spTgt spid="100354">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nodeType="clickEffect">
                                  <p:stCondLst>
                                    <p:cond delay="0"/>
                                  </p:stCondLst>
                                  <p:childTnLst>
                                    <p:set>
                                      <p:cBhvr>
                                        <p:cTn id="16" dur="1" fill="hold">
                                          <p:stCondLst>
                                            <p:cond delay="0"/>
                                          </p:stCondLst>
                                        </p:cTn>
                                        <p:tgtEl>
                                          <p:spTgt spid="100354">
                                            <p:txEl>
                                              <p:pRg st="2" end="2"/>
                                            </p:txEl>
                                          </p:spTgt>
                                        </p:tgtEl>
                                        <p:attrNameLst>
                                          <p:attrName>style.visibility</p:attrName>
                                        </p:attrNameLst>
                                      </p:cBhvr>
                                      <p:to>
                                        <p:strVal val="visible"/>
                                      </p:to>
                                    </p:set>
                                    <p:animEffect transition="in" filter="blinds(horizontal)">
                                      <p:cBhvr>
                                        <p:cTn id="17" dur="500"/>
                                        <p:tgtEl>
                                          <p:spTgt spid="100354">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50" name="Line 2"/>
          <p:cNvSpPr>
            <a:spLocks noChangeShapeType="1"/>
          </p:cNvSpPr>
          <p:nvPr/>
        </p:nvSpPr>
        <p:spPr bwMode="auto">
          <a:xfrm flipV="1">
            <a:off x="1909763" y="5503863"/>
            <a:ext cx="0" cy="144462"/>
          </a:xfrm>
          <a:prstGeom prst="line">
            <a:avLst/>
          </a:prstGeom>
          <a:noFill/>
          <a:ln w="9525">
            <a:solidFill>
              <a:schemeClr val="tx1"/>
            </a:solidFill>
            <a:prstDash val="dash"/>
            <a:round/>
            <a:headEnd/>
            <a:tailEnd/>
          </a:ln>
        </p:spPr>
        <p:txBody>
          <a:bodyPr/>
          <a:lstStyle/>
          <a:p>
            <a:endParaRPr lang="zh-CN" altLang="en-US"/>
          </a:p>
        </p:txBody>
      </p:sp>
      <p:sp>
        <p:nvSpPr>
          <p:cNvPr id="53251" name="Text Box 3"/>
          <p:cNvSpPr txBox="1">
            <a:spLocks noChangeArrowheads="1"/>
          </p:cNvSpPr>
          <p:nvPr/>
        </p:nvSpPr>
        <p:spPr bwMode="auto">
          <a:xfrm>
            <a:off x="4787900" y="3506788"/>
            <a:ext cx="287338" cy="396875"/>
          </a:xfrm>
          <a:prstGeom prst="rect">
            <a:avLst/>
          </a:prstGeom>
          <a:noFill/>
          <a:ln w="9525">
            <a:noFill/>
            <a:miter lim="800000"/>
            <a:headEnd/>
            <a:tailEnd/>
          </a:ln>
        </p:spPr>
        <p:txBody>
          <a:bodyPr>
            <a:spAutoFit/>
          </a:bodyPr>
          <a:lstStyle/>
          <a:p>
            <a:pPr>
              <a:spcBef>
                <a:spcPct val="50000"/>
              </a:spcBef>
            </a:pPr>
            <a:r>
              <a:rPr lang="en-US" altLang="zh-CN" sz="2000" i="1">
                <a:latin typeface="Times New Roman" pitchFamily="18" charset="0"/>
                <a:ea typeface="宋体" charset="-122"/>
              </a:rPr>
              <a:t>Y</a:t>
            </a:r>
          </a:p>
        </p:txBody>
      </p:sp>
      <p:sp>
        <p:nvSpPr>
          <p:cNvPr id="53252" name="Line 4"/>
          <p:cNvSpPr>
            <a:spLocks noChangeShapeType="1"/>
          </p:cNvSpPr>
          <p:nvPr/>
        </p:nvSpPr>
        <p:spPr bwMode="auto">
          <a:xfrm flipV="1">
            <a:off x="2195513" y="2565400"/>
            <a:ext cx="0" cy="215900"/>
          </a:xfrm>
          <a:prstGeom prst="line">
            <a:avLst/>
          </a:prstGeom>
          <a:noFill/>
          <a:ln w="9525">
            <a:solidFill>
              <a:schemeClr val="tx1"/>
            </a:solidFill>
            <a:prstDash val="dash"/>
            <a:round/>
            <a:headEnd/>
            <a:tailEnd/>
          </a:ln>
        </p:spPr>
        <p:txBody>
          <a:bodyPr/>
          <a:lstStyle/>
          <a:p>
            <a:endParaRPr lang="zh-CN" altLang="en-US"/>
          </a:p>
        </p:txBody>
      </p:sp>
      <p:sp>
        <p:nvSpPr>
          <p:cNvPr id="53253" name="Line 5"/>
          <p:cNvSpPr>
            <a:spLocks noChangeShapeType="1"/>
          </p:cNvSpPr>
          <p:nvPr/>
        </p:nvSpPr>
        <p:spPr bwMode="auto">
          <a:xfrm flipV="1">
            <a:off x="3114675" y="4779963"/>
            <a:ext cx="0" cy="863600"/>
          </a:xfrm>
          <a:prstGeom prst="line">
            <a:avLst/>
          </a:prstGeom>
          <a:noFill/>
          <a:ln w="9525">
            <a:solidFill>
              <a:schemeClr val="tx1"/>
            </a:solidFill>
            <a:prstDash val="dash"/>
            <a:round/>
            <a:headEnd/>
            <a:tailEnd/>
          </a:ln>
        </p:spPr>
        <p:txBody>
          <a:bodyPr/>
          <a:lstStyle/>
          <a:p>
            <a:endParaRPr lang="zh-CN" altLang="en-US"/>
          </a:p>
        </p:txBody>
      </p:sp>
      <p:sp>
        <p:nvSpPr>
          <p:cNvPr id="53254" name="Line 6"/>
          <p:cNvSpPr>
            <a:spLocks noChangeShapeType="1"/>
          </p:cNvSpPr>
          <p:nvPr/>
        </p:nvSpPr>
        <p:spPr bwMode="auto">
          <a:xfrm flipV="1">
            <a:off x="3419475" y="4383088"/>
            <a:ext cx="0" cy="1223962"/>
          </a:xfrm>
          <a:prstGeom prst="line">
            <a:avLst/>
          </a:prstGeom>
          <a:noFill/>
          <a:ln w="9525">
            <a:solidFill>
              <a:schemeClr val="tx1"/>
            </a:solidFill>
            <a:prstDash val="dash"/>
            <a:round/>
            <a:headEnd/>
            <a:tailEnd/>
          </a:ln>
        </p:spPr>
        <p:txBody>
          <a:bodyPr/>
          <a:lstStyle/>
          <a:p>
            <a:endParaRPr lang="zh-CN" altLang="en-US"/>
          </a:p>
        </p:txBody>
      </p:sp>
      <p:sp>
        <p:nvSpPr>
          <p:cNvPr id="53255" name="Line 7"/>
          <p:cNvSpPr>
            <a:spLocks noChangeShapeType="1"/>
          </p:cNvSpPr>
          <p:nvPr/>
        </p:nvSpPr>
        <p:spPr bwMode="auto">
          <a:xfrm flipV="1">
            <a:off x="2771775" y="5084763"/>
            <a:ext cx="0" cy="576262"/>
          </a:xfrm>
          <a:prstGeom prst="line">
            <a:avLst/>
          </a:prstGeom>
          <a:noFill/>
          <a:ln w="9525">
            <a:solidFill>
              <a:schemeClr val="tx1"/>
            </a:solidFill>
            <a:prstDash val="dash"/>
            <a:round/>
            <a:headEnd/>
            <a:tailEnd/>
          </a:ln>
        </p:spPr>
        <p:txBody>
          <a:bodyPr/>
          <a:lstStyle/>
          <a:p>
            <a:endParaRPr lang="zh-CN" altLang="en-US"/>
          </a:p>
        </p:txBody>
      </p:sp>
      <p:sp>
        <p:nvSpPr>
          <p:cNvPr id="53256" name="Line 8"/>
          <p:cNvSpPr>
            <a:spLocks noChangeShapeType="1"/>
          </p:cNvSpPr>
          <p:nvPr/>
        </p:nvSpPr>
        <p:spPr bwMode="auto">
          <a:xfrm flipV="1">
            <a:off x="6011863" y="2636838"/>
            <a:ext cx="0" cy="144462"/>
          </a:xfrm>
          <a:prstGeom prst="line">
            <a:avLst/>
          </a:prstGeom>
          <a:noFill/>
          <a:ln w="9525">
            <a:solidFill>
              <a:schemeClr val="tx1"/>
            </a:solidFill>
            <a:prstDash val="dash"/>
            <a:round/>
            <a:headEnd/>
            <a:tailEnd/>
          </a:ln>
        </p:spPr>
        <p:txBody>
          <a:bodyPr/>
          <a:lstStyle/>
          <a:p>
            <a:endParaRPr lang="zh-CN" altLang="en-US"/>
          </a:p>
        </p:txBody>
      </p:sp>
      <p:grpSp>
        <p:nvGrpSpPr>
          <p:cNvPr id="2" name="Group 9"/>
          <p:cNvGrpSpPr>
            <a:grpSpLocks/>
          </p:cNvGrpSpPr>
          <p:nvPr/>
        </p:nvGrpSpPr>
        <p:grpSpPr bwMode="auto">
          <a:xfrm>
            <a:off x="684213" y="692150"/>
            <a:ext cx="3959225" cy="2867025"/>
            <a:chOff x="431" y="436"/>
            <a:chExt cx="2494" cy="1806"/>
          </a:xfrm>
        </p:grpSpPr>
        <p:sp>
          <p:nvSpPr>
            <p:cNvPr id="53301" name="Line 10"/>
            <p:cNvSpPr>
              <a:spLocks noChangeShapeType="1"/>
            </p:cNvSpPr>
            <p:nvPr/>
          </p:nvSpPr>
          <p:spPr bwMode="auto">
            <a:xfrm flipV="1">
              <a:off x="1746" y="1434"/>
              <a:ext cx="0" cy="318"/>
            </a:xfrm>
            <a:prstGeom prst="line">
              <a:avLst/>
            </a:prstGeom>
            <a:noFill/>
            <a:ln w="9525">
              <a:solidFill>
                <a:schemeClr val="tx1"/>
              </a:solidFill>
              <a:prstDash val="dash"/>
              <a:round/>
              <a:headEnd/>
              <a:tailEnd/>
            </a:ln>
          </p:spPr>
          <p:txBody>
            <a:bodyPr/>
            <a:lstStyle/>
            <a:p>
              <a:endParaRPr lang="zh-CN" altLang="en-US"/>
            </a:p>
          </p:txBody>
        </p:sp>
        <p:sp>
          <p:nvSpPr>
            <p:cNvPr id="53302" name="Line 11"/>
            <p:cNvSpPr>
              <a:spLocks noChangeShapeType="1"/>
            </p:cNvSpPr>
            <p:nvPr/>
          </p:nvSpPr>
          <p:spPr bwMode="auto">
            <a:xfrm flipV="1">
              <a:off x="1973" y="1207"/>
              <a:ext cx="0" cy="542"/>
            </a:xfrm>
            <a:prstGeom prst="line">
              <a:avLst/>
            </a:prstGeom>
            <a:noFill/>
            <a:ln w="9525">
              <a:solidFill>
                <a:schemeClr val="tx1"/>
              </a:solidFill>
              <a:prstDash val="dash"/>
              <a:round/>
              <a:headEnd/>
              <a:tailEnd/>
            </a:ln>
          </p:spPr>
          <p:txBody>
            <a:bodyPr/>
            <a:lstStyle/>
            <a:p>
              <a:endParaRPr lang="zh-CN" altLang="en-US"/>
            </a:p>
          </p:txBody>
        </p:sp>
        <p:sp>
          <p:nvSpPr>
            <p:cNvPr id="53303" name="Text Box 12"/>
            <p:cNvSpPr txBox="1">
              <a:spLocks noChangeArrowheads="1"/>
            </p:cNvSpPr>
            <p:nvPr/>
          </p:nvSpPr>
          <p:spPr bwMode="auto">
            <a:xfrm>
              <a:off x="476" y="440"/>
              <a:ext cx="181" cy="250"/>
            </a:xfrm>
            <a:prstGeom prst="rect">
              <a:avLst/>
            </a:prstGeom>
            <a:noFill/>
            <a:ln w="9525">
              <a:noFill/>
              <a:miter lim="800000"/>
              <a:headEnd/>
              <a:tailEnd/>
            </a:ln>
          </p:spPr>
          <p:txBody>
            <a:bodyPr>
              <a:spAutoFit/>
            </a:bodyPr>
            <a:lstStyle/>
            <a:p>
              <a:pPr>
                <a:spcBef>
                  <a:spcPct val="50000"/>
                </a:spcBef>
              </a:pPr>
              <a:r>
                <a:rPr lang="en-US" altLang="zh-CN" sz="2000" i="1">
                  <a:latin typeface="Times New Roman" pitchFamily="18" charset="0"/>
                  <a:ea typeface="宋体" charset="-122"/>
                </a:rPr>
                <a:t>Y</a:t>
              </a:r>
            </a:p>
          </p:txBody>
        </p:sp>
        <p:sp>
          <p:nvSpPr>
            <p:cNvPr id="53304" name="Text Box 13"/>
            <p:cNvSpPr txBox="1">
              <a:spLocks noChangeArrowheads="1"/>
            </p:cNvSpPr>
            <p:nvPr/>
          </p:nvSpPr>
          <p:spPr bwMode="auto">
            <a:xfrm>
              <a:off x="1656" y="799"/>
              <a:ext cx="499" cy="288"/>
            </a:xfrm>
            <a:prstGeom prst="rect">
              <a:avLst/>
            </a:prstGeom>
            <a:noFill/>
            <a:ln w="9525">
              <a:noFill/>
              <a:miter lim="800000"/>
              <a:headEnd/>
              <a:tailEnd/>
            </a:ln>
          </p:spPr>
          <p:txBody>
            <a:bodyPr>
              <a:spAutoFit/>
            </a:bodyPr>
            <a:lstStyle/>
            <a:p>
              <a:pPr>
                <a:spcBef>
                  <a:spcPct val="50000"/>
                </a:spcBef>
              </a:pPr>
              <a:r>
                <a:rPr kumimoji="1" lang="en-US" altLang="zh-CN" sz="2400" i="1">
                  <a:latin typeface="Times New Roman" pitchFamily="18" charset="0"/>
                  <a:ea typeface="宋体" charset="-122"/>
                </a:rPr>
                <a:t>y</a:t>
              </a:r>
              <a:r>
                <a:rPr kumimoji="1" lang="en-US" altLang="zh-CN" sz="2400">
                  <a:latin typeface="Times New Roman" pitchFamily="18" charset="0"/>
                  <a:ea typeface="宋体" charset="-122"/>
                </a:rPr>
                <a:t>=</a:t>
              </a:r>
              <a:r>
                <a:rPr kumimoji="1" lang="en-US" altLang="zh-CN" sz="2400" i="1">
                  <a:latin typeface="Times New Roman" pitchFamily="18" charset="0"/>
                  <a:ea typeface="宋体" charset="-122"/>
                </a:rPr>
                <a:t>x</a:t>
              </a:r>
              <a:r>
                <a:rPr kumimoji="1" lang="en-US" altLang="zh-CN" sz="2400" baseline="30000">
                  <a:latin typeface="Times New Roman" pitchFamily="18" charset="0"/>
                  <a:ea typeface="宋体" charset="-122"/>
                </a:rPr>
                <a:t>2</a:t>
              </a:r>
            </a:p>
          </p:txBody>
        </p:sp>
        <p:sp>
          <p:nvSpPr>
            <p:cNvPr id="53305" name="Line 14"/>
            <p:cNvSpPr>
              <a:spLocks noChangeShapeType="1"/>
            </p:cNvSpPr>
            <p:nvPr/>
          </p:nvSpPr>
          <p:spPr bwMode="auto">
            <a:xfrm flipV="1">
              <a:off x="431" y="1763"/>
              <a:ext cx="2267" cy="1"/>
            </a:xfrm>
            <a:prstGeom prst="line">
              <a:avLst/>
            </a:prstGeom>
            <a:noFill/>
            <a:ln w="9525">
              <a:solidFill>
                <a:schemeClr val="tx1"/>
              </a:solidFill>
              <a:round/>
              <a:headEnd/>
              <a:tailEnd type="triangle" w="sm" len="lg"/>
            </a:ln>
          </p:spPr>
          <p:txBody>
            <a:bodyPr/>
            <a:lstStyle/>
            <a:p>
              <a:endParaRPr lang="zh-CN" altLang="en-US"/>
            </a:p>
          </p:txBody>
        </p:sp>
        <p:sp>
          <p:nvSpPr>
            <p:cNvPr id="53306" name="Text Box 15"/>
            <p:cNvSpPr txBox="1">
              <a:spLocks noChangeArrowheads="1"/>
            </p:cNvSpPr>
            <p:nvPr/>
          </p:nvSpPr>
          <p:spPr bwMode="auto">
            <a:xfrm>
              <a:off x="793" y="1773"/>
              <a:ext cx="2132" cy="250"/>
            </a:xfrm>
            <a:prstGeom prst="rect">
              <a:avLst/>
            </a:prstGeom>
            <a:noFill/>
            <a:ln w="9525">
              <a:noFill/>
              <a:miter lim="800000"/>
              <a:headEnd/>
              <a:tailEnd/>
            </a:ln>
          </p:spPr>
          <p:txBody>
            <a:bodyPr>
              <a:spAutoFit/>
            </a:bodyPr>
            <a:lstStyle/>
            <a:p>
              <a:pPr>
                <a:spcBef>
                  <a:spcPct val="50000"/>
                </a:spcBef>
              </a:pPr>
              <a:r>
                <a:rPr lang="zh-CN" altLang="en-US">
                  <a:ea typeface="宋体" charset="-122"/>
                </a:rPr>
                <a:t>    </a:t>
              </a:r>
              <a:r>
                <a:rPr lang="en-US" altLang="zh-CN" sz="2000">
                  <a:latin typeface="Times New Roman" pitchFamily="18" charset="0"/>
                  <a:ea typeface="宋体" charset="-122"/>
                </a:rPr>
                <a:t>8     13     19  24</a:t>
              </a:r>
              <a:r>
                <a:rPr lang="en-US" altLang="zh-CN">
                  <a:ea typeface="宋体" charset="-122"/>
                </a:rPr>
                <a:t>            </a:t>
              </a:r>
              <a:r>
                <a:rPr lang="en-US" altLang="zh-CN" i="1">
                  <a:latin typeface="Times New Roman" pitchFamily="18" charset="0"/>
                  <a:ea typeface="宋体" charset="-122"/>
                </a:rPr>
                <a:t> </a:t>
              </a:r>
              <a:r>
                <a:rPr lang="en-US" altLang="zh-CN" sz="2000" i="1">
                  <a:latin typeface="Times New Roman" pitchFamily="18" charset="0"/>
                  <a:ea typeface="宋体" charset="-122"/>
                </a:rPr>
                <a:t>X</a:t>
              </a:r>
            </a:p>
          </p:txBody>
        </p:sp>
        <p:sp>
          <p:nvSpPr>
            <p:cNvPr id="53307" name="Line 16"/>
            <p:cNvSpPr>
              <a:spLocks noChangeShapeType="1"/>
            </p:cNvSpPr>
            <p:nvPr/>
          </p:nvSpPr>
          <p:spPr bwMode="auto">
            <a:xfrm flipV="1">
              <a:off x="703" y="455"/>
              <a:ext cx="0" cy="1587"/>
            </a:xfrm>
            <a:prstGeom prst="line">
              <a:avLst/>
            </a:prstGeom>
            <a:noFill/>
            <a:ln w="9525">
              <a:solidFill>
                <a:schemeClr val="tx1"/>
              </a:solidFill>
              <a:round/>
              <a:headEnd/>
              <a:tailEnd type="triangle" w="sm" len="lg"/>
            </a:ln>
          </p:spPr>
          <p:txBody>
            <a:bodyPr/>
            <a:lstStyle/>
            <a:p>
              <a:endParaRPr lang="zh-CN" altLang="en-US"/>
            </a:p>
          </p:txBody>
        </p:sp>
        <p:sp>
          <p:nvSpPr>
            <p:cNvPr id="53308" name="Arc 17"/>
            <p:cNvSpPr>
              <a:spLocks/>
            </p:cNvSpPr>
            <p:nvPr/>
          </p:nvSpPr>
          <p:spPr bwMode="auto">
            <a:xfrm flipV="1">
              <a:off x="703" y="436"/>
              <a:ext cx="1542" cy="1315"/>
            </a:xfrm>
            <a:custGeom>
              <a:avLst/>
              <a:gdLst>
                <a:gd name="T0" fmla="*/ 0 w 20978"/>
                <a:gd name="T1" fmla="*/ 0 h 21600"/>
                <a:gd name="T2" fmla="*/ 0 w 20978"/>
                <a:gd name="T3" fmla="*/ 0 h 21600"/>
                <a:gd name="T4" fmla="*/ 0 w 20978"/>
                <a:gd name="T5" fmla="*/ 0 h 21600"/>
                <a:gd name="T6" fmla="*/ 0 60000 65536"/>
                <a:gd name="T7" fmla="*/ 0 60000 65536"/>
                <a:gd name="T8" fmla="*/ 0 60000 65536"/>
                <a:gd name="T9" fmla="*/ 0 w 20978"/>
                <a:gd name="T10" fmla="*/ 0 h 21600"/>
                <a:gd name="T11" fmla="*/ 20978 w 20978"/>
                <a:gd name="T12" fmla="*/ 21600 h 21600"/>
              </a:gdLst>
              <a:ahLst/>
              <a:cxnLst>
                <a:cxn ang="T6">
                  <a:pos x="T0" y="T1"/>
                </a:cxn>
                <a:cxn ang="T7">
                  <a:pos x="T2" y="T3"/>
                </a:cxn>
                <a:cxn ang="T8">
                  <a:pos x="T4" y="T5"/>
                </a:cxn>
              </a:cxnLst>
              <a:rect l="T9" t="T10" r="T11" b="T12"/>
              <a:pathLst>
                <a:path w="20978" h="21600" fill="none" extrusionOk="0">
                  <a:moveTo>
                    <a:pt x="-1" y="0"/>
                  </a:moveTo>
                  <a:cubicBezTo>
                    <a:pt x="9947" y="0"/>
                    <a:pt x="18608" y="6793"/>
                    <a:pt x="20978" y="16453"/>
                  </a:cubicBezTo>
                </a:path>
                <a:path w="20978" h="21600" stroke="0" extrusionOk="0">
                  <a:moveTo>
                    <a:pt x="-1" y="0"/>
                  </a:moveTo>
                  <a:cubicBezTo>
                    <a:pt x="9947" y="0"/>
                    <a:pt x="18608" y="6793"/>
                    <a:pt x="20978" y="16453"/>
                  </a:cubicBezTo>
                  <a:lnTo>
                    <a:pt x="0" y="21600"/>
                  </a:lnTo>
                  <a:close/>
                </a:path>
              </a:pathLst>
            </a:custGeom>
            <a:noFill/>
            <a:ln w="12700">
              <a:solidFill>
                <a:schemeClr val="tx1"/>
              </a:solidFill>
              <a:prstDash val="dash"/>
              <a:round/>
              <a:headEnd/>
              <a:tailEnd/>
            </a:ln>
          </p:spPr>
          <p:txBody>
            <a:bodyPr wrap="none" anchor="ctr"/>
            <a:lstStyle/>
            <a:p>
              <a:endParaRPr lang="zh-CN" altLang="en-US"/>
            </a:p>
          </p:txBody>
        </p:sp>
        <p:sp>
          <p:nvSpPr>
            <p:cNvPr id="53309" name="Oval 18"/>
            <p:cNvSpPr>
              <a:spLocks noChangeArrowheads="1"/>
            </p:cNvSpPr>
            <p:nvPr/>
          </p:nvSpPr>
          <p:spPr bwMode="auto">
            <a:xfrm>
              <a:off x="1701" y="1377"/>
              <a:ext cx="91" cy="91"/>
            </a:xfrm>
            <a:prstGeom prst="ellipse">
              <a:avLst/>
            </a:prstGeom>
            <a:solidFill>
              <a:schemeClr val="accent1"/>
            </a:solidFill>
            <a:ln w="9525">
              <a:solidFill>
                <a:schemeClr val="tx1"/>
              </a:solidFill>
              <a:round/>
              <a:headEnd/>
              <a:tailEnd/>
            </a:ln>
          </p:spPr>
          <p:txBody>
            <a:bodyPr wrap="none" anchor="ctr"/>
            <a:lstStyle/>
            <a:p>
              <a:endParaRPr lang="zh-CN" altLang="en-US">
                <a:ea typeface="宋体" charset="-122"/>
              </a:endParaRPr>
            </a:p>
          </p:txBody>
        </p:sp>
        <p:sp>
          <p:nvSpPr>
            <p:cNvPr id="53310" name="Oval 19"/>
            <p:cNvSpPr>
              <a:spLocks noChangeArrowheads="1"/>
            </p:cNvSpPr>
            <p:nvPr/>
          </p:nvSpPr>
          <p:spPr bwMode="auto">
            <a:xfrm>
              <a:off x="1020" y="1661"/>
              <a:ext cx="91" cy="91"/>
            </a:xfrm>
            <a:prstGeom prst="ellipse">
              <a:avLst/>
            </a:prstGeom>
            <a:solidFill>
              <a:schemeClr val="accent1"/>
            </a:solidFill>
            <a:ln w="9525">
              <a:solidFill>
                <a:schemeClr val="tx1"/>
              </a:solidFill>
              <a:round/>
              <a:headEnd/>
              <a:tailEnd/>
            </a:ln>
          </p:spPr>
          <p:txBody>
            <a:bodyPr wrap="none" anchor="ctr"/>
            <a:lstStyle/>
            <a:p>
              <a:endParaRPr lang="zh-CN" altLang="en-US">
                <a:ea typeface="宋体" charset="-122"/>
              </a:endParaRPr>
            </a:p>
          </p:txBody>
        </p:sp>
        <p:sp>
          <p:nvSpPr>
            <p:cNvPr id="53311" name="Oval 20"/>
            <p:cNvSpPr>
              <a:spLocks noChangeArrowheads="1"/>
            </p:cNvSpPr>
            <p:nvPr/>
          </p:nvSpPr>
          <p:spPr bwMode="auto">
            <a:xfrm>
              <a:off x="1338" y="1570"/>
              <a:ext cx="91" cy="91"/>
            </a:xfrm>
            <a:prstGeom prst="ellipse">
              <a:avLst/>
            </a:prstGeom>
            <a:solidFill>
              <a:schemeClr val="accent1"/>
            </a:solidFill>
            <a:ln w="9525">
              <a:solidFill>
                <a:schemeClr val="tx1"/>
              </a:solidFill>
              <a:round/>
              <a:headEnd/>
              <a:tailEnd/>
            </a:ln>
          </p:spPr>
          <p:txBody>
            <a:bodyPr wrap="none" anchor="ctr"/>
            <a:lstStyle/>
            <a:p>
              <a:endParaRPr lang="zh-CN" altLang="en-US">
                <a:ea typeface="宋体" charset="-122"/>
              </a:endParaRPr>
            </a:p>
          </p:txBody>
        </p:sp>
        <p:sp>
          <p:nvSpPr>
            <p:cNvPr id="53312" name="Oval 21"/>
            <p:cNvSpPr>
              <a:spLocks noChangeArrowheads="1"/>
            </p:cNvSpPr>
            <p:nvPr/>
          </p:nvSpPr>
          <p:spPr bwMode="auto">
            <a:xfrm>
              <a:off x="1927" y="1162"/>
              <a:ext cx="91" cy="91"/>
            </a:xfrm>
            <a:prstGeom prst="ellipse">
              <a:avLst/>
            </a:prstGeom>
            <a:solidFill>
              <a:schemeClr val="accent1"/>
            </a:solidFill>
            <a:ln w="9525">
              <a:solidFill>
                <a:schemeClr val="tx1"/>
              </a:solidFill>
              <a:round/>
              <a:headEnd/>
              <a:tailEnd/>
            </a:ln>
          </p:spPr>
          <p:txBody>
            <a:bodyPr wrap="none" anchor="ctr"/>
            <a:lstStyle/>
            <a:p>
              <a:endParaRPr lang="zh-CN" altLang="en-US">
                <a:ea typeface="宋体" charset="-122"/>
              </a:endParaRPr>
            </a:p>
          </p:txBody>
        </p:sp>
        <p:sp>
          <p:nvSpPr>
            <p:cNvPr id="53313" name="Text Box 22"/>
            <p:cNvSpPr txBox="1">
              <a:spLocks noChangeArrowheads="1"/>
            </p:cNvSpPr>
            <p:nvPr/>
          </p:nvSpPr>
          <p:spPr bwMode="auto">
            <a:xfrm>
              <a:off x="1156" y="2069"/>
              <a:ext cx="1543" cy="173"/>
            </a:xfrm>
            <a:prstGeom prst="rect">
              <a:avLst/>
            </a:prstGeom>
            <a:noFill/>
            <a:ln w="9525">
              <a:noFill/>
              <a:miter lim="800000"/>
              <a:headEnd/>
              <a:tailEnd/>
            </a:ln>
          </p:spPr>
          <p:txBody>
            <a:bodyPr lIns="0" tIns="0" rIns="0" bIns="0">
              <a:spAutoFit/>
            </a:bodyPr>
            <a:lstStyle/>
            <a:p>
              <a:pPr>
                <a:spcBef>
                  <a:spcPct val="50000"/>
                </a:spcBef>
              </a:pPr>
              <a:r>
                <a:rPr lang="zh-CN" altLang="en-US">
                  <a:ea typeface="宋体" charset="-122"/>
                </a:rPr>
                <a:t>第一代种群及其适应度</a:t>
              </a:r>
            </a:p>
          </p:txBody>
        </p:sp>
      </p:grpSp>
      <p:grpSp>
        <p:nvGrpSpPr>
          <p:cNvPr id="3" name="Group 23"/>
          <p:cNvGrpSpPr>
            <a:grpSpLocks/>
          </p:cNvGrpSpPr>
          <p:nvPr/>
        </p:nvGrpSpPr>
        <p:grpSpPr bwMode="auto">
          <a:xfrm>
            <a:off x="4643438" y="692150"/>
            <a:ext cx="3959225" cy="2867025"/>
            <a:chOff x="2925" y="436"/>
            <a:chExt cx="2494" cy="1806"/>
          </a:xfrm>
        </p:grpSpPr>
        <p:sp>
          <p:nvSpPr>
            <p:cNvPr id="53287" name="Line 24"/>
            <p:cNvSpPr>
              <a:spLocks noChangeShapeType="1"/>
            </p:cNvSpPr>
            <p:nvPr/>
          </p:nvSpPr>
          <p:spPr bwMode="auto">
            <a:xfrm flipV="1">
              <a:off x="4513" y="1207"/>
              <a:ext cx="0" cy="545"/>
            </a:xfrm>
            <a:prstGeom prst="line">
              <a:avLst/>
            </a:prstGeom>
            <a:noFill/>
            <a:ln w="9525">
              <a:solidFill>
                <a:schemeClr val="tx1"/>
              </a:solidFill>
              <a:prstDash val="dash"/>
              <a:round/>
              <a:headEnd/>
              <a:tailEnd/>
            </a:ln>
          </p:spPr>
          <p:txBody>
            <a:bodyPr/>
            <a:lstStyle/>
            <a:p>
              <a:endParaRPr lang="zh-CN" altLang="en-US"/>
            </a:p>
          </p:txBody>
        </p:sp>
        <p:sp>
          <p:nvSpPr>
            <p:cNvPr id="53288" name="Line 25"/>
            <p:cNvSpPr>
              <a:spLocks noChangeShapeType="1"/>
            </p:cNvSpPr>
            <p:nvPr/>
          </p:nvSpPr>
          <p:spPr bwMode="auto">
            <a:xfrm flipV="1">
              <a:off x="4080" y="1560"/>
              <a:ext cx="0" cy="188"/>
            </a:xfrm>
            <a:prstGeom prst="line">
              <a:avLst/>
            </a:prstGeom>
            <a:noFill/>
            <a:ln w="9525">
              <a:solidFill>
                <a:schemeClr val="tx1"/>
              </a:solidFill>
              <a:prstDash val="dash"/>
              <a:round/>
              <a:headEnd/>
              <a:tailEnd/>
            </a:ln>
          </p:spPr>
          <p:txBody>
            <a:bodyPr/>
            <a:lstStyle/>
            <a:p>
              <a:endParaRPr lang="zh-CN" altLang="en-US"/>
            </a:p>
          </p:txBody>
        </p:sp>
        <p:sp>
          <p:nvSpPr>
            <p:cNvPr id="53289" name="Line 26"/>
            <p:cNvSpPr>
              <a:spLocks noChangeShapeType="1"/>
            </p:cNvSpPr>
            <p:nvPr/>
          </p:nvSpPr>
          <p:spPr bwMode="auto">
            <a:xfrm flipV="1">
              <a:off x="4649" y="935"/>
              <a:ext cx="0" cy="817"/>
            </a:xfrm>
            <a:prstGeom prst="line">
              <a:avLst/>
            </a:prstGeom>
            <a:noFill/>
            <a:ln w="9525">
              <a:solidFill>
                <a:schemeClr val="tx1"/>
              </a:solidFill>
              <a:prstDash val="dash"/>
              <a:round/>
              <a:headEnd/>
              <a:tailEnd/>
            </a:ln>
          </p:spPr>
          <p:txBody>
            <a:bodyPr/>
            <a:lstStyle/>
            <a:p>
              <a:endParaRPr lang="zh-CN" altLang="en-US"/>
            </a:p>
          </p:txBody>
        </p:sp>
        <p:sp>
          <p:nvSpPr>
            <p:cNvPr id="53290" name="Text Box 27"/>
            <p:cNvSpPr txBox="1">
              <a:spLocks noChangeArrowheads="1"/>
            </p:cNvSpPr>
            <p:nvPr/>
          </p:nvSpPr>
          <p:spPr bwMode="auto">
            <a:xfrm>
              <a:off x="4150" y="799"/>
              <a:ext cx="499" cy="288"/>
            </a:xfrm>
            <a:prstGeom prst="rect">
              <a:avLst/>
            </a:prstGeom>
            <a:noFill/>
            <a:ln w="9525">
              <a:noFill/>
              <a:miter lim="800000"/>
              <a:headEnd/>
              <a:tailEnd/>
            </a:ln>
          </p:spPr>
          <p:txBody>
            <a:bodyPr>
              <a:spAutoFit/>
            </a:bodyPr>
            <a:lstStyle/>
            <a:p>
              <a:pPr>
                <a:spcBef>
                  <a:spcPct val="50000"/>
                </a:spcBef>
              </a:pPr>
              <a:r>
                <a:rPr kumimoji="1" lang="en-US" altLang="zh-CN" sz="2400" i="1">
                  <a:latin typeface="Times New Roman" pitchFamily="18" charset="0"/>
                  <a:ea typeface="宋体" charset="-122"/>
                </a:rPr>
                <a:t>y</a:t>
              </a:r>
              <a:r>
                <a:rPr kumimoji="1" lang="en-US" altLang="zh-CN" sz="2400">
                  <a:latin typeface="Times New Roman" pitchFamily="18" charset="0"/>
                  <a:ea typeface="宋体" charset="-122"/>
                </a:rPr>
                <a:t>=</a:t>
              </a:r>
              <a:r>
                <a:rPr kumimoji="1" lang="en-US" altLang="zh-CN" sz="2400" i="1">
                  <a:latin typeface="Times New Roman" pitchFamily="18" charset="0"/>
                  <a:ea typeface="宋体" charset="-122"/>
                </a:rPr>
                <a:t>x</a:t>
              </a:r>
              <a:r>
                <a:rPr kumimoji="1" lang="en-US" altLang="zh-CN" sz="2400" baseline="30000">
                  <a:latin typeface="Times New Roman" pitchFamily="18" charset="0"/>
                  <a:ea typeface="宋体" charset="-122"/>
                </a:rPr>
                <a:t>2</a:t>
              </a:r>
            </a:p>
          </p:txBody>
        </p:sp>
        <p:sp>
          <p:nvSpPr>
            <p:cNvPr id="53291" name="Line 28"/>
            <p:cNvSpPr>
              <a:spLocks noChangeShapeType="1"/>
            </p:cNvSpPr>
            <p:nvPr/>
          </p:nvSpPr>
          <p:spPr bwMode="auto">
            <a:xfrm flipV="1">
              <a:off x="2925" y="1763"/>
              <a:ext cx="2267" cy="0"/>
            </a:xfrm>
            <a:prstGeom prst="line">
              <a:avLst/>
            </a:prstGeom>
            <a:noFill/>
            <a:ln w="9525">
              <a:solidFill>
                <a:schemeClr val="tx1"/>
              </a:solidFill>
              <a:round/>
              <a:headEnd/>
              <a:tailEnd type="triangle" w="sm" len="lg"/>
            </a:ln>
          </p:spPr>
          <p:txBody>
            <a:bodyPr/>
            <a:lstStyle/>
            <a:p>
              <a:endParaRPr lang="zh-CN" altLang="en-US"/>
            </a:p>
          </p:txBody>
        </p:sp>
        <p:sp>
          <p:nvSpPr>
            <p:cNvPr id="53292" name="Text Box 29"/>
            <p:cNvSpPr txBox="1">
              <a:spLocks noChangeArrowheads="1"/>
            </p:cNvSpPr>
            <p:nvPr/>
          </p:nvSpPr>
          <p:spPr bwMode="auto">
            <a:xfrm>
              <a:off x="3334" y="1773"/>
              <a:ext cx="2085" cy="250"/>
            </a:xfrm>
            <a:prstGeom prst="rect">
              <a:avLst/>
            </a:prstGeom>
            <a:noFill/>
            <a:ln w="9525">
              <a:noFill/>
              <a:miter lim="800000"/>
              <a:headEnd/>
              <a:tailEnd/>
            </a:ln>
          </p:spPr>
          <p:txBody>
            <a:bodyPr>
              <a:spAutoFit/>
            </a:bodyPr>
            <a:lstStyle/>
            <a:p>
              <a:pPr>
                <a:spcBef>
                  <a:spcPct val="50000"/>
                </a:spcBef>
              </a:pPr>
              <a:r>
                <a:rPr lang="zh-CN" altLang="en-US">
                  <a:ea typeface="宋体" charset="-122"/>
                </a:rPr>
                <a:t>       </a:t>
              </a:r>
              <a:r>
                <a:rPr lang="en-US" altLang="zh-CN" sz="2000">
                  <a:latin typeface="Times New Roman" pitchFamily="18" charset="0"/>
                  <a:ea typeface="宋体" charset="-122"/>
                </a:rPr>
                <a:t>12    16      25 27</a:t>
              </a:r>
              <a:r>
                <a:rPr lang="en-US" altLang="zh-CN">
                  <a:ea typeface="宋体" charset="-122"/>
                </a:rPr>
                <a:t>      </a:t>
              </a:r>
              <a:r>
                <a:rPr lang="en-US" altLang="zh-CN" i="1">
                  <a:latin typeface="Times New Roman" pitchFamily="18" charset="0"/>
                  <a:ea typeface="宋体" charset="-122"/>
                </a:rPr>
                <a:t> </a:t>
              </a:r>
              <a:r>
                <a:rPr lang="en-US" altLang="zh-CN" sz="2000" i="1">
                  <a:latin typeface="Times New Roman" pitchFamily="18" charset="0"/>
                  <a:ea typeface="宋体" charset="-122"/>
                </a:rPr>
                <a:t>X</a:t>
              </a:r>
            </a:p>
          </p:txBody>
        </p:sp>
        <p:sp>
          <p:nvSpPr>
            <p:cNvPr id="53293" name="Text Box 30"/>
            <p:cNvSpPr txBox="1">
              <a:spLocks noChangeArrowheads="1"/>
            </p:cNvSpPr>
            <p:nvPr/>
          </p:nvSpPr>
          <p:spPr bwMode="auto">
            <a:xfrm>
              <a:off x="2970" y="440"/>
              <a:ext cx="181" cy="250"/>
            </a:xfrm>
            <a:prstGeom prst="rect">
              <a:avLst/>
            </a:prstGeom>
            <a:noFill/>
            <a:ln w="9525">
              <a:noFill/>
              <a:miter lim="800000"/>
              <a:headEnd/>
              <a:tailEnd/>
            </a:ln>
          </p:spPr>
          <p:txBody>
            <a:bodyPr>
              <a:spAutoFit/>
            </a:bodyPr>
            <a:lstStyle/>
            <a:p>
              <a:pPr>
                <a:spcBef>
                  <a:spcPct val="50000"/>
                </a:spcBef>
              </a:pPr>
              <a:r>
                <a:rPr lang="en-US" altLang="zh-CN" sz="2000" i="1">
                  <a:latin typeface="Times New Roman" pitchFamily="18" charset="0"/>
                  <a:ea typeface="宋体" charset="-122"/>
                </a:rPr>
                <a:t>Y</a:t>
              </a:r>
            </a:p>
          </p:txBody>
        </p:sp>
        <p:sp>
          <p:nvSpPr>
            <p:cNvPr id="53294" name="Line 31"/>
            <p:cNvSpPr>
              <a:spLocks noChangeShapeType="1"/>
            </p:cNvSpPr>
            <p:nvPr/>
          </p:nvSpPr>
          <p:spPr bwMode="auto">
            <a:xfrm flipV="1">
              <a:off x="3197" y="455"/>
              <a:ext cx="0" cy="1587"/>
            </a:xfrm>
            <a:prstGeom prst="line">
              <a:avLst/>
            </a:prstGeom>
            <a:noFill/>
            <a:ln w="9525">
              <a:solidFill>
                <a:schemeClr val="tx1"/>
              </a:solidFill>
              <a:round/>
              <a:headEnd/>
              <a:tailEnd type="triangle" w="sm" len="lg"/>
            </a:ln>
          </p:spPr>
          <p:txBody>
            <a:bodyPr/>
            <a:lstStyle/>
            <a:p>
              <a:endParaRPr lang="zh-CN" altLang="en-US"/>
            </a:p>
          </p:txBody>
        </p:sp>
        <p:sp>
          <p:nvSpPr>
            <p:cNvPr id="53295" name="Arc 32"/>
            <p:cNvSpPr>
              <a:spLocks/>
            </p:cNvSpPr>
            <p:nvPr/>
          </p:nvSpPr>
          <p:spPr bwMode="auto">
            <a:xfrm flipV="1">
              <a:off x="3197" y="436"/>
              <a:ext cx="1542" cy="1315"/>
            </a:xfrm>
            <a:custGeom>
              <a:avLst/>
              <a:gdLst>
                <a:gd name="T0" fmla="*/ 0 w 20978"/>
                <a:gd name="T1" fmla="*/ 0 h 21600"/>
                <a:gd name="T2" fmla="*/ 0 w 20978"/>
                <a:gd name="T3" fmla="*/ 0 h 21600"/>
                <a:gd name="T4" fmla="*/ 0 w 20978"/>
                <a:gd name="T5" fmla="*/ 0 h 21600"/>
                <a:gd name="T6" fmla="*/ 0 60000 65536"/>
                <a:gd name="T7" fmla="*/ 0 60000 65536"/>
                <a:gd name="T8" fmla="*/ 0 60000 65536"/>
                <a:gd name="T9" fmla="*/ 0 w 20978"/>
                <a:gd name="T10" fmla="*/ 0 h 21600"/>
                <a:gd name="T11" fmla="*/ 20978 w 20978"/>
                <a:gd name="T12" fmla="*/ 21600 h 21600"/>
              </a:gdLst>
              <a:ahLst/>
              <a:cxnLst>
                <a:cxn ang="T6">
                  <a:pos x="T0" y="T1"/>
                </a:cxn>
                <a:cxn ang="T7">
                  <a:pos x="T2" y="T3"/>
                </a:cxn>
                <a:cxn ang="T8">
                  <a:pos x="T4" y="T5"/>
                </a:cxn>
              </a:cxnLst>
              <a:rect l="T9" t="T10" r="T11" b="T12"/>
              <a:pathLst>
                <a:path w="20978" h="21600" fill="none" extrusionOk="0">
                  <a:moveTo>
                    <a:pt x="-1" y="0"/>
                  </a:moveTo>
                  <a:cubicBezTo>
                    <a:pt x="9947" y="0"/>
                    <a:pt x="18608" y="6793"/>
                    <a:pt x="20978" y="16453"/>
                  </a:cubicBezTo>
                </a:path>
                <a:path w="20978" h="21600" stroke="0" extrusionOk="0">
                  <a:moveTo>
                    <a:pt x="-1" y="0"/>
                  </a:moveTo>
                  <a:cubicBezTo>
                    <a:pt x="9947" y="0"/>
                    <a:pt x="18608" y="6793"/>
                    <a:pt x="20978" y="16453"/>
                  </a:cubicBezTo>
                  <a:lnTo>
                    <a:pt x="0" y="21600"/>
                  </a:lnTo>
                  <a:close/>
                </a:path>
              </a:pathLst>
            </a:custGeom>
            <a:noFill/>
            <a:ln w="12700">
              <a:solidFill>
                <a:schemeClr val="tx1"/>
              </a:solidFill>
              <a:prstDash val="dash"/>
              <a:round/>
              <a:headEnd/>
              <a:tailEnd/>
            </a:ln>
          </p:spPr>
          <p:txBody>
            <a:bodyPr wrap="none" anchor="ctr"/>
            <a:lstStyle/>
            <a:p>
              <a:endParaRPr lang="zh-CN" altLang="en-US"/>
            </a:p>
          </p:txBody>
        </p:sp>
        <p:sp>
          <p:nvSpPr>
            <p:cNvPr id="53296" name="Oval 33"/>
            <p:cNvSpPr>
              <a:spLocks noChangeArrowheads="1"/>
            </p:cNvSpPr>
            <p:nvPr/>
          </p:nvSpPr>
          <p:spPr bwMode="auto">
            <a:xfrm>
              <a:off x="4457" y="1140"/>
              <a:ext cx="91" cy="91"/>
            </a:xfrm>
            <a:prstGeom prst="ellipse">
              <a:avLst/>
            </a:prstGeom>
            <a:solidFill>
              <a:schemeClr val="accent1"/>
            </a:solidFill>
            <a:ln w="9525">
              <a:solidFill>
                <a:schemeClr val="tx1"/>
              </a:solidFill>
              <a:round/>
              <a:headEnd/>
              <a:tailEnd/>
            </a:ln>
          </p:spPr>
          <p:txBody>
            <a:bodyPr wrap="none" anchor="ctr"/>
            <a:lstStyle/>
            <a:p>
              <a:endParaRPr lang="zh-CN" altLang="en-US">
                <a:ea typeface="宋体" charset="-122"/>
              </a:endParaRPr>
            </a:p>
          </p:txBody>
        </p:sp>
        <p:sp>
          <p:nvSpPr>
            <p:cNvPr id="53297" name="Oval 34"/>
            <p:cNvSpPr>
              <a:spLocks noChangeArrowheads="1"/>
            </p:cNvSpPr>
            <p:nvPr/>
          </p:nvSpPr>
          <p:spPr bwMode="auto">
            <a:xfrm>
              <a:off x="4024" y="1503"/>
              <a:ext cx="91" cy="91"/>
            </a:xfrm>
            <a:prstGeom prst="ellipse">
              <a:avLst/>
            </a:prstGeom>
            <a:solidFill>
              <a:schemeClr val="accent1"/>
            </a:solidFill>
            <a:ln w="9525">
              <a:solidFill>
                <a:schemeClr val="tx1"/>
              </a:solidFill>
              <a:round/>
              <a:headEnd/>
              <a:tailEnd/>
            </a:ln>
          </p:spPr>
          <p:txBody>
            <a:bodyPr wrap="none" anchor="ctr"/>
            <a:lstStyle/>
            <a:p>
              <a:endParaRPr lang="zh-CN" altLang="en-US">
                <a:ea typeface="宋体" charset="-122"/>
              </a:endParaRPr>
            </a:p>
          </p:txBody>
        </p:sp>
        <p:sp>
          <p:nvSpPr>
            <p:cNvPr id="53298" name="Oval 35"/>
            <p:cNvSpPr>
              <a:spLocks noChangeArrowheads="1"/>
            </p:cNvSpPr>
            <p:nvPr/>
          </p:nvSpPr>
          <p:spPr bwMode="auto">
            <a:xfrm>
              <a:off x="4604" y="935"/>
              <a:ext cx="91" cy="91"/>
            </a:xfrm>
            <a:prstGeom prst="ellipse">
              <a:avLst/>
            </a:prstGeom>
            <a:solidFill>
              <a:schemeClr val="accent1"/>
            </a:solidFill>
            <a:ln w="9525">
              <a:solidFill>
                <a:schemeClr val="tx1"/>
              </a:solidFill>
              <a:round/>
              <a:headEnd/>
              <a:tailEnd/>
            </a:ln>
          </p:spPr>
          <p:txBody>
            <a:bodyPr wrap="none" anchor="ctr"/>
            <a:lstStyle/>
            <a:p>
              <a:endParaRPr lang="zh-CN" altLang="en-US">
                <a:ea typeface="宋体" charset="-122"/>
              </a:endParaRPr>
            </a:p>
          </p:txBody>
        </p:sp>
        <p:sp>
          <p:nvSpPr>
            <p:cNvPr id="53299" name="Oval 36"/>
            <p:cNvSpPr>
              <a:spLocks noChangeArrowheads="1"/>
            </p:cNvSpPr>
            <p:nvPr/>
          </p:nvSpPr>
          <p:spPr bwMode="auto">
            <a:xfrm>
              <a:off x="3753" y="1603"/>
              <a:ext cx="91" cy="91"/>
            </a:xfrm>
            <a:prstGeom prst="ellipse">
              <a:avLst/>
            </a:prstGeom>
            <a:solidFill>
              <a:schemeClr val="accent1"/>
            </a:solidFill>
            <a:ln w="9525">
              <a:solidFill>
                <a:schemeClr val="tx1"/>
              </a:solidFill>
              <a:round/>
              <a:headEnd/>
              <a:tailEnd/>
            </a:ln>
          </p:spPr>
          <p:txBody>
            <a:bodyPr wrap="none" anchor="ctr"/>
            <a:lstStyle/>
            <a:p>
              <a:endParaRPr lang="zh-CN" altLang="en-US">
                <a:ea typeface="宋体" charset="-122"/>
              </a:endParaRPr>
            </a:p>
          </p:txBody>
        </p:sp>
        <p:sp>
          <p:nvSpPr>
            <p:cNvPr id="53300" name="Text Box 37"/>
            <p:cNvSpPr txBox="1">
              <a:spLocks noChangeArrowheads="1"/>
            </p:cNvSpPr>
            <p:nvPr/>
          </p:nvSpPr>
          <p:spPr bwMode="auto">
            <a:xfrm>
              <a:off x="3560" y="2069"/>
              <a:ext cx="1543" cy="173"/>
            </a:xfrm>
            <a:prstGeom prst="rect">
              <a:avLst/>
            </a:prstGeom>
            <a:noFill/>
            <a:ln w="9525">
              <a:noFill/>
              <a:miter lim="800000"/>
              <a:headEnd/>
              <a:tailEnd/>
            </a:ln>
          </p:spPr>
          <p:txBody>
            <a:bodyPr lIns="0" tIns="0" rIns="0" bIns="0">
              <a:spAutoFit/>
            </a:bodyPr>
            <a:lstStyle/>
            <a:p>
              <a:pPr>
                <a:spcBef>
                  <a:spcPct val="50000"/>
                </a:spcBef>
              </a:pPr>
              <a:r>
                <a:rPr lang="zh-CN" altLang="en-US">
                  <a:ea typeface="宋体" charset="-122"/>
                </a:rPr>
                <a:t>第二代种群及其适应度</a:t>
              </a:r>
            </a:p>
          </p:txBody>
        </p:sp>
      </p:grpSp>
      <p:grpSp>
        <p:nvGrpSpPr>
          <p:cNvPr id="4" name="Group 38"/>
          <p:cNvGrpSpPr>
            <a:grpSpLocks/>
          </p:cNvGrpSpPr>
          <p:nvPr/>
        </p:nvGrpSpPr>
        <p:grpSpPr bwMode="auto">
          <a:xfrm>
            <a:off x="666750" y="3538538"/>
            <a:ext cx="3689350" cy="2828925"/>
            <a:chOff x="420" y="2229"/>
            <a:chExt cx="2324" cy="1782"/>
          </a:xfrm>
        </p:grpSpPr>
        <p:grpSp>
          <p:nvGrpSpPr>
            <p:cNvPr id="5" name="Group 39"/>
            <p:cNvGrpSpPr>
              <a:grpSpLocks/>
            </p:cNvGrpSpPr>
            <p:nvPr/>
          </p:nvGrpSpPr>
          <p:grpSpPr bwMode="auto">
            <a:xfrm>
              <a:off x="420" y="2229"/>
              <a:ext cx="2324" cy="1606"/>
              <a:chOff x="420" y="2229"/>
              <a:chExt cx="2324" cy="1606"/>
            </a:xfrm>
          </p:grpSpPr>
          <p:sp>
            <p:nvSpPr>
              <p:cNvPr id="53277" name="Text Box 40"/>
              <p:cNvSpPr txBox="1">
                <a:spLocks noChangeArrowheads="1"/>
              </p:cNvSpPr>
              <p:nvPr/>
            </p:nvSpPr>
            <p:spPr bwMode="auto">
              <a:xfrm>
                <a:off x="1645" y="2592"/>
                <a:ext cx="499" cy="288"/>
              </a:xfrm>
              <a:prstGeom prst="rect">
                <a:avLst/>
              </a:prstGeom>
              <a:noFill/>
              <a:ln w="9525">
                <a:noFill/>
                <a:miter lim="800000"/>
                <a:headEnd/>
                <a:tailEnd/>
              </a:ln>
            </p:spPr>
            <p:txBody>
              <a:bodyPr>
                <a:spAutoFit/>
              </a:bodyPr>
              <a:lstStyle/>
              <a:p>
                <a:pPr>
                  <a:spcBef>
                    <a:spcPct val="50000"/>
                  </a:spcBef>
                </a:pPr>
                <a:r>
                  <a:rPr kumimoji="1" lang="en-US" altLang="zh-CN" sz="2400" i="1">
                    <a:latin typeface="Times New Roman" pitchFamily="18" charset="0"/>
                    <a:ea typeface="宋体" charset="-122"/>
                  </a:rPr>
                  <a:t>y</a:t>
                </a:r>
                <a:r>
                  <a:rPr kumimoji="1" lang="en-US" altLang="zh-CN" sz="2400">
                    <a:latin typeface="Times New Roman" pitchFamily="18" charset="0"/>
                    <a:ea typeface="宋体" charset="-122"/>
                  </a:rPr>
                  <a:t>=</a:t>
                </a:r>
                <a:r>
                  <a:rPr kumimoji="1" lang="en-US" altLang="zh-CN" sz="2400" i="1">
                    <a:latin typeface="Times New Roman" pitchFamily="18" charset="0"/>
                    <a:ea typeface="宋体" charset="-122"/>
                  </a:rPr>
                  <a:t>x</a:t>
                </a:r>
                <a:r>
                  <a:rPr kumimoji="1" lang="en-US" altLang="zh-CN" sz="2400" baseline="30000">
                    <a:latin typeface="Times New Roman" pitchFamily="18" charset="0"/>
                    <a:ea typeface="宋体" charset="-122"/>
                  </a:rPr>
                  <a:t>2</a:t>
                </a:r>
              </a:p>
            </p:txBody>
          </p:sp>
          <p:sp>
            <p:nvSpPr>
              <p:cNvPr id="53278" name="Line 41"/>
              <p:cNvSpPr>
                <a:spLocks noChangeShapeType="1"/>
              </p:cNvSpPr>
              <p:nvPr/>
            </p:nvSpPr>
            <p:spPr bwMode="auto">
              <a:xfrm flipV="1">
                <a:off x="420" y="3556"/>
                <a:ext cx="2267" cy="0"/>
              </a:xfrm>
              <a:prstGeom prst="line">
                <a:avLst/>
              </a:prstGeom>
              <a:noFill/>
              <a:ln w="9525">
                <a:solidFill>
                  <a:schemeClr val="tx1"/>
                </a:solidFill>
                <a:round/>
                <a:headEnd/>
                <a:tailEnd type="triangle" w="sm" len="lg"/>
              </a:ln>
            </p:spPr>
            <p:txBody>
              <a:bodyPr/>
              <a:lstStyle/>
              <a:p>
                <a:endParaRPr lang="zh-CN" altLang="en-US"/>
              </a:p>
            </p:txBody>
          </p:sp>
          <p:sp>
            <p:nvSpPr>
              <p:cNvPr id="53279" name="Text Box 42"/>
              <p:cNvSpPr txBox="1">
                <a:spLocks noChangeArrowheads="1"/>
              </p:cNvSpPr>
              <p:nvPr/>
            </p:nvSpPr>
            <p:spPr bwMode="auto">
              <a:xfrm>
                <a:off x="793" y="3566"/>
                <a:ext cx="1951" cy="250"/>
              </a:xfrm>
              <a:prstGeom prst="rect">
                <a:avLst/>
              </a:prstGeom>
              <a:noFill/>
              <a:ln w="9525">
                <a:noFill/>
                <a:miter lim="800000"/>
                <a:headEnd/>
                <a:tailEnd/>
              </a:ln>
            </p:spPr>
            <p:txBody>
              <a:bodyPr>
                <a:spAutoFit/>
              </a:bodyPr>
              <a:lstStyle/>
              <a:p>
                <a:pPr>
                  <a:spcBef>
                    <a:spcPct val="50000"/>
                  </a:spcBef>
                </a:pPr>
                <a:r>
                  <a:rPr lang="zh-CN" altLang="en-US">
                    <a:ea typeface="宋体" charset="-122"/>
                  </a:rPr>
                  <a:t>       </a:t>
                </a:r>
                <a:r>
                  <a:rPr lang="en-US" altLang="zh-CN" sz="2000">
                    <a:latin typeface="Times New Roman" pitchFamily="18" charset="0"/>
                    <a:ea typeface="宋体" charset="-122"/>
                  </a:rPr>
                  <a:t>9           19  24 28</a:t>
                </a:r>
                <a:r>
                  <a:rPr lang="en-US" altLang="zh-CN">
                    <a:ea typeface="宋体" charset="-122"/>
                  </a:rPr>
                  <a:t>      </a:t>
                </a:r>
                <a:r>
                  <a:rPr lang="en-US" altLang="zh-CN" i="1">
                    <a:latin typeface="Times New Roman" pitchFamily="18" charset="0"/>
                    <a:ea typeface="宋体" charset="-122"/>
                  </a:rPr>
                  <a:t> </a:t>
                </a:r>
                <a:r>
                  <a:rPr lang="en-US" altLang="zh-CN" sz="2000" i="1">
                    <a:latin typeface="Times New Roman" pitchFamily="18" charset="0"/>
                    <a:ea typeface="宋体" charset="-122"/>
                  </a:rPr>
                  <a:t>X</a:t>
                </a:r>
              </a:p>
            </p:txBody>
          </p:sp>
          <p:sp>
            <p:nvSpPr>
              <p:cNvPr id="53280" name="Text Box 43"/>
              <p:cNvSpPr txBox="1">
                <a:spLocks noChangeArrowheads="1"/>
              </p:cNvSpPr>
              <p:nvPr/>
            </p:nvSpPr>
            <p:spPr bwMode="auto">
              <a:xfrm>
                <a:off x="465" y="2233"/>
                <a:ext cx="181" cy="250"/>
              </a:xfrm>
              <a:prstGeom prst="rect">
                <a:avLst/>
              </a:prstGeom>
              <a:noFill/>
              <a:ln w="9525">
                <a:noFill/>
                <a:miter lim="800000"/>
                <a:headEnd/>
                <a:tailEnd/>
              </a:ln>
            </p:spPr>
            <p:txBody>
              <a:bodyPr>
                <a:spAutoFit/>
              </a:bodyPr>
              <a:lstStyle/>
              <a:p>
                <a:pPr>
                  <a:spcBef>
                    <a:spcPct val="50000"/>
                  </a:spcBef>
                </a:pPr>
                <a:r>
                  <a:rPr lang="en-US" altLang="zh-CN" sz="2000" i="1">
                    <a:latin typeface="Times New Roman" pitchFamily="18" charset="0"/>
                    <a:ea typeface="宋体" charset="-122"/>
                  </a:rPr>
                  <a:t>Y</a:t>
                </a:r>
              </a:p>
            </p:txBody>
          </p:sp>
          <p:sp>
            <p:nvSpPr>
              <p:cNvPr id="53281" name="Line 44"/>
              <p:cNvSpPr>
                <a:spLocks noChangeShapeType="1"/>
              </p:cNvSpPr>
              <p:nvPr/>
            </p:nvSpPr>
            <p:spPr bwMode="auto">
              <a:xfrm flipV="1">
                <a:off x="692" y="2248"/>
                <a:ext cx="0" cy="1587"/>
              </a:xfrm>
              <a:prstGeom prst="line">
                <a:avLst/>
              </a:prstGeom>
              <a:noFill/>
              <a:ln w="9525">
                <a:solidFill>
                  <a:schemeClr val="tx1"/>
                </a:solidFill>
                <a:round/>
                <a:headEnd/>
                <a:tailEnd type="triangle" w="sm" len="lg"/>
              </a:ln>
            </p:spPr>
            <p:txBody>
              <a:bodyPr/>
              <a:lstStyle/>
              <a:p>
                <a:endParaRPr lang="zh-CN" altLang="en-US"/>
              </a:p>
            </p:txBody>
          </p:sp>
          <p:sp>
            <p:nvSpPr>
              <p:cNvPr id="53282" name="Arc 45"/>
              <p:cNvSpPr>
                <a:spLocks/>
              </p:cNvSpPr>
              <p:nvPr/>
            </p:nvSpPr>
            <p:spPr bwMode="auto">
              <a:xfrm flipV="1">
                <a:off x="692" y="2229"/>
                <a:ext cx="1542" cy="1315"/>
              </a:xfrm>
              <a:custGeom>
                <a:avLst/>
                <a:gdLst>
                  <a:gd name="T0" fmla="*/ 0 w 20978"/>
                  <a:gd name="T1" fmla="*/ 0 h 21600"/>
                  <a:gd name="T2" fmla="*/ 0 w 20978"/>
                  <a:gd name="T3" fmla="*/ 0 h 21600"/>
                  <a:gd name="T4" fmla="*/ 0 w 20978"/>
                  <a:gd name="T5" fmla="*/ 0 h 21600"/>
                  <a:gd name="T6" fmla="*/ 0 60000 65536"/>
                  <a:gd name="T7" fmla="*/ 0 60000 65536"/>
                  <a:gd name="T8" fmla="*/ 0 60000 65536"/>
                  <a:gd name="T9" fmla="*/ 0 w 20978"/>
                  <a:gd name="T10" fmla="*/ 0 h 21600"/>
                  <a:gd name="T11" fmla="*/ 20978 w 20978"/>
                  <a:gd name="T12" fmla="*/ 21600 h 21600"/>
                </a:gdLst>
                <a:ahLst/>
                <a:cxnLst>
                  <a:cxn ang="T6">
                    <a:pos x="T0" y="T1"/>
                  </a:cxn>
                  <a:cxn ang="T7">
                    <a:pos x="T2" y="T3"/>
                  </a:cxn>
                  <a:cxn ang="T8">
                    <a:pos x="T4" y="T5"/>
                  </a:cxn>
                </a:cxnLst>
                <a:rect l="T9" t="T10" r="T11" b="T12"/>
                <a:pathLst>
                  <a:path w="20978" h="21600" fill="none" extrusionOk="0">
                    <a:moveTo>
                      <a:pt x="-1" y="0"/>
                    </a:moveTo>
                    <a:cubicBezTo>
                      <a:pt x="9947" y="0"/>
                      <a:pt x="18608" y="6793"/>
                      <a:pt x="20978" y="16453"/>
                    </a:cubicBezTo>
                  </a:path>
                  <a:path w="20978" h="21600" stroke="0" extrusionOk="0">
                    <a:moveTo>
                      <a:pt x="-1" y="0"/>
                    </a:moveTo>
                    <a:cubicBezTo>
                      <a:pt x="9947" y="0"/>
                      <a:pt x="18608" y="6793"/>
                      <a:pt x="20978" y="16453"/>
                    </a:cubicBezTo>
                    <a:lnTo>
                      <a:pt x="0" y="21600"/>
                    </a:lnTo>
                    <a:close/>
                  </a:path>
                </a:pathLst>
              </a:custGeom>
              <a:noFill/>
              <a:ln w="12700">
                <a:solidFill>
                  <a:schemeClr val="tx1"/>
                </a:solidFill>
                <a:prstDash val="dash"/>
                <a:round/>
                <a:headEnd/>
                <a:tailEnd/>
              </a:ln>
            </p:spPr>
            <p:txBody>
              <a:bodyPr wrap="none" anchor="ctr"/>
              <a:lstStyle/>
              <a:p>
                <a:endParaRPr lang="zh-CN" altLang="en-US"/>
              </a:p>
            </p:txBody>
          </p:sp>
          <p:sp>
            <p:nvSpPr>
              <p:cNvPr id="53283" name="Oval 46"/>
              <p:cNvSpPr>
                <a:spLocks noChangeArrowheads="1"/>
              </p:cNvSpPr>
              <p:nvPr/>
            </p:nvSpPr>
            <p:spPr bwMode="auto">
              <a:xfrm>
                <a:off x="2106" y="2711"/>
                <a:ext cx="91" cy="91"/>
              </a:xfrm>
              <a:prstGeom prst="ellipse">
                <a:avLst/>
              </a:prstGeom>
              <a:solidFill>
                <a:schemeClr val="accent1"/>
              </a:solidFill>
              <a:ln w="9525">
                <a:solidFill>
                  <a:schemeClr val="tx1"/>
                </a:solidFill>
                <a:round/>
                <a:headEnd/>
                <a:tailEnd/>
              </a:ln>
            </p:spPr>
            <p:txBody>
              <a:bodyPr wrap="none" anchor="ctr"/>
              <a:lstStyle/>
              <a:p>
                <a:endParaRPr lang="zh-CN" altLang="en-US">
                  <a:ea typeface="宋体" charset="-122"/>
                </a:endParaRPr>
              </a:p>
            </p:txBody>
          </p:sp>
          <p:sp>
            <p:nvSpPr>
              <p:cNvPr id="53284" name="Oval 47"/>
              <p:cNvSpPr>
                <a:spLocks noChangeArrowheads="1"/>
              </p:cNvSpPr>
              <p:nvPr/>
            </p:nvSpPr>
            <p:spPr bwMode="auto">
              <a:xfrm>
                <a:off x="1905" y="2998"/>
                <a:ext cx="91" cy="91"/>
              </a:xfrm>
              <a:prstGeom prst="ellipse">
                <a:avLst/>
              </a:prstGeom>
              <a:solidFill>
                <a:schemeClr val="accent1"/>
              </a:solidFill>
              <a:ln w="9525">
                <a:solidFill>
                  <a:schemeClr val="tx1"/>
                </a:solidFill>
                <a:round/>
                <a:headEnd/>
                <a:tailEnd/>
              </a:ln>
            </p:spPr>
            <p:txBody>
              <a:bodyPr wrap="none" anchor="ctr"/>
              <a:lstStyle/>
              <a:p>
                <a:endParaRPr lang="zh-CN" altLang="en-US">
                  <a:ea typeface="宋体" charset="-122"/>
                </a:endParaRPr>
              </a:p>
            </p:txBody>
          </p:sp>
          <p:sp>
            <p:nvSpPr>
              <p:cNvPr id="53285" name="Oval 48"/>
              <p:cNvSpPr>
                <a:spLocks noChangeArrowheads="1"/>
              </p:cNvSpPr>
              <p:nvPr/>
            </p:nvSpPr>
            <p:spPr bwMode="auto">
              <a:xfrm>
                <a:off x="1693" y="3156"/>
                <a:ext cx="91" cy="91"/>
              </a:xfrm>
              <a:prstGeom prst="ellipse">
                <a:avLst/>
              </a:prstGeom>
              <a:solidFill>
                <a:schemeClr val="accent1"/>
              </a:solidFill>
              <a:ln w="9525">
                <a:solidFill>
                  <a:schemeClr val="tx1"/>
                </a:solidFill>
                <a:round/>
                <a:headEnd/>
                <a:tailEnd/>
              </a:ln>
            </p:spPr>
            <p:txBody>
              <a:bodyPr wrap="none" anchor="ctr"/>
              <a:lstStyle/>
              <a:p>
                <a:endParaRPr lang="zh-CN" altLang="en-US">
                  <a:ea typeface="宋体" charset="-122"/>
                </a:endParaRPr>
              </a:p>
            </p:txBody>
          </p:sp>
          <p:sp>
            <p:nvSpPr>
              <p:cNvPr id="53286" name="Oval 49"/>
              <p:cNvSpPr>
                <a:spLocks noChangeArrowheads="1"/>
              </p:cNvSpPr>
              <p:nvPr/>
            </p:nvSpPr>
            <p:spPr bwMode="auto">
              <a:xfrm>
                <a:off x="1160" y="3417"/>
                <a:ext cx="91" cy="91"/>
              </a:xfrm>
              <a:prstGeom prst="ellipse">
                <a:avLst/>
              </a:prstGeom>
              <a:solidFill>
                <a:schemeClr val="accent1"/>
              </a:solidFill>
              <a:ln w="9525">
                <a:solidFill>
                  <a:schemeClr val="tx1"/>
                </a:solidFill>
                <a:round/>
                <a:headEnd/>
                <a:tailEnd/>
              </a:ln>
            </p:spPr>
            <p:txBody>
              <a:bodyPr wrap="none" anchor="ctr"/>
              <a:lstStyle/>
              <a:p>
                <a:endParaRPr lang="zh-CN" altLang="en-US">
                  <a:ea typeface="宋体" charset="-122"/>
                </a:endParaRPr>
              </a:p>
            </p:txBody>
          </p:sp>
        </p:grpSp>
        <p:sp>
          <p:nvSpPr>
            <p:cNvPr id="53276" name="Text Box 50"/>
            <p:cNvSpPr txBox="1">
              <a:spLocks noChangeArrowheads="1"/>
            </p:cNvSpPr>
            <p:nvPr/>
          </p:nvSpPr>
          <p:spPr bwMode="auto">
            <a:xfrm>
              <a:off x="1111" y="3838"/>
              <a:ext cx="1543" cy="173"/>
            </a:xfrm>
            <a:prstGeom prst="rect">
              <a:avLst/>
            </a:prstGeom>
            <a:noFill/>
            <a:ln w="9525">
              <a:noFill/>
              <a:miter lim="800000"/>
              <a:headEnd/>
              <a:tailEnd/>
            </a:ln>
          </p:spPr>
          <p:txBody>
            <a:bodyPr lIns="0" tIns="0" rIns="0" bIns="0">
              <a:spAutoFit/>
            </a:bodyPr>
            <a:lstStyle/>
            <a:p>
              <a:pPr>
                <a:spcBef>
                  <a:spcPct val="50000"/>
                </a:spcBef>
              </a:pPr>
              <a:r>
                <a:rPr lang="zh-CN" altLang="en-US">
                  <a:ea typeface="宋体" charset="-122"/>
                </a:rPr>
                <a:t>第三代种群及其适应度</a:t>
              </a:r>
            </a:p>
          </p:txBody>
        </p:sp>
      </p:grpSp>
      <p:grpSp>
        <p:nvGrpSpPr>
          <p:cNvPr id="6" name="Group 51"/>
          <p:cNvGrpSpPr>
            <a:grpSpLocks/>
          </p:cNvGrpSpPr>
          <p:nvPr/>
        </p:nvGrpSpPr>
        <p:grpSpPr bwMode="auto">
          <a:xfrm>
            <a:off x="4716463" y="3500438"/>
            <a:ext cx="3781425" cy="2889250"/>
            <a:chOff x="2971" y="2205"/>
            <a:chExt cx="2382" cy="1820"/>
          </a:xfrm>
        </p:grpSpPr>
        <p:sp>
          <p:nvSpPr>
            <p:cNvPr id="53261" name="Line 52"/>
            <p:cNvSpPr>
              <a:spLocks noChangeShapeType="1"/>
            </p:cNvSpPr>
            <p:nvPr/>
          </p:nvSpPr>
          <p:spPr bwMode="auto">
            <a:xfrm flipV="1">
              <a:off x="4150" y="3294"/>
              <a:ext cx="0" cy="227"/>
            </a:xfrm>
            <a:prstGeom prst="line">
              <a:avLst/>
            </a:prstGeom>
            <a:noFill/>
            <a:ln w="9525">
              <a:solidFill>
                <a:schemeClr val="tx1"/>
              </a:solidFill>
              <a:prstDash val="dash"/>
              <a:round/>
              <a:headEnd/>
              <a:tailEnd/>
            </a:ln>
          </p:spPr>
          <p:txBody>
            <a:bodyPr/>
            <a:lstStyle/>
            <a:p>
              <a:endParaRPr lang="zh-CN" altLang="en-US"/>
            </a:p>
          </p:txBody>
        </p:sp>
        <p:sp>
          <p:nvSpPr>
            <p:cNvPr id="53262" name="Text Box 53"/>
            <p:cNvSpPr txBox="1">
              <a:spLocks noChangeArrowheads="1"/>
            </p:cNvSpPr>
            <p:nvPr/>
          </p:nvSpPr>
          <p:spPr bwMode="auto">
            <a:xfrm>
              <a:off x="4196" y="2568"/>
              <a:ext cx="499" cy="288"/>
            </a:xfrm>
            <a:prstGeom prst="rect">
              <a:avLst/>
            </a:prstGeom>
            <a:noFill/>
            <a:ln w="9525">
              <a:noFill/>
              <a:miter lim="800000"/>
              <a:headEnd/>
              <a:tailEnd/>
            </a:ln>
          </p:spPr>
          <p:txBody>
            <a:bodyPr>
              <a:spAutoFit/>
            </a:bodyPr>
            <a:lstStyle/>
            <a:p>
              <a:pPr>
                <a:spcBef>
                  <a:spcPct val="50000"/>
                </a:spcBef>
              </a:pPr>
              <a:r>
                <a:rPr kumimoji="1" lang="en-US" altLang="zh-CN" sz="2400" i="1">
                  <a:latin typeface="Times New Roman" pitchFamily="18" charset="0"/>
                  <a:ea typeface="宋体" charset="-122"/>
                </a:rPr>
                <a:t>y</a:t>
              </a:r>
              <a:r>
                <a:rPr kumimoji="1" lang="en-US" altLang="zh-CN" sz="2400">
                  <a:latin typeface="Times New Roman" pitchFamily="18" charset="0"/>
                  <a:ea typeface="宋体" charset="-122"/>
                </a:rPr>
                <a:t>=</a:t>
              </a:r>
              <a:r>
                <a:rPr kumimoji="1" lang="en-US" altLang="zh-CN" sz="2400" i="1">
                  <a:latin typeface="Times New Roman" pitchFamily="18" charset="0"/>
                  <a:ea typeface="宋体" charset="-122"/>
                </a:rPr>
                <a:t>x</a:t>
              </a:r>
              <a:r>
                <a:rPr kumimoji="1" lang="en-US" altLang="zh-CN" sz="2400" baseline="30000">
                  <a:latin typeface="Times New Roman" pitchFamily="18" charset="0"/>
                  <a:ea typeface="宋体" charset="-122"/>
                </a:rPr>
                <a:t>2</a:t>
              </a:r>
            </a:p>
          </p:txBody>
        </p:sp>
        <p:sp>
          <p:nvSpPr>
            <p:cNvPr id="53263" name="Line 54"/>
            <p:cNvSpPr>
              <a:spLocks noChangeShapeType="1"/>
            </p:cNvSpPr>
            <p:nvPr/>
          </p:nvSpPr>
          <p:spPr bwMode="auto">
            <a:xfrm flipV="1">
              <a:off x="2971" y="3532"/>
              <a:ext cx="2267" cy="0"/>
            </a:xfrm>
            <a:prstGeom prst="line">
              <a:avLst/>
            </a:prstGeom>
            <a:noFill/>
            <a:ln w="9525">
              <a:solidFill>
                <a:schemeClr val="tx1"/>
              </a:solidFill>
              <a:round/>
              <a:headEnd/>
              <a:tailEnd type="triangle" w="sm" len="lg"/>
            </a:ln>
          </p:spPr>
          <p:txBody>
            <a:bodyPr/>
            <a:lstStyle/>
            <a:p>
              <a:endParaRPr lang="zh-CN" altLang="en-US"/>
            </a:p>
          </p:txBody>
        </p:sp>
        <p:sp>
          <p:nvSpPr>
            <p:cNvPr id="53264" name="Text Box 55"/>
            <p:cNvSpPr txBox="1">
              <a:spLocks noChangeArrowheads="1"/>
            </p:cNvSpPr>
            <p:nvPr/>
          </p:nvSpPr>
          <p:spPr bwMode="auto">
            <a:xfrm>
              <a:off x="3379" y="3542"/>
              <a:ext cx="1974" cy="250"/>
            </a:xfrm>
            <a:prstGeom prst="rect">
              <a:avLst/>
            </a:prstGeom>
            <a:noFill/>
            <a:ln w="9525">
              <a:noFill/>
              <a:miter lim="800000"/>
              <a:headEnd/>
              <a:tailEnd/>
            </a:ln>
          </p:spPr>
          <p:txBody>
            <a:bodyPr>
              <a:spAutoFit/>
            </a:bodyPr>
            <a:lstStyle/>
            <a:p>
              <a:pPr>
                <a:spcBef>
                  <a:spcPct val="50000"/>
                </a:spcBef>
              </a:pPr>
              <a:r>
                <a:rPr lang="zh-CN" altLang="en-US">
                  <a:ea typeface="宋体" charset="-122"/>
                </a:rPr>
                <a:t>               </a:t>
              </a:r>
              <a:r>
                <a:rPr lang="en-US" altLang="zh-CN" sz="2000">
                  <a:latin typeface="Times New Roman" pitchFamily="18" charset="0"/>
                  <a:ea typeface="宋体" charset="-122"/>
                </a:rPr>
                <a:t>16     24 28 31</a:t>
              </a:r>
              <a:r>
                <a:rPr lang="en-US" altLang="zh-CN">
                  <a:ea typeface="宋体" charset="-122"/>
                </a:rPr>
                <a:t>   </a:t>
              </a:r>
              <a:r>
                <a:rPr lang="en-US" altLang="zh-CN" i="1">
                  <a:latin typeface="Times New Roman" pitchFamily="18" charset="0"/>
                  <a:ea typeface="宋体" charset="-122"/>
                </a:rPr>
                <a:t> </a:t>
              </a:r>
              <a:r>
                <a:rPr lang="en-US" altLang="zh-CN" sz="2000" i="1">
                  <a:latin typeface="Times New Roman" pitchFamily="18" charset="0"/>
                  <a:ea typeface="宋体" charset="-122"/>
                </a:rPr>
                <a:t>X</a:t>
              </a:r>
            </a:p>
          </p:txBody>
        </p:sp>
        <p:sp>
          <p:nvSpPr>
            <p:cNvPr id="53265" name="Line 56"/>
            <p:cNvSpPr>
              <a:spLocks noChangeShapeType="1"/>
            </p:cNvSpPr>
            <p:nvPr/>
          </p:nvSpPr>
          <p:spPr bwMode="auto">
            <a:xfrm flipV="1">
              <a:off x="3243" y="2224"/>
              <a:ext cx="0" cy="1587"/>
            </a:xfrm>
            <a:prstGeom prst="line">
              <a:avLst/>
            </a:prstGeom>
            <a:noFill/>
            <a:ln w="9525">
              <a:solidFill>
                <a:schemeClr val="tx1"/>
              </a:solidFill>
              <a:round/>
              <a:headEnd/>
              <a:tailEnd type="triangle" w="sm" len="lg"/>
            </a:ln>
          </p:spPr>
          <p:txBody>
            <a:bodyPr/>
            <a:lstStyle/>
            <a:p>
              <a:endParaRPr lang="zh-CN" altLang="en-US"/>
            </a:p>
          </p:txBody>
        </p:sp>
        <p:sp>
          <p:nvSpPr>
            <p:cNvPr id="53266" name="Arc 57"/>
            <p:cNvSpPr>
              <a:spLocks/>
            </p:cNvSpPr>
            <p:nvPr/>
          </p:nvSpPr>
          <p:spPr bwMode="auto">
            <a:xfrm flipV="1">
              <a:off x="3243" y="2205"/>
              <a:ext cx="1542" cy="1315"/>
            </a:xfrm>
            <a:custGeom>
              <a:avLst/>
              <a:gdLst>
                <a:gd name="T0" fmla="*/ 0 w 20978"/>
                <a:gd name="T1" fmla="*/ 0 h 21600"/>
                <a:gd name="T2" fmla="*/ 0 w 20978"/>
                <a:gd name="T3" fmla="*/ 0 h 21600"/>
                <a:gd name="T4" fmla="*/ 0 w 20978"/>
                <a:gd name="T5" fmla="*/ 0 h 21600"/>
                <a:gd name="T6" fmla="*/ 0 60000 65536"/>
                <a:gd name="T7" fmla="*/ 0 60000 65536"/>
                <a:gd name="T8" fmla="*/ 0 60000 65536"/>
                <a:gd name="T9" fmla="*/ 0 w 20978"/>
                <a:gd name="T10" fmla="*/ 0 h 21600"/>
                <a:gd name="T11" fmla="*/ 20978 w 20978"/>
                <a:gd name="T12" fmla="*/ 21600 h 21600"/>
              </a:gdLst>
              <a:ahLst/>
              <a:cxnLst>
                <a:cxn ang="T6">
                  <a:pos x="T0" y="T1"/>
                </a:cxn>
                <a:cxn ang="T7">
                  <a:pos x="T2" y="T3"/>
                </a:cxn>
                <a:cxn ang="T8">
                  <a:pos x="T4" y="T5"/>
                </a:cxn>
              </a:cxnLst>
              <a:rect l="T9" t="T10" r="T11" b="T12"/>
              <a:pathLst>
                <a:path w="20978" h="21600" fill="none" extrusionOk="0">
                  <a:moveTo>
                    <a:pt x="-1" y="0"/>
                  </a:moveTo>
                  <a:cubicBezTo>
                    <a:pt x="9947" y="0"/>
                    <a:pt x="18608" y="6793"/>
                    <a:pt x="20978" y="16453"/>
                  </a:cubicBezTo>
                </a:path>
                <a:path w="20978" h="21600" stroke="0" extrusionOk="0">
                  <a:moveTo>
                    <a:pt x="-1" y="0"/>
                  </a:moveTo>
                  <a:cubicBezTo>
                    <a:pt x="9947" y="0"/>
                    <a:pt x="18608" y="6793"/>
                    <a:pt x="20978" y="16453"/>
                  </a:cubicBezTo>
                  <a:lnTo>
                    <a:pt x="0" y="21600"/>
                  </a:lnTo>
                  <a:close/>
                </a:path>
              </a:pathLst>
            </a:custGeom>
            <a:noFill/>
            <a:ln w="12700">
              <a:solidFill>
                <a:schemeClr val="tx1"/>
              </a:solidFill>
              <a:prstDash val="dash"/>
              <a:round/>
              <a:headEnd/>
              <a:tailEnd/>
            </a:ln>
          </p:spPr>
          <p:txBody>
            <a:bodyPr wrap="none" anchor="ctr"/>
            <a:lstStyle/>
            <a:p>
              <a:endParaRPr lang="zh-CN" altLang="en-US"/>
            </a:p>
          </p:txBody>
        </p:sp>
        <p:sp>
          <p:nvSpPr>
            <p:cNvPr id="53267" name="Line 58"/>
            <p:cNvSpPr>
              <a:spLocks noChangeShapeType="1"/>
            </p:cNvSpPr>
            <p:nvPr/>
          </p:nvSpPr>
          <p:spPr bwMode="auto">
            <a:xfrm>
              <a:off x="4785" y="2523"/>
              <a:ext cx="0" cy="997"/>
            </a:xfrm>
            <a:prstGeom prst="line">
              <a:avLst/>
            </a:prstGeom>
            <a:noFill/>
            <a:ln w="9525">
              <a:solidFill>
                <a:schemeClr val="tx1"/>
              </a:solidFill>
              <a:prstDash val="dash"/>
              <a:round/>
              <a:headEnd/>
              <a:tailEnd/>
            </a:ln>
          </p:spPr>
          <p:txBody>
            <a:bodyPr/>
            <a:lstStyle/>
            <a:p>
              <a:endParaRPr lang="zh-CN" altLang="en-US"/>
            </a:p>
          </p:txBody>
        </p:sp>
        <p:sp>
          <p:nvSpPr>
            <p:cNvPr id="53268" name="Oval 59"/>
            <p:cNvSpPr>
              <a:spLocks noChangeArrowheads="1"/>
            </p:cNvSpPr>
            <p:nvPr/>
          </p:nvSpPr>
          <p:spPr bwMode="auto">
            <a:xfrm>
              <a:off x="4105" y="3249"/>
              <a:ext cx="91" cy="91"/>
            </a:xfrm>
            <a:prstGeom prst="ellipse">
              <a:avLst/>
            </a:prstGeom>
            <a:solidFill>
              <a:schemeClr val="accent1"/>
            </a:solidFill>
            <a:ln w="9525">
              <a:solidFill>
                <a:schemeClr val="tx1"/>
              </a:solidFill>
              <a:round/>
              <a:headEnd/>
              <a:tailEnd/>
            </a:ln>
          </p:spPr>
          <p:txBody>
            <a:bodyPr wrap="none" anchor="ctr"/>
            <a:lstStyle/>
            <a:p>
              <a:endParaRPr lang="zh-CN" altLang="en-US">
                <a:ea typeface="宋体" charset="-122"/>
              </a:endParaRPr>
            </a:p>
          </p:txBody>
        </p:sp>
        <p:sp>
          <p:nvSpPr>
            <p:cNvPr id="53269" name="Line 60"/>
            <p:cNvSpPr>
              <a:spLocks noChangeShapeType="1"/>
            </p:cNvSpPr>
            <p:nvPr/>
          </p:nvSpPr>
          <p:spPr bwMode="auto">
            <a:xfrm flipV="1">
              <a:off x="4694" y="2750"/>
              <a:ext cx="0" cy="771"/>
            </a:xfrm>
            <a:prstGeom prst="line">
              <a:avLst/>
            </a:prstGeom>
            <a:noFill/>
            <a:ln w="9525">
              <a:solidFill>
                <a:schemeClr val="tx1"/>
              </a:solidFill>
              <a:prstDash val="dash"/>
              <a:round/>
              <a:headEnd/>
              <a:tailEnd/>
            </a:ln>
          </p:spPr>
          <p:txBody>
            <a:bodyPr/>
            <a:lstStyle/>
            <a:p>
              <a:endParaRPr lang="zh-CN" altLang="en-US"/>
            </a:p>
          </p:txBody>
        </p:sp>
        <p:sp>
          <p:nvSpPr>
            <p:cNvPr id="53270" name="Line 61"/>
            <p:cNvSpPr>
              <a:spLocks noChangeShapeType="1"/>
            </p:cNvSpPr>
            <p:nvPr/>
          </p:nvSpPr>
          <p:spPr bwMode="auto">
            <a:xfrm flipV="1">
              <a:off x="4522" y="2962"/>
              <a:ext cx="0" cy="542"/>
            </a:xfrm>
            <a:prstGeom prst="line">
              <a:avLst/>
            </a:prstGeom>
            <a:noFill/>
            <a:ln w="9525">
              <a:solidFill>
                <a:schemeClr val="tx1"/>
              </a:solidFill>
              <a:prstDash val="dash"/>
              <a:round/>
              <a:headEnd/>
              <a:tailEnd/>
            </a:ln>
          </p:spPr>
          <p:txBody>
            <a:bodyPr/>
            <a:lstStyle/>
            <a:p>
              <a:endParaRPr lang="zh-CN" altLang="en-US"/>
            </a:p>
          </p:txBody>
        </p:sp>
        <p:sp>
          <p:nvSpPr>
            <p:cNvPr id="53271" name="Oval 62"/>
            <p:cNvSpPr>
              <a:spLocks noChangeArrowheads="1"/>
            </p:cNvSpPr>
            <p:nvPr/>
          </p:nvSpPr>
          <p:spPr bwMode="auto">
            <a:xfrm>
              <a:off x="4468" y="2931"/>
              <a:ext cx="91" cy="91"/>
            </a:xfrm>
            <a:prstGeom prst="ellipse">
              <a:avLst/>
            </a:prstGeom>
            <a:solidFill>
              <a:schemeClr val="accent1"/>
            </a:solidFill>
            <a:ln w="9525">
              <a:solidFill>
                <a:schemeClr val="tx1"/>
              </a:solidFill>
              <a:round/>
              <a:headEnd/>
              <a:tailEnd/>
            </a:ln>
          </p:spPr>
          <p:txBody>
            <a:bodyPr wrap="none" anchor="ctr"/>
            <a:lstStyle/>
            <a:p>
              <a:endParaRPr lang="zh-CN" altLang="en-US">
                <a:ea typeface="宋体" charset="-122"/>
              </a:endParaRPr>
            </a:p>
          </p:txBody>
        </p:sp>
        <p:sp>
          <p:nvSpPr>
            <p:cNvPr id="53272" name="Oval 63"/>
            <p:cNvSpPr>
              <a:spLocks noChangeArrowheads="1"/>
            </p:cNvSpPr>
            <p:nvPr/>
          </p:nvSpPr>
          <p:spPr bwMode="auto">
            <a:xfrm>
              <a:off x="4649" y="2704"/>
              <a:ext cx="91" cy="91"/>
            </a:xfrm>
            <a:prstGeom prst="ellipse">
              <a:avLst/>
            </a:prstGeom>
            <a:solidFill>
              <a:schemeClr val="accent1"/>
            </a:solidFill>
            <a:ln w="9525">
              <a:solidFill>
                <a:schemeClr val="tx1"/>
              </a:solidFill>
              <a:round/>
              <a:headEnd/>
              <a:tailEnd/>
            </a:ln>
          </p:spPr>
          <p:txBody>
            <a:bodyPr wrap="none" anchor="ctr"/>
            <a:lstStyle/>
            <a:p>
              <a:endParaRPr lang="zh-CN" altLang="en-US">
                <a:ea typeface="宋体" charset="-122"/>
              </a:endParaRPr>
            </a:p>
          </p:txBody>
        </p:sp>
        <p:sp>
          <p:nvSpPr>
            <p:cNvPr id="53273" name="Oval 64"/>
            <p:cNvSpPr>
              <a:spLocks noChangeArrowheads="1"/>
            </p:cNvSpPr>
            <p:nvPr/>
          </p:nvSpPr>
          <p:spPr bwMode="auto">
            <a:xfrm>
              <a:off x="4740" y="2478"/>
              <a:ext cx="91" cy="91"/>
            </a:xfrm>
            <a:prstGeom prst="ellipse">
              <a:avLst/>
            </a:prstGeom>
            <a:solidFill>
              <a:schemeClr val="accent1"/>
            </a:solidFill>
            <a:ln w="9525">
              <a:solidFill>
                <a:schemeClr val="tx1"/>
              </a:solidFill>
              <a:round/>
              <a:headEnd/>
              <a:tailEnd/>
            </a:ln>
          </p:spPr>
          <p:txBody>
            <a:bodyPr wrap="none" anchor="ctr"/>
            <a:lstStyle/>
            <a:p>
              <a:endParaRPr lang="zh-CN" altLang="en-US">
                <a:ea typeface="宋体" charset="-122"/>
              </a:endParaRPr>
            </a:p>
          </p:txBody>
        </p:sp>
        <p:sp>
          <p:nvSpPr>
            <p:cNvPr id="53274" name="Text Box 65"/>
            <p:cNvSpPr txBox="1">
              <a:spLocks noChangeArrowheads="1"/>
            </p:cNvSpPr>
            <p:nvPr/>
          </p:nvSpPr>
          <p:spPr bwMode="auto">
            <a:xfrm>
              <a:off x="3662" y="3852"/>
              <a:ext cx="1543" cy="173"/>
            </a:xfrm>
            <a:prstGeom prst="rect">
              <a:avLst/>
            </a:prstGeom>
            <a:noFill/>
            <a:ln w="9525">
              <a:noFill/>
              <a:miter lim="800000"/>
              <a:headEnd/>
              <a:tailEnd/>
            </a:ln>
          </p:spPr>
          <p:txBody>
            <a:bodyPr lIns="0" tIns="0" rIns="0" bIns="0">
              <a:spAutoFit/>
            </a:bodyPr>
            <a:lstStyle/>
            <a:p>
              <a:pPr>
                <a:spcBef>
                  <a:spcPct val="50000"/>
                </a:spcBef>
              </a:pPr>
              <a:r>
                <a:rPr lang="zh-CN" altLang="en-US">
                  <a:ea typeface="宋体" charset="-122"/>
                </a:rPr>
                <a:t>第四代种群及其适应度</a:t>
              </a:r>
            </a:p>
          </p:txBody>
        </p:sp>
      </p:grpSp>
    </p:spTree>
  </p:cSld>
  <p:clrMapOvr>
    <a:masterClrMapping/>
  </p:clrMapOvr>
  <p:transition/>
  <p:timing>
    <p:tnLst>
      <p:par>
        <p:cTn id="1" dur="indefinite" restart="never" nodeType="tmRoot"/>
      </p:par>
    </p:tn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5842" name="Picture 2"/>
          <p:cNvPicPr>
            <a:picLocks noChangeAspect="1" noChangeArrowheads="1"/>
          </p:cNvPicPr>
          <p:nvPr/>
        </p:nvPicPr>
        <p:blipFill>
          <a:blip r:embed="rId2" cstate="print"/>
          <a:srcRect/>
          <a:stretch>
            <a:fillRect/>
          </a:stretch>
        </p:blipFill>
        <p:spPr bwMode="auto">
          <a:xfrm>
            <a:off x="990600" y="914400"/>
            <a:ext cx="7010400" cy="4636896"/>
          </a:xfrm>
          <a:prstGeom prst="rect">
            <a:avLst/>
          </a:prstGeom>
          <a:noFill/>
          <a:ln w="9525">
            <a:noFill/>
            <a:miter lim="800000"/>
            <a:headEnd/>
            <a:tailEnd/>
          </a:ln>
        </p:spPr>
      </p:pic>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6866" name="Picture 2"/>
          <p:cNvPicPr>
            <a:picLocks noChangeAspect="1" noChangeArrowheads="1"/>
          </p:cNvPicPr>
          <p:nvPr/>
        </p:nvPicPr>
        <p:blipFill>
          <a:blip r:embed="rId2" cstate="print"/>
          <a:srcRect/>
          <a:stretch>
            <a:fillRect/>
          </a:stretch>
        </p:blipFill>
        <p:spPr bwMode="auto">
          <a:xfrm>
            <a:off x="914400" y="1066800"/>
            <a:ext cx="7216346" cy="4572000"/>
          </a:xfrm>
          <a:prstGeom prst="rect">
            <a:avLst/>
          </a:prstGeom>
          <a:noFill/>
          <a:ln w="9525">
            <a:noFill/>
            <a:miter lim="800000"/>
            <a:headEnd/>
            <a:tailEnd/>
          </a:ln>
        </p:spPr>
      </p:pic>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7890" name="Picture 2"/>
          <p:cNvPicPr>
            <a:picLocks noChangeAspect="1" noChangeArrowheads="1"/>
          </p:cNvPicPr>
          <p:nvPr/>
        </p:nvPicPr>
        <p:blipFill>
          <a:blip r:embed="rId2" cstate="print"/>
          <a:srcRect/>
          <a:stretch>
            <a:fillRect/>
          </a:stretch>
        </p:blipFill>
        <p:spPr bwMode="auto">
          <a:xfrm>
            <a:off x="1066800" y="1066800"/>
            <a:ext cx="7030065" cy="4572000"/>
          </a:xfrm>
          <a:prstGeom prst="rect">
            <a:avLst/>
          </a:prstGeom>
          <a:noFill/>
          <a:ln w="9525">
            <a:noFill/>
            <a:miter lim="800000"/>
            <a:headEnd/>
            <a:tailEnd/>
          </a:ln>
        </p:spPr>
      </p:pic>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8914" name="Picture 2"/>
          <p:cNvPicPr>
            <a:picLocks noChangeAspect="1" noChangeArrowheads="1"/>
          </p:cNvPicPr>
          <p:nvPr/>
        </p:nvPicPr>
        <p:blipFill>
          <a:blip r:embed="rId2" cstate="print"/>
          <a:srcRect/>
          <a:stretch>
            <a:fillRect/>
          </a:stretch>
        </p:blipFill>
        <p:spPr bwMode="auto">
          <a:xfrm>
            <a:off x="914399" y="990600"/>
            <a:ext cx="7084761" cy="4572000"/>
          </a:xfrm>
          <a:prstGeom prst="rect">
            <a:avLst/>
          </a:prstGeom>
          <a:noFill/>
          <a:ln w="9525">
            <a:noFill/>
            <a:miter lim="800000"/>
            <a:headEnd/>
            <a:tailEnd/>
          </a:ln>
        </p:spPr>
      </p:pic>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9939" name="Picture 3"/>
          <p:cNvPicPr>
            <a:picLocks noChangeAspect="1" noChangeArrowheads="1"/>
          </p:cNvPicPr>
          <p:nvPr/>
        </p:nvPicPr>
        <p:blipFill>
          <a:blip r:embed="rId2" cstate="print"/>
          <a:srcRect/>
          <a:stretch>
            <a:fillRect/>
          </a:stretch>
        </p:blipFill>
        <p:spPr bwMode="auto">
          <a:xfrm>
            <a:off x="381000" y="457200"/>
            <a:ext cx="8482615" cy="5837238"/>
          </a:xfrm>
          <a:prstGeom prst="rect">
            <a:avLst/>
          </a:prstGeom>
          <a:noFill/>
          <a:ln w="9525">
            <a:noFill/>
            <a:miter lim="800000"/>
            <a:headEnd/>
            <a:tailEnd/>
          </a:ln>
        </p:spPr>
      </p:pic>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0962" name="Picture 2"/>
          <p:cNvPicPr>
            <a:picLocks noChangeAspect="1" noChangeArrowheads="1"/>
          </p:cNvPicPr>
          <p:nvPr/>
        </p:nvPicPr>
        <p:blipFill>
          <a:blip r:embed="rId2" cstate="print"/>
          <a:srcRect/>
          <a:stretch>
            <a:fillRect/>
          </a:stretch>
        </p:blipFill>
        <p:spPr bwMode="auto">
          <a:xfrm>
            <a:off x="1143000" y="1371600"/>
            <a:ext cx="6698756" cy="4038600"/>
          </a:xfrm>
          <a:prstGeom prst="rect">
            <a:avLst/>
          </a:prstGeom>
          <a:noFill/>
          <a:ln w="9525">
            <a:noFill/>
            <a:miter lim="800000"/>
            <a:headEnd/>
            <a:tailEnd/>
          </a:ln>
        </p:spPr>
      </p:pic>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1986" name="Picture 2"/>
          <p:cNvPicPr>
            <a:picLocks noChangeAspect="1" noChangeArrowheads="1"/>
          </p:cNvPicPr>
          <p:nvPr/>
        </p:nvPicPr>
        <p:blipFill>
          <a:blip r:embed="rId2" cstate="print"/>
          <a:srcRect/>
          <a:stretch>
            <a:fillRect/>
          </a:stretch>
        </p:blipFill>
        <p:spPr bwMode="auto">
          <a:xfrm>
            <a:off x="838199" y="914400"/>
            <a:ext cx="7266727" cy="4648200"/>
          </a:xfrm>
          <a:prstGeom prst="rect">
            <a:avLst/>
          </a:prstGeom>
          <a:noFill/>
          <a:ln w="9525">
            <a:noFill/>
            <a:miter lim="800000"/>
            <a:headEnd/>
            <a:tailEnd/>
          </a:ln>
        </p:spPr>
      </p:pic>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3010" name="Picture 2"/>
          <p:cNvPicPr>
            <a:picLocks noChangeAspect="1" noChangeArrowheads="1"/>
          </p:cNvPicPr>
          <p:nvPr/>
        </p:nvPicPr>
        <p:blipFill>
          <a:blip r:embed="rId2" cstate="print"/>
          <a:srcRect/>
          <a:stretch>
            <a:fillRect/>
          </a:stretch>
        </p:blipFill>
        <p:spPr bwMode="auto">
          <a:xfrm>
            <a:off x="914400" y="990600"/>
            <a:ext cx="7187120" cy="4724400"/>
          </a:xfrm>
          <a:prstGeom prst="rect">
            <a:avLst/>
          </a:prstGeom>
          <a:noFill/>
          <a:ln w="9525">
            <a:noFill/>
            <a:miter lim="800000"/>
            <a:headEnd/>
            <a:tailEnd/>
          </a:ln>
        </p:spPr>
      </p:pic>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4034" name="Picture 2"/>
          <p:cNvPicPr>
            <a:picLocks noChangeAspect="1" noChangeArrowheads="1"/>
          </p:cNvPicPr>
          <p:nvPr/>
        </p:nvPicPr>
        <p:blipFill>
          <a:blip r:embed="rId2" cstate="print"/>
          <a:srcRect/>
          <a:stretch>
            <a:fillRect/>
          </a:stretch>
        </p:blipFill>
        <p:spPr bwMode="auto">
          <a:xfrm>
            <a:off x="762000" y="914400"/>
            <a:ext cx="7690152" cy="5029200"/>
          </a:xfrm>
          <a:prstGeom prst="rect">
            <a:avLst/>
          </a:prstGeom>
          <a:noFill/>
          <a:ln w="9525">
            <a:noFill/>
            <a:miter lim="800000"/>
            <a:headEnd/>
            <a:tailEnd/>
          </a:ln>
        </p:spPr>
      </p:pic>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5" name="Rectangle 2"/>
          <p:cNvSpPr>
            <a:spLocks noGrp="1" noChangeArrowheads="1"/>
          </p:cNvSpPr>
          <p:nvPr>
            <p:ph type="title"/>
          </p:nvPr>
        </p:nvSpPr>
        <p:spPr bwMode="auto">
          <a:xfrm>
            <a:off x="457200" y="274638"/>
            <a:ext cx="8229600" cy="1143000"/>
          </a:xfrm>
          <a:prstGeom prst="rect">
            <a:avLst/>
          </a:prstGeom>
          <a:noFill/>
          <a:ln>
            <a:miter lim="800000"/>
            <a:headEnd/>
            <a:tailEnd/>
          </a:ln>
        </p:spPr>
        <p:txBody>
          <a:bodyPr vert="horz" wrap="square" lIns="91440" tIns="45720" rIns="91440" bIns="45720" numCol="1" anchor="t" anchorCtr="0" compatLnSpc="1">
            <a:prstTxWarp prst="textNoShape">
              <a:avLst/>
            </a:prstTxWarp>
          </a:bodyPr>
          <a:lstStyle/>
          <a:p>
            <a:r>
              <a:rPr lang="zh-CN" altLang="en-US" smtClean="0">
                <a:solidFill>
                  <a:srgbClr val="FF3300"/>
                </a:solidFill>
                <a:ea typeface="宋体" charset="-122"/>
              </a:rPr>
              <a:t>课堂练习</a:t>
            </a:r>
          </a:p>
        </p:txBody>
      </p:sp>
      <p:sp>
        <p:nvSpPr>
          <p:cNvPr id="8196" name="Rectangle 3"/>
          <p:cNvSpPr>
            <a:spLocks noGrp="1" noChangeArrowheads="1"/>
          </p:cNvSpPr>
          <p:nvPr>
            <p:ph type="body" sz="half" idx="1"/>
          </p:nvPr>
        </p:nvSpPr>
        <p:spPr>
          <a:xfrm>
            <a:off x="457200" y="1338263"/>
            <a:ext cx="8001000" cy="5092700"/>
          </a:xfrm>
        </p:spPr>
        <p:txBody>
          <a:bodyPr/>
          <a:lstStyle/>
          <a:p>
            <a:r>
              <a:rPr lang="zh-CN" altLang="en-US" sz="2400" smtClean="0">
                <a:solidFill>
                  <a:srgbClr val="FF3300"/>
                </a:solidFill>
                <a:ea typeface="楷体_GB2312" pitchFamily="49" charset="-122"/>
              </a:rPr>
              <a:t>求一元函数</a:t>
            </a:r>
            <a:r>
              <a:rPr lang="en-US" altLang="zh-CN" sz="2400" smtClean="0">
                <a:solidFill>
                  <a:srgbClr val="FF3300"/>
                </a:solidFill>
                <a:ea typeface="楷体_GB2312" pitchFamily="49" charset="-122"/>
              </a:rPr>
              <a:t>f(x)</a:t>
            </a:r>
            <a:r>
              <a:rPr lang="zh-CN" altLang="en-US" sz="2400" smtClean="0">
                <a:solidFill>
                  <a:srgbClr val="FF3300"/>
                </a:solidFill>
                <a:ea typeface="楷体_GB2312" pitchFamily="49" charset="-122"/>
              </a:rPr>
              <a:t>的最大值： </a:t>
            </a:r>
          </a:p>
          <a:p>
            <a:endParaRPr lang="zh-CN" altLang="en-US" sz="2400" smtClean="0">
              <a:solidFill>
                <a:srgbClr val="FF3300"/>
              </a:solidFill>
              <a:ea typeface="楷体_GB2312" pitchFamily="49" charset="-122"/>
            </a:endParaRPr>
          </a:p>
          <a:p>
            <a:endParaRPr lang="zh-CN" altLang="en-US" sz="2400" smtClean="0">
              <a:solidFill>
                <a:srgbClr val="FF3300"/>
              </a:solidFill>
              <a:ea typeface="楷体_GB2312" pitchFamily="49" charset="-122"/>
            </a:endParaRPr>
          </a:p>
          <a:p>
            <a:pPr>
              <a:buFont typeface="Wingdings" pitchFamily="2" charset="2"/>
              <a:buNone/>
            </a:pPr>
            <a:r>
              <a:rPr lang="zh-CN" altLang="en-US" sz="2400" smtClean="0">
                <a:solidFill>
                  <a:srgbClr val="FF3300"/>
                </a:solidFill>
                <a:ea typeface="楷体_GB2312" pitchFamily="49" charset="-122"/>
              </a:rPr>
              <a:t>要求求解精度到</a:t>
            </a:r>
            <a:r>
              <a:rPr lang="en-US" altLang="zh-CN" sz="2400" smtClean="0">
                <a:solidFill>
                  <a:srgbClr val="FF3300"/>
                </a:solidFill>
                <a:ea typeface="楷体_GB2312" pitchFamily="49" charset="-122"/>
              </a:rPr>
              <a:t>6</a:t>
            </a:r>
            <a:r>
              <a:rPr lang="zh-CN" altLang="en-US" sz="2400" smtClean="0">
                <a:solidFill>
                  <a:srgbClr val="FF3300"/>
                </a:solidFill>
                <a:ea typeface="楷体_GB2312" pitchFamily="49" charset="-122"/>
              </a:rPr>
              <a:t>位小数</a:t>
            </a:r>
          </a:p>
        </p:txBody>
      </p:sp>
      <p:graphicFrame>
        <p:nvGraphicFramePr>
          <p:cNvPr id="8194" name="Object 4"/>
          <p:cNvGraphicFramePr>
            <a:graphicFrameLocks noGrp="1" noChangeAspect="1"/>
          </p:cNvGraphicFramePr>
          <p:nvPr>
            <p:ph sz="half" idx="2"/>
          </p:nvPr>
        </p:nvGraphicFramePr>
        <p:xfrm>
          <a:off x="1143000" y="1905000"/>
          <a:ext cx="7467600" cy="609600"/>
        </p:xfrm>
        <a:graphic>
          <a:graphicData uri="http://schemas.openxmlformats.org/presentationml/2006/ole">
            <mc:AlternateContent xmlns:mc="http://schemas.openxmlformats.org/markup-compatibility/2006">
              <mc:Choice xmlns:v="urn:schemas-microsoft-com:vml" Requires="v">
                <p:oleObj spid="_x0000_s32771" name="公式" r:id="rId3" imgW="2489040" imgH="203040" progId="Equation.3">
                  <p:embed/>
                </p:oleObj>
              </mc:Choice>
              <mc:Fallback>
                <p:oleObj name="公式" r:id="rId3" imgW="2489040" imgH="203040" progId="Equation.3">
                  <p:embed/>
                  <p:pic>
                    <p:nvPicPr>
                      <p:cNvPr id="0" name="Object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143000" y="1905000"/>
                        <a:ext cx="7467600" cy="609600"/>
                      </a:xfrm>
                      <a:prstGeom prst="rect">
                        <a:avLst/>
                      </a:prstGeom>
                      <a:gradFill rotWithShape="1">
                        <a:gsLst>
                          <a:gs pos="0">
                            <a:srgbClr val="CCFFFF"/>
                          </a:gs>
                          <a:gs pos="100000">
                            <a:schemeClr val="tx1">
                              <a:alpha val="24001"/>
                            </a:schemeClr>
                          </a:gs>
                        </a:gsLst>
                        <a:path path="shape">
                          <a:fillToRect l="50000" t="50000" r="50000" b="50000"/>
                        </a:path>
                      </a:gradFill>
                    </p:spPr>
                  </p:pic>
                </p:oleObj>
              </mc:Fallback>
            </mc:AlternateContent>
          </a:graphicData>
        </a:graphic>
      </p:graphicFrame>
      <p:pic>
        <p:nvPicPr>
          <p:cNvPr id="110598" name="Picture 6"/>
          <p:cNvPicPr>
            <a:picLocks noChangeAspect="1" noChangeArrowheads="1"/>
          </p:cNvPicPr>
          <p:nvPr/>
        </p:nvPicPr>
        <p:blipFill>
          <a:blip r:embed="rId5" cstate="print"/>
          <a:srcRect/>
          <a:stretch>
            <a:fillRect/>
          </a:stretch>
        </p:blipFill>
        <p:spPr bwMode="auto">
          <a:xfrm>
            <a:off x="1905000" y="3352800"/>
            <a:ext cx="5688013" cy="3111500"/>
          </a:xfrm>
          <a:prstGeom prst="rect">
            <a:avLst/>
          </a:prstGeom>
          <a:noFill/>
          <a:ln w="9525">
            <a:noFill/>
            <a:miter lim="800000"/>
            <a:headEnd/>
            <a:tailEnd/>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 presetClass="entr" presetSubtype="10" fill="hold" nodeType="clickEffect">
                                  <p:stCondLst>
                                    <p:cond delay="0"/>
                                  </p:stCondLst>
                                  <p:childTnLst>
                                    <p:set>
                                      <p:cBhvr>
                                        <p:cTn id="6" dur="1" fill="hold">
                                          <p:stCondLst>
                                            <p:cond delay="0"/>
                                          </p:stCondLst>
                                        </p:cTn>
                                        <p:tgtEl>
                                          <p:spTgt spid="110598"/>
                                        </p:tgtEl>
                                        <p:attrNameLst>
                                          <p:attrName>style.visibility</p:attrName>
                                        </p:attrNameLst>
                                      </p:cBhvr>
                                      <p:to>
                                        <p:strVal val="visible"/>
                                      </p:to>
                                    </p:set>
                                    <p:animEffect transition="in" filter="checkerboard(across)">
                                      <p:cBhvr>
                                        <p:cTn id="7" dur="500"/>
                                        <p:tgtEl>
                                          <p:spTgt spid="11059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6" name="Rectangle 3"/>
          <p:cNvSpPr>
            <a:spLocks noGrp="1" noChangeArrowheads="1"/>
          </p:cNvSpPr>
          <p:nvPr>
            <p:ph type="body" sz="half" idx="1"/>
          </p:nvPr>
        </p:nvSpPr>
        <p:spPr>
          <a:xfrm>
            <a:off x="457200" y="762000"/>
            <a:ext cx="8001000" cy="5092700"/>
          </a:xfrm>
        </p:spPr>
        <p:txBody>
          <a:bodyPr/>
          <a:lstStyle/>
          <a:p>
            <a:r>
              <a:rPr lang="zh-CN" altLang="en-US" sz="2800" dirty="0" smtClean="0">
                <a:ea typeface="宋体" charset="-122"/>
              </a:rPr>
              <a:t>考虑问题：能否用遗传算法解决以下问题</a:t>
            </a:r>
          </a:p>
          <a:p>
            <a:pPr>
              <a:buFont typeface="Wingdings" pitchFamily="2" charset="2"/>
              <a:buNone/>
            </a:pPr>
            <a:r>
              <a:rPr lang="en-US" altLang="zh-CN" sz="2800" dirty="0" smtClean="0">
                <a:ea typeface="宋体" charset="-122"/>
              </a:rPr>
              <a:t>1</a:t>
            </a:r>
            <a:r>
              <a:rPr lang="zh-CN" altLang="en-US" sz="2800" dirty="0" smtClean="0">
                <a:ea typeface="宋体" charset="-122"/>
              </a:rPr>
              <a:t>、</a:t>
            </a:r>
          </a:p>
          <a:p>
            <a:pPr>
              <a:buFont typeface="Wingdings" pitchFamily="2" charset="2"/>
              <a:buNone/>
            </a:pPr>
            <a:endParaRPr lang="zh-CN" altLang="en-US" sz="2800" dirty="0" smtClean="0">
              <a:ea typeface="宋体" charset="-122"/>
            </a:endParaRPr>
          </a:p>
          <a:p>
            <a:pPr>
              <a:buFont typeface="Wingdings" pitchFamily="2" charset="2"/>
              <a:buNone/>
            </a:pPr>
            <a:endParaRPr lang="zh-CN" altLang="en-US" sz="2800" dirty="0" smtClean="0">
              <a:ea typeface="宋体" charset="-122"/>
            </a:endParaRPr>
          </a:p>
          <a:p>
            <a:pPr>
              <a:buFont typeface="Wingdings" pitchFamily="2" charset="2"/>
              <a:buNone/>
            </a:pPr>
            <a:r>
              <a:rPr lang="en-US" altLang="zh-CN" sz="2800" dirty="0" smtClean="0">
                <a:ea typeface="宋体" charset="-122"/>
              </a:rPr>
              <a:t>2</a:t>
            </a:r>
            <a:r>
              <a:rPr lang="zh-CN" altLang="en-US" sz="2800" dirty="0" smtClean="0">
                <a:ea typeface="宋体" charset="-122"/>
              </a:rPr>
              <a:t>、</a:t>
            </a:r>
          </a:p>
          <a:p>
            <a:pPr>
              <a:buFont typeface="Wingdings" pitchFamily="2" charset="2"/>
              <a:buNone/>
            </a:pPr>
            <a:endParaRPr lang="zh-CN" altLang="en-US" sz="2800" dirty="0" smtClean="0">
              <a:ea typeface="宋体" charset="-122"/>
            </a:endParaRPr>
          </a:p>
          <a:p>
            <a:pPr>
              <a:buFont typeface="Wingdings" pitchFamily="2" charset="2"/>
              <a:buNone/>
            </a:pPr>
            <a:endParaRPr lang="zh-CN" altLang="en-US" sz="2800" dirty="0" smtClean="0">
              <a:ea typeface="宋体" charset="-122"/>
            </a:endParaRPr>
          </a:p>
          <a:p>
            <a:pPr>
              <a:buFont typeface="Wingdings" pitchFamily="2" charset="2"/>
              <a:buNone/>
            </a:pPr>
            <a:r>
              <a:rPr lang="en-US" altLang="zh-CN" sz="2800" dirty="0" smtClean="0">
                <a:ea typeface="宋体" charset="-122"/>
              </a:rPr>
              <a:t>3</a:t>
            </a:r>
            <a:r>
              <a:rPr lang="zh-CN" altLang="en-US" sz="2800" dirty="0" smtClean="0">
                <a:ea typeface="宋体" charset="-122"/>
              </a:rPr>
              <a:t>、</a:t>
            </a:r>
          </a:p>
        </p:txBody>
      </p:sp>
      <p:graphicFrame>
        <p:nvGraphicFramePr>
          <p:cNvPr id="10242" name="Object 4"/>
          <p:cNvGraphicFramePr>
            <a:graphicFrameLocks noGrp="1" noChangeAspect="1"/>
          </p:cNvGraphicFramePr>
          <p:nvPr>
            <p:ph sz="quarter" idx="2"/>
          </p:nvPr>
        </p:nvGraphicFramePr>
        <p:xfrm>
          <a:off x="1371600" y="1825625"/>
          <a:ext cx="3001963" cy="2254250"/>
        </p:xfrm>
        <a:graphic>
          <a:graphicData uri="http://schemas.openxmlformats.org/presentationml/2006/ole">
            <mc:AlternateContent xmlns:mc="http://schemas.openxmlformats.org/markup-compatibility/2006">
              <mc:Choice xmlns:v="urn:schemas-microsoft-com:vml" Requires="v">
                <p:oleObj spid="_x0000_s34821" name="公式" r:id="rId3" imgW="1460160" imgH="1155600" progId="Equation.3">
                  <p:embed/>
                </p:oleObj>
              </mc:Choice>
              <mc:Fallback>
                <p:oleObj name="公式" r:id="rId3" imgW="1460160" imgH="1155600" progId="Equation.3">
                  <p:embed/>
                  <p:pic>
                    <p:nvPicPr>
                      <p:cNvPr id="0" name="Object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371600" y="1825625"/>
                        <a:ext cx="3001963" cy="2254250"/>
                      </a:xfrm>
                      <a:prstGeom prst="rect">
                        <a:avLst/>
                      </a:prstGeom>
                      <a:gradFill rotWithShape="1">
                        <a:gsLst>
                          <a:gs pos="0">
                            <a:srgbClr val="CCFFFF"/>
                          </a:gs>
                          <a:gs pos="100000">
                            <a:schemeClr val="tx1">
                              <a:alpha val="24001"/>
                            </a:schemeClr>
                          </a:gs>
                        </a:gsLst>
                        <a:path path="shape">
                          <a:fillToRect l="50000" t="50000" r="50000" b="50000"/>
                        </a:path>
                      </a:gradFill>
                    </p:spPr>
                  </p:pic>
                </p:oleObj>
              </mc:Fallback>
            </mc:AlternateContent>
          </a:graphicData>
        </a:graphic>
      </p:graphicFrame>
      <p:graphicFrame>
        <p:nvGraphicFramePr>
          <p:cNvPr id="10243" name="Object 10"/>
          <p:cNvGraphicFramePr>
            <a:graphicFrameLocks noGrp="1" noChangeAspect="1"/>
          </p:cNvGraphicFramePr>
          <p:nvPr>
            <p:ph sz="quarter" idx="3"/>
          </p:nvPr>
        </p:nvGraphicFramePr>
        <p:xfrm>
          <a:off x="1385888" y="1346200"/>
          <a:ext cx="7529512" cy="455613"/>
        </p:xfrm>
        <a:graphic>
          <a:graphicData uri="http://schemas.openxmlformats.org/presentationml/2006/ole">
            <mc:AlternateContent xmlns:mc="http://schemas.openxmlformats.org/markup-compatibility/2006">
              <mc:Choice xmlns:v="urn:schemas-microsoft-com:vml" Requires="v">
                <p:oleObj spid="_x0000_s34822" name="公式" r:id="rId5" imgW="3784320" imgH="228600" progId="Equation.3">
                  <p:embed/>
                </p:oleObj>
              </mc:Choice>
              <mc:Fallback>
                <p:oleObj name="公式" r:id="rId5" imgW="3784320" imgH="228600" progId="Equation.3">
                  <p:embed/>
                  <p:pic>
                    <p:nvPicPr>
                      <p:cNvPr id="0" name="Object 10"/>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385888" y="1346200"/>
                        <a:ext cx="7529512" cy="455613"/>
                      </a:xfrm>
                      <a:prstGeom prst="rect">
                        <a:avLst/>
                      </a:prstGeom>
                      <a:gradFill rotWithShape="1">
                        <a:gsLst>
                          <a:gs pos="0">
                            <a:srgbClr val="CCFFFF"/>
                          </a:gs>
                          <a:gs pos="100000">
                            <a:schemeClr val="tx1">
                              <a:alpha val="24001"/>
                            </a:schemeClr>
                          </a:gs>
                        </a:gsLst>
                        <a:path path="shape">
                          <a:fillToRect l="50000" t="50000" r="50000" b="50000"/>
                        </a:path>
                      </a:gradFill>
                    </p:spPr>
                  </p:pic>
                </p:oleObj>
              </mc:Fallback>
            </mc:AlternateContent>
          </a:graphicData>
        </a:graphic>
      </p:graphicFrame>
      <p:graphicFrame>
        <p:nvGraphicFramePr>
          <p:cNvPr id="10244" name="Object 13"/>
          <p:cNvGraphicFramePr>
            <a:graphicFrameLocks noChangeAspect="1"/>
          </p:cNvGraphicFramePr>
          <p:nvPr/>
        </p:nvGraphicFramePr>
        <p:xfrm>
          <a:off x="1371600" y="4114800"/>
          <a:ext cx="3956050" cy="1971675"/>
        </p:xfrm>
        <a:graphic>
          <a:graphicData uri="http://schemas.openxmlformats.org/presentationml/2006/ole">
            <mc:AlternateContent xmlns:mc="http://schemas.openxmlformats.org/markup-compatibility/2006">
              <mc:Choice xmlns:v="urn:schemas-microsoft-com:vml" Requires="v">
                <p:oleObj spid="_x0000_s34823" name="公式" r:id="rId7" imgW="2120760" imgH="939600" progId="Equation.3">
                  <p:embed/>
                </p:oleObj>
              </mc:Choice>
              <mc:Fallback>
                <p:oleObj name="公式" r:id="rId7" imgW="2120760" imgH="939600" progId="Equation.3">
                  <p:embed/>
                  <p:pic>
                    <p:nvPicPr>
                      <p:cNvPr id="0" name="Object 13"/>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1371600" y="4114800"/>
                        <a:ext cx="3956050" cy="1971675"/>
                      </a:xfrm>
                      <a:prstGeom prst="rect">
                        <a:avLst/>
                      </a:prstGeom>
                      <a:gradFill rotWithShape="1">
                        <a:gsLst>
                          <a:gs pos="0">
                            <a:srgbClr val="CCFFFF"/>
                          </a:gs>
                          <a:gs pos="100000">
                            <a:schemeClr val="tx1">
                              <a:alpha val="24001"/>
                            </a:schemeClr>
                          </a:gs>
                        </a:gsLst>
                        <a:path path="shape">
                          <a:fillToRect l="50000" t="50000" r="50000" b="50000"/>
                        </a:path>
                      </a:gradFill>
                    </p:spPr>
                  </p:pic>
                </p:oleObj>
              </mc:Fallback>
            </mc:AlternateContent>
          </a:graphicData>
        </a:graphic>
      </p:graphicFrame>
    </p:spTree>
  </p:cSld>
  <p:clrMapOvr>
    <a:masterClrMapping/>
  </p:clrMapOvr>
  <p:timing>
    <p:tnLst>
      <p:par>
        <p:cTn id="1" dur="indefinite" restart="never" nodeType="tmRoot"/>
      </p:par>
    </p:tnLst>
  </p:timing>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407" name="Text Box 27"/>
          <p:cNvSpPr txBox="1">
            <a:spLocks noChangeArrowheads="1"/>
          </p:cNvSpPr>
          <p:nvPr/>
        </p:nvSpPr>
        <p:spPr bwMode="auto">
          <a:xfrm>
            <a:off x="1143000" y="3124200"/>
            <a:ext cx="6934200" cy="579438"/>
          </a:xfrm>
          <a:prstGeom prst="rect">
            <a:avLst/>
          </a:prstGeom>
          <a:noFill/>
          <a:ln w="9525">
            <a:noFill/>
            <a:miter lim="800000"/>
            <a:headEnd/>
            <a:tailEnd/>
          </a:ln>
        </p:spPr>
        <p:txBody>
          <a:bodyPr>
            <a:spAutoFit/>
          </a:bodyPr>
          <a:lstStyle/>
          <a:p>
            <a:pPr algn="ctr">
              <a:spcBef>
                <a:spcPct val="50000"/>
              </a:spcBef>
            </a:pPr>
            <a:r>
              <a:rPr lang="zh-CN" altLang="en-US" sz="3200" b="1" dirty="0" smtClean="0">
                <a:latin typeface="宋体" charset="-122"/>
                <a:ea typeface="宋体" charset="-122"/>
              </a:rPr>
              <a:t>四、遗传</a:t>
            </a:r>
            <a:r>
              <a:rPr lang="zh-CN" altLang="en-US" sz="3200" b="1" dirty="0">
                <a:latin typeface="宋体" charset="-122"/>
                <a:ea typeface="宋体" charset="-122"/>
              </a:rPr>
              <a:t>算法求解巡回旅行商问题</a:t>
            </a:r>
            <a:endParaRPr lang="en-US" altLang="zh-CN" sz="3200" b="1" dirty="0">
              <a:latin typeface="宋体" charset="-122"/>
              <a:ea typeface="宋体" charset="-122"/>
            </a:endParaRPr>
          </a:p>
        </p:txBody>
      </p:sp>
    </p:spTree>
  </p:cSld>
  <p:clrMapOvr>
    <a:masterClrMapping/>
  </p:clrMapOvr>
  <p:timing>
    <p:tnLst>
      <p:par>
        <p:cTn id="1" dur="indefinite" restart="never" nodeType="tmRoot"/>
      </p:par>
    </p:tnLst>
  </p:timing>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9" name="Rectangle 3"/>
          <p:cNvSpPr>
            <a:spLocks noGrp="1" noChangeArrowheads="1"/>
          </p:cNvSpPr>
          <p:nvPr>
            <p:ph type="body" idx="1"/>
          </p:nvPr>
        </p:nvSpPr>
        <p:spPr>
          <a:xfrm>
            <a:off x="457200" y="533400"/>
            <a:ext cx="8229600" cy="490537"/>
          </a:xfrm>
          <a:noFill/>
        </p:spPr>
        <p:txBody>
          <a:bodyPr/>
          <a:lstStyle/>
          <a:p>
            <a:pPr eaLnBrk="1" hangingPunct="1">
              <a:lnSpc>
                <a:spcPct val="90000"/>
              </a:lnSpc>
              <a:buFont typeface="Wingdings" pitchFamily="2" charset="2"/>
              <a:buNone/>
            </a:pPr>
            <a:r>
              <a:rPr lang="zh-CN" altLang="en-US" sz="2800" dirty="0" smtClean="0">
                <a:solidFill>
                  <a:srgbClr val="0000FF"/>
                </a:solidFill>
                <a:ea typeface="宋体" charset="-122"/>
              </a:rPr>
              <a:t>巡回旅行商问题</a:t>
            </a:r>
          </a:p>
        </p:txBody>
      </p:sp>
      <p:grpSp>
        <p:nvGrpSpPr>
          <p:cNvPr id="2" name="Group 27"/>
          <p:cNvGrpSpPr>
            <a:grpSpLocks/>
          </p:cNvGrpSpPr>
          <p:nvPr/>
        </p:nvGrpSpPr>
        <p:grpSpPr bwMode="auto">
          <a:xfrm>
            <a:off x="1524000" y="1100137"/>
            <a:ext cx="6684963" cy="3886200"/>
            <a:chOff x="960" y="912"/>
            <a:chExt cx="4211" cy="2448"/>
          </a:xfrm>
        </p:grpSpPr>
        <p:sp>
          <p:nvSpPr>
            <p:cNvPr id="119813" name="Freeform 5"/>
            <p:cNvSpPr>
              <a:spLocks noEditPoints="1"/>
            </p:cNvSpPr>
            <p:nvPr/>
          </p:nvSpPr>
          <p:spPr bwMode="gray">
            <a:xfrm rot="-1358056">
              <a:off x="960" y="1381"/>
              <a:ext cx="3839" cy="1527"/>
            </a:xfrm>
            <a:custGeom>
              <a:avLst/>
              <a:gdLst/>
              <a:ahLst/>
              <a:cxnLst>
                <a:cxn ang="0">
                  <a:pos x="1692" y="12"/>
                </a:cxn>
                <a:cxn ang="0">
                  <a:pos x="1234" y="74"/>
                </a:cxn>
                <a:cxn ang="0">
                  <a:pos x="828" y="182"/>
                </a:cxn>
                <a:cxn ang="0">
                  <a:pos x="486" y="330"/>
                </a:cxn>
                <a:cxn ang="0">
                  <a:pos x="226" y="510"/>
                </a:cxn>
                <a:cxn ang="0">
                  <a:pos x="58" y="718"/>
                </a:cxn>
                <a:cxn ang="0">
                  <a:pos x="0" y="944"/>
                </a:cxn>
                <a:cxn ang="0">
                  <a:pos x="58" y="1170"/>
                </a:cxn>
                <a:cxn ang="0">
                  <a:pos x="226" y="1378"/>
                </a:cxn>
                <a:cxn ang="0">
                  <a:pos x="486" y="1558"/>
                </a:cxn>
                <a:cxn ang="0">
                  <a:pos x="828" y="1706"/>
                </a:cxn>
                <a:cxn ang="0">
                  <a:pos x="1234" y="1814"/>
                </a:cxn>
                <a:cxn ang="0">
                  <a:pos x="1692" y="1876"/>
                </a:cxn>
                <a:cxn ang="0">
                  <a:pos x="2186" y="1884"/>
                </a:cxn>
                <a:cxn ang="0">
                  <a:pos x="2658" y="1840"/>
                </a:cxn>
                <a:cxn ang="0">
                  <a:pos x="3084" y="1746"/>
                </a:cxn>
                <a:cxn ang="0">
                  <a:pos x="3448" y="1612"/>
                </a:cxn>
                <a:cxn ang="0">
                  <a:pos x="3738" y="1442"/>
                </a:cxn>
                <a:cxn ang="0">
                  <a:pos x="3938" y="1242"/>
                </a:cxn>
                <a:cxn ang="0">
                  <a:pos x="4034" y="1022"/>
                </a:cxn>
                <a:cxn ang="0">
                  <a:pos x="4014" y="790"/>
                </a:cxn>
                <a:cxn ang="0">
                  <a:pos x="3882" y="576"/>
                </a:cxn>
                <a:cxn ang="0">
                  <a:pos x="3650" y="386"/>
                </a:cxn>
                <a:cxn ang="0">
                  <a:pos x="3334" y="228"/>
                </a:cxn>
                <a:cxn ang="0">
                  <a:pos x="2948" y="106"/>
                </a:cxn>
                <a:cxn ang="0">
                  <a:pos x="2506" y="28"/>
                </a:cxn>
                <a:cxn ang="0">
                  <a:pos x="2020" y="0"/>
                </a:cxn>
                <a:cxn ang="0">
                  <a:pos x="1606" y="1736"/>
                </a:cxn>
                <a:cxn ang="0">
                  <a:pos x="1164" y="1678"/>
                </a:cxn>
                <a:cxn ang="0">
                  <a:pos x="776" y="1576"/>
                </a:cxn>
                <a:cxn ang="0">
                  <a:pos x="458" y="1436"/>
                </a:cxn>
                <a:cxn ang="0">
                  <a:pos x="224" y="1266"/>
                </a:cxn>
                <a:cxn ang="0">
                  <a:pos x="88" y="1074"/>
                </a:cxn>
                <a:cxn ang="0">
                  <a:pos x="68" y="864"/>
                </a:cxn>
                <a:cxn ang="0">
                  <a:pos x="166" y="664"/>
                </a:cxn>
                <a:cxn ang="0">
                  <a:pos x="370" y="486"/>
                </a:cxn>
                <a:cxn ang="0">
                  <a:pos x="662" y="336"/>
                </a:cxn>
                <a:cxn ang="0">
                  <a:pos x="1028" y="222"/>
                </a:cxn>
                <a:cxn ang="0">
                  <a:pos x="1454" y="148"/>
                </a:cxn>
                <a:cxn ang="0">
                  <a:pos x="1922" y="120"/>
                </a:cxn>
                <a:cxn ang="0">
                  <a:pos x="2392" y="148"/>
                </a:cxn>
                <a:cxn ang="0">
                  <a:pos x="2818" y="222"/>
                </a:cxn>
                <a:cxn ang="0">
                  <a:pos x="3184" y="336"/>
                </a:cxn>
                <a:cxn ang="0">
                  <a:pos x="3476" y="486"/>
                </a:cxn>
                <a:cxn ang="0">
                  <a:pos x="3680" y="664"/>
                </a:cxn>
                <a:cxn ang="0">
                  <a:pos x="3778" y="864"/>
                </a:cxn>
                <a:cxn ang="0">
                  <a:pos x="3758" y="1074"/>
                </a:cxn>
                <a:cxn ang="0">
                  <a:pos x="3622" y="1266"/>
                </a:cxn>
                <a:cxn ang="0">
                  <a:pos x="3388" y="1436"/>
                </a:cxn>
                <a:cxn ang="0">
                  <a:pos x="3070" y="1576"/>
                </a:cxn>
                <a:cxn ang="0">
                  <a:pos x="2682" y="1678"/>
                </a:cxn>
                <a:cxn ang="0">
                  <a:pos x="2240" y="1736"/>
                </a:cxn>
              </a:cxnLst>
              <a:rect l="0" t="0" r="r" b="b"/>
              <a:pathLst>
                <a:path w="4040" h="1888">
                  <a:moveTo>
                    <a:pt x="2020" y="0"/>
                  </a:moveTo>
                  <a:lnTo>
                    <a:pt x="1854" y="4"/>
                  </a:lnTo>
                  <a:lnTo>
                    <a:pt x="1692" y="12"/>
                  </a:lnTo>
                  <a:lnTo>
                    <a:pt x="1534" y="28"/>
                  </a:lnTo>
                  <a:lnTo>
                    <a:pt x="1382" y="48"/>
                  </a:lnTo>
                  <a:lnTo>
                    <a:pt x="1234" y="74"/>
                  </a:lnTo>
                  <a:lnTo>
                    <a:pt x="1092" y="106"/>
                  </a:lnTo>
                  <a:lnTo>
                    <a:pt x="956" y="142"/>
                  </a:lnTo>
                  <a:lnTo>
                    <a:pt x="828" y="182"/>
                  </a:lnTo>
                  <a:lnTo>
                    <a:pt x="706" y="228"/>
                  </a:lnTo>
                  <a:lnTo>
                    <a:pt x="592" y="276"/>
                  </a:lnTo>
                  <a:lnTo>
                    <a:pt x="486" y="330"/>
                  </a:lnTo>
                  <a:lnTo>
                    <a:pt x="390" y="386"/>
                  </a:lnTo>
                  <a:lnTo>
                    <a:pt x="302" y="446"/>
                  </a:lnTo>
                  <a:lnTo>
                    <a:pt x="226" y="510"/>
                  </a:lnTo>
                  <a:lnTo>
                    <a:pt x="158" y="576"/>
                  </a:lnTo>
                  <a:lnTo>
                    <a:pt x="102" y="646"/>
                  </a:lnTo>
                  <a:lnTo>
                    <a:pt x="58" y="718"/>
                  </a:lnTo>
                  <a:lnTo>
                    <a:pt x="26" y="790"/>
                  </a:lnTo>
                  <a:lnTo>
                    <a:pt x="6" y="866"/>
                  </a:lnTo>
                  <a:lnTo>
                    <a:pt x="0" y="944"/>
                  </a:lnTo>
                  <a:lnTo>
                    <a:pt x="6" y="1022"/>
                  </a:lnTo>
                  <a:lnTo>
                    <a:pt x="26" y="1098"/>
                  </a:lnTo>
                  <a:lnTo>
                    <a:pt x="58" y="1170"/>
                  </a:lnTo>
                  <a:lnTo>
                    <a:pt x="102" y="1242"/>
                  </a:lnTo>
                  <a:lnTo>
                    <a:pt x="158" y="1312"/>
                  </a:lnTo>
                  <a:lnTo>
                    <a:pt x="226" y="1378"/>
                  </a:lnTo>
                  <a:lnTo>
                    <a:pt x="302" y="1442"/>
                  </a:lnTo>
                  <a:lnTo>
                    <a:pt x="390" y="1502"/>
                  </a:lnTo>
                  <a:lnTo>
                    <a:pt x="486" y="1558"/>
                  </a:lnTo>
                  <a:lnTo>
                    <a:pt x="592" y="1612"/>
                  </a:lnTo>
                  <a:lnTo>
                    <a:pt x="706" y="1660"/>
                  </a:lnTo>
                  <a:lnTo>
                    <a:pt x="828" y="1706"/>
                  </a:lnTo>
                  <a:lnTo>
                    <a:pt x="956" y="1746"/>
                  </a:lnTo>
                  <a:lnTo>
                    <a:pt x="1092" y="1782"/>
                  </a:lnTo>
                  <a:lnTo>
                    <a:pt x="1234" y="1814"/>
                  </a:lnTo>
                  <a:lnTo>
                    <a:pt x="1382" y="1840"/>
                  </a:lnTo>
                  <a:lnTo>
                    <a:pt x="1534" y="1860"/>
                  </a:lnTo>
                  <a:lnTo>
                    <a:pt x="1692" y="1876"/>
                  </a:lnTo>
                  <a:lnTo>
                    <a:pt x="1854" y="1884"/>
                  </a:lnTo>
                  <a:lnTo>
                    <a:pt x="2020" y="1888"/>
                  </a:lnTo>
                  <a:lnTo>
                    <a:pt x="2186" y="1884"/>
                  </a:lnTo>
                  <a:lnTo>
                    <a:pt x="2348" y="1876"/>
                  </a:lnTo>
                  <a:lnTo>
                    <a:pt x="2506" y="1860"/>
                  </a:lnTo>
                  <a:lnTo>
                    <a:pt x="2658" y="1840"/>
                  </a:lnTo>
                  <a:lnTo>
                    <a:pt x="2806" y="1814"/>
                  </a:lnTo>
                  <a:lnTo>
                    <a:pt x="2948" y="1782"/>
                  </a:lnTo>
                  <a:lnTo>
                    <a:pt x="3084" y="1746"/>
                  </a:lnTo>
                  <a:lnTo>
                    <a:pt x="3212" y="1706"/>
                  </a:lnTo>
                  <a:lnTo>
                    <a:pt x="3334" y="1660"/>
                  </a:lnTo>
                  <a:lnTo>
                    <a:pt x="3448" y="1612"/>
                  </a:lnTo>
                  <a:lnTo>
                    <a:pt x="3554" y="1558"/>
                  </a:lnTo>
                  <a:lnTo>
                    <a:pt x="3650" y="1502"/>
                  </a:lnTo>
                  <a:lnTo>
                    <a:pt x="3738" y="1442"/>
                  </a:lnTo>
                  <a:lnTo>
                    <a:pt x="3814" y="1378"/>
                  </a:lnTo>
                  <a:lnTo>
                    <a:pt x="3882" y="1312"/>
                  </a:lnTo>
                  <a:lnTo>
                    <a:pt x="3938" y="1242"/>
                  </a:lnTo>
                  <a:lnTo>
                    <a:pt x="3982" y="1170"/>
                  </a:lnTo>
                  <a:lnTo>
                    <a:pt x="4014" y="1098"/>
                  </a:lnTo>
                  <a:lnTo>
                    <a:pt x="4034" y="1022"/>
                  </a:lnTo>
                  <a:lnTo>
                    <a:pt x="4040" y="944"/>
                  </a:lnTo>
                  <a:lnTo>
                    <a:pt x="4034" y="866"/>
                  </a:lnTo>
                  <a:lnTo>
                    <a:pt x="4014" y="790"/>
                  </a:lnTo>
                  <a:lnTo>
                    <a:pt x="3982" y="718"/>
                  </a:lnTo>
                  <a:lnTo>
                    <a:pt x="3938" y="646"/>
                  </a:lnTo>
                  <a:lnTo>
                    <a:pt x="3882" y="576"/>
                  </a:lnTo>
                  <a:lnTo>
                    <a:pt x="3814" y="510"/>
                  </a:lnTo>
                  <a:lnTo>
                    <a:pt x="3738" y="446"/>
                  </a:lnTo>
                  <a:lnTo>
                    <a:pt x="3650" y="386"/>
                  </a:lnTo>
                  <a:lnTo>
                    <a:pt x="3554" y="330"/>
                  </a:lnTo>
                  <a:lnTo>
                    <a:pt x="3448" y="276"/>
                  </a:lnTo>
                  <a:lnTo>
                    <a:pt x="3334" y="228"/>
                  </a:lnTo>
                  <a:lnTo>
                    <a:pt x="3212" y="182"/>
                  </a:lnTo>
                  <a:lnTo>
                    <a:pt x="3084" y="142"/>
                  </a:lnTo>
                  <a:lnTo>
                    <a:pt x="2948" y="106"/>
                  </a:lnTo>
                  <a:lnTo>
                    <a:pt x="2806" y="74"/>
                  </a:lnTo>
                  <a:lnTo>
                    <a:pt x="2658" y="48"/>
                  </a:lnTo>
                  <a:lnTo>
                    <a:pt x="2506" y="28"/>
                  </a:lnTo>
                  <a:lnTo>
                    <a:pt x="2348" y="12"/>
                  </a:lnTo>
                  <a:lnTo>
                    <a:pt x="2186" y="4"/>
                  </a:lnTo>
                  <a:lnTo>
                    <a:pt x="2020" y="0"/>
                  </a:lnTo>
                  <a:close/>
                  <a:moveTo>
                    <a:pt x="1922" y="1748"/>
                  </a:moveTo>
                  <a:lnTo>
                    <a:pt x="1762" y="1746"/>
                  </a:lnTo>
                  <a:lnTo>
                    <a:pt x="1606" y="1736"/>
                  </a:lnTo>
                  <a:lnTo>
                    <a:pt x="1454" y="1722"/>
                  </a:lnTo>
                  <a:lnTo>
                    <a:pt x="1306" y="1702"/>
                  </a:lnTo>
                  <a:lnTo>
                    <a:pt x="1164" y="1678"/>
                  </a:lnTo>
                  <a:lnTo>
                    <a:pt x="1028" y="1648"/>
                  </a:lnTo>
                  <a:lnTo>
                    <a:pt x="898" y="1614"/>
                  </a:lnTo>
                  <a:lnTo>
                    <a:pt x="776" y="1576"/>
                  </a:lnTo>
                  <a:lnTo>
                    <a:pt x="662" y="1532"/>
                  </a:lnTo>
                  <a:lnTo>
                    <a:pt x="554" y="1486"/>
                  </a:lnTo>
                  <a:lnTo>
                    <a:pt x="458" y="1436"/>
                  </a:lnTo>
                  <a:lnTo>
                    <a:pt x="370" y="1382"/>
                  </a:lnTo>
                  <a:lnTo>
                    <a:pt x="292" y="1326"/>
                  </a:lnTo>
                  <a:lnTo>
                    <a:pt x="224" y="1266"/>
                  </a:lnTo>
                  <a:lnTo>
                    <a:pt x="166" y="1204"/>
                  </a:lnTo>
                  <a:lnTo>
                    <a:pt x="122" y="1140"/>
                  </a:lnTo>
                  <a:lnTo>
                    <a:pt x="88" y="1074"/>
                  </a:lnTo>
                  <a:lnTo>
                    <a:pt x="68" y="1004"/>
                  </a:lnTo>
                  <a:lnTo>
                    <a:pt x="62" y="934"/>
                  </a:lnTo>
                  <a:lnTo>
                    <a:pt x="68" y="864"/>
                  </a:lnTo>
                  <a:lnTo>
                    <a:pt x="88" y="796"/>
                  </a:lnTo>
                  <a:lnTo>
                    <a:pt x="122" y="730"/>
                  </a:lnTo>
                  <a:lnTo>
                    <a:pt x="166" y="664"/>
                  </a:lnTo>
                  <a:lnTo>
                    <a:pt x="224" y="602"/>
                  </a:lnTo>
                  <a:lnTo>
                    <a:pt x="292" y="544"/>
                  </a:lnTo>
                  <a:lnTo>
                    <a:pt x="370" y="486"/>
                  </a:lnTo>
                  <a:lnTo>
                    <a:pt x="458" y="434"/>
                  </a:lnTo>
                  <a:lnTo>
                    <a:pt x="554" y="382"/>
                  </a:lnTo>
                  <a:lnTo>
                    <a:pt x="662" y="336"/>
                  </a:lnTo>
                  <a:lnTo>
                    <a:pt x="776" y="294"/>
                  </a:lnTo>
                  <a:lnTo>
                    <a:pt x="898" y="256"/>
                  </a:lnTo>
                  <a:lnTo>
                    <a:pt x="1028" y="222"/>
                  </a:lnTo>
                  <a:lnTo>
                    <a:pt x="1164" y="192"/>
                  </a:lnTo>
                  <a:lnTo>
                    <a:pt x="1306" y="166"/>
                  </a:lnTo>
                  <a:lnTo>
                    <a:pt x="1454" y="148"/>
                  </a:lnTo>
                  <a:lnTo>
                    <a:pt x="1606" y="132"/>
                  </a:lnTo>
                  <a:lnTo>
                    <a:pt x="1762" y="124"/>
                  </a:lnTo>
                  <a:lnTo>
                    <a:pt x="1922" y="120"/>
                  </a:lnTo>
                  <a:lnTo>
                    <a:pt x="2084" y="124"/>
                  </a:lnTo>
                  <a:lnTo>
                    <a:pt x="2240" y="132"/>
                  </a:lnTo>
                  <a:lnTo>
                    <a:pt x="2392" y="148"/>
                  </a:lnTo>
                  <a:lnTo>
                    <a:pt x="2540" y="166"/>
                  </a:lnTo>
                  <a:lnTo>
                    <a:pt x="2682" y="192"/>
                  </a:lnTo>
                  <a:lnTo>
                    <a:pt x="2818" y="222"/>
                  </a:lnTo>
                  <a:lnTo>
                    <a:pt x="2948" y="256"/>
                  </a:lnTo>
                  <a:lnTo>
                    <a:pt x="3070" y="294"/>
                  </a:lnTo>
                  <a:lnTo>
                    <a:pt x="3184" y="336"/>
                  </a:lnTo>
                  <a:lnTo>
                    <a:pt x="3292" y="382"/>
                  </a:lnTo>
                  <a:lnTo>
                    <a:pt x="3388" y="434"/>
                  </a:lnTo>
                  <a:lnTo>
                    <a:pt x="3476" y="486"/>
                  </a:lnTo>
                  <a:lnTo>
                    <a:pt x="3554" y="544"/>
                  </a:lnTo>
                  <a:lnTo>
                    <a:pt x="3622" y="602"/>
                  </a:lnTo>
                  <a:lnTo>
                    <a:pt x="3680" y="664"/>
                  </a:lnTo>
                  <a:lnTo>
                    <a:pt x="3724" y="730"/>
                  </a:lnTo>
                  <a:lnTo>
                    <a:pt x="3758" y="796"/>
                  </a:lnTo>
                  <a:lnTo>
                    <a:pt x="3778" y="864"/>
                  </a:lnTo>
                  <a:lnTo>
                    <a:pt x="3784" y="934"/>
                  </a:lnTo>
                  <a:lnTo>
                    <a:pt x="3778" y="1004"/>
                  </a:lnTo>
                  <a:lnTo>
                    <a:pt x="3758" y="1074"/>
                  </a:lnTo>
                  <a:lnTo>
                    <a:pt x="3724" y="1140"/>
                  </a:lnTo>
                  <a:lnTo>
                    <a:pt x="3680" y="1204"/>
                  </a:lnTo>
                  <a:lnTo>
                    <a:pt x="3622" y="1266"/>
                  </a:lnTo>
                  <a:lnTo>
                    <a:pt x="3554" y="1326"/>
                  </a:lnTo>
                  <a:lnTo>
                    <a:pt x="3476" y="1382"/>
                  </a:lnTo>
                  <a:lnTo>
                    <a:pt x="3388" y="1436"/>
                  </a:lnTo>
                  <a:lnTo>
                    <a:pt x="3292" y="1486"/>
                  </a:lnTo>
                  <a:lnTo>
                    <a:pt x="3184" y="1532"/>
                  </a:lnTo>
                  <a:lnTo>
                    <a:pt x="3070" y="1576"/>
                  </a:lnTo>
                  <a:lnTo>
                    <a:pt x="2948" y="1614"/>
                  </a:lnTo>
                  <a:lnTo>
                    <a:pt x="2818" y="1648"/>
                  </a:lnTo>
                  <a:lnTo>
                    <a:pt x="2682" y="1678"/>
                  </a:lnTo>
                  <a:lnTo>
                    <a:pt x="2540" y="1702"/>
                  </a:lnTo>
                  <a:lnTo>
                    <a:pt x="2392" y="1722"/>
                  </a:lnTo>
                  <a:lnTo>
                    <a:pt x="2240" y="1736"/>
                  </a:lnTo>
                  <a:lnTo>
                    <a:pt x="2084" y="1746"/>
                  </a:lnTo>
                  <a:lnTo>
                    <a:pt x="1922" y="1748"/>
                  </a:lnTo>
                  <a:close/>
                </a:path>
              </a:pathLst>
            </a:custGeom>
            <a:gradFill rotWithShape="1">
              <a:gsLst>
                <a:gs pos="0">
                  <a:schemeClr val="bg2">
                    <a:gamma/>
                    <a:tint val="30196"/>
                    <a:invGamma/>
                    <a:alpha val="36000"/>
                  </a:schemeClr>
                </a:gs>
                <a:gs pos="100000">
                  <a:schemeClr val="bg2"/>
                </a:gs>
              </a:gsLst>
              <a:lin ang="0" scaled="1"/>
            </a:gradFill>
            <a:ln w="0">
              <a:noFill/>
              <a:prstDash val="solid"/>
              <a:round/>
              <a:headEnd/>
              <a:tailEnd/>
            </a:ln>
          </p:spPr>
          <p:txBody>
            <a:bodyPr/>
            <a:lstStyle/>
            <a:p>
              <a:pPr>
                <a:defRPr/>
              </a:pPr>
              <a:endParaRPr lang="zh-CN" altLang="en-US">
                <a:solidFill>
                  <a:srgbClr val="0000FF"/>
                </a:solidFill>
                <a:ea typeface="宋体" pitchFamily="2" charset="-122"/>
              </a:endParaRPr>
            </a:p>
          </p:txBody>
        </p:sp>
        <p:sp>
          <p:nvSpPr>
            <p:cNvPr id="60423" name="Oval 6"/>
            <p:cNvSpPr>
              <a:spLocks noChangeArrowheads="1"/>
            </p:cNvSpPr>
            <p:nvPr/>
          </p:nvSpPr>
          <p:spPr bwMode="auto">
            <a:xfrm rot="-1543677">
              <a:off x="2819" y="1344"/>
              <a:ext cx="672" cy="192"/>
            </a:xfrm>
            <a:prstGeom prst="ellipse">
              <a:avLst/>
            </a:prstGeom>
            <a:gradFill rotWithShape="1">
              <a:gsLst>
                <a:gs pos="0">
                  <a:srgbClr val="5F5F5F"/>
                </a:gs>
                <a:gs pos="100000">
                  <a:srgbClr val="84A5CA"/>
                </a:gs>
              </a:gsLst>
              <a:lin ang="0" scaled="1"/>
            </a:gradFill>
            <a:ln w="9525">
              <a:noFill/>
              <a:round/>
              <a:headEnd/>
              <a:tailEnd/>
            </a:ln>
          </p:spPr>
          <p:txBody>
            <a:bodyPr wrap="none" anchor="ctr"/>
            <a:lstStyle/>
            <a:p>
              <a:endParaRPr lang="zh-CN" altLang="en-US">
                <a:solidFill>
                  <a:srgbClr val="0000FF"/>
                </a:solidFill>
                <a:ea typeface="宋体" charset="-122"/>
              </a:endParaRPr>
            </a:p>
          </p:txBody>
        </p:sp>
        <p:sp>
          <p:nvSpPr>
            <p:cNvPr id="60424" name="Oval 7"/>
            <p:cNvSpPr>
              <a:spLocks noChangeArrowheads="1"/>
            </p:cNvSpPr>
            <p:nvPr/>
          </p:nvSpPr>
          <p:spPr bwMode="auto">
            <a:xfrm rot="-1543677">
              <a:off x="4499" y="1440"/>
              <a:ext cx="672" cy="192"/>
            </a:xfrm>
            <a:prstGeom prst="ellipse">
              <a:avLst/>
            </a:prstGeom>
            <a:gradFill rotWithShape="1">
              <a:gsLst>
                <a:gs pos="0">
                  <a:srgbClr val="5F5F5F"/>
                </a:gs>
                <a:gs pos="100000">
                  <a:srgbClr val="84A5CA"/>
                </a:gs>
              </a:gsLst>
              <a:lin ang="0" scaled="1"/>
            </a:gradFill>
            <a:ln w="9525">
              <a:noFill/>
              <a:round/>
              <a:headEnd/>
              <a:tailEnd/>
            </a:ln>
          </p:spPr>
          <p:txBody>
            <a:bodyPr wrap="none" anchor="ctr"/>
            <a:lstStyle/>
            <a:p>
              <a:endParaRPr lang="zh-CN" altLang="en-US">
                <a:solidFill>
                  <a:srgbClr val="0000FF"/>
                </a:solidFill>
                <a:ea typeface="宋体" charset="-122"/>
              </a:endParaRPr>
            </a:p>
          </p:txBody>
        </p:sp>
        <p:sp>
          <p:nvSpPr>
            <p:cNvPr id="60425" name="Oval 8"/>
            <p:cNvSpPr>
              <a:spLocks noChangeArrowheads="1"/>
            </p:cNvSpPr>
            <p:nvPr/>
          </p:nvSpPr>
          <p:spPr bwMode="auto">
            <a:xfrm rot="-1543677">
              <a:off x="1907" y="3120"/>
              <a:ext cx="672" cy="192"/>
            </a:xfrm>
            <a:prstGeom prst="ellipse">
              <a:avLst/>
            </a:prstGeom>
            <a:gradFill rotWithShape="1">
              <a:gsLst>
                <a:gs pos="0">
                  <a:srgbClr val="5F5F5F"/>
                </a:gs>
                <a:gs pos="100000">
                  <a:srgbClr val="84A5CA"/>
                </a:gs>
              </a:gsLst>
              <a:lin ang="0" scaled="1"/>
            </a:gradFill>
            <a:ln w="9525">
              <a:noFill/>
              <a:round/>
              <a:headEnd/>
              <a:tailEnd/>
            </a:ln>
          </p:spPr>
          <p:txBody>
            <a:bodyPr wrap="none" anchor="ctr"/>
            <a:lstStyle/>
            <a:p>
              <a:endParaRPr lang="zh-CN" altLang="en-US">
                <a:solidFill>
                  <a:srgbClr val="0000FF"/>
                </a:solidFill>
                <a:ea typeface="宋体" charset="-122"/>
              </a:endParaRPr>
            </a:p>
          </p:txBody>
        </p:sp>
        <p:sp>
          <p:nvSpPr>
            <p:cNvPr id="60426" name="Oval 9"/>
            <p:cNvSpPr>
              <a:spLocks noChangeArrowheads="1"/>
            </p:cNvSpPr>
            <p:nvPr/>
          </p:nvSpPr>
          <p:spPr bwMode="auto">
            <a:xfrm rot="-1543677">
              <a:off x="3539" y="2736"/>
              <a:ext cx="672" cy="192"/>
            </a:xfrm>
            <a:prstGeom prst="ellipse">
              <a:avLst/>
            </a:prstGeom>
            <a:gradFill rotWithShape="1">
              <a:gsLst>
                <a:gs pos="0">
                  <a:srgbClr val="5F5F5F"/>
                </a:gs>
                <a:gs pos="100000">
                  <a:srgbClr val="84A5CA"/>
                </a:gs>
              </a:gsLst>
              <a:lin ang="0" scaled="1"/>
            </a:gradFill>
            <a:ln w="9525">
              <a:noFill/>
              <a:round/>
              <a:headEnd/>
              <a:tailEnd/>
            </a:ln>
          </p:spPr>
          <p:txBody>
            <a:bodyPr wrap="none" anchor="ctr"/>
            <a:lstStyle/>
            <a:p>
              <a:endParaRPr lang="zh-CN" altLang="en-US">
                <a:solidFill>
                  <a:srgbClr val="0000FF"/>
                </a:solidFill>
                <a:ea typeface="宋体" charset="-122"/>
              </a:endParaRPr>
            </a:p>
          </p:txBody>
        </p:sp>
        <p:sp>
          <p:nvSpPr>
            <p:cNvPr id="60427" name="Oval 10"/>
            <p:cNvSpPr>
              <a:spLocks noChangeArrowheads="1"/>
            </p:cNvSpPr>
            <p:nvPr/>
          </p:nvSpPr>
          <p:spPr bwMode="auto">
            <a:xfrm rot="-1543677">
              <a:off x="1379" y="2208"/>
              <a:ext cx="672" cy="192"/>
            </a:xfrm>
            <a:prstGeom prst="ellipse">
              <a:avLst/>
            </a:prstGeom>
            <a:gradFill rotWithShape="1">
              <a:gsLst>
                <a:gs pos="0">
                  <a:srgbClr val="5F5F5F"/>
                </a:gs>
                <a:gs pos="100000">
                  <a:srgbClr val="84A5CA"/>
                </a:gs>
              </a:gsLst>
              <a:lin ang="0" scaled="1"/>
            </a:gradFill>
            <a:ln w="9525">
              <a:noFill/>
              <a:round/>
              <a:headEnd/>
              <a:tailEnd/>
            </a:ln>
          </p:spPr>
          <p:txBody>
            <a:bodyPr wrap="none" anchor="ctr"/>
            <a:lstStyle/>
            <a:p>
              <a:endParaRPr lang="zh-CN" altLang="en-US">
                <a:solidFill>
                  <a:srgbClr val="0000FF"/>
                </a:solidFill>
                <a:ea typeface="宋体" charset="-122"/>
              </a:endParaRPr>
            </a:p>
          </p:txBody>
        </p:sp>
        <p:sp>
          <p:nvSpPr>
            <p:cNvPr id="119819" name="Oval 11"/>
            <p:cNvSpPr>
              <a:spLocks noChangeArrowheads="1"/>
            </p:cNvSpPr>
            <p:nvPr/>
          </p:nvSpPr>
          <p:spPr bwMode="gray">
            <a:xfrm>
              <a:off x="2490" y="912"/>
              <a:ext cx="720" cy="694"/>
            </a:xfrm>
            <a:prstGeom prst="ellipse">
              <a:avLst/>
            </a:prstGeom>
            <a:gradFill rotWithShape="1">
              <a:gsLst>
                <a:gs pos="0">
                  <a:schemeClr val="hlink"/>
                </a:gs>
                <a:gs pos="100000">
                  <a:schemeClr val="hlink">
                    <a:gamma/>
                    <a:shade val="34510"/>
                    <a:invGamma/>
                  </a:schemeClr>
                </a:gs>
              </a:gsLst>
              <a:path path="shape">
                <a:fillToRect l="50000" t="50000" r="50000" b="50000"/>
              </a:path>
            </a:gradFill>
            <a:ln w="9525">
              <a:noFill/>
              <a:round/>
              <a:headEnd/>
              <a:tailEnd/>
            </a:ln>
            <a:effectLst/>
          </p:spPr>
          <p:txBody>
            <a:bodyPr wrap="none" anchor="ctr"/>
            <a:lstStyle/>
            <a:p>
              <a:pPr algn="ctr">
                <a:defRPr/>
              </a:pPr>
              <a:endParaRPr lang="zh-CN" altLang="en-US">
                <a:solidFill>
                  <a:srgbClr val="0000FF"/>
                </a:solidFill>
                <a:ea typeface="宋体" pitchFamily="2" charset="-122"/>
              </a:endParaRPr>
            </a:p>
          </p:txBody>
        </p:sp>
        <p:sp>
          <p:nvSpPr>
            <p:cNvPr id="119820" name="Oval 12"/>
            <p:cNvSpPr>
              <a:spLocks noChangeArrowheads="1"/>
            </p:cNvSpPr>
            <p:nvPr/>
          </p:nvSpPr>
          <p:spPr bwMode="gray">
            <a:xfrm>
              <a:off x="1082" y="1742"/>
              <a:ext cx="719" cy="694"/>
            </a:xfrm>
            <a:prstGeom prst="ellipse">
              <a:avLst/>
            </a:prstGeom>
            <a:gradFill rotWithShape="1">
              <a:gsLst>
                <a:gs pos="0">
                  <a:schemeClr val="accent1"/>
                </a:gs>
                <a:gs pos="100000">
                  <a:schemeClr val="accent1">
                    <a:gamma/>
                    <a:shade val="31373"/>
                    <a:invGamma/>
                  </a:schemeClr>
                </a:gs>
              </a:gsLst>
              <a:path path="shape">
                <a:fillToRect l="50000" t="50000" r="50000" b="50000"/>
              </a:path>
            </a:gradFill>
            <a:ln w="9525">
              <a:noFill/>
              <a:round/>
              <a:headEnd/>
              <a:tailEnd/>
            </a:ln>
            <a:effectLst/>
          </p:spPr>
          <p:txBody>
            <a:bodyPr wrap="none" anchor="ctr"/>
            <a:lstStyle/>
            <a:p>
              <a:pPr algn="ctr">
                <a:defRPr/>
              </a:pPr>
              <a:endParaRPr lang="zh-CN" altLang="en-US">
                <a:solidFill>
                  <a:srgbClr val="0000FF"/>
                </a:solidFill>
                <a:ea typeface="宋体" pitchFamily="2" charset="-122"/>
              </a:endParaRPr>
            </a:p>
          </p:txBody>
        </p:sp>
        <p:sp>
          <p:nvSpPr>
            <p:cNvPr id="119821" name="Oval 13"/>
            <p:cNvSpPr>
              <a:spLocks noChangeArrowheads="1"/>
            </p:cNvSpPr>
            <p:nvPr/>
          </p:nvSpPr>
          <p:spPr bwMode="gray">
            <a:xfrm>
              <a:off x="1576" y="2666"/>
              <a:ext cx="719" cy="694"/>
            </a:xfrm>
            <a:prstGeom prst="ellipse">
              <a:avLst/>
            </a:prstGeom>
            <a:gradFill rotWithShape="1">
              <a:gsLst>
                <a:gs pos="0">
                  <a:schemeClr val="accent2"/>
                </a:gs>
                <a:gs pos="100000">
                  <a:schemeClr val="accent2">
                    <a:gamma/>
                    <a:shade val="35686"/>
                    <a:invGamma/>
                  </a:schemeClr>
                </a:gs>
              </a:gsLst>
              <a:path path="shape">
                <a:fillToRect l="50000" t="50000" r="50000" b="50000"/>
              </a:path>
            </a:gradFill>
            <a:ln w="9525">
              <a:noFill/>
              <a:round/>
              <a:headEnd/>
              <a:tailEnd/>
            </a:ln>
            <a:effectLst/>
          </p:spPr>
          <p:txBody>
            <a:bodyPr wrap="none" anchor="ctr"/>
            <a:lstStyle/>
            <a:p>
              <a:pPr algn="ctr">
                <a:defRPr/>
              </a:pPr>
              <a:endParaRPr lang="zh-CN" altLang="en-US">
                <a:solidFill>
                  <a:srgbClr val="0000FF"/>
                </a:solidFill>
                <a:ea typeface="宋体" pitchFamily="2" charset="-122"/>
              </a:endParaRPr>
            </a:p>
          </p:txBody>
        </p:sp>
        <p:sp>
          <p:nvSpPr>
            <p:cNvPr id="119822" name="Oval 14"/>
            <p:cNvSpPr>
              <a:spLocks noChangeArrowheads="1"/>
            </p:cNvSpPr>
            <p:nvPr/>
          </p:nvSpPr>
          <p:spPr bwMode="gray">
            <a:xfrm>
              <a:off x="3131" y="2323"/>
              <a:ext cx="719" cy="694"/>
            </a:xfrm>
            <a:prstGeom prst="ellipse">
              <a:avLst/>
            </a:prstGeom>
            <a:gradFill rotWithShape="1">
              <a:gsLst>
                <a:gs pos="0">
                  <a:schemeClr val="bg2"/>
                </a:gs>
                <a:gs pos="100000">
                  <a:schemeClr val="bg2">
                    <a:gamma/>
                    <a:shade val="35686"/>
                    <a:invGamma/>
                  </a:schemeClr>
                </a:gs>
              </a:gsLst>
              <a:path path="shape">
                <a:fillToRect l="50000" t="50000" r="50000" b="50000"/>
              </a:path>
            </a:gradFill>
            <a:ln w="9525">
              <a:noFill/>
              <a:round/>
              <a:headEnd/>
              <a:tailEnd/>
            </a:ln>
            <a:effectLst/>
          </p:spPr>
          <p:txBody>
            <a:bodyPr wrap="none" anchor="ctr"/>
            <a:lstStyle/>
            <a:p>
              <a:pPr algn="ctr">
                <a:defRPr/>
              </a:pPr>
              <a:endParaRPr lang="zh-CN" altLang="en-US">
                <a:solidFill>
                  <a:srgbClr val="0000FF"/>
                </a:solidFill>
                <a:ea typeface="宋体" pitchFamily="2" charset="-122"/>
              </a:endParaRPr>
            </a:p>
          </p:txBody>
        </p:sp>
        <p:sp>
          <p:nvSpPr>
            <p:cNvPr id="119823" name="Oval 15"/>
            <p:cNvSpPr>
              <a:spLocks noChangeArrowheads="1"/>
            </p:cNvSpPr>
            <p:nvPr/>
          </p:nvSpPr>
          <p:spPr bwMode="gray">
            <a:xfrm>
              <a:off x="4155" y="1036"/>
              <a:ext cx="680" cy="695"/>
            </a:xfrm>
            <a:prstGeom prst="ellipse">
              <a:avLst/>
            </a:prstGeom>
            <a:gradFill rotWithShape="1">
              <a:gsLst>
                <a:gs pos="0">
                  <a:schemeClr val="folHlink"/>
                </a:gs>
                <a:gs pos="100000">
                  <a:schemeClr val="folHlink">
                    <a:gamma/>
                    <a:shade val="34510"/>
                    <a:invGamma/>
                  </a:schemeClr>
                </a:gs>
              </a:gsLst>
              <a:path path="shape">
                <a:fillToRect l="50000" t="50000" r="50000" b="50000"/>
              </a:path>
            </a:gradFill>
            <a:ln w="9525">
              <a:noFill/>
              <a:round/>
              <a:headEnd/>
              <a:tailEnd/>
            </a:ln>
            <a:effectLst/>
          </p:spPr>
          <p:txBody>
            <a:bodyPr wrap="none" anchor="ctr"/>
            <a:lstStyle/>
            <a:p>
              <a:pPr algn="ctr">
                <a:defRPr/>
              </a:pPr>
              <a:endParaRPr lang="zh-CN" altLang="en-US" b="1">
                <a:solidFill>
                  <a:srgbClr val="0000FF"/>
                </a:solidFill>
                <a:ea typeface="宋体" pitchFamily="2" charset="-122"/>
              </a:endParaRPr>
            </a:p>
          </p:txBody>
        </p:sp>
        <p:sp>
          <p:nvSpPr>
            <p:cNvPr id="60433" name="Text Box 16"/>
            <p:cNvSpPr txBox="1">
              <a:spLocks noChangeArrowheads="1"/>
            </p:cNvSpPr>
            <p:nvPr/>
          </p:nvSpPr>
          <p:spPr bwMode="white">
            <a:xfrm>
              <a:off x="1210" y="1994"/>
              <a:ext cx="468" cy="231"/>
            </a:xfrm>
            <a:prstGeom prst="rect">
              <a:avLst/>
            </a:prstGeom>
            <a:noFill/>
            <a:ln w="9525">
              <a:noFill/>
              <a:miter lim="800000"/>
              <a:headEnd/>
              <a:tailEnd/>
            </a:ln>
          </p:spPr>
          <p:txBody>
            <a:bodyPr wrap="none">
              <a:spAutoFit/>
            </a:bodyPr>
            <a:lstStyle/>
            <a:p>
              <a:pPr eaLnBrk="0" hangingPunct="0"/>
              <a:r>
                <a:rPr lang="en-US" altLang="zh-CN" b="1">
                  <a:solidFill>
                    <a:srgbClr val="0000FF"/>
                  </a:solidFill>
                  <a:ea typeface="宋体" charset="-122"/>
                </a:rPr>
                <a:t>City5</a:t>
              </a:r>
            </a:p>
          </p:txBody>
        </p:sp>
        <p:sp>
          <p:nvSpPr>
            <p:cNvPr id="60434" name="Text Box 17"/>
            <p:cNvSpPr txBox="1">
              <a:spLocks noChangeArrowheads="1"/>
            </p:cNvSpPr>
            <p:nvPr/>
          </p:nvSpPr>
          <p:spPr bwMode="white">
            <a:xfrm>
              <a:off x="2589" y="1161"/>
              <a:ext cx="531" cy="231"/>
            </a:xfrm>
            <a:prstGeom prst="rect">
              <a:avLst/>
            </a:prstGeom>
            <a:noFill/>
            <a:ln w="9525">
              <a:noFill/>
              <a:miter lim="800000"/>
              <a:headEnd/>
              <a:tailEnd/>
            </a:ln>
          </p:spPr>
          <p:txBody>
            <a:bodyPr wrap="none">
              <a:spAutoFit/>
            </a:bodyPr>
            <a:lstStyle/>
            <a:p>
              <a:pPr eaLnBrk="0" hangingPunct="0"/>
              <a:r>
                <a:rPr lang="en-US" altLang="zh-CN" b="1">
                  <a:solidFill>
                    <a:srgbClr val="0000FF"/>
                  </a:solidFill>
                  <a:latin typeface="Verdana" pitchFamily="34" charset="0"/>
                  <a:ea typeface="宋体" charset="-122"/>
                </a:rPr>
                <a:t>City1</a:t>
              </a:r>
            </a:p>
          </p:txBody>
        </p:sp>
        <p:sp>
          <p:nvSpPr>
            <p:cNvPr id="60435" name="Text Box 18"/>
            <p:cNvSpPr txBox="1">
              <a:spLocks noChangeArrowheads="1"/>
            </p:cNvSpPr>
            <p:nvPr/>
          </p:nvSpPr>
          <p:spPr bwMode="white">
            <a:xfrm>
              <a:off x="4305" y="1296"/>
              <a:ext cx="468" cy="231"/>
            </a:xfrm>
            <a:prstGeom prst="rect">
              <a:avLst/>
            </a:prstGeom>
            <a:noFill/>
            <a:ln w="9525">
              <a:noFill/>
              <a:miter lim="800000"/>
              <a:headEnd/>
              <a:tailEnd/>
            </a:ln>
          </p:spPr>
          <p:txBody>
            <a:bodyPr wrap="none">
              <a:spAutoFit/>
            </a:bodyPr>
            <a:lstStyle/>
            <a:p>
              <a:pPr eaLnBrk="0" hangingPunct="0"/>
              <a:r>
                <a:rPr lang="en-US" altLang="zh-CN" b="1">
                  <a:solidFill>
                    <a:srgbClr val="0000FF"/>
                  </a:solidFill>
                  <a:ea typeface="宋体" charset="-122"/>
                </a:rPr>
                <a:t>City2</a:t>
              </a:r>
            </a:p>
          </p:txBody>
        </p:sp>
        <p:sp>
          <p:nvSpPr>
            <p:cNvPr id="60436" name="Text Box 19"/>
            <p:cNvSpPr txBox="1">
              <a:spLocks noChangeArrowheads="1"/>
            </p:cNvSpPr>
            <p:nvPr/>
          </p:nvSpPr>
          <p:spPr bwMode="white">
            <a:xfrm>
              <a:off x="3264" y="2575"/>
              <a:ext cx="468" cy="231"/>
            </a:xfrm>
            <a:prstGeom prst="rect">
              <a:avLst/>
            </a:prstGeom>
            <a:noFill/>
            <a:ln w="9525">
              <a:noFill/>
              <a:miter lim="800000"/>
              <a:headEnd/>
              <a:tailEnd/>
            </a:ln>
          </p:spPr>
          <p:txBody>
            <a:bodyPr wrap="none">
              <a:spAutoFit/>
            </a:bodyPr>
            <a:lstStyle/>
            <a:p>
              <a:pPr eaLnBrk="0" hangingPunct="0"/>
              <a:r>
                <a:rPr lang="en-US" altLang="zh-CN" b="1">
                  <a:solidFill>
                    <a:srgbClr val="0000FF"/>
                  </a:solidFill>
                  <a:ea typeface="宋体" charset="-122"/>
                </a:rPr>
                <a:t>City3</a:t>
              </a:r>
            </a:p>
          </p:txBody>
        </p:sp>
        <p:sp>
          <p:nvSpPr>
            <p:cNvPr id="60437" name="Text Box 20"/>
            <p:cNvSpPr txBox="1">
              <a:spLocks noChangeArrowheads="1"/>
            </p:cNvSpPr>
            <p:nvPr/>
          </p:nvSpPr>
          <p:spPr bwMode="white">
            <a:xfrm>
              <a:off x="1721" y="2914"/>
              <a:ext cx="468" cy="231"/>
            </a:xfrm>
            <a:prstGeom prst="rect">
              <a:avLst/>
            </a:prstGeom>
            <a:noFill/>
            <a:ln w="9525">
              <a:noFill/>
              <a:miter lim="800000"/>
              <a:headEnd/>
              <a:tailEnd/>
            </a:ln>
          </p:spPr>
          <p:txBody>
            <a:bodyPr wrap="none">
              <a:spAutoFit/>
            </a:bodyPr>
            <a:lstStyle/>
            <a:p>
              <a:pPr eaLnBrk="0" hangingPunct="0"/>
              <a:r>
                <a:rPr lang="en-US" altLang="zh-CN" b="1">
                  <a:solidFill>
                    <a:srgbClr val="0000FF"/>
                  </a:solidFill>
                  <a:ea typeface="宋体" charset="-122"/>
                </a:rPr>
                <a:t>City4</a:t>
              </a:r>
            </a:p>
          </p:txBody>
        </p:sp>
      </p:grpSp>
      <p:sp>
        <p:nvSpPr>
          <p:cNvPr id="60421" name="Text Box 26"/>
          <p:cNvSpPr txBox="1">
            <a:spLocks noChangeArrowheads="1"/>
          </p:cNvSpPr>
          <p:nvPr/>
        </p:nvSpPr>
        <p:spPr bwMode="auto">
          <a:xfrm>
            <a:off x="304800" y="4986337"/>
            <a:ext cx="8305800" cy="1311275"/>
          </a:xfrm>
          <a:prstGeom prst="rect">
            <a:avLst/>
          </a:prstGeom>
          <a:noFill/>
          <a:ln w="9525">
            <a:noFill/>
            <a:miter lim="800000"/>
            <a:headEnd/>
            <a:tailEnd/>
          </a:ln>
        </p:spPr>
        <p:txBody>
          <a:bodyPr>
            <a:spAutoFit/>
          </a:bodyPr>
          <a:lstStyle/>
          <a:p>
            <a:pPr>
              <a:spcBef>
                <a:spcPct val="50000"/>
              </a:spcBef>
            </a:pPr>
            <a:r>
              <a:rPr lang="zh-CN" altLang="en-US" sz="2000" b="1">
                <a:solidFill>
                  <a:srgbClr val="0000FF"/>
                </a:solidFill>
                <a:ea typeface="宋体" charset="-122"/>
              </a:rPr>
              <a:t>       巡回旅行商问题（</a:t>
            </a:r>
            <a:r>
              <a:rPr lang="en-US" altLang="zh-CN" sz="2000" b="1">
                <a:solidFill>
                  <a:srgbClr val="0000FF"/>
                </a:solidFill>
                <a:ea typeface="宋体" charset="-122"/>
              </a:rPr>
              <a:t>Traveling salesman problem, TSP</a:t>
            </a:r>
            <a:r>
              <a:rPr lang="zh-CN" altLang="en-US" sz="2000" b="1">
                <a:solidFill>
                  <a:srgbClr val="0000FF"/>
                </a:solidFill>
                <a:ea typeface="宋体" charset="-122"/>
              </a:rPr>
              <a:t>）可描述如下：已知</a:t>
            </a:r>
            <a:r>
              <a:rPr lang="en-US" altLang="zh-CN" sz="2000" b="1">
                <a:solidFill>
                  <a:srgbClr val="0000FF"/>
                </a:solidFill>
                <a:ea typeface="宋体" charset="-122"/>
              </a:rPr>
              <a:t>N</a:t>
            </a:r>
            <a:r>
              <a:rPr lang="zh-CN" altLang="en-US" sz="2000" b="1">
                <a:solidFill>
                  <a:srgbClr val="0000FF"/>
                </a:solidFill>
                <a:ea typeface="宋体" charset="-122"/>
              </a:rPr>
              <a:t>个城市之间的相互距离，现有一推销员必须遍历这</a:t>
            </a:r>
            <a:r>
              <a:rPr lang="en-US" altLang="zh-CN" sz="2000" b="1">
                <a:solidFill>
                  <a:srgbClr val="0000FF"/>
                </a:solidFill>
                <a:ea typeface="宋体" charset="-122"/>
              </a:rPr>
              <a:t>N</a:t>
            </a:r>
            <a:r>
              <a:rPr lang="zh-CN" altLang="en-US" sz="2000" b="1">
                <a:solidFill>
                  <a:srgbClr val="0000FF"/>
                </a:solidFill>
                <a:ea typeface="宋体" charset="-122"/>
              </a:rPr>
              <a:t>个城市，并且每个城市只能访问一次，最后又必须返回出发城市，如何安排他访问这些城市的次序，使其旅行路线总长度最短？ </a:t>
            </a:r>
          </a:p>
        </p:txBody>
      </p:sp>
    </p:spTree>
  </p:cSld>
  <p:clrMapOvr>
    <a:masterClrMapping/>
  </p:clrMapOvr>
  <p:timing>
    <p:tnLst>
      <p:par>
        <p:cTn id="1" dur="indefinite" restart="never" nodeType="tmRoot"/>
      </p:par>
    </p:tnLst>
  </p:timing>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1443" name="Picture 5"/>
          <p:cNvPicPr>
            <a:picLocks noChangeAspect="1" noChangeArrowheads="1"/>
          </p:cNvPicPr>
          <p:nvPr/>
        </p:nvPicPr>
        <p:blipFill>
          <a:blip r:embed="rId2" cstate="print"/>
          <a:srcRect/>
          <a:stretch>
            <a:fillRect/>
          </a:stretch>
        </p:blipFill>
        <p:spPr bwMode="auto">
          <a:xfrm>
            <a:off x="95250" y="1676400"/>
            <a:ext cx="2419350" cy="3581400"/>
          </a:xfrm>
          <a:prstGeom prst="rect">
            <a:avLst/>
          </a:prstGeom>
          <a:noFill/>
          <a:ln w="9525">
            <a:noFill/>
            <a:miter lim="800000"/>
            <a:headEnd/>
            <a:tailEnd/>
          </a:ln>
        </p:spPr>
      </p:pic>
      <p:pic>
        <p:nvPicPr>
          <p:cNvPr id="61444" name="Picture 7" descr="Slumptur"/>
          <p:cNvPicPr>
            <a:picLocks noChangeAspect="1" noChangeArrowheads="1"/>
          </p:cNvPicPr>
          <p:nvPr/>
        </p:nvPicPr>
        <p:blipFill>
          <a:blip r:embed="rId3" cstate="print"/>
          <a:srcRect/>
          <a:stretch>
            <a:fillRect/>
          </a:stretch>
        </p:blipFill>
        <p:spPr bwMode="auto">
          <a:xfrm>
            <a:off x="2705100" y="838200"/>
            <a:ext cx="3238500" cy="2465388"/>
          </a:xfrm>
          <a:prstGeom prst="rect">
            <a:avLst/>
          </a:prstGeom>
          <a:noFill/>
          <a:ln w="9525">
            <a:noFill/>
            <a:miter lim="800000"/>
            <a:headEnd/>
            <a:tailEnd/>
          </a:ln>
        </p:spPr>
      </p:pic>
      <p:pic>
        <p:nvPicPr>
          <p:cNvPr id="61445" name="Picture 8" descr="Kortad-rundtur"/>
          <p:cNvPicPr>
            <a:picLocks noChangeAspect="1" noChangeArrowheads="1"/>
          </p:cNvPicPr>
          <p:nvPr/>
        </p:nvPicPr>
        <p:blipFill>
          <a:blip r:embed="rId4" cstate="print"/>
          <a:srcRect/>
          <a:stretch>
            <a:fillRect/>
          </a:stretch>
        </p:blipFill>
        <p:spPr bwMode="auto">
          <a:xfrm>
            <a:off x="2705100" y="3733800"/>
            <a:ext cx="3238500" cy="2484438"/>
          </a:xfrm>
          <a:prstGeom prst="rect">
            <a:avLst/>
          </a:prstGeom>
          <a:noFill/>
          <a:ln w="9525">
            <a:noFill/>
            <a:miter lim="800000"/>
            <a:headEnd/>
            <a:tailEnd/>
          </a:ln>
        </p:spPr>
      </p:pic>
      <p:sp>
        <p:nvSpPr>
          <p:cNvPr id="61446" name="AutoShape 10"/>
          <p:cNvSpPr>
            <a:spLocks noChangeArrowheads="1"/>
          </p:cNvSpPr>
          <p:nvPr/>
        </p:nvSpPr>
        <p:spPr bwMode="auto">
          <a:xfrm>
            <a:off x="4533900" y="3276600"/>
            <a:ext cx="228600" cy="457200"/>
          </a:xfrm>
          <a:prstGeom prst="downArrow">
            <a:avLst>
              <a:gd name="adj1" fmla="val 50000"/>
              <a:gd name="adj2" fmla="val 50000"/>
            </a:avLst>
          </a:prstGeom>
          <a:solidFill>
            <a:srgbClr val="FF6600"/>
          </a:solidFill>
          <a:ln w="9525">
            <a:noFill/>
            <a:miter lim="800000"/>
            <a:headEnd/>
            <a:tailEnd/>
          </a:ln>
        </p:spPr>
        <p:txBody>
          <a:bodyPr wrap="none" anchor="ctr"/>
          <a:lstStyle/>
          <a:p>
            <a:endParaRPr lang="zh-CN" altLang="en-US">
              <a:solidFill>
                <a:srgbClr val="0000FF"/>
              </a:solidFill>
              <a:ea typeface="宋体" charset="-122"/>
            </a:endParaRPr>
          </a:p>
        </p:txBody>
      </p:sp>
      <p:pic>
        <p:nvPicPr>
          <p:cNvPr id="61447" name="Picture 11"/>
          <p:cNvPicPr>
            <a:picLocks noChangeAspect="1" noChangeArrowheads="1"/>
          </p:cNvPicPr>
          <p:nvPr/>
        </p:nvPicPr>
        <p:blipFill>
          <a:blip r:embed="rId5" cstate="print"/>
          <a:srcRect/>
          <a:stretch>
            <a:fillRect/>
          </a:stretch>
        </p:blipFill>
        <p:spPr bwMode="auto">
          <a:xfrm>
            <a:off x="6097588" y="1371600"/>
            <a:ext cx="3046412" cy="4267200"/>
          </a:xfrm>
          <a:prstGeom prst="rect">
            <a:avLst/>
          </a:prstGeom>
          <a:noFill/>
          <a:ln w="9525">
            <a:noFill/>
            <a:miter lim="800000"/>
            <a:headEnd/>
            <a:tailEnd/>
          </a:ln>
        </p:spPr>
      </p:pic>
      <p:sp>
        <p:nvSpPr>
          <p:cNvPr id="61448" name="Text Box 12"/>
          <p:cNvSpPr txBox="1">
            <a:spLocks noChangeArrowheads="1"/>
          </p:cNvSpPr>
          <p:nvPr/>
        </p:nvSpPr>
        <p:spPr bwMode="auto">
          <a:xfrm>
            <a:off x="6553200" y="5791200"/>
            <a:ext cx="2133600" cy="396875"/>
          </a:xfrm>
          <a:prstGeom prst="rect">
            <a:avLst/>
          </a:prstGeom>
          <a:noFill/>
          <a:ln w="9525">
            <a:noFill/>
            <a:miter lim="800000"/>
            <a:headEnd/>
            <a:tailEnd/>
          </a:ln>
        </p:spPr>
        <p:txBody>
          <a:bodyPr>
            <a:spAutoFit/>
          </a:bodyPr>
          <a:lstStyle/>
          <a:p>
            <a:pPr algn="ctr">
              <a:spcBef>
                <a:spcPct val="50000"/>
              </a:spcBef>
            </a:pPr>
            <a:r>
              <a:rPr lang="en-US" altLang="zh-CN" sz="2000" b="1">
                <a:solidFill>
                  <a:srgbClr val="0000FF"/>
                </a:solidFill>
                <a:ea typeface="宋体" charset="-122"/>
              </a:rPr>
              <a:t>CHN31</a:t>
            </a:r>
            <a:r>
              <a:rPr lang="zh-CN" altLang="en-US" sz="2000" b="1">
                <a:solidFill>
                  <a:srgbClr val="0000FF"/>
                </a:solidFill>
                <a:ea typeface="宋体" charset="-122"/>
              </a:rPr>
              <a:t>问题</a:t>
            </a:r>
          </a:p>
        </p:txBody>
      </p:sp>
      <p:sp>
        <p:nvSpPr>
          <p:cNvPr id="61449" name="Text Box 13"/>
          <p:cNvSpPr txBox="1">
            <a:spLocks noChangeArrowheads="1"/>
          </p:cNvSpPr>
          <p:nvPr/>
        </p:nvSpPr>
        <p:spPr bwMode="auto">
          <a:xfrm>
            <a:off x="3276600" y="3276600"/>
            <a:ext cx="1524000" cy="396875"/>
          </a:xfrm>
          <a:prstGeom prst="rect">
            <a:avLst/>
          </a:prstGeom>
          <a:noFill/>
          <a:ln w="9525">
            <a:noFill/>
            <a:miter lim="800000"/>
            <a:headEnd/>
            <a:tailEnd/>
          </a:ln>
        </p:spPr>
        <p:txBody>
          <a:bodyPr>
            <a:spAutoFit/>
          </a:bodyPr>
          <a:lstStyle/>
          <a:p>
            <a:pPr>
              <a:spcBef>
                <a:spcPct val="50000"/>
              </a:spcBef>
            </a:pPr>
            <a:r>
              <a:rPr lang="en-US" altLang="zh-CN" sz="2000" b="1">
                <a:solidFill>
                  <a:srgbClr val="0000FF"/>
                </a:solidFill>
                <a:ea typeface="宋体" charset="-122"/>
              </a:rPr>
              <a:t>60 Cities</a:t>
            </a:r>
          </a:p>
        </p:txBody>
      </p:sp>
    </p:spTree>
  </p:cSld>
  <p:clrMapOvr>
    <a:masterClrMapping/>
  </p:clrMapOvr>
  <p:timing>
    <p:tnLst>
      <p:par>
        <p:cTn id="1" dur="indefinite" restart="never" nodeType="tmRoot"/>
      </p:par>
    </p:tnLst>
  </p:timing>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8" name="Rectangle 2"/>
          <p:cNvSpPr>
            <a:spLocks noGrp="1" noChangeArrowheads="1"/>
          </p:cNvSpPr>
          <p:nvPr>
            <p:ph type="title"/>
          </p:nvPr>
        </p:nvSpPr>
        <p:spPr bwMode="auto">
          <a:xfrm>
            <a:off x="609600" y="152400"/>
            <a:ext cx="7924800" cy="958850"/>
          </a:xfrm>
          <a:prstGeom prst="rect">
            <a:avLst/>
          </a:prstGeom>
          <a:noFill/>
          <a:ln>
            <a:miter lim="800000"/>
            <a:headEnd/>
            <a:tailEnd/>
          </a:ln>
        </p:spPr>
        <p:txBody>
          <a:bodyPr vert="horz" wrap="square" lIns="91440" tIns="45720" rIns="91440" bIns="45720" numCol="1" anchor="ctr" anchorCtr="0" compatLnSpc="1">
            <a:prstTxWarp prst="textNoShape">
              <a:avLst/>
            </a:prstTxWarp>
          </a:bodyPr>
          <a:lstStyle/>
          <a:p>
            <a:pPr eaLnBrk="1" hangingPunct="1"/>
            <a:r>
              <a:rPr lang="en-US" altLang="zh-CN" smtClean="0">
                <a:solidFill>
                  <a:srgbClr val="0000FF"/>
                </a:solidFill>
                <a:ea typeface="宋体" charset="-122"/>
              </a:rPr>
              <a:t>4 </a:t>
            </a:r>
            <a:r>
              <a:rPr lang="zh-CN" altLang="en-US" smtClean="0">
                <a:solidFill>
                  <a:srgbClr val="0000FF"/>
                </a:solidFill>
                <a:ea typeface="宋体" charset="-122"/>
              </a:rPr>
              <a:t>遗传算法求解巡回旅行商问题</a:t>
            </a:r>
          </a:p>
        </p:txBody>
      </p:sp>
      <p:sp>
        <p:nvSpPr>
          <p:cNvPr id="11269" name="Text Box 4"/>
          <p:cNvSpPr txBox="1">
            <a:spLocks noChangeArrowheads="1"/>
          </p:cNvSpPr>
          <p:nvPr/>
        </p:nvSpPr>
        <p:spPr bwMode="auto">
          <a:xfrm>
            <a:off x="381000" y="1219200"/>
            <a:ext cx="5410200" cy="1616075"/>
          </a:xfrm>
          <a:prstGeom prst="rect">
            <a:avLst/>
          </a:prstGeom>
          <a:noFill/>
          <a:ln w="9525">
            <a:noFill/>
            <a:miter lim="800000"/>
            <a:headEnd/>
            <a:tailEnd/>
          </a:ln>
        </p:spPr>
        <p:txBody>
          <a:bodyPr>
            <a:spAutoFit/>
          </a:bodyPr>
          <a:lstStyle/>
          <a:p>
            <a:pPr>
              <a:spcBef>
                <a:spcPct val="50000"/>
              </a:spcBef>
            </a:pPr>
            <a:r>
              <a:rPr lang="en-US" altLang="zh-CN" sz="2000" b="1">
                <a:solidFill>
                  <a:srgbClr val="0000FF"/>
                </a:solidFill>
                <a:ea typeface="宋体" charset="-122"/>
              </a:rPr>
              <a:t>       TSP</a:t>
            </a:r>
            <a:r>
              <a:rPr lang="zh-CN" altLang="en-US" sz="2000" b="1">
                <a:solidFill>
                  <a:srgbClr val="0000FF"/>
                </a:solidFill>
                <a:ea typeface="宋体" charset="-122"/>
              </a:rPr>
              <a:t>具有广泛的应用背景和重要理论价值，特别在机器人运动规划中得到许多应用，例如：移动机器人的全局路径规划问题（如右上图）、焊接机器人的任务规划问题（如右下图）等等。</a:t>
            </a:r>
          </a:p>
        </p:txBody>
      </p:sp>
      <p:sp>
        <p:nvSpPr>
          <p:cNvPr id="11270" name="Text Box 5"/>
          <p:cNvSpPr txBox="1">
            <a:spLocks noChangeArrowheads="1"/>
          </p:cNvSpPr>
          <p:nvPr/>
        </p:nvSpPr>
        <p:spPr bwMode="auto">
          <a:xfrm>
            <a:off x="381000" y="2743200"/>
            <a:ext cx="5410200" cy="1006475"/>
          </a:xfrm>
          <a:prstGeom prst="rect">
            <a:avLst/>
          </a:prstGeom>
          <a:noFill/>
          <a:ln w="9525">
            <a:noFill/>
            <a:miter lim="800000"/>
            <a:headEnd/>
            <a:tailEnd/>
          </a:ln>
        </p:spPr>
        <p:txBody>
          <a:bodyPr>
            <a:spAutoFit/>
          </a:bodyPr>
          <a:lstStyle/>
          <a:p>
            <a:pPr>
              <a:spcBef>
                <a:spcPct val="50000"/>
              </a:spcBef>
            </a:pPr>
            <a:r>
              <a:rPr lang="zh-CN" altLang="en-US" sz="2000" b="1">
                <a:solidFill>
                  <a:srgbClr val="0000FF"/>
                </a:solidFill>
                <a:ea typeface="宋体" charset="-122"/>
              </a:rPr>
              <a:t>       但是，巡回旅行商问题中可能的路径数目与城市数目</a:t>
            </a:r>
            <a:r>
              <a:rPr lang="en-US" altLang="zh-CN" sz="2000" b="1">
                <a:solidFill>
                  <a:srgbClr val="0000FF"/>
                </a:solidFill>
                <a:ea typeface="宋体" charset="-122"/>
              </a:rPr>
              <a:t>N</a:t>
            </a:r>
            <a:r>
              <a:rPr lang="zh-CN" altLang="en-US" sz="2000" b="1">
                <a:solidFill>
                  <a:srgbClr val="0000FF"/>
                </a:solidFill>
                <a:ea typeface="宋体" charset="-122"/>
              </a:rPr>
              <a:t>呈指数型增长，所有的旅程路线组合数为</a:t>
            </a:r>
          </a:p>
        </p:txBody>
      </p:sp>
      <p:graphicFrame>
        <p:nvGraphicFramePr>
          <p:cNvPr id="11266" name="Object 6"/>
          <p:cNvGraphicFramePr>
            <a:graphicFrameLocks noChangeAspect="1"/>
          </p:cNvGraphicFramePr>
          <p:nvPr/>
        </p:nvGraphicFramePr>
        <p:xfrm>
          <a:off x="2286000" y="3413125"/>
          <a:ext cx="838200" cy="701675"/>
        </p:xfrm>
        <a:graphic>
          <a:graphicData uri="http://schemas.openxmlformats.org/presentationml/2006/ole">
            <mc:AlternateContent xmlns:mc="http://schemas.openxmlformats.org/markup-compatibility/2006">
              <mc:Choice xmlns:v="urn:schemas-microsoft-com:vml" Requires="v">
                <p:oleObj spid="_x0000_s45060" name="Equation" r:id="rId3" imgW="469696" imgH="393529" progId="Equation.DSMT4">
                  <p:embed/>
                </p:oleObj>
              </mc:Choice>
              <mc:Fallback>
                <p:oleObj name="Equation" r:id="rId3" imgW="469696" imgH="393529" progId="Equation.DSMT4">
                  <p:embed/>
                  <p:pic>
                    <p:nvPicPr>
                      <p:cNvPr id="0" name="Object 6"/>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286000" y="3413125"/>
                        <a:ext cx="838200" cy="70167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1271" name="Text Box 8"/>
          <p:cNvSpPr txBox="1">
            <a:spLocks noChangeArrowheads="1"/>
          </p:cNvSpPr>
          <p:nvPr/>
        </p:nvSpPr>
        <p:spPr bwMode="auto">
          <a:xfrm>
            <a:off x="381000" y="4114800"/>
            <a:ext cx="4800600" cy="701675"/>
          </a:xfrm>
          <a:prstGeom prst="rect">
            <a:avLst/>
          </a:prstGeom>
          <a:noFill/>
          <a:ln w="9525">
            <a:noFill/>
            <a:miter lim="800000"/>
            <a:headEnd/>
            <a:tailEnd/>
          </a:ln>
        </p:spPr>
        <p:txBody>
          <a:bodyPr>
            <a:spAutoFit/>
          </a:bodyPr>
          <a:lstStyle/>
          <a:p>
            <a:pPr>
              <a:spcBef>
                <a:spcPct val="50000"/>
              </a:spcBef>
            </a:pPr>
            <a:r>
              <a:rPr lang="zh-CN" altLang="en-US" sz="2000" b="1">
                <a:solidFill>
                  <a:srgbClr val="0000FF"/>
                </a:solidFill>
                <a:ea typeface="宋体" charset="-122"/>
              </a:rPr>
              <a:t>其已经被证明属于</a:t>
            </a:r>
            <a:r>
              <a:rPr lang="en-US" altLang="zh-CN" sz="2000" b="1">
                <a:solidFill>
                  <a:srgbClr val="0000FF"/>
                </a:solidFill>
                <a:ea typeface="宋体" charset="-122"/>
              </a:rPr>
              <a:t>NP</a:t>
            </a:r>
            <a:r>
              <a:rPr lang="zh-CN" altLang="en-US" sz="2000" b="1">
                <a:solidFill>
                  <a:srgbClr val="0000FF"/>
                </a:solidFill>
                <a:ea typeface="宋体" charset="-122"/>
              </a:rPr>
              <a:t>难题。例如</a:t>
            </a:r>
            <a:r>
              <a:rPr lang="en-US" altLang="zh-CN" sz="2000" b="1">
                <a:solidFill>
                  <a:srgbClr val="0000FF"/>
                </a:solidFill>
                <a:ea typeface="宋体" charset="-122"/>
              </a:rPr>
              <a:t>30</a:t>
            </a:r>
            <a:r>
              <a:rPr lang="zh-CN" altLang="en-US" sz="2000" b="1">
                <a:solidFill>
                  <a:srgbClr val="0000FF"/>
                </a:solidFill>
                <a:ea typeface="宋体" charset="-122"/>
              </a:rPr>
              <a:t>个城市的路线对应约有</a:t>
            </a:r>
            <a:endParaRPr lang="en-US" altLang="zh-CN" sz="2000" b="1">
              <a:solidFill>
                <a:srgbClr val="0000FF"/>
              </a:solidFill>
              <a:ea typeface="宋体" charset="-122"/>
            </a:endParaRPr>
          </a:p>
        </p:txBody>
      </p:sp>
      <p:sp>
        <p:nvSpPr>
          <p:cNvPr id="11272" name="Text Box 9"/>
          <p:cNvSpPr txBox="1">
            <a:spLocks noChangeArrowheads="1"/>
          </p:cNvSpPr>
          <p:nvPr/>
        </p:nvSpPr>
        <p:spPr bwMode="auto">
          <a:xfrm>
            <a:off x="381000" y="5699125"/>
            <a:ext cx="4648200" cy="1006475"/>
          </a:xfrm>
          <a:prstGeom prst="rect">
            <a:avLst/>
          </a:prstGeom>
          <a:noFill/>
          <a:ln w="9525">
            <a:noFill/>
            <a:miter lim="800000"/>
            <a:headEnd/>
            <a:tailEnd/>
          </a:ln>
        </p:spPr>
        <p:txBody>
          <a:bodyPr>
            <a:spAutoFit/>
          </a:bodyPr>
          <a:lstStyle/>
          <a:p>
            <a:pPr>
              <a:spcBef>
                <a:spcPct val="50000"/>
              </a:spcBef>
            </a:pPr>
            <a:r>
              <a:rPr lang="zh-CN" altLang="en-US" sz="2000" b="1">
                <a:solidFill>
                  <a:srgbClr val="0000FF"/>
                </a:solidFill>
                <a:ea typeface="宋体" charset="-122"/>
              </a:rPr>
              <a:t>对庞大的搜索空间寻求最优解，常规方法和现有的计算工具存在着诸多的计算困难。 </a:t>
            </a:r>
            <a:endParaRPr lang="zh-CN" altLang="en-US" sz="2000">
              <a:solidFill>
                <a:srgbClr val="0000FF"/>
              </a:solidFill>
              <a:ea typeface="宋体" charset="-122"/>
            </a:endParaRPr>
          </a:p>
        </p:txBody>
      </p:sp>
      <p:graphicFrame>
        <p:nvGraphicFramePr>
          <p:cNvPr id="11267" name="Object 10"/>
          <p:cNvGraphicFramePr>
            <a:graphicFrameLocks noChangeAspect="1"/>
          </p:cNvGraphicFramePr>
          <p:nvPr/>
        </p:nvGraphicFramePr>
        <p:xfrm>
          <a:off x="1174750" y="4953000"/>
          <a:ext cx="3136900" cy="700088"/>
        </p:xfrm>
        <a:graphic>
          <a:graphicData uri="http://schemas.openxmlformats.org/presentationml/2006/ole">
            <mc:AlternateContent xmlns:mc="http://schemas.openxmlformats.org/markup-compatibility/2006">
              <mc:Choice xmlns:v="urn:schemas-microsoft-com:vml" Requires="v">
                <p:oleObj spid="_x0000_s45061" name="Equation" r:id="rId5" imgW="1752480" imgH="393480" progId="Equation.DSMT4">
                  <p:embed/>
                </p:oleObj>
              </mc:Choice>
              <mc:Fallback>
                <p:oleObj name="Equation" r:id="rId5" imgW="1752480" imgH="393480" progId="Equation.DSMT4">
                  <p:embed/>
                  <p:pic>
                    <p:nvPicPr>
                      <p:cNvPr id="0" name="Object 10"/>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174750" y="4953000"/>
                        <a:ext cx="3136900" cy="700088"/>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pic>
        <p:nvPicPr>
          <p:cNvPr id="11273" name="Picture 12"/>
          <p:cNvPicPr>
            <a:picLocks noChangeAspect="1" noChangeArrowheads="1"/>
          </p:cNvPicPr>
          <p:nvPr/>
        </p:nvPicPr>
        <p:blipFill>
          <a:blip r:embed="rId7" cstate="print"/>
          <a:srcRect/>
          <a:stretch>
            <a:fillRect/>
          </a:stretch>
        </p:blipFill>
        <p:spPr bwMode="auto">
          <a:xfrm>
            <a:off x="6019800" y="1479550"/>
            <a:ext cx="3048000" cy="2254250"/>
          </a:xfrm>
          <a:prstGeom prst="rect">
            <a:avLst/>
          </a:prstGeom>
          <a:noFill/>
          <a:ln w="9525">
            <a:noFill/>
            <a:miter lim="800000"/>
            <a:headEnd/>
            <a:tailEnd/>
          </a:ln>
        </p:spPr>
      </p:pic>
      <p:pic>
        <p:nvPicPr>
          <p:cNvPr id="11274" name="Picture 22" descr="焊接机器人1"/>
          <p:cNvPicPr>
            <a:picLocks noChangeAspect="1" noChangeArrowheads="1"/>
          </p:cNvPicPr>
          <p:nvPr/>
        </p:nvPicPr>
        <p:blipFill>
          <a:blip r:embed="rId8" cstate="print"/>
          <a:srcRect l="25978" r="25623"/>
          <a:stretch>
            <a:fillRect/>
          </a:stretch>
        </p:blipFill>
        <p:spPr bwMode="auto">
          <a:xfrm>
            <a:off x="5105400" y="4181475"/>
            <a:ext cx="1295400" cy="2676525"/>
          </a:xfrm>
          <a:prstGeom prst="rect">
            <a:avLst/>
          </a:prstGeom>
          <a:noFill/>
          <a:ln w="9525">
            <a:noFill/>
            <a:miter lim="800000"/>
            <a:headEnd/>
            <a:tailEnd/>
          </a:ln>
        </p:spPr>
      </p:pic>
      <p:pic>
        <p:nvPicPr>
          <p:cNvPr id="11275" name="Picture 23" descr="焊接机器人2"/>
          <p:cNvPicPr>
            <a:picLocks noChangeAspect="1" noChangeArrowheads="1"/>
          </p:cNvPicPr>
          <p:nvPr/>
        </p:nvPicPr>
        <p:blipFill>
          <a:blip r:embed="rId9" cstate="print"/>
          <a:srcRect l="5556" r="9111"/>
          <a:stretch>
            <a:fillRect/>
          </a:stretch>
        </p:blipFill>
        <p:spPr bwMode="auto">
          <a:xfrm>
            <a:off x="6932613" y="4267200"/>
            <a:ext cx="2211387" cy="2590800"/>
          </a:xfrm>
          <a:prstGeom prst="rect">
            <a:avLst/>
          </a:prstGeom>
          <a:noFill/>
          <a:ln w="9525">
            <a:noFill/>
            <a:miter lim="800000"/>
            <a:headEnd/>
            <a:tailEnd/>
          </a:ln>
        </p:spPr>
      </p:pic>
      <p:sp>
        <p:nvSpPr>
          <p:cNvPr id="11276" name="AutoShape 24"/>
          <p:cNvSpPr>
            <a:spLocks noChangeArrowheads="1"/>
          </p:cNvSpPr>
          <p:nvPr/>
        </p:nvSpPr>
        <p:spPr bwMode="auto">
          <a:xfrm>
            <a:off x="6324600" y="5334000"/>
            <a:ext cx="609600" cy="381000"/>
          </a:xfrm>
          <a:custGeom>
            <a:avLst/>
            <a:gdLst>
              <a:gd name="T0" fmla="*/ 2147483647 w 21600"/>
              <a:gd name="T1" fmla="*/ 0 h 21600"/>
              <a:gd name="T2" fmla="*/ 0 w 21600"/>
              <a:gd name="T3" fmla="*/ 2147483647 h 21600"/>
              <a:gd name="T4" fmla="*/ 2147483647 w 21600"/>
              <a:gd name="T5" fmla="*/ 2147483647 h 21600"/>
              <a:gd name="T6" fmla="*/ 2147483647 w 21600"/>
              <a:gd name="T7" fmla="*/ 2147483647 h 21600"/>
              <a:gd name="T8" fmla="*/ 17694720 60000 65536"/>
              <a:gd name="T9" fmla="*/ 11796480 60000 65536"/>
              <a:gd name="T10" fmla="*/ 5898240 60000 65536"/>
              <a:gd name="T11" fmla="*/ 0 60000 65536"/>
              <a:gd name="T12" fmla="*/ 3375 w 21600"/>
              <a:gd name="T13" fmla="*/ 5400 h 21600"/>
              <a:gd name="T14" fmla="*/ 18900 w 21600"/>
              <a:gd name="T15" fmla="*/ 16200 h 21600"/>
            </a:gdLst>
            <a:ahLst/>
            <a:cxnLst>
              <a:cxn ang="T8">
                <a:pos x="T0" y="T1"/>
              </a:cxn>
              <a:cxn ang="T9">
                <a:pos x="T2" y="T3"/>
              </a:cxn>
              <a:cxn ang="T10">
                <a:pos x="T4" y="T5"/>
              </a:cxn>
              <a:cxn ang="T11">
                <a:pos x="T6" y="T7"/>
              </a:cxn>
            </a:cxnLst>
            <a:rect l="T12" t="T13" r="T14" b="T15"/>
            <a:pathLst>
              <a:path w="21600" h="21600">
                <a:moveTo>
                  <a:pt x="16200" y="0"/>
                </a:moveTo>
                <a:lnTo>
                  <a:pt x="16200" y="5400"/>
                </a:lnTo>
                <a:lnTo>
                  <a:pt x="3375" y="5400"/>
                </a:lnTo>
                <a:lnTo>
                  <a:pt x="3375" y="16200"/>
                </a:lnTo>
                <a:lnTo>
                  <a:pt x="16200" y="16200"/>
                </a:lnTo>
                <a:lnTo>
                  <a:pt x="16200" y="21600"/>
                </a:lnTo>
                <a:lnTo>
                  <a:pt x="21600" y="10800"/>
                </a:lnTo>
                <a:close/>
              </a:path>
              <a:path w="21600" h="21600">
                <a:moveTo>
                  <a:pt x="1350" y="5400"/>
                </a:moveTo>
                <a:lnTo>
                  <a:pt x="1350" y="16200"/>
                </a:lnTo>
                <a:lnTo>
                  <a:pt x="2700" y="16200"/>
                </a:lnTo>
                <a:lnTo>
                  <a:pt x="2700" y="5400"/>
                </a:lnTo>
                <a:close/>
              </a:path>
              <a:path w="21600" h="21600">
                <a:moveTo>
                  <a:pt x="0" y="5400"/>
                </a:moveTo>
                <a:lnTo>
                  <a:pt x="0" y="16200"/>
                </a:lnTo>
                <a:lnTo>
                  <a:pt x="675" y="16200"/>
                </a:lnTo>
                <a:lnTo>
                  <a:pt x="675" y="5400"/>
                </a:lnTo>
                <a:close/>
              </a:path>
            </a:pathLst>
          </a:custGeom>
          <a:solidFill>
            <a:srgbClr val="FFFF00"/>
          </a:solidFill>
          <a:ln w="9525">
            <a:solidFill>
              <a:schemeClr val="tx1"/>
            </a:solidFill>
            <a:miter lim="800000"/>
            <a:headEnd/>
            <a:tailEnd/>
          </a:ln>
        </p:spPr>
        <p:txBody>
          <a:bodyPr wrap="none" anchor="ctr"/>
          <a:lstStyle/>
          <a:p>
            <a:endParaRPr lang="zh-CN" altLang="en-US"/>
          </a:p>
        </p:txBody>
      </p:sp>
      <p:grpSp>
        <p:nvGrpSpPr>
          <p:cNvPr id="2" name="Group 33"/>
          <p:cNvGrpSpPr>
            <a:grpSpLocks/>
          </p:cNvGrpSpPr>
          <p:nvPr/>
        </p:nvGrpSpPr>
        <p:grpSpPr bwMode="auto">
          <a:xfrm>
            <a:off x="6324600" y="1752600"/>
            <a:ext cx="2514600" cy="1752600"/>
            <a:chOff x="3984" y="1104"/>
            <a:chExt cx="1584" cy="1104"/>
          </a:xfrm>
        </p:grpSpPr>
        <p:sp>
          <p:nvSpPr>
            <p:cNvPr id="11278" name="Line 26"/>
            <p:cNvSpPr>
              <a:spLocks noChangeShapeType="1"/>
            </p:cNvSpPr>
            <p:nvPr/>
          </p:nvSpPr>
          <p:spPr bwMode="auto">
            <a:xfrm>
              <a:off x="3984" y="1104"/>
              <a:ext cx="240" cy="240"/>
            </a:xfrm>
            <a:prstGeom prst="line">
              <a:avLst/>
            </a:prstGeom>
            <a:noFill/>
            <a:ln w="9525">
              <a:solidFill>
                <a:schemeClr val="tx1"/>
              </a:solidFill>
              <a:round/>
              <a:headEnd/>
              <a:tailEnd type="arrow" w="med" len="med"/>
            </a:ln>
          </p:spPr>
          <p:txBody>
            <a:bodyPr/>
            <a:lstStyle/>
            <a:p>
              <a:endParaRPr lang="zh-CN" altLang="en-US"/>
            </a:p>
          </p:txBody>
        </p:sp>
        <p:sp>
          <p:nvSpPr>
            <p:cNvPr id="11279" name="Line 27"/>
            <p:cNvSpPr>
              <a:spLocks noChangeShapeType="1"/>
            </p:cNvSpPr>
            <p:nvPr/>
          </p:nvSpPr>
          <p:spPr bwMode="auto">
            <a:xfrm>
              <a:off x="4224" y="1344"/>
              <a:ext cx="288" cy="0"/>
            </a:xfrm>
            <a:prstGeom prst="line">
              <a:avLst/>
            </a:prstGeom>
            <a:noFill/>
            <a:ln w="9525">
              <a:solidFill>
                <a:schemeClr val="tx1"/>
              </a:solidFill>
              <a:round/>
              <a:headEnd/>
              <a:tailEnd type="arrow" w="med" len="med"/>
            </a:ln>
          </p:spPr>
          <p:txBody>
            <a:bodyPr/>
            <a:lstStyle/>
            <a:p>
              <a:endParaRPr lang="zh-CN" altLang="en-US"/>
            </a:p>
          </p:txBody>
        </p:sp>
        <p:sp>
          <p:nvSpPr>
            <p:cNvPr id="11280" name="Line 28"/>
            <p:cNvSpPr>
              <a:spLocks noChangeShapeType="1"/>
            </p:cNvSpPr>
            <p:nvPr/>
          </p:nvSpPr>
          <p:spPr bwMode="auto">
            <a:xfrm>
              <a:off x="4500" y="1344"/>
              <a:ext cx="0" cy="864"/>
            </a:xfrm>
            <a:prstGeom prst="line">
              <a:avLst/>
            </a:prstGeom>
            <a:noFill/>
            <a:ln w="9525">
              <a:solidFill>
                <a:schemeClr val="tx1"/>
              </a:solidFill>
              <a:round/>
              <a:headEnd/>
              <a:tailEnd type="arrow" w="med" len="med"/>
            </a:ln>
          </p:spPr>
          <p:txBody>
            <a:bodyPr/>
            <a:lstStyle/>
            <a:p>
              <a:endParaRPr lang="zh-CN" altLang="en-US"/>
            </a:p>
          </p:txBody>
        </p:sp>
        <p:sp>
          <p:nvSpPr>
            <p:cNvPr id="11281" name="Line 29"/>
            <p:cNvSpPr>
              <a:spLocks noChangeShapeType="1"/>
            </p:cNvSpPr>
            <p:nvPr/>
          </p:nvSpPr>
          <p:spPr bwMode="auto">
            <a:xfrm>
              <a:off x="4512" y="2208"/>
              <a:ext cx="528" cy="0"/>
            </a:xfrm>
            <a:prstGeom prst="line">
              <a:avLst/>
            </a:prstGeom>
            <a:noFill/>
            <a:ln w="9525">
              <a:solidFill>
                <a:schemeClr val="tx1"/>
              </a:solidFill>
              <a:round/>
              <a:headEnd/>
              <a:tailEnd type="arrow" w="med" len="med"/>
            </a:ln>
          </p:spPr>
          <p:txBody>
            <a:bodyPr/>
            <a:lstStyle/>
            <a:p>
              <a:endParaRPr lang="zh-CN" altLang="en-US"/>
            </a:p>
          </p:txBody>
        </p:sp>
        <p:sp>
          <p:nvSpPr>
            <p:cNvPr id="11282" name="Line 30"/>
            <p:cNvSpPr>
              <a:spLocks noChangeShapeType="1"/>
            </p:cNvSpPr>
            <p:nvPr/>
          </p:nvSpPr>
          <p:spPr bwMode="auto">
            <a:xfrm flipV="1">
              <a:off x="5040" y="1872"/>
              <a:ext cx="0" cy="336"/>
            </a:xfrm>
            <a:prstGeom prst="line">
              <a:avLst/>
            </a:prstGeom>
            <a:noFill/>
            <a:ln w="9525">
              <a:solidFill>
                <a:schemeClr val="tx1"/>
              </a:solidFill>
              <a:round/>
              <a:headEnd/>
              <a:tailEnd type="arrow" w="med" len="med"/>
            </a:ln>
          </p:spPr>
          <p:txBody>
            <a:bodyPr/>
            <a:lstStyle/>
            <a:p>
              <a:endParaRPr lang="zh-CN" altLang="en-US"/>
            </a:p>
          </p:txBody>
        </p:sp>
        <p:sp>
          <p:nvSpPr>
            <p:cNvPr id="11283" name="Line 31"/>
            <p:cNvSpPr>
              <a:spLocks noChangeShapeType="1"/>
            </p:cNvSpPr>
            <p:nvPr/>
          </p:nvSpPr>
          <p:spPr bwMode="auto">
            <a:xfrm>
              <a:off x="5040" y="1872"/>
              <a:ext cx="528" cy="0"/>
            </a:xfrm>
            <a:prstGeom prst="line">
              <a:avLst/>
            </a:prstGeom>
            <a:noFill/>
            <a:ln w="9525">
              <a:solidFill>
                <a:schemeClr val="tx1"/>
              </a:solidFill>
              <a:round/>
              <a:headEnd/>
              <a:tailEnd type="arrow" w="med" len="med"/>
            </a:ln>
          </p:spPr>
          <p:txBody>
            <a:bodyPr/>
            <a:lstStyle/>
            <a:p>
              <a:endParaRPr lang="zh-CN" altLang="en-US"/>
            </a:p>
          </p:txBody>
        </p:sp>
        <p:sp>
          <p:nvSpPr>
            <p:cNvPr id="11284" name="Line 32"/>
            <p:cNvSpPr>
              <a:spLocks noChangeShapeType="1"/>
            </p:cNvSpPr>
            <p:nvPr/>
          </p:nvSpPr>
          <p:spPr bwMode="auto">
            <a:xfrm>
              <a:off x="5568" y="1872"/>
              <a:ext cx="0" cy="288"/>
            </a:xfrm>
            <a:prstGeom prst="line">
              <a:avLst/>
            </a:prstGeom>
            <a:noFill/>
            <a:ln w="9525">
              <a:solidFill>
                <a:schemeClr val="tx1"/>
              </a:solidFill>
              <a:round/>
              <a:headEnd/>
              <a:tailEnd type="arrow" w="med" len="med"/>
            </a:ln>
          </p:spPr>
          <p:txBody>
            <a:bodyPr/>
            <a:lstStyle/>
            <a:p>
              <a:endParaRPr lang="zh-CN" altLang="en-US"/>
            </a:p>
          </p:txBody>
        </p:sp>
      </p:grpSp>
    </p:spTree>
  </p:cSld>
  <p:clrMapOvr>
    <a:masterClrMapping/>
  </p:clrMapOvr>
  <p:timing>
    <p:tnLst>
      <p:par>
        <p:cTn id="1" dur="indefinite" restart="never" nodeType="tmRoot"/>
      </p:par>
    </p:tnLst>
  </p:timing>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466" name="Rectangle 664"/>
          <p:cNvSpPr>
            <a:spLocks noGrp="1" noChangeArrowheads="1"/>
          </p:cNvSpPr>
          <p:nvPr>
            <p:ph type="title"/>
          </p:nvPr>
        </p:nvSpPr>
        <p:spPr bwMode="auto">
          <a:xfrm>
            <a:off x="609600" y="152400"/>
            <a:ext cx="7924800" cy="958850"/>
          </a:xfrm>
          <a:prstGeom prst="rect">
            <a:avLst/>
          </a:prstGeom>
          <a:noFill/>
          <a:ln>
            <a:miter lim="800000"/>
            <a:headEnd/>
            <a:tailEnd/>
          </a:ln>
        </p:spPr>
        <p:txBody>
          <a:bodyPr vert="horz" wrap="square" lIns="91440" tIns="45720" rIns="91440" bIns="45720" numCol="1" anchor="ctr" anchorCtr="0" compatLnSpc="1">
            <a:prstTxWarp prst="textNoShape">
              <a:avLst/>
            </a:prstTxWarp>
          </a:bodyPr>
          <a:lstStyle/>
          <a:p>
            <a:pPr eaLnBrk="1" hangingPunct="1"/>
            <a:r>
              <a:rPr lang="en-US" altLang="zh-CN" smtClean="0">
                <a:solidFill>
                  <a:srgbClr val="0000FF"/>
                </a:solidFill>
                <a:ea typeface="宋体" charset="-122"/>
              </a:rPr>
              <a:t>4 </a:t>
            </a:r>
            <a:r>
              <a:rPr lang="zh-CN" altLang="en-US" smtClean="0">
                <a:solidFill>
                  <a:srgbClr val="0000FF"/>
                </a:solidFill>
                <a:ea typeface="宋体" charset="-122"/>
              </a:rPr>
              <a:t>遗传算法求解巡回旅行商问题</a:t>
            </a:r>
          </a:p>
        </p:txBody>
      </p:sp>
      <p:graphicFrame>
        <p:nvGraphicFramePr>
          <p:cNvPr id="45184" name="Group 128"/>
          <p:cNvGraphicFramePr>
            <a:graphicFrameLocks noGrp="1"/>
          </p:cNvGraphicFramePr>
          <p:nvPr>
            <p:ph idx="1"/>
          </p:nvPr>
        </p:nvGraphicFramePr>
        <p:xfrm>
          <a:off x="533400" y="1828800"/>
          <a:ext cx="8229600" cy="4678680"/>
        </p:xfrm>
        <a:graphic>
          <a:graphicData uri="http://schemas.openxmlformats.org/drawingml/2006/table">
            <a:tbl>
              <a:tblPr/>
              <a:tblGrid>
                <a:gridCol w="914400">
                  <a:extLst>
                    <a:ext uri="{9D8B030D-6E8A-4147-A177-3AD203B41FA5}">
                      <a16:colId xmlns:a16="http://schemas.microsoft.com/office/drawing/2014/main" val="20000"/>
                    </a:ext>
                  </a:extLst>
                </a:gridCol>
                <a:gridCol w="914400">
                  <a:extLst>
                    <a:ext uri="{9D8B030D-6E8A-4147-A177-3AD203B41FA5}">
                      <a16:colId xmlns:a16="http://schemas.microsoft.com/office/drawing/2014/main" val="20001"/>
                    </a:ext>
                  </a:extLst>
                </a:gridCol>
                <a:gridCol w="914400">
                  <a:extLst>
                    <a:ext uri="{9D8B030D-6E8A-4147-A177-3AD203B41FA5}">
                      <a16:colId xmlns:a16="http://schemas.microsoft.com/office/drawing/2014/main" val="20002"/>
                    </a:ext>
                  </a:extLst>
                </a:gridCol>
                <a:gridCol w="914400">
                  <a:extLst>
                    <a:ext uri="{9D8B030D-6E8A-4147-A177-3AD203B41FA5}">
                      <a16:colId xmlns:a16="http://schemas.microsoft.com/office/drawing/2014/main" val="20003"/>
                    </a:ext>
                  </a:extLst>
                </a:gridCol>
                <a:gridCol w="914400">
                  <a:extLst>
                    <a:ext uri="{9D8B030D-6E8A-4147-A177-3AD203B41FA5}">
                      <a16:colId xmlns:a16="http://schemas.microsoft.com/office/drawing/2014/main" val="20004"/>
                    </a:ext>
                  </a:extLst>
                </a:gridCol>
                <a:gridCol w="914400">
                  <a:extLst>
                    <a:ext uri="{9D8B030D-6E8A-4147-A177-3AD203B41FA5}">
                      <a16:colId xmlns:a16="http://schemas.microsoft.com/office/drawing/2014/main" val="20005"/>
                    </a:ext>
                  </a:extLst>
                </a:gridCol>
                <a:gridCol w="914400">
                  <a:extLst>
                    <a:ext uri="{9D8B030D-6E8A-4147-A177-3AD203B41FA5}">
                      <a16:colId xmlns:a16="http://schemas.microsoft.com/office/drawing/2014/main" val="20006"/>
                    </a:ext>
                  </a:extLst>
                </a:gridCol>
                <a:gridCol w="914400">
                  <a:extLst>
                    <a:ext uri="{9D8B030D-6E8A-4147-A177-3AD203B41FA5}">
                      <a16:colId xmlns:a16="http://schemas.microsoft.com/office/drawing/2014/main" val="20007"/>
                    </a:ext>
                  </a:extLst>
                </a:gridCol>
                <a:gridCol w="914400">
                  <a:extLst>
                    <a:ext uri="{9D8B030D-6E8A-4147-A177-3AD203B41FA5}">
                      <a16:colId xmlns:a16="http://schemas.microsoft.com/office/drawing/2014/main" val="20008"/>
                    </a:ext>
                  </a:extLst>
                </a:gridCol>
              </a:tblGrid>
              <a:tr h="385763">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zh-CN" altLang="en-US" sz="2000" b="1" i="0" u="none" strike="noStrike" cap="none" normalizeH="0" baseline="0" smtClean="0">
                          <a:ln>
                            <a:noFill/>
                          </a:ln>
                          <a:solidFill>
                            <a:srgbClr val="0000FF"/>
                          </a:solidFill>
                          <a:effectLst/>
                          <a:latin typeface="Times New Roman" pitchFamily="18" charset="0"/>
                          <a:ea typeface="宋体" pitchFamily="2" charset="-122"/>
                          <a:cs typeface="Times New Roman" pitchFamily="18" charset="0"/>
                        </a:rPr>
                        <a:t>序号</a:t>
                      </a:r>
                      <a:endParaRPr kumimoji="0" lang="zh-CN" altLang="en-US" sz="2000" b="1" i="0" u="none" strike="noStrike" cap="none" normalizeH="0" baseline="0" smtClean="0">
                        <a:ln>
                          <a:noFill/>
                        </a:ln>
                        <a:solidFill>
                          <a:srgbClr val="0000FF"/>
                        </a:solidFill>
                        <a:effectLst/>
                        <a:latin typeface="Arial" charset="0"/>
                        <a:ea typeface="宋体" pitchFamily="2" charset="-122"/>
                        <a:cs typeface="Times New Roman" pitchFamily="18" charset="0"/>
                      </a:endParaRPr>
                    </a:p>
                  </a:txBody>
                  <a:tcPr horzOverflow="overflow">
                    <a:lnL w="254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254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en-US" altLang="zh-CN" sz="2000" b="1" i="0" u="none" strike="noStrike" cap="none" normalizeH="0" baseline="0" smtClean="0">
                          <a:ln>
                            <a:noFill/>
                          </a:ln>
                          <a:solidFill>
                            <a:srgbClr val="0000FF"/>
                          </a:solidFill>
                          <a:effectLst/>
                          <a:latin typeface="Times New Roman" pitchFamily="18" charset="0"/>
                          <a:ea typeface="宋体" pitchFamily="2" charset="-122"/>
                          <a:cs typeface="Times New Roman" pitchFamily="18" charset="0"/>
                        </a:rPr>
                        <a:t>X</a:t>
                      </a:r>
                      <a:r>
                        <a:rPr kumimoji="0" lang="zh-CN" altLang="en-US" sz="2000" b="1" i="0" u="none" strike="noStrike" cap="none" normalizeH="0" baseline="0" smtClean="0">
                          <a:ln>
                            <a:noFill/>
                          </a:ln>
                          <a:solidFill>
                            <a:srgbClr val="0000FF"/>
                          </a:solidFill>
                          <a:effectLst/>
                          <a:latin typeface="Times New Roman" pitchFamily="18" charset="0"/>
                          <a:ea typeface="宋体" pitchFamily="2" charset="-122"/>
                          <a:cs typeface="Times New Roman" pitchFamily="18" charset="0"/>
                        </a:rPr>
                        <a:t>坐标</a:t>
                      </a:r>
                      <a:endParaRPr kumimoji="0" lang="zh-CN" altLang="en-US" sz="2000" b="1" i="0" u="none" strike="noStrike" cap="none" normalizeH="0" baseline="0" smtClean="0">
                        <a:ln>
                          <a:noFill/>
                        </a:ln>
                        <a:solidFill>
                          <a:srgbClr val="0000FF"/>
                        </a:solidFill>
                        <a:effectLst/>
                        <a:latin typeface="Arial" charset="0"/>
                        <a:ea typeface="宋体" pitchFamily="2" charset="-122"/>
                        <a:cs typeface="Times New Roman" pitchFamily="18"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254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en-US" altLang="zh-CN" sz="2000" b="1" i="0" u="none" strike="noStrike" cap="none" normalizeH="0" baseline="0" smtClean="0">
                          <a:ln>
                            <a:noFill/>
                          </a:ln>
                          <a:solidFill>
                            <a:srgbClr val="0000FF"/>
                          </a:solidFill>
                          <a:effectLst/>
                          <a:latin typeface="Times New Roman" pitchFamily="18" charset="0"/>
                          <a:ea typeface="宋体" pitchFamily="2" charset="-122"/>
                          <a:cs typeface="Times New Roman" pitchFamily="18" charset="0"/>
                        </a:rPr>
                        <a:t>Y</a:t>
                      </a:r>
                      <a:r>
                        <a:rPr kumimoji="0" lang="zh-CN" altLang="en-US" sz="2000" b="1" i="0" u="none" strike="noStrike" cap="none" normalizeH="0" baseline="0" smtClean="0">
                          <a:ln>
                            <a:noFill/>
                          </a:ln>
                          <a:solidFill>
                            <a:srgbClr val="0000FF"/>
                          </a:solidFill>
                          <a:effectLst/>
                          <a:latin typeface="Times New Roman" pitchFamily="18" charset="0"/>
                          <a:ea typeface="宋体" pitchFamily="2" charset="-122"/>
                          <a:cs typeface="Times New Roman" pitchFamily="18" charset="0"/>
                        </a:rPr>
                        <a:t>坐标</a:t>
                      </a:r>
                      <a:endParaRPr kumimoji="0" lang="zh-CN" altLang="en-US" sz="2000" b="1" i="0" u="none" strike="noStrike" cap="none" normalizeH="0" baseline="0" smtClean="0">
                        <a:ln>
                          <a:noFill/>
                        </a:ln>
                        <a:solidFill>
                          <a:srgbClr val="0000FF"/>
                        </a:solidFill>
                        <a:effectLst/>
                        <a:latin typeface="Arial" charset="0"/>
                        <a:ea typeface="宋体" pitchFamily="2" charset="-122"/>
                        <a:cs typeface="Times New Roman" pitchFamily="18" charset="0"/>
                      </a:endParaRPr>
                    </a:p>
                  </a:txBody>
                  <a:tcPr horzOverflow="overflow">
                    <a:lnL w="12700" cap="flat" cmpd="sng" algn="ctr">
                      <a:solidFill>
                        <a:srgbClr val="000000"/>
                      </a:solidFill>
                      <a:prstDash val="solid"/>
                      <a:round/>
                      <a:headEnd type="none" w="med" len="med"/>
                      <a:tailEnd type="none" w="med" len="med"/>
                    </a:lnL>
                    <a:lnR w="25400" cap="flat" cmpd="sng" algn="ctr">
                      <a:solidFill>
                        <a:srgbClr val="000000"/>
                      </a:solidFill>
                      <a:prstDash val="solid"/>
                      <a:round/>
                      <a:headEnd type="none" w="med" len="med"/>
                      <a:tailEnd type="none" w="med" len="med"/>
                    </a:lnR>
                    <a:lnT w="254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zh-CN" altLang="en-US" sz="2000" b="1" i="0" u="none" strike="noStrike" cap="none" normalizeH="0" baseline="0" smtClean="0">
                          <a:ln>
                            <a:noFill/>
                          </a:ln>
                          <a:solidFill>
                            <a:srgbClr val="0000FF"/>
                          </a:solidFill>
                          <a:effectLst/>
                          <a:latin typeface="Times New Roman" pitchFamily="18" charset="0"/>
                          <a:ea typeface="宋体" pitchFamily="2" charset="-122"/>
                          <a:cs typeface="Times New Roman" pitchFamily="18" charset="0"/>
                        </a:rPr>
                        <a:t>序号</a:t>
                      </a:r>
                      <a:endParaRPr kumimoji="0" lang="zh-CN" altLang="en-US" sz="2000" b="1" i="0" u="none" strike="noStrike" cap="none" normalizeH="0" baseline="0" smtClean="0">
                        <a:ln>
                          <a:noFill/>
                        </a:ln>
                        <a:solidFill>
                          <a:srgbClr val="0000FF"/>
                        </a:solidFill>
                        <a:effectLst/>
                        <a:latin typeface="Arial" charset="0"/>
                        <a:ea typeface="宋体" pitchFamily="2" charset="-122"/>
                        <a:cs typeface="Times New Roman" pitchFamily="18" charset="0"/>
                      </a:endParaRPr>
                    </a:p>
                  </a:txBody>
                  <a:tcPr horzOverflow="overflow">
                    <a:lnL w="254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254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en-US" altLang="zh-CN" sz="2000" b="1" i="0" u="none" strike="noStrike" cap="none" normalizeH="0" baseline="0" smtClean="0">
                          <a:ln>
                            <a:noFill/>
                          </a:ln>
                          <a:solidFill>
                            <a:srgbClr val="0000FF"/>
                          </a:solidFill>
                          <a:effectLst/>
                          <a:latin typeface="Times New Roman" pitchFamily="18" charset="0"/>
                          <a:ea typeface="宋体" pitchFamily="2" charset="-122"/>
                          <a:cs typeface="Times New Roman" pitchFamily="18" charset="0"/>
                        </a:rPr>
                        <a:t>X</a:t>
                      </a:r>
                      <a:r>
                        <a:rPr kumimoji="0" lang="zh-CN" altLang="en-US" sz="2000" b="1" i="0" u="none" strike="noStrike" cap="none" normalizeH="0" baseline="0" smtClean="0">
                          <a:ln>
                            <a:noFill/>
                          </a:ln>
                          <a:solidFill>
                            <a:srgbClr val="0000FF"/>
                          </a:solidFill>
                          <a:effectLst/>
                          <a:latin typeface="Times New Roman" pitchFamily="18" charset="0"/>
                          <a:ea typeface="宋体" pitchFamily="2" charset="-122"/>
                          <a:cs typeface="Times New Roman" pitchFamily="18" charset="0"/>
                        </a:rPr>
                        <a:t>坐标</a:t>
                      </a:r>
                      <a:endParaRPr kumimoji="0" lang="zh-CN" altLang="en-US" sz="2000" b="1" i="0" u="none" strike="noStrike" cap="none" normalizeH="0" baseline="0" smtClean="0">
                        <a:ln>
                          <a:noFill/>
                        </a:ln>
                        <a:solidFill>
                          <a:srgbClr val="0000FF"/>
                        </a:solidFill>
                        <a:effectLst/>
                        <a:latin typeface="Arial" charset="0"/>
                        <a:ea typeface="宋体" pitchFamily="2" charset="-122"/>
                        <a:cs typeface="Times New Roman" pitchFamily="18"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254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en-US" altLang="zh-CN" sz="2000" b="1" i="0" u="none" strike="noStrike" cap="none" normalizeH="0" baseline="0" smtClean="0">
                          <a:ln>
                            <a:noFill/>
                          </a:ln>
                          <a:solidFill>
                            <a:srgbClr val="0000FF"/>
                          </a:solidFill>
                          <a:effectLst/>
                          <a:latin typeface="Times New Roman" pitchFamily="18" charset="0"/>
                          <a:ea typeface="宋体" pitchFamily="2" charset="-122"/>
                          <a:cs typeface="Times New Roman" pitchFamily="18" charset="0"/>
                        </a:rPr>
                        <a:t>Y</a:t>
                      </a:r>
                      <a:r>
                        <a:rPr kumimoji="0" lang="zh-CN" altLang="en-US" sz="2000" b="1" i="0" u="none" strike="noStrike" cap="none" normalizeH="0" baseline="0" smtClean="0">
                          <a:ln>
                            <a:noFill/>
                          </a:ln>
                          <a:solidFill>
                            <a:srgbClr val="0000FF"/>
                          </a:solidFill>
                          <a:effectLst/>
                          <a:latin typeface="Times New Roman" pitchFamily="18" charset="0"/>
                          <a:ea typeface="宋体" pitchFamily="2" charset="-122"/>
                          <a:cs typeface="Times New Roman" pitchFamily="18" charset="0"/>
                        </a:rPr>
                        <a:t>坐标</a:t>
                      </a:r>
                      <a:endParaRPr kumimoji="0" lang="zh-CN" altLang="en-US" sz="2000" b="1" i="0" u="none" strike="noStrike" cap="none" normalizeH="0" baseline="0" smtClean="0">
                        <a:ln>
                          <a:noFill/>
                        </a:ln>
                        <a:solidFill>
                          <a:srgbClr val="0000FF"/>
                        </a:solidFill>
                        <a:effectLst/>
                        <a:latin typeface="Arial" charset="0"/>
                        <a:ea typeface="宋体" pitchFamily="2" charset="-122"/>
                        <a:cs typeface="Times New Roman" pitchFamily="18" charset="0"/>
                      </a:endParaRPr>
                    </a:p>
                  </a:txBody>
                  <a:tcPr horzOverflow="overflow">
                    <a:lnL w="12700" cap="flat" cmpd="sng" algn="ctr">
                      <a:solidFill>
                        <a:srgbClr val="000000"/>
                      </a:solidFill>
                      <a:prstDash val="solid"/>
                      <a:round/>
                      <a:headEnd type="none" w="med" len="med"/>
                      <a:tailEnd type="none" w="med" len="med"/>
                    </a:lnL>
                    <a:lnR w="25400" cap="flat" cmpd="sng" algn="ctr">
                      <a:solidFill>
                        <a:srgbClr val="000000"/>
                      </a:solidFill>
                      <a:prstDash val="solid"/>
                      <a:round/>
                      <a:headEnd type="none" w="med" len="med"/>
                      <a:tailEnd type="none" w="med" len="med"/>
                    </a:lnR>
                    <a:lnT w="254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zh-CN" altLang="en-US" sz="2000" b="1" i="0" u="none" strike="noStrike" cap="none" normalizeH="0" baseline="0" smtClean="0">
                          <a:ln>
                            <a:noFill/>
                          </a:ln>
                          <a:solidFill>
                            <a:srgbClr val="0000FF"/>
                          </a:solidFill>
                          <a:effectLst/>
                          <a:latin typeface="Times New Roman" pitchFamily="18" charset="0"/>
                          <a:ea typeface="宋体" pitchFamily="2" charset="-122"/>
                          <a:cs typeface="Times New Roman" pitchFamily="18" charset="0"/>
                        </a:rPr>
                        <a:t>序号</a:t>
                      </a:r>
                      <a:endParaRPr kumimoji="0" lang="zh-CN" altLang="en-US" sz="2000" b="1" i="0" u="none" strike="noStrike" cap="none" normalizeH="0" baseline="0" smtClean="0">
                        <a:ln>
                          <a:noFill/>
                        </a:ln>
                        <a:solidFill>
                          <a:srgbClr val="0000FF"/>
                        </a:solidFill>
                        <a:effectLst/>
                        <a:latin typeface="Arial" charset="0"/>
                        <a:ea typeface="宋体" pitchFamily="2" charset="-122"/>
                        <a:cs typeface="Times New Roman" pitchFamily="18" charset="0"/>
                      </a:endParaRPr>
                    </a:p>
                  </a:txBody>
                  <a:tcPr horzOverflow="overflow">
                    <a:lnL w="254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254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en-US" altLang="zh-CN" sz="2000" b="1" i="0" u="none" strike="noStrike" cap="none" normalizeH="0" baseline="0" smtClean="0">
                          <a:ln>
                            <a:noFill/>
                          </a:ln>
                          <a:solidFill>
                            <a:srgbClr val="0000FF"/>
                          </a:solidFill>
                          <a:effectLst/>
                          <a:latin typeface="Times New Roman" pitchFamily="18" charset="0"/>
                          <a:ea typeface="宋体" pitchFamily="2" charset="-122"/>
                          <a:cs typeface="Times New Roman" pitchFamily="18" charset="0"/>
                        </a:rPr>
                        <a:t>X</a:t>
                      </a:r>
                      <a:r>
                        <a:rPr kumimoji="0" lang="zh-CN" altLang="en-US" sz="2000" b="1" i="0" u="none" strike="noStrike" cap="none" normalizeH="0" baseline="0" smtClean="0">
                          <a:ln>
                            <a:noFill/>
                          </a:ln>
                          <a:solidFill>
                            <a:srgbClr val="0000FF"/>
                          </a:solidFill>
                          <a:effectLst/>
                          <a:latin typeface="Times New Roman" pitchFamily="18" charset="0"/>
                          <a:ea typeface="宋体" pitchFamily="2" charset="-122"/>
                          <a:cs typeface="Times New Roman" pitchFamily="18" charset="0"/>
                        </a:rPr>
                        <a:t>坐标</a:t>
                      </a:r>
                      <a:endParaRPr kumimoji="0" lang="zh-CN" altLang="en-US" sz="2000" b="1" i="0" u="none" strike="noStrike" cap="none" normalizeH="0" baseline="0" smtClean="0">
                        <a:ln>
                          <a:noFill/>
                        </a:ln>
                        <a:solidFill>
                          <a:srgbClr val="0000FF"/>
                        </a:solidFill>
                        <a:effectLst/>
                        <a:latin typeface="Arial" charset="0"/>
                        <a:ea typeface="宋体" pitchFamily="2" charset="-122"/>
                        <a:cs typeface="Times New Roman" pitchFamily="18"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254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en-US" altLang="zh-CN" sz="2000" b="1" i="0" u="none" strike="noStrike" cap="none" normalizeH="0" baseline="0" smtClean="0">
                          <a:ln>
                            <a:noFill/>
                          </a:ln>
                          <a:solidFill>
                            <a:srgbClr val="0000FF"/>
                          </a:solidFill>
                          <a:effectLst/>
                          <a:latin typeface="Times New Roman" pitchFamily="18" charset="0"/>
                          <a:ea typeface="宋体" pitchFamily="2" charset="-122"/>
                          <a:cs typeface="Times New Roman" pitchFamily="18" charset="0"/>
                        </a:rPr>
                        <a:t>Y</a:t>
                      </a:r>
                      <a:r>
                        <a:rPr kumimoji="0" lang="zh-CN" altLang="en-US" sz="2000" b="1" i="0" u="none" strike="noStrike" cap="none" normalizeH="0" baseline="0" smtClean="0">
                          <a:ln>
                            <a:noFill/>
                          </a:ln>
                          <a:solidFill>
                            <a:srgbClr val="0000FF"/>
                          </a:solidFill>
                          <a:effectLst/>
                          <a:latin typeface="Times New Roman" pitchFamily="18" charset="0"/>
                          <a:ea typeface="宋体" pitchFamily="2" charset="-122"/>
                          <a:cs typeface="Times New Roman" pitchFamily="18" charset="0"/>
                        </a:rPr>
                        <a:t>坐标</a:t>
                      </a:r>
                      <a:endParaRPr kumimoji="0" lang="zh-CN" altLang="en-US" sz="2000" b="1" i="0" u="none" strike="noStrike" cap="none" normalizeH="0" baseline="0" smtClean="0">
                        <a:ln>
                          <a:noFill/>
                        </a:ln>
                        <a:solidFill>
                          <a:srgbClr val="0000FF"/>
                        </a:solidFill>
                        <a:effectLst/>
                        <a:latin typeface="Arial" charset="0"/>
                        <a:ea typeface="宋体" pitchFamily="2" charset="-122"/>
                        <a:cs typeface="Times New Roman" pitchFamily="18" charset="0"/>
                      </a:endParaRPr>
                    </a:p>
                  </a:txBody>
                  <a:tcPr horzOverflow="overflow">
                    <a:lnL w="12700" cap="flat" cmpd="sng" algn="ctr">
                      <a:solidFill>
                        <a:srgbClr val="000000"/>
                      </a:solidFill>
                      <a:prstDash val="solid"/>
                      <a:round/>
                      <a:headEnd type="none" w="med" len="med"/>
                      <a:tailEnd type="none" w="med" len="med"/>
                    </a:lnL>
                    <a:lnR w="25400" cap="flat" cmpd="sng" algn="ctr">
                      <a:solidFill>
                        <a:srgbClr val="000000"/>
                      </a:solidFill>
                      <a:prstDash val="solid"/>
                      <a:round/>
                      <a:headEnd type="none" w="med" len="med"/>
                      <a:tailEnd type="none" w="med" len="med"/>
                    </a:lnR>
                    <a:lnT w="254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431800">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en-US" altLang="zh-CN" sz="2000" b="1" i="0" u="none" strike="noStrike" cap="none" normalizeH="0" baseline="0" smtClean="0">
                          <a:ln>
                            <a:noFill/>
                          </a:ln>
                          <a:solidFill>
                            <a:srgbClr val="0000FF"/>
                          </a:solidFill>
                          <a:effectLst/>
                          <a:latin typeface="Times New Roman" pitchFamily="18" charset="0"/>
                          <a:ea typeface="宋体" pitchFamily="2" charset="-122"/>
                          <a:cs typeface="Times New Roman" pitchFamily="18" charset="0"/>
                        </a:rPr>
                        <a:t>1</a:t>
                      </a:r>
                      <a:endParaRPr kumimoji="0" lang="en-US" altLang="zh-CN" sz="2000" b="1" i="0" u="none" strike="noStrike" cap="none" normalizeH="0" baseline="0" smtClean="0">
                        <a:ln>
                          <a:noFill/>
                        </a:ln>
                        <a:solidFill>
                          <a:srgbClr val="0000FF"/>
                        </a:solidFill>
                        <a:effectLst/>
                        <a:latin typeface="Arial" charset="0"/>
                        <a:ea typeface="宋体" pitchFamily="2" charset="-122"/>
                        <a:cs typeface="Times New Roman" pitchFamily="18" charset="0"/>
                      </a:endParaRPr>
                    </a:p>
                  </a:txBody>
                  <a:tcPr horzOverflow="overflow">
                    <a:lnL w="254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en-US" altLang="zh-CN" sz="2000" b="1" i="0" u="none" strike="noStrike" cap="none" normalizeH="0" baseline="0" smtClean="0">
                          <a:ln>
                            <a:noFill/>
                          </a:ln>
                          <a:solidFill>
                            <a:srgbClr val="0000FF"/>
                          </a:solidFill>
                          <a:effectLst/>
                          <a:latin typeface="Times New Roman" pitchFamily="18" charset="0"/>
                          <a:ea typeface="宋体" pitchFamily="2" charset="-122"/>
                          <a:cs typeface="Times New Roman" pitchFamily="18" charset="0"/>
                        </a:rPr>
                        <a:t>18</a:t>
                      </a:r>
                      <a:endParaRPr kumimoji="0" lang="en-US" altLang="zh-CN" sz="2000" b="1" i="0" u="none" strike="noStrike" cap="none" normalizeH="0" baseline="0" smtClean="0">
                        <a:ln>
                          <a:noFill/>
                        </a:ln>
                        <a:solidFill>
                          <a:srgbClr val="0000FF"/>
                        </a:solidFill>
                        <a:effectLst/>
                        <a:latin typeface="Arial" charset="0"/>
                        <a:ea typeface="宋体" pitchFamily="2" charset="-122"/>
                        <a:cs typeface="Times New Roman" pitchFamily="18"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en-US" altLang="zh-CN" sz="2000" b="1" i="0" u="none" strike="noStrike" cap="none" normalizeH="0" baseline="0" smtClean="0">
                          <a:ln>
                            <a:noFill/>
                          </a:ln>
                          <a:solidFill>
                            <a:srgbClr val="0000FF"/>
                          </a:solidFill>
                          <a:effectLst/>
                          <a:latin typeface="Times New Roman" pitchFamily="18" charset="0"/>
                          <a:ea typeface="宋体" pitchFamily="2" charset="-122"/>
                          <a:cs typeface="Times New Roman" pitchFamily="18" charset="0"/>
                        </a:rPr>
                        <a:t>54</a:t>
                      </a:r>
                      <a:endParaRPr kumimoji="0" lang="en-US" altLang="zh-CN" sz="2000" b="1" i="0" u="none" strike="noStrike" cap="none" normalizeH="0" baseline="0" smtClean="0">
                        <a:ln>
                          <a:noFill/>
                        </a:ln>
                        <a:solidFill>
                          <a:srgbClr val="0000FF"/>
                        </a:solidFill>
                        <a:effectLst/>
                        <a:latin typeface="Arial" charset="0"/>
                        <a:ea typeface="宋体" pitchFamily="2" charset="-122"/>
                        <a:cs typeface="Times New Roman" pitchFamily="18" charset="0"/>
                      </a:endParaRPr>
                    </a:p>
                  </a:txBody>
                  <a:tcPr horzOverflow="overflow">
                    <a:lnL w="12700" cap="flat" cmpd="sng" algn="ctr">
                      <a:solidFill>
                        <a:srgbClr val="000000"/>
                      </a:solidFill>
                      <a:prstDash val="solid"/>
                      <a:round/>
                      <a:headEnd type="none" w="med" len="med"/>
                      <a:tailEnd type="none" w="med" len="med"/>
                    </a:lnL>
                    <a:lnR w="254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en-US" altLang="zh-CN" sz="2000" b="1" i="0" u="none" strike="noStrike" cap="none" normalizeH="0" baseline="0" smtClean="0">
                          <a:ln>
                            <a:noFill/>
                          </a:ln>
                          <a:solidFill>
                            <a:srgbClr val="0000FF"/>
                          </a:solidFill>
                          <a:effectLst/>
                          <a:latin typeface="Times New Roman" pitchFamily="18" charset="0"/>
                          <a:ea typeface="宋体" pitchFamily="2" charset="-122"/>
                          <a:cs typeface="Times New Roman" pitchFamily="18" charset="0"/>
                        </a:rPr>
                        <a:t>11</a:t>
                      </a:r>
                      <a:endParaRPr kumimoji="0" lang="en-US" altLang="zh-CN" sz="2000" b="1" i="0" u="none" strike="noStrike" cap="none" normalizeH="0" baseline="0" smtClean="0">
                        <a:ln>
                          <a:noFill/>
                        </a:ln>
                        <a:solidFill>
                          <a:srgbClr val="0000FF"/>
                        </a:solidFill>
                        <a:effectLst/>
                        <a:latin typeface="Arial" charset="0"/>
                        <a:ea typeface="宋体" pitchFamily="2" charset="-122"/>
                        <a:cs typeface="Times New Roman" pitchFamily="18" charset="0"/>
                      </a:endParaRPr>
                    </a:p>
                  </a:txBody>
                  <a:tcPr horzOverflow="overflow">
                    <a:lnL w="254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en-US" altLang="zh-CN" sz="2000" b="1" i="0" u="none" strike="noStrike" cap="none" normalizeH="0" baseline="0" smtClean="0">
                          <a:ln>
                            <a:noFill/>
                          </a:ln>
                          <a:solidFill>
                            <a:srgbClr val="0000FF"/>
                          </a:solidFill>
                          <a:effectLst/>
                          <a:latin typeface="Times New Roman" pitchFamily="18" charset="0"/>
                          <a:ea typeface="宋体" pitchFamily="2" charset="-122"/>
                          <a:cs typeface="Times New Roman" pitchFamily="18" charset="0"/>
                        </a:rPr>
                        <a:t>71</a:t>
                      </a:r>
                      <a:endParaRPr kumimoji="0" lang="en-US" altLang="zh-CN" sz="2000" b="1" i="0" u="none" strike="noStrike" cap="none" normalizeH="0" baseline="0" smtClean="0">
                        <a:ln>
                          <a:noFill/>
                        </a:ln>
                        <a:solidFill>
                          <a:srgbClr val="0000FF"/>
                        </a:solidFill>
                        <a:effectLst/>
                        <a:latin typeface="Arial" charset="0"/>
                        <a:ea typeface="宋体" pitchFamily="2" charset="-122"/>
                        <a:cs typeface="Times New Roman" pitchFamily="18"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en-US" altLang="zh-CN" sz="2000" b="1" i="0" u="none" strike="noStrike" cap="none" normalizeH="0" baseline="0" smtClean="0">
                          <a:ln>
                            <a:noFill/>
                          </a:ln>
                          <a:solidFill>
                            <a:srgbClr val="0000FF"/>
                          </a:solidFill>
                          <a:effectLst/>
                          <a:latin typeface="Times New Roman" pitchFamily="18" charset="0"/>
                          <a:ea typeface="宋体" pitchFamily="2" charset="-122"/>
                          <a:cs typeface="Times New Roman" pitchFamily="18" charset="0"/>
                        </a:rPr>
                        <a:t>44</a:t>
                      </a:r>
                      <a:endParaRPr kumimoji="0" lang="en-US" altLang="zh-CN" sz="2000" b="1" i="0" u="none" strike="noStrike" cap="none" normalizeH="0" baseline="0" smtClean="0">
                        <a:ln>
                          <a:noFill/>
                        </a:ln>
                        <a:solidFill>
                          <a:srgbClr val="0000FF"/>
                        </a:solidFill>
                        <a:effectLst/>
                        <a:latin typeface="Arial" charset="0"/>
                        <a:ea typeface="宋体" pitchFamily="2" charset="-122"/>
                        <a:cs typeface="Times New Roman" pitchFamily="18" charset="0"/>
                      </a:endParaRPr>
                    </a:p>
                  </a:txBody>
                  <a:tcPr horzOverflow="overflow">
                    <a:lnL w="12700" cap="flat" cmpd="sng" algn="ctr">
                      <a:solidFill>
                        <a:srgbClr val="000000"/>
                      </a:solidFill>
                      <a:prstDash val="solid"/>
                      <a:round/>
                      <a:headEnd type="none" w="med" len="med"/>
                      <a:tailEnd type="none" w="med" len="med"/>
                    </a:lnL>
                    <a:lnR w="254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en-US" altLang="zh-CN" sz="2000" b="1" i="0" u="none" strike="noStrike" cap="none" normalizeH="0" baseline="0" smtClean="0">
                          <a:ln>
                            <a:noFill/>
                          </a:ln>
                          <a:solidFill>
                            <a:srgbClr val="0000FF"/>
                          </a:solidFill>
                          <a:effectLst/>
                          <a:latin typeface="Times New Roman" pitchFamily="18" charset="0"/>
                          <a:ea typeface="宋体" pitchFamily="2" charset="-122"/>
                          <a:cs typeface="Times New Roman" pitchFamily="18" charset="0"/>
                        </a:rPr>
                        <a:t>21</a:t>
                      </a:r>
                      <a:endParaRPr kumimoji="0" lang="en-US" altLang="zh-CN" sz="2000" b="1" i="0" u="none" strike="noStrike" cap="none" normalizeH="0" baseline="0" smtClean="0">
                        <a:ln>
                          <a:noFill/>
                        </a:ln>
                        <a:solidFill>
                          <a:srgbClr val="0000FF"/>
                        </a:solidFill>
                        <a:effectLst/>
                        <a:latin typeface="Arial" charset="0"/>
                        <a:ea typeface="宋体" pitchFamily="2" charset="-122"/>
                        <a:cs typeface="Times New Roman" pitchFamily="18" charset="0"/>
                      </a:endParaRPr>
                    </a:p>
                  </a:txBody>
                  <a:tcPr horzOverflow="overflow">
                    <a:lnL w="254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en-US" altLang="zh-CN" sz="2000" b="1" i="0" u="none" strike="noStrike" cap="none" normalizeH="0" baseline="0" smtClean="0">
                          <a:ln>
                            <a:noFill/>
                          </a:ln>
                          <a:solidFill>
                            <a:srgbClr val="0000FF"/>
                          </a:solidFill>
                          <a:effectLst/>
                          <a:latin typeface="Times New Roman" pitchFamily="18" charset="0"/>
                          <a:ea typeface="宋体" pitchFamily="2" charset="-122"/>
                          <a:cs typeface="Times New Roman" pitchFamily="18" charset="0"/>
                        </a:rPr>
                        <a:t>7</a:t>
                      </a:r>
                      <a:endParaRPr kumimoji="0" lang="en-US" altLang="zh-CN" sz="2000" b="1" i="0" u="none" strike="noStrike" cap="none" normalizeH="0" baseline="0" smtClean="0">
                        <a:ln>
                          <a:noFill/>
                        </a:ln>
                        <a:solidFill>
                          <a:srgbClr val="0000FF"/>
                        </a:solidFill>
                        <a:effectLst/>
                        <a:latin typeface="Arial" charset="0"/>
                        <a:ea typeface="宋体" pitchFamily="2" charset="-122"/>
                        <a:cs typeface="Times New Roman" pitchFamily="18"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en-US" altLang="zh-CN" sz="2000" b="1" i="0" u="none" strike="noStrike" cap="none" normalizeH="0" baseline="0" smtClean="0">
                          <a:ln>
                            <a:noFill/>
                          </a:ln>
                          <a:solidFill>
                            <a:srgbClr val="0000FF"/>
                          </a:solidFill>
                          <a:effectLst/>
                          <a:latin typeface="Times New Roman" pitchFamily="18" charset="0"/>
                          <a:ea typeface="宋体" pitchFamily="2" charset="-122"/>
                          <a:cs typeface="Times New Roman" pitchFamily="18" charset="0"/>
                        </a:rPr>
                        <a:t>64</a:t>
                      </a:r>
                      <a:endParaRPr kumimoji="0" lang="en-US" altLang="zh-CN" sz="2000" b="1" i="0" u="none" strike="noStrike" cap="none" normalizeH="0" baseline="0" smtClean="0">
                        <a:ln>
                          <a:noFill/>
                        </a:ln>
                        <a:solidFill>
                          <a:srgbClr val="0000FF"/>
                        </a:solidFill>
                        <a:effectLst/>
                        <a:latin typeface="Arial" charset="0"/>
                        <a:ea typeface="宋体" pitchFamily="2" charset="-122"/>
                        <a:cs typeface="Times New Roman" pitchFamily="18" charset="0"/>
                      </a:endParaRPr>
                    </a:p>
                  </a:txBody>
                  <a:tcPr horzOverflow="overflow">
                    <a:lnL w="12700" cap="flat" cmpd="sng" algn="ctr">
                      <a:solidFill>
                        <a:srgbClr val="000000"/>
                      </a:solidFill>
                      <a:prstDash val="solid"/>
                      <a:round/>
                      <a:headEnd type="none" w="med" len="med"/>
                      <a:tailEnd type="none" w="med" len="med"/>
                    </a:lnL>
                    <a:lnR w="254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431800">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en-US" altLang="zh-CN" sz="2000" b="1" i="0" u="none" strike="noStrike" cap="none" normalizeH="0" baseline="0" smtClean="0">
                          <a:ln>
                            <a:noFill/>
                          </a:ln>
                          <a:solidFill>
                            <a:srgbClr val="0000FF"/>
                          </a:solidFill>
                          <a:effectLst/>
                          <a:latin typeface="Times New Roman" pitchFamily="18" charset="0"/>
                          <a:ea typeface="宋体" pitchFamily="2" charset="-122"/>
                          <a:cs typeface="Times New Roman" pitchFamily="18" charset="0"/>
                        </a:rPr>
                        <a:t>2</a:t>
                      </a:r>
                      <a:endParaRPr kumimoji="0" lang="en-US" altLang="zh-CN" sz="2000" b="1" i="0" u="none" strike="noStrike" cap="none" normalizeH="0" baseline="0" smtClean="0">
                        <a:ln>
                          <a:noFill/>
                        </a:ln>
                        <a:solidFill>
                          <a:srgbClr val="0000FF"/>
                        </a:solidFill>
                        <a:effectLst/>
                        <a:latin typeface="Arial" charset="0"/>
                        <a:ea typeface="宋体" pitchFamily="2" charset="-122"/>
                        <a:cs typeface="Times New Roman" pitchFamily="18" charset="0"/>
                      </a:endParaRPr>
                    </a:p>
                  </a:txBody>
                  <a:tcPr horzOverflow="overflow">
                    <a:lnL w="254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en-US" altLang="zh-CN" sz="2000" b="1" i="0" u="none" strike="noStrike" cap="none" normalizeH="0" baseline="0" smtClean="0">
                          <a:ln>
                            <a:noFill/>
                          </a:ln>
                          <a:solidFill>
                            <a:srgbClr val="0000FF"/>
                          </a:solidFill>
                          <a:effectLst/>
                          <a:latin typeface="Times New Roman" pitchFamily="18" charset="0"/>
                          <a:ea typeface="宋体" pitchFamily="2" charset="-122"/>
                          <a:cs typeface="Times New Roman" pitchFamily="18" charset="0"/>
                        </a:rPr>
                        <a:t>87</a:t>
                      </a:r>
                      <a:endParaRPr kumimoji="0" lang="en-US" altLang="zh-CN" sz="2000" b="1" i="0" u="none" strike="noStrike" cap="none" normalizeH="0" baseline="0" smtClean="0">
                        <a:ln>
                          <a:noFill/>
                        </a:ln>
                        <a:solidFill>
                          <a:srgbClr val="0000FF"/>
                        </a:solidFill>
                        <a:effectLst/>
                        <a:latin typeface="Arial" charset="0"/>
                        <a:ea typeface="宋体" pitchFamily="2" charset="-122"/>
                        <a:cs typeface="Times New Roman" pitchFamily="18"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en-US" altLang="zh-CN" sz="2000" b="1" i="0" u="none" strike="noStrike" cap="none" normalizeH="0" baseline="0" smtClean="0">
                          <a:ln>
                            <a:noFill/>
                          </a:ln>
                          <a:solidFill>
                            <a:srgbClr val="0000FF"/>
                          </a:solidFill>
                          <a:effectLst/>
                          <a:latin typeface="Times New Roman" pitchFamily="18" charset="0"/>
                          <a:ea typeface="宋体" pitchFamily="2" charset="-122"/>
                          <a:cs typeface="Times New Roman" pitchFamily="18" charset="0"/>
                        </a:rPr>
                        <a:t>76</a:t>
                      </a:r>
                      <a:endParaRPr kumimoji="0" lang="en-US" altLang="zh-CN" sz="2000" b="1" i="0" u="none" strike="noStrike" cap="none" normalizeH="0" baseline="0" smtClean="0">
                        <a:ln>
                          <a:noFill/>
                        </a:ln>
                        <a:solidFill>
                          <a:srgbClr val="0000FF"/>
                        </a:solidFill>
                        <a:effectLst/>
                        <a:latin typeface="Arial" charset="0"/>
                        <a:ea typeface="宋体" pitchFamily="2" charset="-122"/>
                        <a:cs typeface="Times New Roman" pitchFamily="18" charset="0"/>
                      </a:endParaRPr>
                    </a:p>
                  </a:txBody>
                  <a:tcPr horzOverflow="overflow">
                    <a:lnL w="12700" cap="flat" cmpd="sng" algn="ctr">
                      <a:solidFill>
                        <a:srgbClr val="000000"/>
                      </a:solidFill>
                      <a:prstDash val="solid"/>
                      <a:round/>
                      <a:headEnd type="none" w="med" len="med"/>
                      <a:tailEnd type="none" w="med" len="med"/>
                    </a:lnL>
                    <a:lnR w="254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en-US" altLang="zh-CN" sz="2000" b="1" i="0" u="none" strike="noStrike" cap="none" normalizeH="0" baseline="0" smtClean="0">
                          <a:ln>
                            <a:noFill/>
                          </a:ln>
                          <a:solidFill>
                            <a:srgbClr val="0000FF"/>
                          </a:solidFill>
                          <a:effectLst/>
                          <a:latin typeface="Times New Roman" pitchFamily="18" charset="0"/>
                          <a:ea typeface="宋体" pitchFamily="2" charset="-122"/>
                          <a:cs typeface="Times New Roman" pitchFamily="18" charset="0"/>
                        </a:rPr>
                        <a:t>12</a:t>
                      </a:r>
                      <a:endParaRPr kumimoji="0" lang="en-US" altLang="zh-CN" sz="2000" b="1" i="0" u="none" strike="noStrike" cap="none" normalizeH="0" baseline="0" smtClean="0">
                        <a:ln>
                          <a:noFill/>
                        </a:ln>
                        <a:solidFill>
                          <a:srgbClr val="0000FF"/>
                        </a:solidFill>
                        <a:effectLst/>
                        <a:latin typeface="Arial" charset="0"/>
                        <a:ea typeface="宋体" pitchFamily="2" charset="-122"/>
                        <a:cs typeface="Times New Roman" pitchFamily="18" charset="0"/>
                      </a:endParaRPr>
                    </a:p>
                  </a:txBody>
                  <a:tcPr horzOverflow="overflow">
                    <a:lnL w="254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en-US" altLang="zh-CN" sz="2000" b="1" i="0" u="none" strike="noStrike" cap="none" normalizeH="0" baseline="0" smtClean="0">
                          <a:ln>
                            <a:noFill/>
                          </a:ln>
                          <a:solidFill>
                            <a:srgbClr val="0000FF"/>
                          </a:solidFill>
                          <a:effectLst/>
                          <a:latin typeface="Times New Roman" pitchFamily="18" charset="0"/>
                          <a:ea typeface="宋体" pitchFamily="2" charset="-122"/>
                          <a:cs typeface="Times New Roman" pitchFamily="18" charset="0"/>
                        </a:rPr>
                        <a:t>64</a:t>
                      </a:r>
                      <a:endParaRPr kumimoji="0" lang="en-US" altLang="zh-CN" sz="2000" b="1" i="0" u="none" strike="noStrike" cap="none" normalizeH="0" baseline="0" smtClean="0">
                        <a:ln>
                          <a:noFill/>
                        </a:ln>
                        <a:solidFill>
                          <a:srgbClr val="0000FF"/>
                        </a:solidFill>
                        <a:effectLst/>
                        <a:latin typeface="Arial" charset="0"/>
                        <a:ea typeface="宋体" pitchFamily="2" charset="-122"/>
                        <a:cs typeface="Times New Roman" pitchFamily="18"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en-US" altLang="zh-CN" sz="2000" b="1" i="0" u="none" strike="noStrike" cap="none" normalizeH="0" baseline="0" smtClean="0">
                          <a:ln>
                            <a:noFill/>
                          </a:ln>
                          <a:solidFill>
                            <a:srgbClr val="0000FF"/>
                          </a:solidFill>
                          <a:effectLst/>
                          <a:latin typeface="Times New Roman" pitchFamily="18" charset="0"/>
                          <a:ea typeface="宋体" pitchFamily="2" charset="-122"/>
                          <a:cs typeface="Times New Roman" pitchFamily="18" charset="0"/>
                        </a:rPr>
                        <a:t>60</a:t>
                      </a:r>
                      <a:endParaRPr kumimoji="0" lang="en-US" altLang="zh-CN" sz="2000" b="1" i="0" u="none" strike="noStrike" cap="none" normalizeH="0" baseline="0" smtClean="0">
                        <a:ln>
                          <a:noFill/>
                        </a:ln>
                        <a:solidFill>
                          <a:srgbClr val="0000FF"/>
                        </a:solidFill>
                        <a:effectLst/>
                        <a:latin typeface="Arial" charset="0"/>
                        <a:ea typeface="宋体" pitchFamily="2" charset="-122"/>
                        <a:cs typeface="Times New Roman" pitchFamily="18" charset="0"/>
                      </a:endParaRPr>
                    </a:p>
                  </a:txBody>
                  <a:tcPr horzOverflow="overflow">
                    <a:lnL w="12700" cap="flat" cmpd="sng" algn="ctr">
                      <a:solidFill>
                        <a:srgbClr val="000000"/>
                      </a:solidFill>
                      <a:prstDash val="solid"/>
                      <a:round/>
                      <a:headEnd type="none" w="med" len="med"/>
                      <a:tailEnd type="none" w="med" len="med"/>
                    </a:lnL>
                    <a:lnR w="254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en-US" altLang="zh-CN" sz="2000" b="1" i="0" u="none" strike="noStrike" cap="none" normalizeH="0" baseline="0" smtClean="0">
                          <a:ln>
                            <a:noFill/>
                          </a:ln>
                          <a:solidFill>
                            <a:srgbClr val="0000FF"/>
                          </a:solidFill>
                          <a:effectLst/>
                          <a:latin typeface="Times New Roman" pitchFamily="18" charset="0"/>
                          <a:ea typeface="宋体" pitchFamily="2" charset="-122"/>
                          <a:cs typeface="Times New Roman" pitchFamily="18" charset="0"/>
                        </a:rPr>
                        <a:t>22</a:t>
                      </a:r>
                      <a:endParaRPr kumimoji="0" lang="en-US" altLang="zh-CN" sz="2000" b="1" i="0" u="none" strike="noStrike" cap="none" normalizeH="0" baseline="0" smtClean="0">
                        <a:ln>
                          <a:noFill/>
                        </a:ln>
                        <a:solidFill>
                          <a:srgbClr val="0000FF"/>
                        </a:solidFill>
                        <a:effectLst/>
                        <a:latin typeface="Arial" charset="0"/>
                        <a:ea typeface="宋体" pitchFamily="2" charset="-122"/>
                        <a:cs typeface="Times New Roman" pitchFamily="18" charset="0"/>
                      </a:endParaRPr>
                    </a:p>
                  </a:txBody>
                  <a:tcPr horzOverflow="overflow">
                    <a:lnL w="254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en-US" altLang="zh-CN" sz="2000" b="1" i="0" u="none" strike="noStrike" cap="none" normalizeH="0" baseline="0" smtClean="0">
                          <a:ln>
                            <a:noFill/>
                          </a:ln>
                          <a:solidFill>
                            <a:srgbClr val="0000FF"/>
                          </a:solidFill>
                          <a:effectLst/>
                          <a:latin typeface="Times New Roman" pitchFamily="18" charset="0"/>
                          <a:ea typeface="宋体" pitchFamily="2" charset="-122"/>
                          <a:cs typeface="Times New Roman" pitchFamily="18" charset="0"/>
                        </a:rPr>
                        <a:t>22</a:t>
                      </a:r>
                      <a:endParaRPr kumimoji="0" lang="en-US" altLang="zh-CN" sz="2000" b="1" i="0" u="none" strike="noStrike" cap="none" normalizeH="0" baseline="0" smtClean="0">
                        <a:ln>
                          <a:noFill/>
                        </a:ln>
                        <a:solidFill>
                          <a:srgbClr val="0000FF"/>
                        </a:solidFill>
                        <a:effectLst/>
                        <a:latin typeface="Arial" charset="0"/>
                        <a:ea typeface="宋体" pitchFamily="2" charset="-122"/>
                        <a:cs typeface="Times New Roman" pitchFamily="18"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en-US" altLang="zh-CN" sz="2000" b="1" i="0" u="none" strike="noStrike" cap="none" normalizeH="0" baseline="0" smtClean="0">
                          <a:ln>
                            <a:noFill/>
                          </a:ln>
                          <a:solidFill>
                            <a:srgbClr val="0000FF"/>
                          </a:solidFill>
                          <a:effectLst/>
                          <a:latin typeface="Times New Roman" pitchFamily="18" charset="0"/>
                          <a:ea typeface="宋体" pitchFamily="2" charset="-122"/>
                          <a:cs typeface="Times New Roman" pitchFamily="18" charset="0"/>
                        </a:rPr>
                        <a:t>60</a:t>
                      </a:r>
                      <a:endParaRPr kumimoji="0" lang="en-US" altLang="zh-CN" sz="2000" b="1" i="0" u="none" strike="noStrike" cap="none" normalizeH="0" baseline="0" smtClean="0">
                        <a:ln>
                          <a:noFill/>
                        </a:ln>
                        <a:solidFill>
                          <a:srgbClr val="0000FF"/>
                        </a:solidFill>
                        <a:effectLst/>
                        <a:latin typeface="Arial" charset="0"/>
                        <a:ea typeface="宋体" pitchFamily="2" charset="-122"/>
                        <a:cs typeface="Times New Roman" pitchFamily="18" charset="0"/>
                      </a:endParaRPr>
                    </a:p>
                  </a:txBody>
                  <a:tcPr horzOverflow="overflow">
                    <a:lnL w="12700" cap="flat" cmpd="sng" algn="ctr">
                      <a:solidFill>
                        <a:srgbClr val="000000"/>
                      </a:solidFill>
                      <a:prstDash val="solid"/>
                      <a:round/>
                      <a:headEnd type="none" w="med" len="med"/>
                      <a:tailEnd type="none" w="med" len="med"/>
                    </a:lnL>
                    <a:lnR w="254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431800">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en-US" altLang="zh-CN" sz="2000" b="1" i="0" u="none" strike="noStrike" cap="none" normalizeH="0" baseline="0" smtClean="0">
                          <a:ln>
                            <a:noFill/>
                          </a:ln>
                          <a:solidFill>
                            <a:srgbClr val="0000FF"/>
                          </a:solidFill>
                          <a:effectLst/>
                          <a:latin typeface="Times New Roman" pitchFamily="18" charset="0"/>
                          <a:ea typeface="宋体" pitchFamily="2" charset="-122"/>
                          <a:cs typeface="Times New Roman" pitchFamily="18" charset="0"/>
                        </a:rPr>
                        <a:t>3</a:t>
                      </a:r>
                      <a:endParaRPr kumimoji="0" lang="en-US" altLang="zh-CN" sz="2000" b="1" i="0" u="none" strike="noStrike" cap="none" normalizeH="0" baseline="0" smtClean="0">
                        <a:ln>
                          <a:noFill/>
                        </a:ln>
                        <a:solidFill>
                          <a:srgbClr val="0000FF"/>
                        </a:solidFill>
                        <a:effectLst/>
                        <a:latin typeface="Arial" charset="0"/>
                        <a:ea typeface="宋体" pitchFamily="2" charset="-122"/>
                        <a:cs typeface="Times New Roman" pitchFamily="18" charset="0"/>
                      </a:endParaRPr>
                    </a:p>
                  </a:txBody>
                  <a:tcPr horzOverflow="overflow">
                    <a:lnL w="254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en-US" altLang="zh-CN" sz="2000" b="1" i="0" u="none" strike="noStrike" cap="none" normalizeH="0" baseline="0" smtClean="0">
                          <a:ln>
                            <a:noFill/>
                          </a:ln>
                          <a:solidFill>
                            <a:srgbClr val="0000FF"/>
                          </a:solidFill>
                          <a:effectLst/>
                          <a:latin typeface="Times New Roman" pitchFamily="18" charset="0"/>
                          <a:ea typeface="宋体" pitchFamily="2" charset="-122"/>
                          <a:cs typeface="Times New Roman" pitchFamily="18" charset="0"/>
                        </a:rPr>
                        <a:t>74</a:t>
                      </a:r>
                      <a:endParaRPr kumimoji="0" lang="en-US" altLang="zh-CN" sz="2000" b="1" i="0" u="none" strike="noStrike" cap="none" normalizeH="0" baseline="0" smtClean="0">
                        <a:ln>
                          <a:noFill/>
                        </a:ln>
                        <a:solidFill>
                          <a:srgbClr val="0000FF"/>
                        </a:solidFill>
                        <a:effectLst/>
                        <a:latin typeface="Arial" charset="0"/>
                        <a:ea typeface="宋体" pitchFamily="2" charset="-122"/>
                        <a:cs typeface="Times New Roman" pitchFamily="18"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en-US" altLang="zh-CN" sz="2000" b="1" i="0" u="none" strike="noStrike" cap="none" normalizeH="0" baseline="0" smtClean="0">
                          <a:ln>
                            <a:noFill/>
                          </a:ln>
                          <a:solidFill>
                            <a:srgbClr val="0000FF"/>
                          </a:solidFill>
                          <a:effectLst/>
                          <a:latin typeface="Times New Roman" pitchFamily="18" charset="0"/>
                          <a:ea typeface="宋体" pitchFamily="2" charset="-122"/>
                          <a:cs typeface="Times New Roman" pitchFamily="18" charset="0"/>
                        </a:rPr>
                        <a:t>78</a:t>
                      </a:r>
                      <a:endParaRPr kumimoji="0" lang="en-US" altLang="zh-CN" sz="2000" b="1" i="0" u="none" strike="noStrike" cap="none" normalizeH="0" baseline="0" smtClean="0">
                        <a:ln>
                          <a:noFill/>
                        </a:ln>
                        <a:solidFill>
                          <a:srgbClr val="0000FF"/>
                        </a:solidFill>
                        <a:effectLst/>
                        <a:latin typeface="Arial" charset="0"/>
                        <a:ea typeface="宋体" pitchFamily="2" charset="-122"/>
                        <a:cs typeface="Times New Roman" pitchFamily="18" charset="0"/>
                      </a:endParaRPr>
                    </a:p>
                  </a:txBody>
                  <a:tcPr horzOverflow="overflow">
                    <a:lnL w="12700" cap="flat" cmpd="sng" algn="ctr">
                      <a:solidFill>
                        <a:srgbClr val="000000"/>
                      </a:solidFill>
                      <a:prstDash val="solid"/>
                      <a:round/>
                      <a:headEnd type="none" w="med" len="med"/>
                      <a:tailEnd type="none" w="med" len="med"/>
                    </a:lnL>
                    <a:lnR w="254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en-US" altLang="zh-CN" sz="2000" b="1" i="0" u="none" strike="noStrike" cap="none" normalizeH="0" baseline="0" smtClean="0">
                          <a:ln>
                            <a:noFill/>
                          </a:ln>
                          <a:solidFill>
                            <a:srgbClr val="0000FF"/>
                          </a:solidFill>
                          <a:effectLst/>
                          <a:latin typeface="Times New Roman" pitchFamily="18" charset="0"/>
                          <a:ea typeface="宋体" pitchFamily="2" charset="-122"/>
                          <a:cs typeface="Times New Roman" pitchFamily="18" charset="0"/>
                        </a:rPr>
                        <a:t>13</a:t>
                      </a:r>
                      <a:endParaRPr kumimoji="0" lang="en-US" altLang="zh-CN" sz="2000" b="1" i="0" u="none" strike="noStrike" cap="none" normalizeH="0" baseline="0" smtClean="0">
                        <a:ln>
                          <a:noFill/>
                        </a:ln>
                        <a:solidFill>
                          <a:srgbClr val="0000FF"/>
                        </a:solidFill>
                        <a:effectLst/>
                        <a:latin typeface="Arial" charset="0"/>
                        <a:ea typeface="宋体" pitchFamily="2" charset="-122"/>
                        <a:cs typeface="Times New Roman" pitchFamily="18" charset="0"/>
                      </a:endParaRPr>
                    </a:p>
                  </a:txBody>
                  <a:tcPr horzOverflow="overflow">
                    <a:lnL w="254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en-US" altLang="zh-CN" sz="2000" b="1" i="0" u="none" strike="noStrike" cap="none" normalizeH="0" baseline="0" smtClean="0">
                          <a:ln>
                            <a:noFill/>
                          </a:ln>
                          <a:solidFill>
                            <a:srgbClr val="0000FF"/>
                          </a:solidFill>
                          <a:effectLst/>
                          <a:latin typeface="Times New Roman" pitchFamily="18" charset="0"/>
                          <a:ea typeface="宋体" pitchFamily="2" charset="-122"/>
                          <a:cs typeface="Times New Roman" pitchFamily="18" charset="0"/>
                        </a:rPr>
                        <a:t>68</a:t>
                      </a:r>
                      <a:endParaRPr kumimoji="0" lang="en-US" altLang="zh-CN" sz="2000" b="1" i="0" u="none" strike="noStrike" cap="none" normalizeH="0" baseline="0" smtClean="0">
                        <a:ln>
                          <a:noFill/>
                        </a:ln>
                        <a:solidFill>
                          <a:srgbClr val="0000FF"/>
                        </a:solidFill>
                        <a:effectLst/>
                        <a:latin typeface="Arial" charset="0"/>
                        <a:ea typeface="宋体" pitchFamily="2" charset="-122"/>
                        <a:cs typeface="Times New Roman" pitchFamily="18"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en-US" altLang="zh-CN" sz="2000" b="1" i="0" u="none" strike="noStrike" cap="none" normalizeH="0" baseline="0" smtClean="0">
                          <a:ln>
                            <a:noFill/>
                          </a:ln>
                          <a:solidFill>
                            <a:srgbClr val="0000FF"/>
                          </a:solidFill>
                          <a:effectLst/>
                          <a:latin typeface="Times New Roman" pitchFamily="18" charset="0"/>
                          <a:ea typeface="宋体" pitchFamily="2" charset="-122"/>
                          <a:cs typeface="Times New Roman" pitchFamily="18" charset="0"/>
                        </a:rPr>
                        <a:t>58</a:t>
                      </a:r>
                      <a:endParaRPr kumimoji="0" lang="en-US" altLang="zh-CN" sz="2000" b="1" i="0" u="none" strike="noStrike" cap="none" normalizeH="0" baseline="0" smtClean="0">
                        <a:ln>
                          <a:noFill/>
                        </a:ln>
                        <a:solidFill>
                          <a:srgbClr val="0000FF"/>
                        </a:solidFill>
                        <a:effectLst/>
                        <a:latin typeface="Arial" charset="0"/>
                        <a:ea typeface="宋体" pitchFamily="2" charset="-122"/>
                        <a:cs typeface="Times New Roman" pitchFamily="18" charset="0"/>
                      </a:endParaRPr>
                    </a:p>
                  </a:txBody>
                  <a:tcPr horzOverflow="overflow">
                    <a:lnL w="12700" cap="flat" cmpd="sng" algn="ctr">
                      <a:solidFill>
                        <a:srgbClr val="000000"/>
                      </a:solidFill>
                      <a:prstDash val="solid"/>
                      <a:round/>
                      <a:headEnd type="none" w="med" len="med"/>
                      <a:tailEnd type="none" w="med" len="med"/>
                    </a:lnL>
                    <a:lnR w="254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en-US" altLang="zh-CN" sz="2000" b="1" i="0" u="none" strike="noStrike" cap="none" normalizeH="0" baseline="0" smtClean="0">
                          <a:ln>
                            <a:noFill/>
                          </a:ln>
                          <a:solidFill>
                            <a:srgbClr val="0000FF"/>
                          </a:solidFill>
                          <a:effectLst/>
                          <a:latin typeface="Times New Roman" pitchFamily="18" charset="0"/>
                          <a:ea typeface="宋体" pitchFamily="2" charset="-122"/>
                          <a:cs typeface="Times New Roman" pitchFamily="18" charset="0"/>
                        </a:rPr>
                        <a:t>23</a:t>
                      </a:r>
                      <a:endParaRPr kumimoji="0" lang="en-US" altLang="zh-CN" sz="2000" b="1" i="0" u="none" strike="noStrike" cap="none" normalizeH="0" baseline="0" smtClean="0">
                        <a:ln>
                          <a:noFill/>
                        </a:ln>
                        <a:solidFill>
                          <a:srgbClr val="0000FF"/>
                        </a:solidFill>
                        <a:effectLst/>
                        <a:latin typeface="Arial" charset="0"/>
                        <a:ea typeface="宋体" pitchFamily="2" charset="-122"/>
                        <a:cs typeface="Times New Roman" pitchFamily="18" charset="0"/>
                      </a:endParaRPr>
                    </a:p>
                  </a:txBody>
                  <a:tcPr horzOverflow="overflow">
                    <a:lnL w="254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en-US" altLang="zh-CN" sz="2000" b="1" i="0" u="none" strike="noStrike" cap="none" normalizeH="0" baseline="0" smtClean="0">
                          <a:ln>
                            <a:noFill/>
                          </a:ln>
                          <a:solidFill>
                            <a:srgbClr val="0000FF"/>
                          </a:solidFill>
                          <a:effectLst/>
                          <a:latin typeface="Times New Roman" pitchFamily="18" charset="0"/>
                          <a:ea typeface="宋体" pitchFamily="2" charset="-122"/>
                          <a:cs typeface="Times New Roman" pitchFamily="18" charset="0"/>
                        </a:rPr>
                        <a:t>25</a:t>
                      </a:r>
                      <a:endParaRPr kumimoji="0" lang="en-US" altLang="zh-CN" sz="2000" b="1" i="0" u="none" strike="noStrike" cap="none" normalizeH="0" baseline="0" smtClean="0">
                        <a:ln>
                          <a:noFill/>
                        </a:ln>
                        <a:solidFill>
                          <a:srgbClr val="0000FF"/>
                        </a:solidFill>
                        <a:effectLst/>
                        <a:latin typeface="Arial" charset="0"/>
                        <a:ea typeface="宋体" pitchFamily="2" charset="-122"/>
                        <a:cs typeface="Times New Roman" pitchFamily="18"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en-US" altLang="zh-CN" sz="2000" b="1" i="0" u="none" strike="noStrike" cap="none" normalizeH="0" baseline="0" smtClean="0">
                          <a:ln>
                            <a:noFill/>
                          </a:ln>
                          <a:solidFill>
                            <a:srgbClr val="0000FF"/>
                          </a:solidFill>
                          <a:effectLst/>
                          <a:latin typeface="Times New Roman" pitchFamily="18" charset="0"/>
                          <a:ea typeface="宋体" pitchFamily="2" charset="-122"/>
                          <a:cs typeface="Times New Roman" pitchFamily="18" charset="0"/>
                        </a:rPr>
                        <a:t>62</a:t>
                      </a:r>
                      <a:endParaRPr kumimoji="0" lang="en-US" altLang="zh-CN" sz="2000" b="1" i="0" u="none" strike="noStrike" cap="none" normalizeH="0" baseline="0" smtClean="0">
                        <a:ln>
                          <a:noFill/>
                        </a:ln>
                        <a:solidFill>
                          <a:srgbClr val="0000FF"/>
                        </a:solidFill>
                        <a:effectLst/>
                        <a:latin typeface="Arial" charset="0"/>
                        <a:ea typeface="宋体" pitchFamily="2" charset="-122"/>
                        <a:cs typeface="Times New Roman" pitchFamily="18" charset="0"/>
                      </a:endParaRPr>
                    </a:p>
                  </a:txBody>
                  <a:tcPr horzOverflow="overflow">
                    <a:lnL w="12700" cap="flat" cmpd="sng" algn="ctr">
                      <a:solidFill>
                        <a:srgbClr val="000000"/>
                      </a:solidFill>
                      <a:prstDash val="solid"/>
                      <a:round/>
                      <a:headEnd type="none" w="med" len="med"/>
                      <a:tailEnd type="none" w="med" len="med"/>
                    </a:lnL>
                    <a:lnR w="254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431800">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en-US" altLang="zh-CN" sz="2000" b="1" i="0" u="none" strike="noStrike" cap="none" normalizeH="0" baseline="0" smtClean="0">
                          <a:ln>
                            <a:noFill/>
                          </a:ln>
                          <a:solidFill>
                            <a:srgbClr val="0000FF"/>
                          </a:solidFill>
                          <a:effectLst/>
                          <a:latin typeface="Times New Roman" pitchFamily="18" charset="0"/>
                          <a:ea typeface="宋体" pitchFamily="2" charset="-122"/>
                          <a:cs typeface="Times New Roman" pitchFamily="18" charset="0"/>
                        </a:rPr>
                        <a:t>4</a:t>
                      </a:r>
                      <a:endParaRPr kumimoji="0" lang="en-US" altLang="zh-CN" sz="2000" b="1" i="0" u="none" strike="noStrike" cap="none" normalizeH="0" baseline="0" smtClean="0">
                        <a:ln>
                          <a:noFill/>
                        </a:ln>
                        <a:solidFill>
                          <a:srgbClr val="0000FF"/>
                        </a:solidFill>
                        <a:effectLst/>
                        <a:latin typeface="Arial" charset="0"/>
                        <a:ea typeface="宋体" pitchFamily="2" charset="-122"/>
                        <a:cs typeface="Times New Roman" pitchFamily="18" charset="0"/>
                      </a:endParaRPr>
                    </a:p>
                  </a:txBody>
                  <a:tcPr horzOverflow="overflow">
                    <a:lnL w="254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en-US" altLang="zh-CN" sz="2000" b="1" i="0" u="none" strike="noStrike" cap="none" normalizeH="0" baseline="0" smtClean="0">
                          <a:ln>
                            <a:noFill/>
                          </a:ln>
                          <a:solidFill>
                            <a:srgbClr val="0000FF"/>
                          </a:solidFill>
                          <a:effectLst/>
                          <a:latin typeface="Times New Roman" pitchFamily="18" charset="0"/>
                          <a:ea typeface="宋体" pitchFamily="2" charset="-122"/>
                          <a:cs typeface="Times New Roman" pitchFamily="18" charset="0"/>
                        </a:rPr>
                        <a:t>71</a:t>
                      </a:r>
                      <a:endParaRPr kumimoji="0" lang="en-US" altLang="zh-CN" sz="2000" b="1" i="0" u="none" strike="noStrike" cap="none" normalizeH="0" baseline="0" smtClean="0">
                        <a:ln>
                          <a:noFill/>
                        </a:ln>
                        <a:solidFill>
                          <a:srgbClr val="0000FF"/>
                        </a:solidFill>
                        <a:effectLst/>
                        <a:latin typeface="Arial" charset="0"/>
                        <a:ea typeface="宋体" pitchFamily="2" charset="-122"/>
                        <a:cs typeface="Times New Roman" pitchFamily="18"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en-US" altLang="zh-CN" sz="2000" b="1" i="0" u="none" strike="noStrike" cap="none" normalizeH="0" baseline="0" smtClean="0">
                          <a:ln>
                            <a:noFill/>
                          </a:ln>
                          <a:solidFill>
                            <a:srgbClr val="0000FF"/>
                          </a:solidFill>
                          <a:effectLst/>
                          <a:latin typeface="Times New Roman" pitchFamily="18" charset="0"/>
                          <a:ea typeface="宋体" pitchFamily="2" charset="-122"/>
                          <a:cs typeface="Times New Roman" pitchFamily="18" charset="0"/>
                        </a:rPr>
                        <a:t>71</a:t>
                      </a:r>
                      <a:endParaRPr kumimoji="0" lang="en-US" altLang="zh-CN" sz="2000" b="1" i="0" u="none" strike="noStrike" cap="none" normalizeH="0" baseline="0" smtClean="0">
                        <a:ln>
                          <a:noFill/>
                        </a:ln>
                        <a:solidFill>
                          <a:srgbClr val="0000FF"/>
                        </a:solidFill>
                        <a:effectLst/>
                        <a:latin typeface="Arial" charset="0"/>
                        <a:ea typeface="宋体" pitchFamily="2" charset="-122"/>
                        <a:cs typeface="Times New Roman" pitchFamily="18" charset="0"/>
                      </a:endParaRPr>
                    </a:p>
                  </a:txBody>
                  <a:tcPr horzOverflow="overflow">
                    <a:lnL w="12700" cap="flat" cmpd="sng" algn="ctr">
                      <a:solidFill>
                        <a:srgbClr val="000000"/>
                      </a:solidFill>
                      <a:prstDash val="solid"/>
                      <a:round/>
                      <a:headEnd type="none" w="med" len="med"/>
                      <a:tailEnd type="none" w="med" len="med"/>
                    </a:lnL>
                    <a:lnR w="254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en-US" altLang="zh-CN" sz="2000" b="1" i="0" u="none" strike="noStrike" cap="none" normalizeH="0" baseline="0" smtClean="0">
                          <a:ln>
                            <a:noFill/>
                          </a:ln>
                          <a:solidFill>
                            <a:srgbClr val="0000FF"/>
                          </a:solidFill>
                          <a:effectLst/>
                          <a:latin typeface="Times New Roman" pitchFamily="18" charset="0"/>
                          <a:ea typeface="宋体" pitchFamily="2" charset="-122"/>
                          <a:cs typeface="Times New Roman" pitchFamily="18" charset="0"/>
                        </a:rPr>
                        <a:t>14</a:t>
                      </a:r>
                      <a:endParaRPr kumimoji="0" lang="en-US" altLang="zh-CN" sz="2000" b="1" i="0" u="none" strike="noStrike" cap="none" normalizeH="0" baseline="0" smtClean="0">
                        <a:ln>
                          <a:noFill/>
                        </a:ln>
                        <a:solidFill>
                          <a:srgbClr val="0000FF"/>
                        </a:solidFill>
                        <a:effectLst/>
                        <a:latin typeface="Arial" charset="0"/>
                        <a:ea typeface="宋体" pitchFamily="2" charset="-122"/>
                        <a:cs typeface="Times New Roman" pitchFamily="18" charset="0"/>
                      </a:endParaRPr>
                    </a:p>
                  </a:txBody>
                  <a:tcPr horzOverflow="overflow">
                    <a:lnL w="254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en-US" altLang="zh-CN" sz="2000" b="1" i="0" u="none" strike="noStrike" cap="none" normalizeH="0" baseline="0" smtClean="0">
                          <a:ln>
                            <a:noFill/>
                          </a:ln>
                          <a:solidFill>
                            <a:srgbClr val="0000FF"/>
                          </a:solidFill>
                          <a:effectLst/>
                          <a:latin typeface="Times New Roman" pitchFamily="18" charset="0"/>
                          <a:ea typeface="宋体" pitchFamily="2" charset="-122"/>
                          <a:cs typeface="Times New Roman" pitchFamily="18" charset="0"/>
                        </a:rPr>
                        <a:t>83</a:t>
                      </a:r>
                      <a:endParaRPr kumimoji="0" lang="en-US" altLang="zh-CN" sz="2000" b="1" i="0" u="none" strike="noStrike" cap="none" normalizeH="0" baseline="0" smtClean="0">
                        <a:ln>
                          <a:noFill/>
                        </a:ln>
                        <a:solidFill>
                          <a:srgbClr val="0000FF"/>
                        </a:solidFill>
                        <a:effectLst/>
                        <a:latin typeface="Arial" charset="0"/>
                        <a:ea typeface="宋体" pitchFamily="2" charset="-122"/>
                        <a:cs typeface="Times New Roman" pitchFamily="18"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en-US" altLang="zh-CN" sz="2000" b="1" i="0" u="none" strike="noStrike" cap="none" normalizeH="0" baseline="0" smtClean="0">
                          <a:ln>
                            <a:noFill/>
                          </a:ln>
                          <a:solidFill>
                            <a:srgbClr val="0000FF"/>
                          </a:solidFill>
                          <a:effectLst/>
                          <a:latin typeface="Times New Roman" pitchFamily="18" charset="0"/>
                          <a:ea typeface="宋体" pitchFamily="2" charset="-122"/>
                          <a:cs typeface="Times New Roman" pitchFamily="18" charset="0"/>
                        </a:rPr>
                        <a:t>69</a:t>
                      </a:r>
                      <a:endParaRPr kumimoji="0" lang="en-US" altLang="zh-CN" sz="2000" b="1" i="0" u="none" strike="noStrike" cap="none" normalizeH="0" baseline="0" smtClean="0">
                        <a:ln>
                          <a:noFill/>
                        </a:ln>
                        <a:solidFill>
                          <a:srgbClr val="0000FF"/>
                        </a:solidFill>
                        <a:effectLst/>
                        <a:latin typeface="Arial" charset="0"/>
                        <a:ea typeface="宋体" pitchFamily="2" charset="-122"/>
                        <a:cs typeface="Times New Roman" pitchFamily="18" charset="0"/>
                      </a:endParaRPr>
                    </a:p>
                  </a:txBody>
                  <a:tcPr horzOverflow="overflow">
                    <a:lnL w="12700" cap="flat" cmpd="sng" algn="ctr">
                      <a:solidFill>
                        <a:srgbClr val="000000"/>
                      </a:solidFill>
                      <a:prstDash val="solid"/>
                      <a:round/>
                      <a:headEnd type="none" w="med" len="med"/>
                      <a:tailEnd type="none" w="med" len="med"/>
                    </a:lnL>
                    <a:lnR w="254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en-US" altLang="zh-CN" sz="2000" b="1" i="0" u="none" strike="noStrike" cap="none" normalizeH="0" baseline="0" smtClean="0">
                          <a:ln>
                            <a:noFill/>
                          </a:ln>
                          <a:solidFill>
                            <a:srgbClr val="0000FF"/>
                          </a:solidFill>
                          <a:effectLst/>
                          <a:latin typeface="Times New Roman" pitchFamily="18" charset="0"/>
                          <a:ea typeface="宋体" pitchFamily="2" charset="-122"/>
                          <a:cs typeface="Times New Roman" pitchFamily="18" charset="0"/>
                        </a:rPr>
                        <a:t>24</a:t>
                      </a:r>
                      <a:endParaRPr kumimoji="0" lang="en-US" altLang="zh-CN" sz="2000" b="1" i="0" u="none" strike="noStrike" cap="none" normalizeH="0" baseline="0" smtClean="0">
                        <a:ln>
                          <a:noFill/>
                        </a:ln>
                        <a:solidFill>
                          <a:srgbClr val="0000FF"/>
                        </a:solidFill>
                        <a:effectLst/>
                        <a:latin typeface="Arial" charset="0"/>
                        <a:ea typeface="宋体" pitchFamily="2" charset="-122"/>
                        <a:cs typeface="Times New Roman" pitchFamily="18" charset="0"/>
                      </a:endParaRPr>
                    </a:p>
                  </a:txBody>
                  <a:tcPr horzOverflow="overflow">
                    <a:lnL w="254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en-US" altLang="zh-CN" sz="2000" b="1" i="0" u="none" strike="noStrike" cap="none" normalizeH="0" baseline="0" smtClean="0">
                          <a:ln>
                            <a:noFill/>
                          </a:ln>
                          <a:solidFill>
                            <a:srgbClr val="0000FF"/>
                          </a:solidFill>
                          <a:effectLst/>
                          <a:latin typeface="Times New Roman" pitchFamily="18" charset="0"/>
                          <a:ea typeface="宋体" pitchFamily="2" charset="-122"/>
                          <a:cs typeface="Times New Roman" pitchFamily="18" charset="0"/>
                        </a:rPr>
                        <a:t>62</a:t>
                      </a:r>
                      <a:endParaRPr kumimoji="0" lang="en-US" altLang="zh-CN" sz="2000" b="1" i="0" u="none" strike="noStrike" cap="none" normalizeH="0" baseline="0" smtClean="0">
                        <a:ln>
                          <a:noFill/>
                        </a:ln>
                        <a:solidFill>
                          <a:srgbClr val="0000FF"/>
                        </a:solidFill>
                        <a:effectLst/>
                        <a:latin typeface="Arial" charset="0"/>
                        <a:ea typeface="宋体" pitchFamily="2" charset="-122"/>
                        <a:cs typeface="Times New Roman" pitchFamily="18"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en-US" altLang="zh-CN" sz="2000" b="1" i="0" u="none" strike="noStrike" cap="none" normalizeH="0" baseline="0" smtClean="0">
                          <a:ln>
                            <a:noFill/>
                          </a:ln>
                          <a:solidFill>
                            <a:srgbClr val="0000FF"/>
                          </a:solidFill>
                          <a:effectLst/>
                          <a:latin typeface="Times New Roman" pitchFamily="18" charset="0"/>
                          <a:ea typeface="宋体" pitchFamily="2" charset="-122"/>
                          <a:cs typeface="Times New Roman" pitchFamily="18" charset="0"/>
                        </a:rPr>
                        <a:t>32</a:t>
                      </a:r>
                      <a:endParaRPr kumimoji="0" lang="en-US" altLang="zh-CN" sz="2000" b="1" i="0" u="none" strike="noStrike" cap="none" normalizeH="0" baseline="0" smtClean="0">
                        <a:ln>
                          <a:noFill/>
                        </a:ln>
                        <a:solidFill>
                          <a:srgbClr val="0000FF"/>
                        </a:solidFill>
                        <a:effectLst/>
                        <a:latin typeface="Arial" charset="0"/>
                        <a:ea typeface="宋体" pitchFamily="2" charset="-122"/>
                        <a:cs typeface="Times New Roman" pitchFamily="18" charset="0"/>
                      </a:endParaRPr>
                    </a:p>
                  </a:txBody>
                  <a:tcPr horzOverflow="overflow">
                    <a:lnL w="12700" cap="flat" cmpd="sng" algn="ctr">
                      <a:solidFill>
                        <a:srgbClr val="000000"/>
                      </a:solidFill>
                      <a:prstDash val="solid"/>
                      <a:round/>
                      <a:headEnd type="none" w="med" len="med"/>
                      <a:tailEnd type="none" w="med" len="med"/>
                    </a:lnL>
                    <a:lnR w="254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r h="431800">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en-US" altLang="zh-CN" sz="2000" b="1" i="0" u="none" strike="noStrike" cap="none" normalizeH="0" baseline="0" smtClean="0">
                          <a:ln>
                            <a:noFill/>
                          </a:ln>
                          <a:solidFill>
                            <a:srgbClr val="0000FF"/>
                          </a:solidFill>
                          <a:effectLst/>
                          <a:latin typeface="Times New Roman" pitchFamily="18" charset="0"/>
                          <a:ea typeface="宋体" pitchFamily="2" charset="-122"/>
                          <a:cs typeface="Times New Roman" pitchFamily="18" charset="0"/>
                        </a:rPr>
                        <a:t>5</a:t>
                      </a:r>
                      <a:endParaRPr kumimoji="0" lang="en-US" altLang="zh-CN" sz="2000" b="1" i="0" u="none" strike="noStrike" cap="none" normalizeH="0" baseline="0" smtClean="0">
                        <a:ln>
                          <a:noFill/>
                        </a:ln>
                        <a:solidFill>
                          <a:srgbClr val="0000FF"/>
                        </a:solidFill>
                        <a:effectLst/>
                        <a:latin typeface="Arial" charset="0"/>
                        <a:ea typeface="宋体" pitchFamily="2" charset="-122"/>
                        <a:cs typeface="Times New Roman" pitchFamily="18" charset="0"/>
                      </a:endParaRPr>
                    </a:p>
                  </a:txBody>
                  <a:tcPr horzOverflow="overflow">
                    <a:lnL w="254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en-US" altLang="zh-CN" sz="2000" b="1" i="0" u="none" strike="noStrike" cap="none" normalizeH="0" baseline="0" smtClean="0">
                          <a:ln>
                            <a:noFill/>
                          </a:ln>
                          <a:solidFill>
                            <a:srgbClr val="0000FF"/>
                          </a:solidFill>
                          <a:effectLst/>
                          <a:latin typeface="Times New Roman" pitchFamily="18" charset="0"/>
                          <a:ea typeface="宋体" pitchFamily="2" charset="-122"/>
                          <a:cs typeface="Times New Roman" pitchFamily="18" charset="0"/>
                        </a:rPr>
                        <a:t>25</a:t>
                      </a:r>
                      <a:endParaRPr kumimoji="0" lang="en-US" altLang="zh-CN" sz="2000" b="1" i="0" u="none" strike="noStrike" cap="none" normalizeH="0" baseline="0" smtClean="0">
                        <a:ln>
                          <a:noFill/>
                        </a:ln>
                        <a:solidFill>
                          <a:srgbClr val="0000FF"/>
                        </a:solidFill>
                        <a:effectLst/>
                        <a:latin typeface="Arial" charset="0"/>
                        <a:ea typeface="宋体" pitchFamily="2" charset="-122"/>
                        <a:cs typeface="Times New Roman" pitchFamily="18"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en-US" altLang="zh-CN" sz="2000" b="1" i="0" u="none" strike="noStrike" cap="none" normalizeH="0" baseline="0" smtClean="0">
                          <a:ln>
                            <a:noFill/>
                          </a:ln>
                          <a:solidFill>
                            <a:srgbClr val="0000FF"/>
                          </a:solidFill>
                          <a:effectLst/>
                          <a:latin typeface="Times New Roman" pitchFamily="18" charset="0"/>
                          <a:ea typeface="宋体" pitchFamily="2" charset="-122"/>
                          <a:cs typeface="Times New Roman" pitchFamily="18" charset="0"/>
                        </a:rPr>
                        <a:t>38</a:t>
                      </a:r>
                      <a:endParaRPr kumimoji="0" lang="en-US" altLang="zh-CN" sz="2000" b="1" i="0" u="none" strike="noStrike" cap="none" normalizeH="0" baseline="0" smtClean="0">
                        <a:ln>
                          <a:noFill/>
                        </a:ln>
                        <a:solidFill>
                          <a:srgbClr val="0000FF"/>
                        </a:solidFill>
                        <a:effectLst/>
                        <a:latin typeface="Arial" charset="0"/>
                        <a:ea typeface="宋体" pitchFamily="2" charset="-122"/>
                        <a:cs typeface="Times New Roman" pitchFamily="18" charset="0"/>
                      </a:endParaRPr>
                    </a:p>
                  </a:txBody>
                  <a:tcPr horzOverflow="overflow">
                    <a:lnL w="12700" cap="flat" cmpd="sng" algn="ctr">
                      <a:solidFill>
                        <a:srgbClr val="000000"/>
                      </a:solidFill>
                      <a:prstDash val="solid"/>
                      <a:round/>
                      <a:headEnd type="none" w="med" len="med"/>
                      <a:tailEnd type="none" w="med" len="med"/>
                    </a:lnL>
                    <a:lnR w="254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en-US" altLang="zh-CN" sz="2000" b="1" i="0" u="none" strike="noStrike" cap="none" normalizeH="0" baseline="0" smtClean="0">
                          <a:ln>
                            <a:noFill/>
                          </a:ln>
                          <a:solidFill>
                            <a:srgbClr val="0000FF"/>
                          </a:solidFill>
                          <a:effectLst/>
                          <a:latin typeface="Times New Roman" pitchFamily="18" charset="0"/>
                          <a:ea typeface="宋体" pitchFamily="2" charset="-122"/>
                          <a:cs typeface="Times New Roman" pitchFamily="18" charset="0"/>
                        </a:rPr>
                        <a:t>15</a:t>
                      </a:r>
                      <a:endParaRPr kumimoji="0" lang="en-US" altLang="zh-CN" sz="2000" b="1" i="0" u="none" strike="noStrike" cap="none" normalizeH="0" baseline="0" smtClean="0">
                        <a:ln>
                          <a:noFill/>
                        </a:ln>
                        <a:solidFill>
                          <a:srgbClr val="0000FF"/>
                        </a:solidFill>
                        <a:effectLst/>
                        <a:latin typeface="Arial" charset="0"/>
                        <a:ea typeface="宋体" pitchFamily="2" charset="-122"/>
                        <a:cs typeface="Times New Roman" pitchFamily="18" charset="0"/>
                      </a:endParaRPr>
                    </a:p>
                  </a:txBody>
                  <a:tcPr horzOverflow="overflow">
                    <a:lnL w="254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en-US" altLang="zh-CN" sz="2000" b="1" i="0" u="none" strike="noStrike" cap="none" normalizeH="0" baseline="0" smtClean="0">
                          <a:ln>
                            <a:noFill/>
                          </a:ln>
                          <a:solidFill>
                            <a:srgbClr val="0000FF"/>
                          </a:solidFill>
                          <a:effectLst/>
                          <a:latin typeface="Times New Roman" pitchFamily="18" charset="0"/>
                          <a:ea typeface="宋体" pitchFamily="2" charset="-122"/>
                          <a:cs typeface="Times New Roman" pitchFamily="18" charset="0"/>
                        </a:rPr>
                        <a:t>58</a:t>
                      </a:r>
                      <a:endParaRPr kumimoji="0" lang="en-US" altLang="zh-CN" sz="2000" b="1" i="0" u="none" strike="noStrike" cap="none" normalizeH="0" baseline="0" smtClean="0">
                        <a:ln>
                          <a:noFill/>
                        </a:ln>
                        <a:solidFill>
                          <a:srgbClr val="0000FF"/>
                        </a:solidFill>
                        <a:effectLst/>
                        <a:latin typeface="Arial" charset="0"/>
                        <a:ea typeface="宋体" pitchFamily="2" charset="-122"/>
                        <a:cs typeface="Times New Roman" pitchFamily="18"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en-US" altLang="zh-CN" sz="2000" b="1" i="0" u="none" strike="noStrike" cap="none" normalizeH="0" baseline="0" smtClean="0">
                          <a:ln>
                            <a:noFill/>
                          </a:ln>
                          <a:solidFill>
                            <a:srgbClr val="0000FF"/>
                          </a:solidFill>
                          <a:effectLst/>
                          <a:latin typeface="Times New Roman" pitchFamily="18" charset="0"/>
                          <a:ea typeface="宋体" pitchFamily="2" charset="-122"/>
                          <a:cs typeface="Times New Roman" pitchFamily="18" charset="0"/>
                        </a:rPr>
                        <a:t>69</a:t>
                      </a:r>
                      <a:endParaRPr kumimoji="0" lang="en-US" altLang="zh-CN" sz="2000" b="1" i="0" u="none" strike="noStrike" cap="none" normalizeH="0" baseline="0" smtClean="0">
                        <a:ln>
                          <a:noFill/>
                        </a:ln>
                        <a:solidFill>
                          <a:srgbClr val="0000FF"/>
                        </a:solidFill>
                        <a:effectLst/>
                        <a:latin typeface="Arial" charset="0"/>
                        <a:ea typeface="宋体" pitchFamily="2" charset="-122"/>
                        <a:cs typeface="Times New Roman" pitchFamily="18" charset="0"/>
                      </a:endParaRPr>
                    </a:p>
                  </a:txBody>
                  <a:tcPr horzOverflow="overflow">
                    <a:lnL w="12700" cap="flat" cmpd="sng" algn="ctr">
                      <a:solidFill>
                        <a:srgbClr val="000000"/>
                      </a:solidFill>
                      <a:prstDash val="solid"/>
                      <a:round/>
                      <a:headEnd type="none" w="med" len="med"/>
                      <a:tailEnd type="none" w="med" len="med"/>
                    </a:lnL>
                    <a:lnR w="254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en-US" altLang="zh-CN" sz="2000" b="1" i="0" u="none" strike="noStrike" cap="none" normalizeH="0" baseline="0" smtClean="0">
                          <a:ln>
                            <a:noFill/>
                          </a:ln>
                          <a:solidFill>
                            <a:srgbClr val="0000FF"/>
                          </a:solidFill>
                          <a:effectLst/>
                          <a:latin typeface="Times New Roman" pitchFamily="18" charset="0"/>
                          <a:ea typeface="宋体" pitchFamily="2" charset="-122"/>
                          <a:cs typeface="Times New Roman" pitchFamily="18" charset="0"/>
                        </a:rPr>
                        <a:t>25</a:t>
                      </a:r>
                      <a:endParaRPr kumimoji="0" lang="en-US" altLang="zh-CN" sz="2000" b="1" i="0" u="none" strike="noStrike" cap="none" normalizeH="0" baseline="0" smtClean="0">
                        <a:ln>
                          <a:noFill/>
                        </a:ln>
                        <a:solidFill>
                          <a:srgbClr val="0000FF"/>
                        </a:solidFill>
                        <a:effectLst/>
                        <a:latin typeface="Arial" charset="0"/>
                        <a:ea typeface="宋体" pitchFamily="2" charset="-122"/>
                        <a:cs typeface="Times New Roman" pitchFamily="18" charset="0"/>
                      </a:endParaRPr>
                    </a:p>
                  </a:txBody>
                  <a:tcPr horzOverflow="overflow">
                    <a:lnL w="254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en-US" altLang="zh-CN" sz="2000" b="1" i="0" u="none" strike="noStrike" cap="none" normalizeH="0" baseline="0" smtClean="0">
                          <a:ln>
                            <a:noFill/>
                          </a:ln>
                          <a:solidFill>
                            <a:srgbClr val="0000FF"/>
                          </a:solidFill>
                          <a:effectLst/>
                          <a:latin typeface="Times New Roman" pitchFamily="18" charset="0"/>
                          <a:ea typeface="宋体" pitchFamily="2" charset="-122"/>
                          <a:cs typeface="Times New Roman" pitchFamily="18" charset="0"/>
                        </a:rPr>
                        <a:t>87</a:t>
                      </a:r>
                      <a:endParaRPr kumimoji="0" lang="en-US" altLang="zh-CN" sz="2000" b="1" i="0" u="none" strike="noStrike" cap="none" normalizeH="0" baseline="0" smtClean="0">
                        <a:ln>
                          <a:noFill/>
                        </a:ln>
                        <a:solidFill>
                          <a:srgbClr val="0000FF"/>
                        </a:solidFill>
                        <a:effectLst/>
                        <a:latin typeface="Arial" charset="0"/>
                        <a:ea typeface="宋体" pitchFamily="2" charset="-122"/>
                        <a:cs typeface="Times New Roman" pitchFamily="18"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en-US" altLang="zh-CN" sz="2000" b="1" i="0" u="none" strike="noStrike" cap="none" normalizeH="0" baseline="0" smtClean="0">
                          <a:ln>
                            <a:noFill/>
                          </a:ln>
                          <a:solidFill>
                            <a:srgbClr val="0000FF"/>
                          </a:solidFill>
                          <a:effectLst/>
                          <a:latin typeface="Times New Roman" pitchFamily="18" charset="0"/>
                          <a:ea typeface="宋体" pitchFamily="2" charset="-122"/>
                          <a:cs typeface="Times New Roman" pitchFamily="18" charset="0"/>
                        </a:rPr>
                        <a:t>7</a:t>
                      </a:r>
                      <a:endParaRPr kumimoji="0" lang="en-US" altLang="zh-CN" sz="2000" b="1" i="0" u="none" strike="noStrike" cap="none" normalizeH="0" baseline="0" smtClean="0">
                        <a:ln>
                          <a:noFill/>
                        </a:ln>
                        <a:solidFill>
                          <a:srgbClr val="0000FF"/>
                        </a:solidFill>
                        <a:effectLst/>
                        <a:latin typeface="Arial" charset="0"/>
                        <a:ea typeface="宋体" pitchFamily="2" charset="-122"/>
                        <a:cs typeface="Times New Roman" pitchFamily="18" charset="0"/>
                      </a:endParaRPr>
                    </a:p>
                  </a:txBody>
                  <a:tcPr horzOverflow="overflow">
                    <a:lnL w="12700" cap="flat" cmpd="sng" algn="ctr">
                      <a:solidFill>
                        <a:srgbClr val="000000"/>
                      </a:solidFill>
                      <a:prstDash val="solid"/>
                      <a:round/>
                      <a:headEnd type="none" w="med" len="med"/>
                      <a:tailEnd type="none" w="med" len="med"/>
                    </a:lnL>
                    <a:lnR w="254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5"/>
                  </a:ext>
                </a:extLst>
              </a:tr>
              <a:tr h="431800">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en-US" altLang="zh-CN" sz="2000" b="1" i="0" u="none" strike="noStrike" cap="none" normalizeH="0" baseline="0" smtClean="0">
                          <a:ln>
                            <a:noFill/>
                          </a:ln>
                          <a:solidFill>
                            <a:srgbClr val="0000FF"/>
                          </a:solidFill>
                          <a:effectLst/>
                          <a:latin typeface="Times New Roman" pitchFamily="18" charset="0"/>
                          <a:ea typeface="宋体" pitchFamily="2" charset="-122"/>
                          <a:cs typeface="Times New Roman" pitchFamily="18" charset="0"/>
                        </a:rPr>
                        <a:t>6</a:t>
                      </a:r>
                      <a:endParaRPr kumimoji="0" lang="en-US" altLang="zh-CN" sz="2000" b="1" i="0" u="none" strike="noStrike" cap="none" normalizeH="0" baseline="0" smtClean="0">
                        <a:ln>
                          <a:noFill/>
                        </a:ln>
                        <a:solidFill>
                          <a:srgbClr val="0000FF"/>
                        </a:solidFill>
                        <a:effectLst/>
                        <a:latin typeface="Arial" charset="0"/>
                        <a:ea typeface="宋体" pitchFamily="2" charset="-122"/>
                        <a:cs typeface="Times New Roman" pitchFamily="18" charset="0"/>
                      </a:endParaRPr>
                    </a:p>
                  </a:txBody>
                  <a:tcPr horzOverflow="overflow">
                    <a:lnL w="254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en-US" altLang="zh-CN" sz="2000" b="1" i="0" u="none" strike="noStrike" cap="none" normalizeH="0" baseline="0" smtClean="0">
                          <a:ln>
                            <a:noFill/>
                          </a:ln>
                          <a:solidFill>
                            <a:srgbClr val="0000FF"/>
                          </a:solidFill>
                          <a:effectLst/>
                          <a:latin typeface="Times New Roman" pitchFamily="18" charset="0"/>
                          <a:ea typeface="宋体" pitchFamily="2" charset="-122"/>
                          <a:cs typeface="Times New Roman" pitchFamily="18" charset="0"/>
                        </a:rPr>
                        <a:t>58</a:t>
                      </a:r>
                      <a:endParaRPr kumimoji="0" lang="en-US" altLang="zh-CN" sz="2000" b="1" i="0" u="none" strike="noStrike" cap="none" normalizeH="0" baseline="0" smtClean="0">
                        <a:ln>
                          <a:noFill/>
                        </a:ln>
                        <a:solidFill>
                          <a:srgbClr val="0000FF"/>
                        </a:solidFill>
                        <a:effectLst/>
                        <a:latin typeface="Arial" charset="0"/>
                        <a:ea typeface="宋体" pitchFamily="2" charset="-122"/>
                        <a:cs typeface="Times New Roman" pitchFamily="18"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en-US" altLang="zh-CN" sz="2000" b="1" i="0" u="none" strike="noStrike" cap="none" normalizeH="0" baseline="0" smtClean="0">
                          <a:ln>
                            <a:noFill/>
                          </a:ln>
                          <a:solidFill>
                            <a:srgbClr val="0000FF"/>
                          </a:solidFill>
                          <a:effectLst/>
                          <a:latin typeface="Times New Roman" pitchFamily="18" charset="0"/>
                          <a:ea typeface="宋体" pitchFamily="2" charset="-122"/>
                          <a:cs typeface="Times New Roman" pitchFamily="18" charset="0"/>
                        </a:rPr>
                        <a:t>35</a:t>
                      </a:r>
                      <a:endParaRPr kumimoji="0" lang="en-US" altLang="zh-CN" sz="2000" b="1" i="0" u="none" strike="noStrike" cap="none" normalizeH="0" baseline="0" smtClean="0">
                        <a:ln>
                          <a:noFill/>
                        </a:ln>
                        <a:solidFill>
                          <a:srgbClr val="0000FF"/>
                        </a:solidFill>
                        <a:effectLst/>
                        <a:latin typeface="Arial" charset="0"/>
                        <a:ea typeface="宋体" pitchFamily="2" charset="-122"/>
                        <a:cs typeface="Times New Roman" pitchFamily="18" charset="0"/>
                      </a:endParaRPr>
                    </a:p>
                  </a:txBody>
                  <a:tcPr horzOverflow="overflow">
                    <a:lnL w="12700" cap="flat" cmpd="sng" algn="ctr">
                      <a:solidFill>
                        <a:srgbClr val="000000"/>
                      </a:solidFill>
                      <a:prstDash val="solid"/>
                      <a:round/>
                      <a:headEnd type="none" w="med" len="med"/>
                      <a:tailEnd type="none" w="med" len="med"/>
                    </a:lnL>
                    <a:lnR w="254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en-US" altLang="zh-CN" sz="2000" b="1" i="0" u="none" strike="noStrike" cap="none" normalizeH="0" baseline="0" smtClean="0">
                          <a:ln>
                            <a:noFill/>
                          </a:ln>
                          <a:solidFill>
                            <a:srgbClr val="0000FF"/>
                          </a:solidFill>
                          <a:effectLst/>
                          <a:latin typeface="Times New Roman" pitchFamily="18" charset="0"/>
                          <a:ea typeface="宋体" pitchFamily="2" charset="-122"/>
                          <a:cs typeface="Times New Roman" pitchFamily="18" charset="0"/>
                        </a:rPr>
                        <a:t>16</a:t>
                      </a:r>
                      <a:endParaRPr kumimoji="0" lang="en-US" altLang="zh-CN" sz="2000" b="1" i="0" u="none" strike="noStrike" cap="none" normalizeH="0" baseline="0" smtClean="0">
                        <a:ln>
                          <a:noFill/>
                        </a:ln>
                        <a:solidFill>
                          <a:srgbClr val="0000FF"/>
                        </a:solidFill>
                        <a:effectLst/>
                        <a:latin typeface="Arial" charset="0"/>
                        <a:ea typeface="宋体" pitchFamily="2" charset="-122"/>
                        <a:cs typeface="Times New Roman" pitchFamily="18" charset="0"/>
                      </a:endParaRPr>
                    </a:p>
                  </a:txBody>
                  <a:tcPr horzOverflow="overflow">
                    <a:lnL w="254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en-US" altLang="zh-CN" sz="2000" b="1" i="0" u="none" strike="noStrike" cap="none" normalizeH="0" baseline="0" smtClean="0">
                          <a:ln>
                            <a:noFill/>
                          </a:ln>
                          <a:solidFill>
                            <a:srgbClr val="0000FF"/>
                          </a:solidFill>
                          <a:effectLst/>
                          <a:latin typeface="Times New Roman" pitchFamily="18" charset="0"/>
                          <a:ea typeface="宋体" pitchFamily="2" charset="-122"/>
                          <a:cs typeface="Times New Roman" pitchFamily="18" charset="0"/>
                        </a:rPr>
                        <a:t>54</a:t>
                      </a:r>
                      <a:endParaRPr kumimoji="0" lang="en-US" altLang="zh-CN" sz="2000" b="1" i="0" u="none" strike="noStrike" cap="none" normalizeH="0" baseline="0" smtClean="0">
                        <a:ln>
                          <a:noFill/>
                        </a:ln>
                        <a:solidFill>
                          <a:srgbClr val="0000FF"/>
                        </a:solidFill>
                        <a:effectLst/>
                        <a:latin typeface="Arial" charset="0"/>
                        <a:ea typeface="宋体" pitchFamily="2" charset="-122"/>
                        <a:cs typeface="Times New Roman" pitchFamily="18"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en-US" altLang="zh-CN" sz="2000" b="1" i="0" u="none" strike="noStrike" cap="none" normalizeH="0" baseline="0" smtClean="0">
                          <a:ln>
                            <a:noFill/>
                          </a:ln>
                          <a:solidFill>
                            <a:srgbClr val="0000FF"/>
                          </a:solidFill>
                          <a:effectLst/>
                          <a:latin typeface="Times New Roman" pitchFamily="18" charset="0"/>
                          <a:ea typeface="宋体" pitchFamily="2" charset="-122"/>
                          <a:cs typeface="Times New Roman" pitchFamily="18" charset="0"/>
                        </a:rPr>
                        <a:t>62</a:t>
                      </a:r>
                      <a:endParaRPr kumimoji="0" lang="en-US" altLang="zh-CN" sz="2000" b="1" i="0" u="none" strike="noStrike" cap="none" normalizeH="0" baseline="0" smtClean="0">
                        <a:ln>
                          <a:noFill/>
                        </a:ln>
                        <a:solidFill>
                          <a:srgbClr val="0000FF"/>
                        </a:solidFill>
                        <a:effectLst/>
                        <a:latin typeface="Arial" charset="0"/>
                        <a:ea typeface="宋体" pitchFamily="2" charset="-122"/>
                        <a:cs typeface="Times New Roman" pitchFamily="18" charset="0"/>
                      </a:endParaRPr>
                    </a:p>
                  </a:txBody>
                  <a:tcPr horzOverflow="overflow">
                    <a:lnL w="12700" cap="flat" cmpd="sng" algn="ctr">
                      <a:solidFill>
                        <a:srgbClr val="000000"/>
                      </a:solidFill>
                      <a:prstDash val="solid"/>
                      <a:round/>
                      <a:headEnd type="none" w="med" len="med"/>
                      <a:tailEnd type="none" w="med" len="med"/>
                    </a:lnL>
                    <a:lnR w="254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en-US" altLang="zh-CN" sz="2000" b="1" i="0" u="none" strike="noStrike" cap="none" normalizeH="0" baseline="0" smtClean="0">
                          <a:ln>
                            <a:noFill/>
                          </a:ln>
                          <a:solidFill>
                            <a:srgbClr val="0000FF"/>
                          </a:solidFill>
                          <a:effectLst/>
                          <a:latin typeface="Times New Roman" pitchFamily="18" charset="0"/>
                          <a:ea typeface="宋体" pitchFamily="2" charset="-122"/>
                          <a:cs typeface="Times New Roman" pitchFamily="18" charset="0"/>
                        </a:rPr>
                        <a:t>26</a:t>
                      </a:r>
                      <a:endParaRPr kumimoji="0" lang="en-US" altLang="zh-CN" sz="2000" b="1" i="0" u="none" strike="noStrike" cap="none" normalizeH="0" baseline="0" smtClean="0">
                        <a:ln>
                          <a:noFill/>
                        </a:ln>
                        <a:solidFill>
                          <a:srgbClr val="0000FF"/>
                        </a:solidFill>
                        <a:effectLst/>
                        <a:latin typeface="Arial" charset="0"/>
                        <a:ea typeface="宋体" pitchFamily="2" charset="-122"/>
                        <a:cs typeface="Times New Roman" pitchFamily="18" charset="0"/>
                      </a:endParaRPr>
                    </a:p>
                  </a:txBody>
                  <a:tcPr horzOverflow="overflow">
                    <a:lnL w="254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en-US" altLang="zh-CN" sz="2000" b="1" i="0" u="none" strike="noStrike" cap="none" normalizeH="0" baseline="0" smtClean="0">
                          <a:ln>
                            <a:noFill/>
                          </a:ln>
                          <a:solidFill>
                            <a:srgbClr val="0000FF"/>
                          </a:solidFill>
                          <a:effectLst/>
                          <a:latin typeface="Times New Roman" pitchFamily="18" charset="0"/>
                          <a:ea typeface="宋体" pitchFamily="2" charset="-122"/>
                          <a:cs typeface="Times New Roman" pitchFamily="18" charset="0"/>
                        </a:rPr>
                        <a:t>91</a:t>
                      </a:r>
                      <a:endParaRPr kumimoji="0" lang="en-US" altLang="zh-CN" sz="2000" b="1" i="0" u="none" strike="noStrike" cap="none" normalizeH="0" baseline="0" smtClean="0">
                        <a:ln>
                          <a:noFill/>
                        </a:ln>
                        <a:solidFill>
                          <a:srgbClr val="0000FF"/>
                        </a:solidFill>
                        <a:effectLst/>
                        <a:latin typeface="Arial" charset="0"/>
                        <a:ea typeface="宋体" pitchFamily="2" charset="-122"/>
                        <a:cs typeface="Times New Roman" pitchFamily="18"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en-US" altLang="zh-CN" sz="2000" b="1" i="0" u="none" strike="noStrike" cap="none" normalizeH="0" baseline="0" smtClean="0">
                          <a:ln>
                            <a:noFill/>
                          </a:ln>
                          <a:solidFill>
                            <a:srgbClr val="0000FF"/>
                          </a:solidFill>
                          <a:effectLst/>
                          <a:latin typeface="Times New Roman" pitchFamily="18" charset="0"/>
                          <a:ea typeface="宋体" pitchFamily="2" charset="-122"/>
                          <a:cs typeface="Times New Roman" pitchFamily="18" charset="0"/>
                        </a:rPr>
                        <a:t>38</a:t>
                      </a:r>
                      <a:endParaRPr kumimoji="0" lang="en-US" altLang="zh-CN" sz="2000" b="1" i="0" u="none" strike="noStrike" cap="none" normalizeH="0" baseline="0" smtClean="0">
                        <a:ln>
                          <a:noFill/>
                        </a:ln>
                        <a:solidFill>
                          <a:srgbClr val="0000FF"/>
                        </a:solidFill>
                        <a:effectLst/>
                        <a:latin typeface="Arial" charset="0"/>
                        <a:ea typeface="宋体" pitchFamily="2" charset="-122"/>
                        <a:cs typeface="Times New Roman" pitchFamily="18" charset="0"/>
                      </a:endParaRPr>
                    </a:p>
                  </a:txBody>
                  <a:tcPr horzOverflow="overflow">
                    <a:lnL w="12700" cap="flat" cmpd="sng" algn="ctr">
                      <a:solidFill>
                        <a:srgbClr val="000000"/>
                      </a:solidFill>
                      <a:prstDash val="solid"/>
                      <a:round/>
                      <a:headEnd type="none" w="med" len="med"/>
                      <a:tailEnd type="none" w="med" len="med"/>
                    </a:lnL>
                    <a:lnR w="254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6"/>
                  </a:ext>
                </a:extLst>
              </a:tr>
              <a:tr h="431800">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en-US" altLang="zh-CN" sz="2000" b="1" i="0" u="none" strike="noStrike" cap="none" normalizeH="0" baseline="0" smtClean="0">
                          <a:ln>
                            <a:noFill/>
                          </a:ln>
                          <a:solidFill>
                            <a:srgbClr val="0000FF"/>
                          </a:solidFill>
                          <a:effectLst/>
                          <a:latin typeface="Times New Roman" pitchFamily="18" charset="0"/>
                          <a:ea typeface="宋体" pitchFamily="2" charset="-122"/>
                          <a:cs typeface="Times New Roman" pitchFamily="18" charset="0"/>
                        </a:rPr>
                        <a:t>7</a:t>
                      </a:r>
                      <a:endParaRPr kumimoji="0" lang="en-US" altLang="zh-CN" sz="2000" b="1" i="0" u="none" strike="noStrike" cap="none" normalizeH="0" baseline="0" smtClean="0">
                        <a:ln>
                          <a:noFill/>
                        </a:ln>
                        <a:solidFill>
                          <a:srgbClr val="0000FF"/>
                        </a:solidFill>
                        <a:effectLst/>
                        <a:latin typeface="Arial" charset="0"/>
                        <a:ea typeface="宋体" pitchFamily="2" charset="-122"/>
                        <a:cs typeface="Times New Roman" pitchFamily="18" charset="0"/>
                      </a:endParaRPr>
                    </a:p>
                  </a:txBody>
                  <a:tcPr horzOverflow="overflow">
                    <a:lnL w="254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en-US" altLang="zh-CN" sz="2000" b="1" i="0" u="none" strike="noStrike" cap="none" normalizeH="0" baseline="0" smtClean="0">
                          <a:ln>
                            <a:noFill/>
                          </a:ln>
                          <a:solidFill>
                            <a:srgbClr val="0000FF"/>
                          </a:solidFill>
                          <a:effectLst/>
                          <a:latin typeface="Times New Roman" pitchFamily="18" charset="0"/>
                          <a:ea typeface="宋体" pitchFamily="2" charset="-122"/>
                          <a:cs typeface="Times New Roman" pitchFamily="18" charset="0"/>
                        </a:rPr>
                        <a:t>4</a:t>
                      </a:r>
                      <a:endParaRPr kumimoji="0" lang="en-US" altLang="zh-CN" sz="2000" b="1" i="0" u="none" strike="noStrike" cap="none" normalizeH="0" baseline="0" smtClean="0">
                        <a:ln>
                          <a:noFill/>
                        </a:ln>
                        <a:solidFill>
                          <a:srgbClr val="0000FF"/>
                        </a:solidFill>
                        <a:effectLst/>
                        <a:latin typeface="Arial" charset="0"/>
                        <a:ea typeface="宋体" pitchFamily="2" charset="-122"/>
                        <a:cs typeface="Times New Roman" pitchFamily="18"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en-US" altLang="zh-CN" sz="2000" b="1" i="0" u="none" strike="noStrike" cap="none" normalizeH="0" baseline="0" smtClean="0">
                          <a:ln>
                            <a:noFill/>
                          </a:ln>
                          <a:solidFill>
                            <a:srgbClr val="0000FF"/>
                          </a:solidFill>
                          <a:effectLst/>
                          <a:latin typeface="Times New Roman" pitchFamily="18" charset="0"/>
                          <a:ea typeface="宋体" pitchFamily="2" charset="-122"/>
                          <a:cs typeface="Times New Roman" pitchFamily="18" charset="0"/>
                        </a:rPr>
                        <a:t>50</a:t>
                      </a:r>
                      <a:endParaRPr kumimoji="0" lang="en-US" altLang="zh-CN" sz="2000" b="1" i="0" u="none" strike="noStrike" cap="none" normalizeH="0" baseline="0" smtClean="0">
                        <a:ln>
                          <a:noFill/>
                        </a:ln>
                        <a:solidFill>
                          <a:srgbClr val="0000FF"/>
                        </a:solidFill>
                        <a:effectLst/>
                        <a:latin typeface="Arial" charset="0"/>
                        <a:ea typeface="宋体" pitchFamily="2" charset="-122"/>
                        <a:cs typeface="Times New Roman" pitchFamily="18" charset="0"/>
                      </a:endParaRPr>
                    </a:p>
                  </a:txBody>
                  <a:tcPr horzOverflow="overflow">
                    <a:lnL w="12700" cap="flat" cmpd="sng" algn="ctr">
                      <a:solidFill>
                        <a:srgbClr val="000000"/>
                      </a:solidFill>
                      <a:prstDash val="solid"/>
                      <a:round/>
                      <a:headEnd type="none" w="med" len="med"/>
                      <a:tailEnd type="none" w="med" len="med"/>
                    </a:lnL>
                    <a:lnR w="254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en-US" altLang="zh-CN" sz="2000" b="1" i="0" u="none" strike="noStrike" cap="none" normalizeH="0" baseline="0" smtClean="0">
                          <a:ln>
                            <a:noFill/>
                          </a:ln>
                          <a:solidFill>
                            <a:srgbClr val="0000FF"/>
                          </a:solidFill>
                          <a:effectLst/>
                          <a:latin typeface="Times New Roman" pitchFamily="18" charset="0"/>
                          <a:ea typeface="宋体" pitchFamily="2" charset="-122"/>
                          <a:cs typeface="Times New Roman" pitchFamily="18" charset="0"/>
                        </a:rPr>
                        <a:t>17</a:t>
                      </a:r>
                      <a:endParaRPr kumimoji="0" lang="en-US" altLang="zh-CN" sz="2000" b="1" i="0" u="none" strike="noStrike" cap="none" normalizeH="0" baseline="0" smtClean="0">
                        <a:ln>
                          <a:noFill/>
                        </a:ln>
                        <a:solidFill>
                          <a:srgbClr val="0000FF"/>
                        </a:solidFill>
                        <a:effectLst/>
                        <a:latin typeface="Arial" charset="0"/>
                        <a:ea typeface="宋体" pitchFamily="2" charset="-122"/>
                        <a:cs typeface="Times New Roman" pitchFamily="18" charset="0"/>
                      </a:endParaRPr>
                    </a:p>
                  </a:txBody>
                  <a:tcPr horzOverflow="overflow">
                    <a:lnL w="254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en-US" altLang="zh-CN" sz="2000" b="1" i="0" u="none" strike="noStrike" cap="none" normalizeH="0" baseline="0" smtClean="0">
                          <a:ln>
                            <a:noFill/>
                          </a:ln>
                          <a:solidFill>
                            <a:srgbClr val="0000FF"/>
                          </a:solidFill>
                          <a:effectLst/>
                          <a:latin typeface="Times New Roman" pitchFamily="18" charset="0"/>
                          <a:ea typeface="宋体" pitchFamily="2" charset="-122"/>
                          <a:cs typeface="Times New Roman" pitchFamily="18" charset="0"/>
                        </a:rPr>
                        <a:t>51</a:t>
                      </a:r>
                      <a:endParaRPr kumimoji="0" lang="en-US" altLang="zh-CN" sz="2000" b="1" i="0" u="none" strike="noStrike" cap="none" normalizeH="0" baseline="0" smtClean="0">
                        <a:ln>
                          <a:noFill/>
                        </a:ln>
                        <a:solidFill>
                          <a:srgbClr val="0000FF"/>
                        </a:solidFill>
                        <a:effectLst/>
                        <a:latin typeface="Arial" charset="0"/>
                        <a:ea typeface="宋体" pitchFamily="2" charset="-122"/>
                        <a:cs typeface="Times New Roman" pitchFamily="18"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en-US" altLang="zh-CN" sz="2000" b="1" i="0" u="none" strike="noStrike" cap="none" normalizeH="0" baseline="0" smtClean="0">
                          <a:ln>
                            <a:noFill/>
                          </a:ln>
                          <a:solidFill>
                            <a:srgbClr val="0000FF"/>
                          </a:solidFill>
                          <a:effectLst/>
                          <a:latin typeface="Times New Roman" pitchFamily="18" charset="0"/>
                          <a:ea typeface="宋体" pitchFamily="2" charset="-122"/>
                          <a:cs typeface="Times New Roman" pitchFamily="18" charset="0"/>
                        </a:rPr>
                        <a:t>67</a:t>
                      </a:r>
                      <a:endParaRPr kumimoji="0" lang="en-US" altLang="zh-CN" sz="2000" b="1" i="0" u="none" strike="noStrike" cap="none" normalizeH="0" baseline="0" smtClean="0">
                        <a:ln>
                          <a:noFill/>
                        </a:ln>
                        <a:solidFill>
                          <a:srgbClr val="0000FF"/>
                        </a:solidFill>
                        <a:effectLst/>
                        <a:latin typeface="Arial" charset="0"/>
                        <a:ea typeface="宋体" pitchFamily="2" charset="-122"/>
                        <a:cs typeface="Times New Roman" pitchFamily="18" charset="0"/>
                      </a:endParaRPr>
                    </a:p>
                  </a:txBody>
                  <a:tcPr horzOverflow="overflow">
                    <a:lnL w="12700" cap="flat" cmpd="sng" algn="ctr">
                      <a:solidFill>
                        <a:srgbClr val="000000"/>
                      </a:solidFill>
                      <a:prstDash val="solid"/>
                      <a:round/>
                      <a:headEnd type="none" w="med" len="med"/>
                      <a:tailEnd type="none" w="med" len="med"/>
                    </a:lnL>
                    <a:lnR w="254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en-US" altLang="zh-CN" sz="2000" b="1" i="0" u="none" strike="noStrike" cap="none" normalizeH="0" baseline="0" smtClean="0">
                          <a:ln>
                            <a:noFill/>
                          </a:ln>
                          <a:solidFill>
                            <a:srgbClr val="0000FF"/>
                          </a:solidFill>
                          <a:effectLst/>
                          <a:latin typeface="Times New Roman" pitchFamily="18" charset="0"/>
                          <a:ea typeface="宋体" pitchFamily="2" charset="-122"/>
                          <a:cs typeface="Times New Roman" pitchFamily="18" charset="0"/>
                        </a:rPr>
                        <a:t>27</a:t>
                      </a:r>
                      <a:endParaRPr kumimoji="0" lang="en-US" altLang="zh-CN" sz="2000" b="1" i="0" u="none" strike="noStrike" cap="none" normalizeH="0" baseline="0" smtClean="0">
                        <a:ln>
                          <a:noFill/>
                        </a:ln>
                        <a:solidFill>
                          <a:srgbClr val="0000FF"/>
                        </a:solidFill>
                        <a:effectLst/>
                        <a:latin typeface="Arial" charset="0"/>
                        <a:ea typeface="宋体" pitchFamily="2" charset="-122"/>
                        <a:cs typeface="Times New Roman" pitchFamily="18" charset="0"/>
                      </a:endParaRPr>
                    </a:p>
                  </a:txBody>
                  <a:tcPr horzOverflow="overflow">
                    <a:lnL w="254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en-US" altLang="zh-CN" sz="2000" b="1" i="0" u="none" strike="noStrike" cap="none" normalizeH="0" baseline="0" smtClean="0">
                          <a:ln>
                            <a:noFill/>
                          </a:ln>
                          <a:solidFill>
                            <a:srgbClr val="0000FF"/>
                          </a:solidFill>
                          <a:effectLst/>
                          <a:latin typeface="Times New Roman" pitchFamily="18" charset="0"/>
                          <a:ea typeface="宋体" pitchFamily="2" charset="-122"/>
                          <a:cs typeface="Times New Roman" pitchFamily="18" charset="0"/>
                        </a:rPr>
                        <a:t>83</a:t>
                      </a:r>
                      <a:endParaRPr kumimoji="0" lang="en-US" altLang="zh-CN" sz="2000" b="1" i="0" u="none" strike="noStrike" cap="none" normalizeH="0" baseline="0" smtClean="0">
                        <a:ln>
                          <a:noFill/>
                        </a:ln>
                        <a:solidFill>
                          <a:srgbClr val="0000FF"/>
                        </a:solidFill>
                        <a:effectLst/>
                        <a:latin typeface="Arial" charset="0"/>
                        <a:ea typeface="宋体" pitchFamily="2" charset="-122"/>
                        <a:cs typeface="Times New Roman" pitchFamily="18"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en-US" altLang="zh-CN" sz="2000" b="1" i="0" u="none" strike="noStrike" cap="none" normalizeH="0" baseline="0" smtClean="0">
                          <a:ln>
                            <a:noFill/>
                          </a:ln>
                          <a:solidFill>
                            <a:srgbClr val="0000FF"/>
                          </a:solidFill>
                          <a:effectLst/>
                          <a:latin typeface="Times New Roman" pitchFamily="18" charset="0"/>
                          <a:ea typeface="宋体" pitchFamily="2" charset="-122"/>
                          <a:cs typeface="Times New Roman" pitchFamily="18" charset="0"/>
                        </a:rPr>
                        <a:t>46</a:t>
                      </a:r>
                      <a:endParaRPr kumimoji="0" lang="en-US" altLang="zh-CN" sz="2000" b="1" i="0" u="none" strike="noStrike" cap="none" normalizeH="0" baseline="0" smtClean="0">
                        <a:ln>
                          <a:noFill/>
                        </a:ln>
                        <a:solidFill>
                          <a:srgbClr val="0000FF"/>
                        </a:solidFill>
                        <a:effectLst/>
                        <a:latin typeface="Arial" charset="0"/>
                        <a:ea typeface="宋体" pitchFamily="2" charset="-122"/>
                        <a:cs typeface="Times New Roman" pitchFamily="18" charset="0"/>
                      </a:endParaRPr>
                    </a:p>
                  </a:txBody>
                  <a:tcPr horzOverflow="overflow">
                    <a:lnL w="12700" cap="flat" cmpd="sng" algn="ctr">
                      <a:solidFill>
                        <a:srgbClr val="000000"/>
                      </a:solidFill>
                      <a:prstDash val="solid"/>
                      <a:round/>
                      <a:headEnd type="none" w="med" len="med"/>
                      <a:tailEnd type="none" w="med" len="med"/>
                    </a:lnL>
                    <a:lnR w="254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7"/>
                  </a:ext>
                </a:extLst>
              </a:tr>
              <a:tr h="431800">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en-US" altLang="zh-CN" sz="2000" b="1" i="0" u="none" strike="noStrike" cap="none" normalizeH="0" baseline="0" smtClean="0">
                          <a:ln>
                            <a:noFill/>
                          </a:ln>
                          <a:solidFill>
                            <a:srgbClr val="0000FF"/>
                          </a:solidFill>
                          <a:effectLst/>
                          <a:latin typeface="Times New Roman" pitchFamily="18" charset="0"/>
                          <a:ea typeface="宋体" pitchFamily="2" charset="-122"/>
                          <a:cs typeface="Times New Roman" pitchFamily="18" charset="0"/>
                        </a:rPr>
                        <a:t>8</a:t>
                      </a:r>
                      <a:endParaRPr kumimoji="0" lang="en-US" altLang="zh-CN" sz="2000" b="1" i="0" u="none" strike="noStrike" cap="none" normalizeH="0" baseline="0" smtClean="0">
                        <a:ln>
                          <a:noFill/>
                        </a:ln>
                        <a:solidFill>
                          <a:srgbClr val="0000FF"/>
                        </a:solidFill>
                        <a:effectLst/>
                        <a:latin typeface="Arial" charset="0"/>
                        <a:ea typeface="宋体" pitchFamily="2" charset="-122"/>
                        <a:cs typeface="Times New Roman" pitchFamily="18" charset="0"/>
                      </a:endParaRPr>
                    </a:p>
                  </a:txBody>
                  <a:tcPr horzOverflow="overflow">
                    <a:lnL w="254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en-US" altLang="zh-CN" sz="2000" b="1" i="0" u="none" strike="noStrike" cap="none" normalizeH="0" baseline="0" smtClean="0">
                          <a:ln>
                            <a:noFill/>
                          </a:ln>
                          <a:solidFill>
                            <a:srgbClr val="0000FF"/>
                          </a:solidFill>
                          <a:effectLst/>
                          <a:latin typeface="Times New Roman" pitchFamily="18" charset="0"/>
                          <a:ea typeface="宋体" pitchFamily="2" charset="-122"/>
                          <a:cs typeface="Times New Roman" pitchFamily="18" charset="0"/>
                        </a:rPr>
                        <a:t>13</a:t>
                      </a:r>
                      <a:endParaRPr kumimoji="0" lang="en-US" altLang="zh-CN" sz="2000" b="1" i="0" u="none" strike="noStrike" cap="none" normalizeH="0" baseline="0" smtClean="0">
                        <a:ln>
                          <a:noFill/>
                        </a:ln>
                        <a:solidFill>
                          <a:srgbClr val="0000FF"/>
                        </a:solidFill>
                        <a:effectLst/>
                        <a:latin typeface="Arial" charset="0"/>
                        <a:ea typeface="宋体" pitchFamily="2" charset="-122"/>
                        <a:cs typeface="Times New Roman" pitchFamily="18"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en-US" altLang="zh-CN" sz="2000" b="1" i="0" u="none" strike="noStrike" cap="none" normalizeH="0" baseline="0" smtClean="0">
                          <a:ln>
                            <a:noFill/>
                          </a:ln>
                          <a:solidFill>
                            <a:srgbClr val="0000FF"/>
                          </a:solidFill>
                          <a:effectLst/>
                          <a:latin typeface="Times New Roman" pitchFamily="18" charset="0"/>
                          <a:ea typeface="宋体" pitchFamily="2" charset="-122"/>
                          <a:cs typeface="Times New Roman" pitchFamily="18" charset="0"/>
                        </a:rPr>
                        <a:t>40</a:t>
                      </a:r>
                      <a:endParaRPr kumimoji="0" lang="en-US" altLang="zh-CN" sz="2000" b="1" i="0" u="none" strike="noStrike" cap="none" normalizeH="0" baseline="0" smtClean="0">
                        <a:ln>
                          <a:noFill/>
                        </a:ln>
                        <a:solidFill>
                          <a:srgbClr val="0000FF"/>
                        </a:solidFill>
                        <a:effectLst/>
                        <a:latin typeface="Arial" charset="0"/>
                        <a:ea typeface="宋体" pitchFamily="2" charset="-122"/>
                        <a:cs typeface="Times New Roman" pitchFamily="18" charset="0"/>
                      </a:endParaRPr>
                    </a:p>
                  </a:txBody>
                  <a:tcPr horzOverflow="overflow">
                    <a:lnL w="12700" cap="flat" cmpd="sng" algn="ctr">
                      <a:solidFill>
                        <a:srgbClr val="000000"/>
                      </a:solidFill>
                      <a:prstDash val="solid"/>
                      <a:round/>
                      <a:headEnd type="none" w="med" len="med"/>
                      <a:tailEnd type="none" w="med" len="med"/>
                    </a:lnL>
                    <a:lnR w="254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en-US" altLang="zh-CN" sz="2000" b="1" i="0" u="none" strike="noStrike" cap="none" normalizeH="0" baseline="0" smtClean="0">
                          <a:ln>
                            <a:noFill/>
                          </a:ln>
                          <a:solidFill>
                            <a:srgbClr val="0000FF"/>
                          </a:solidFill>
                          <a:effectLst/>
                          <a:latin typeface="Times New Roman" pitchFamily="18" charset="0"/>
                          <a:ea typeface="宋体" pitchFamily="2" charset="-122"/>
                          <a:cs typeface="Times New Roman" pitchFamily="18" charset="0"/>
                        </a:rPr>
                        <a:t>18</a:t>
                      </a:r>
                      <a:endParaRPr kumimoji="0" lang="en-US" altLang="zh-CN" sz="2000" b="1" i="0" u="none" strike="noStrike" cap="none" normalizeH="0" baseline="0" smtClean="0">
                        <a:ln>
                          <a:noFill/>
                        </a:ln>
                        <a:solidFill>
                          <a:srgbClr val="0000FF"/>
                        </a:solidFill>
                        <a:effectLst/>
                        <a:latin typeface="Arial" charset="0"/>
                        <a:ea typeface="宋体" pitchFamily="2" charset="-122"/>
                        <a:cs typeface="Times New Roman" pitchFamily="18" charset="0"/>
                      </a:endParaRPr>
                    </a:p>
                  </a:txBody>
                  <a:tcPr horzOverflow="overflow">
                    <a:lnL w="254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en-US" altLang="zh-CN" sz="2000" b="1" i="0" u="none" strike="noStrike" cap="none" normalizeH="0" baseline="0" smtClean="0">
                          <a:ln>
                            <a:noFill/>
                          </a:ln>
                          <a:solidFill>
                            <a:srgbClr val="0000FF"/>
                          </a:solidFill>
                          <a:effectLst/>
                          <a:latin typeface="Times New Roman" pitchFamily="18" charset="0"/>
                          <a:ea typeface="宋体" pitchFamily="2" charset="-122"/>
                          <a:cs typeface="Times New Roman" pitchFamily="18" charset="0"/>
                        </a:rPr>
                        <a:t>37</a:t>
                      </a:r>
                      <a:endParaRPr kumimoji="0" lang="en-US" altLang="zh-CN" sz="2000" b="1" i="0" u="none" strike="noStrike" cap="none" normalizeH="0" baseline="0" smtClean="0">
                        <a:ln>
                          <a:noFill/>
                        </a:ln>
                        <a:solidFill>
                          <a:srgbClr val="0000FF"/>
                        </a:solidFill>
                        <a:effectLst/>
                        <a:latin typeface="Arial" charset="0"/>
                        <a:ea typeface="宋体" pitchFamily="2" charset="-122"/>
                        <a:cs typeface="Times New Roman" pitchFamily="18"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en-US" altLang="zh-CN" sz="2000" b="1" i="0" u="none" strike="noStrike" cap="none" normalizeH="0" baseline="0" smtClean="0">
                          <a:ln>
                            <a:noFill/>
                          </a:ln>
                          <a:solidFill>
                            <a:srgbClr val="0000FF"/>
                          </a:solidFill>
                          <a:effectLst/>
                          <a:latin typeface="Times New Roman" pitchFamily="18" charset="0"/>
                          <a:ea typeface="宋体" pitchFamily="2" charset="-122"/>
                          <a:cs typeface="Times New Roman" pitchFamily="18" charset="0"/>
                        </a:rPr>
                        <a:t>84</a:t>
                      </a:r>
                      <a:endParaRPr kumimoji="0" lang="en-US" altLang="zh-CN" sz="2000" b="1" i="0" u="none" strike="noStrike" cap="none" normalizeH="0" baseline="0" smtClean="0">
                        <a:ln>
                          <a:noFill/>
                        </a:ln>
                        <a:solidFill>
                          <a:srgbClr val="0000FF"/>
                        </a:solidFill>
                        <a:effectLst/>
                        <a:latin typeface="Arial" charset="0"/>
                        <a:ea typeface="宋体" pitchFamily="2" charset="-122"/>
                        <a:cs typeface="Times New Roman" pitchFamily="18" charset="0"/>
                      </a:endParaRPr>
                    </a:p>
                  </a:txBody>
                  <a:tcPr horzOverflow="overflow">
                    <a:lnL w="12700" cap="flat" cmpd="sng" algn="ctr">
                      <a:solidFill>
                        <a:srgbClr val="000000"/>
                      </a:solidFill>
                      <a:prstDash val="solid"/>
                      <a:round/>
                      <a:headEnd type="none" w="med" len="med"/>
                      <a:tailEnd type="none" w="med" len="med"/>
                    </a:lnL>
                    <a:lnR w="254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en-US" altLang="zh-CN" sz="2000" b="1" i="0" u="none" strike="noStrike" cap="none" normalizeH="0" baseline="0" smtClean="0">
                          <a:ln>
                            <a:noFill/>
                          </a:ln>
                          <a:solidFill>
                            <a:srgbClr val="0000FF"/>
                          </a:solidFill>
                          <a:effectLst/>
                          <a:latin typeface="Times New Roman" pitchFamily="18" charset="0"/>
                          <a:ea typeface="宋体" pitchFamily="2" charset="-122"/>
                          <a:cs typeface="Times New Roman" pitchFamily="18" charset="0"/>
                        </a:rPr>
                        <a:t>28</a:t>
                      </a:r>
                      <a:endParaRPr kumimoji="0" lang="en-US" altLang="zh-CN" sz="2000" b="1" i="0" u="none" strike="noStrike" cap="none" normalizeH="0" baseline="0" smtClean="0">
                        <a:ln>
                          <a:noFill/>
                        </a:ln>
                        <a:solidFill>
                          <a:srgbClr val="0000FF"/>
                        </a:solidFill>
                        <a:effectLst/>
                        <a:latin typeface="Arial" charset="0"/>
                        <a:ea typeface="宋体" pitchFamily="2" charset="-122"/>
                        <a:cs typeface="Times New Roman" pitchFamily="18" charset="0"/>
                      </a:endParaRPr>
                    </a:p>
                  </a:txBody>
                  <a:tcPr horzOverflow="overflow">
                    <a:lnL w="254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en-US" altLang="zh-CN" sz="2000" b="1" i="0" u="none" strike="noStrike" cap="none" normalizeH="0" baseline="0" smtClean="0">
                          <a:ln>
                            <a:noFill/>
                          </a:ln>
                          <a:solidFill>
                            <a:srgbClr val="0000FF"/>
                          </a:solidFill>
                          <a:effectLst/>
                          <a:latin typeface="Times New Roman" pitchFamily="18" charset="0"/>
                          <a:ea typeface="宋体" pitchFamily="2" charset="-122"/>
                          <a:cs typeface="Times New Roman" pitchFamily="18" charset="0"/>
                        </a:rPr>
                        <a:t>41</a:t>
                      </a:r>
                      <a:endParaRPr kumimoji="0" lang="en-US" altLang="zh-CN" sz="2000" b="1" i="0" u="none" strike="noStrike" cap="none" normalizeH="0" baseline="0" smtClean="0">
                        <a:ln>
                          <a:noFill/>
                        </a:ln>
                        <a:solidFill>
                          <a:srgbClr val="0000FF"/>
                        </a:solidFill>
                        <a:effectLst/>
                        <a:latin typeface="Arial" charset="0"/>
                        <a:ea typeface="宋体" pitchFamily="2" charset="-122"/>
                        <a:cs typeface="Times New Roman" pitchFamily="18"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en-US" altLang="zh-CN" sz="2000" b="1" i="0" u="none" strike="noStrike" cap="none" normalizeH="0" baseline="0" smtClean="0">
                          <a:ln>
                            <a:noFill/>
                          </a:ln>
                          <a:solidFill>
                            <a:srgbClr val="0000FF"/>
                          </a:solidFill>
                          <a:effectLst/>
                          <a:latin typeface="Times New Roman" pitchFamily="18" charset="0"/>
                          <a:ea typeface="宋体" pitchFamily="2" charset="-122"/>
                          <a:cs typeface="Times New Roman" pitchFamily="18" charset="0"/>
                        </a:rPr>
                        <a:t>26</a:t>
                      </a:r>
                      <a:endParaRPr kumimoji="0" lang="en-US" altLang="zh-CN" sz="2000" b="1" i="0" u="none" strike="noStrike" cap="none" normalizeH="0" baseline="0" smtClean="0">
                        <a:ln>
                          <a:noFill/>
                        </a:ln>
                        <a:solidFill>
                          <a:srgbClr val="0000FF"/>
                        </a:solidFill>
                        <a:effectLst/>
                        <a:latin typeface="Arial" charset="0"/>
                        <a:ea typeface="宋体" pitchFamily="2" charset="-122"/>
                        <a:cs typeface="Times New Roman" pitchFamily="18" charset="0"/>
                      </a:endParaRPr>
                    </a:p>
                  </a:txBody>
                  <a:tcPr horzOverflow="overflow">
                    <a:lnL w="12700" cap="flat" cmpd="sng" algn="ctr">
                      <a:solidFill>
                        <a:srgbClr val="000000"/>
                      </a:solidFill>
                      <a:prstDash val="solid"/>
                      <a:round/>
                      <a:headEnd type="none" w="med" len="med"/>
                      <a:tailEnd type="none" w="med" len="med"/>
                    </a:lnL>
                    <a:lnR w="254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8"/>
                  </a:ext>
                </a:extLst>
              </a:tr>
              <a:tr h="431800">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en-US" altLang="zh-CN" sz="2000" b="1" i="0" u="none" strike="noStrike" cap="none" normalizeH="0" baseline="0" smtClean="0">
                          <a:ln>
                            <a:noFill/>
                          </a:ln>
                          <a:solidFill>
                            <a:srgbClr val="0000FF"/>
                          </a:solidFill>
                          <a:effectLst/>
                          <a:latin typeface="Times New Roman" pitchFamily="18" charset="0"/>
                          <a:ea typeface="宋体" pitchFamily="2" charset="-122"/>
                          <a:cs typeface="Times New Roman" pitchFamily="18" charset="0"/>
                        </a:rPr>
                        <a:t>9</a:t>
                      </a:r>
                      <a:endParaRPr kumimoji="0" lang="en-US" altLang="zh-CN" sz="2000" b="1" i="0" u="none" strike="noStrike" cap="none" normalizeH="0" baseline="0" smtClean="0">
                        <a:ln>
                          <a:noFill/>
                        </a:ln>
                        <a:solidFill>
                          <a:srgbClr val="0000FF"/>
                        </a:solidFill>
                        <a:effectLst/>
                        <a:latin typeface="Arial" charset="0"/>
                        <a:ea typeface="宋体" pitchFamily="2" charset="-122"/>
                        <a:cs typeface="Times New Roman" pitchFamily="18" charset="0"/>
                      </a:endParaRPr>
                    </a:p>
                  </a:txBody>
                  <a:tcPr horzOverflow="overflow">
                    <a:lnL w="254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en-US" altLang="zh-CN" sz="2000" b="1" i="0" u="none" strike="noStrike" cap="none" normalizeH="0" baseline="0" smtClean="0">
                          <a:ln>
                            <a:noFill/>
                          </a:ln>
                          <a:solidFill>
                            <a:srgbClr val="0000FF"/>
                          </a:solidFill>
                          <a:effectLst/>
                          <a:latin typeface="Times New Roman" pitchFamily="18" charset="0"/>
                          <a:ea typeface="宋体" pitchFamily="2" charset="-122"/>
                          <a:cs typeface="Times New Roman" pitchFamily="18" charset="0"/>
                        </a:rPr>
                        <a:t>18</a:t>
                      </a:r>
                      <a:endParaRPr kumimoji="0" lang="en-US" altLang="zh-CN" sz="2000" b="1" i="0" u="none" strike="noStrike" cap="none" normalizeH="0" baseline="0" smtClean="0">
                        <a:ln>
                          <a:noFill/>
                        </a:ln>
                        <a:solidFill>
                          <a:srgbClr val="0000FF"/>
                        </a:solidFill>
                        <a:effectLst/>
                        <a:latin typeface="Arial" charset="0"/>
                        <a:ea typeface="宋体" pitchFamily="2" charset="-122"/>
                        <a:cs typeface="Times New Roman" pitchFamily="18"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en-US" altLang="zh-CN" sz="2000" b="1" i="0" u="none" strike="noStrike" cap="none" normalizeH="0" baseline="0" smtClean="0">
                          <a:ln>
                            <a:noFill/>
                          </a:ln>
                          <a:solidFill>
                            <a:srgbClr val="0000FF"/>
                          </a:solidFill>
                          <a:effectLst/>
                          <a:latin typeface="Times New Roman" pitchFamily="18" charset="0"/>
                          <a:ea typeface="宋体" pitchFamily="2" charset="-122"/>
                          <a:cs typeface="Times New Roman" pitchFamily="18" charset="0"/>
                        </a:rPr>
                        <a:t>40</a:t>
                      </a:r>
                      <a:endParaRPr kumimoji="0" lang="en-US" altLang="zh-CN" sz="2000" b="1" i="0" u="none" strike="noStrike" cap="none" normalizeH="0" baseline="0" smtClean="0">
                        <a:ln>
                          <a:noFill/>
                        </a:ln>
                        <a:solidFill>
                          <a:srgbClr val="0000FF"/>
                        </a:solidFill>
                        <a:effectLst/>
                        <a:latin typeface="Arial" charset="0"/>
                        <a:ea typeface="宋体" pitchFamily="2" charset="-122"/>
                        <a:cs typeface="Times New Roman" pitchFamily="18" charset="0"/>
                      </a:endParaRPr>
                    </a:p>
                  </a:txBody>
                  <a:tcPr horzOverflow="overflow">
                    <a:lnL w="12700" cap="flat" cmpd="sng" algn="ctr">
                      <a:solidFill>
                        <a:srgbClr val="000000"/>
                      </a:solidFill>
                      <a:prstDash val="solid"/>
                      <a:round/>
                      <a:headEnd type="none" w="med" len="med"/>
                      <a:tailEnd type="none" w="med" len="med"/>
                    </a:lnL>
                    <a:lnR w="254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en-US" altLang="zh-CN" sz="2000" b="1" i="0" u="none" strike="noStrike" cap="none" normalizeH="0" baseline="0" smtClean="0">
                          <a:ln>
                            <a:noFill/>
                          </a:ln>
                          <a:solidFill>
                            <a:srgbClr val="0000FF"/>
                          </a:solidFill>
                          <a:effectLst/>
                          <a:latin typeface="Times New Roman" pitchFamily="18" charset="0"/>
                          <a:ea typeface="宋体" pitchFamily="2" charset="-122"/>
                          <a:cs typeface="Times New Roman" pitchFamily="18" charset="0"/>
                        </a:rPr>
                        <a:t>19</a:t>
                      </a:r>
                      <a:endParaRPr kumimoji="0" lang="en-US" altLang="zh-CN" sz="2000" b="1" i="0" u="none" strike="noStrike" cap="none" normalizeH="0" baseline="0" smtClean="0">
                        <a:ln>
                          <a:noFill/>
                        </a:ln>
                        <a:solidFill>
                          <a:srgbClr val="0000FF"/>
                        </a:solidFill>
                        <a:effectLst/>
                        <a:latin typeface="Arial" charset="0"/>
                        <a:ea typeface="宋体" pitchFamily="2" charset="-122"/>
                        <a:cs typeface="Times New Roman" pitchFamily="18" charset="0"/>
                      </a:endParaRPr>
                    </a:p>
                  </a:txBody>
                  <a:tcPr horzOverflow="overflow">
                    <a:lnL w="254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en-US" altLang="zh-CN" sz="2000" b="1" i="0" u="none" strike="noStrike" cap="none" normalizeH="0" baseline="0" smtClean="0">
                          <a:ln>
                            <a:noFill/>
                          </a:ln>
                          <a:solidFill>
                            <a:srgbClr val="0000FF"/>
                          </a:solidFill>
                          <a:effectLst/>
                          <a:latin typeface="Times New Roman" pitchFamily="18" charset="0"/>
                          <a:ea typeface="宋体" pitchFamily="2" charset="-122"/>
                          <a:cs typeface="Times New Roman" pitchFamily="18" charset="0"/>
                        </a:rPr>
                        <a:t>41</a:t>
                      </a:r>
                      <a:endParaRPr kumimoji="0" lang="en-US" altLang="zh-CN" sz="2000" b="1" i="0" u="none" strike="noStrike" cap="none" normalizeH="0" baseline="0" smtClean="0">
                        <a:ln>
                          <a:noFill/>
                        </a:ln>
                        <a:solidFill>
                          <a:srgbClr val="0000FF"/>
                        </a:solidFill>
                        <a:effectLst/>
                        <a:latin typeface="Arial" charset="0"/>
                        <a:ea typeface="宋体" pitchFamily="2" charset="-122"/>
                        <a:cs typeface="Times New Roman" pitchFamily="18"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en-US" altLang="zh-CN" sz="2000" b="1" i="0" u="none" strike="noStrike" cap="none" normalizeH="0" baseline="0" smtClean="0">
                          <a:ln>
                            <a:noFill/>
                          </a:ln>
                          <a:solidFill>
                            <a:srgbClr val="0000FF"/>
                          </a:solidFill>
                          <a:effectLst/>
                          <a:latin typeface="Times New Roman" pitchFamily="18" charset="0"/>
                          <a:ea typeface="宋体" pitchFamily="2" charset="-122"/>
                          <a:cs typeface="Times New Roman" pitchFamily="18" charset="0"/>
                        </a:rPr>
                        <a:t>94</a:t>
                      </a:r>
                      <a:endParaRPr kumimoji="0" lang="en-US" altLang="zh-CN" sz="2000" b="1" i="0" u="none" strike="noStrike" cap="none" normalizeH="0" baseline="0" smtClean="0">
                        <a:ln>
                          <a:noFill/>
                        </a:ln>
                        <a:solidFill>
                          <a:srgbClr val="0000FF"/>
                        </a:solidFill>
                        <a:effectLst/>
                        <a:latin typeface="Arial" charset="0"/>
                        <a:ea typeface="宋体" pitchFamily="2" charset="-122"/>
                        <a:cs typeface="Times New Roman" pitchFamily="18" charset="0"/>
                      </a:endParaRPr>
                    </a:p>
                  </a:txBody>
                  <a:tcPr horzOverflow="overflow">
                    <a:lnL w="12700" cap="flat" cmpd="sng" algn="ctr">
                      <a:solidFill>
                        <a:srgbClr val="000000"/>
                      </a:solidFill>
                      <a:prstDash val="solid"/>
                      <a:round/>
                      <a:headEnd type="none" w="med" len="med"/>
                      <a:tailEnd type="none" w="med" len="med"/>
                    </a:lnL>
                    <a:lnR w="254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en-US" altLang="zh-CN" sz="2000" b="1" i="0" u="none" strike="noStrike" cap="none" normalizeH="0" baseline="0" smtClean="0">
                          <a:ln>
                            <a:noFill/>
                          </a:ln>
                          <a:solidFill>
                            <a:srgbClr val="0000FF"/>
                          </a:solidFill>
                          <a:effectLst/>
                          <a:latin typeface="Times New Roman" pitchFamily="18" charset="0"/>
                          <a:ea typeface="宋体" pitchFamily="2" charset="-122"/>
                          <a:cs typeface="Times New Roman" pitchFamily="18" charset="0"/>
                        </a:rPr>
                        <a:t>29</a:t>
                      </a:r>
                      <a:endParaRPr kumimoji="0" lang="en-US" altLang="zh-CN" sz="2000" b="1" i="0" u="none" strike="noStrike" cap="none" normalizeH="0" baseline="0" smtClean="0">
                        <a:ln>
                          <a:noFill/>
                        </a:ln>
                        <a:solidFill>
                          <a:srgbClr val="0000FF"/>
                        </a:solidFill>
                        <a:effectLst/>
                        <a:latin typeface="Arial" charset="0"/>
                        <a:ea typeface="宋体" pitchFamily="2" charset="-122"/>
                        <a:cs typeface="Times New Roman" pitchFamily="18" charset="0"/>
                      </a:endParaRPr>
                    </a:p>
                  </a:txBody>
                  <a:tcPr horzOverflow="overflow">
                    <a:lnL w="254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en-US" altLang="zh-CN" sz="2000" b="1" i="0" u="none" strike="noStrike" cap="none" normalizeH="0" baseline="0" smtClean="0">
                          <a:ln>
                            <a:noFill/>
                          </a:ln>
                          <a:solidFill>
                            <a:srgbClr val="0000FF"/>
                          </a:solidFill>
                          <a:effectLst/>
                          <a:latin typeface="Times New Roman" pitchFamily="18" charset="0"/>
                          <a:ea typeface="宋体" pitchFamily="2" charset="-122"/>
                          <a:cs typeface="Times New Roman" pitchFamily="18" charset="0"/>
                        </a:rPr>
                        <a:t>45</a:t>
                      </a:r>
                      <a:endParaRPr kumimoji="0" lang="en-US" altLang="zh-CN" sz="2000" b="1" i="0" u="none" strike="noStrike" cap="none" normalizeH="0" baseline="0" smtClean="0">
                        <a:ln>
                          <a:noFill/>
                        </a:ln>
                        <a:solidFill>
                          <a:srgbClr val="0000FF"/>
                        </a:solidFill>
                        <a:effectLst/>
                        <a:latin typeface="Arial" charset="0"/>
                        <a:ea typeface="宋体" pitchFamily="2" charset="-122"/>
                        <a:cs typeface="Times New Roman" pitchFamily="18"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en-US" altLang="zh-CN" sz="2000" b="1" i="0" u="none" strike="noStrike" cap="none" normalizeH="0" baseline="0" smtClean="0">
                          <a:ln>
                            <a:noFill/>
                          </a:ln>
                          <a:solidFill>
                            <a:srgbClr val="0000FF"/>
                          </a:solidFill>
                          <a:effectLst/>
                          <a:latin typeface="Times New Roman" pitchFamily="18" charset="0"/>
                          <a:ea typeface="宋体" pitchFamily="2" charset="-122"/>
                          <a:cs typeface="Times New Roman" pitchFamily="18" charset="0"/>
                        </a:rPr>
                        <a:t>21</a:t>
                      </a:r>
                      <a:endParaRPr kumimoji="0" lang="en-US" altLang="zh-CN" sz="2000" b="1" i="0" u="none" strike="noStrike" cap="none" normalizeH="0" baseline="0" smtClean="0">
                        <a:ln>
                          <a:noFill/>
                        </a:ln>
                        <a:solidFill>
                          <a:srgbClr val="0000FF"/>
                        </a:solidFill>
                        <a:effectLst/>
                        <a:latin typeface="Arial" charset="0"/>
                        <a:ea typeface="宋体" pitchFamily="2" charset="-122"/>
                        <a:cs typeface="Times New Roman" pitchFamily="18" charset="0"/>
                      </a:endParaRPr>
                    </a:p>
                  </a:txBody>
                  <a:tcPr horzOverflow="overflow">
                    <a:lnL w="12700" cap="flat" cmpd="sng" algn="ctr">
                      <a:solidFill>
                        <a:srgbClr val="000000"/>
                      </a:solidFill>
                      <a:prstDash val="solid"/>
                      <a:round/>
                      <a:headEnd type="none" w="med" len="med"/>
                      <a:tailEnd type="none" w="med" len="med"/>
                    </a:lnL>
                    <a:lnR w="254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9"/>
                  </a:ext>
                </a:extLst>
              </a:tr>
              <a:tr h="180975">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en-US" altLang="zh-CN" sz="2000" b="1" i="0" u="none" strike="noStrike" cap="none" normalizeH="0" baseline="0" smtClean="0">
                          <a:ln>
                            <a:noFill/>
                          </a:ln>
                          <a:solidFill>
                            <a:srgbClr val="0000FF"/>
                          </a:solidFill>
                          <a:effectLst/>
                          <a:latin typeface="Times New Roman" pitchFamily="18" charset="0"/>
                          <a:ea typeface="宋体" pitchFamily="2" charset="-122"/>
                          <a:cs typeface="Times New Roman" pitchFamily="18" charset="0"/>
                        </a:rPr>
                        <a:t>10</a:t>
                      </a:r>
                      <a:endParaRPr kumimoji="0" lang="en-US" altLang="zh-CN" sz="2000" b="1" i="0" u="none" strike="noStrike" cap="none" normalizeH="0" baseline="0" smtClean="0">
                        <a:ln>
                          <a:noFill/>
                        </a:ln>
                        <a:solidFill>
                          <a:srgbClr val="0000FF"/>
                        </a:solidFill>
                        <a:effectLst/>
                        <a:latin typeface="Arial" charset="0"/>
                        <a:ea typeface="宋体" pitchFamily="2" charset="-122"/>
                        <a:cs typeface="Times New Roman" pitchFamily="18" charset="0"/>
                      </a:endParaRPr>
                    </a:p>
                  </a:txBody>
                  <a:tcPr horzOverflow="overflow">
                    <a:lnL w="254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254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en-US" altLang="zh-CN" sz="2000" b="1" i="0" u="none" strike="noStrike" cap="none" normalizeH="0" baseline="0" smtClean="0">
                          <a:ln>
                            <a:noFill/>
                          </a:ln>
                          <a:solidFill>
                            <a:srgbClr val="0000FF"/>
                          </a:solidFill>
                          <a:effectLst/>
                          <a:latin typeface="Times New Roman" pitchFamily="18" charset="0"/>
                          <a:ea typeface="宋体" pitchFamily="2" charset="-122"/>
                          <a:cs typeface="Times New Roman" pitchFamily="18" charset="0"/>
                        </a:rPr>
                        <a:t>24</a:t>
                      </a:r>
                      <a:endParaRPr kumimoji="0" lang="en-US" altLang="zh-CN" sz="2000" b="1" i="0" u="none" strike="noStrike" cap="none" normalizeH="0" baseline="0" smtClean="0">
                        <a:ln>
                          <a:noFill/>
                        </a:ln>
                        <a:solidFill>
                          <a:srgbClr val="0000FF"/>
                        </a:solidFill>
                        <a:effectLst/>
                        <a:latin typeface="Arial" charset="0"/>
                        <a:ea typeface="宋体" pitchFamily="2" charset="-122"/>
                        <a:cs typeface="Times New Roman" pitchFamily="18"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254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en-US" altLang="zh-CN" sz="2000" b="1" i="0" u="none" strike="noStrike" cap="none" normalizeH="0" baseline="0" smtClean="0">
                          <a:ln>
                            <a:noFill/>
                          </a:ln>
                          <a:solidFill>
                            <a:srgbClr val="0000FF"/>
                          </a:solidFill>
                          <a:effectLst/>
                          <a:latin typeface="Times New Roman" pitchFamily="18" charset="0"/>
                          <a:ea typeface="宋体" pitchFamily="2" charset="-122"/>
                          <a:cs typeface="Times New Roman" pitchFamily="18" charset="0"/>
                        </a:rPr>
                        <a:t>42</a:t>
                      </a:r>
                      <a:endParaRPr kumimoji="0" lang="en-US" altLang="zh-CN" sz="2000" b="1" i="0" u="none" strike="noStrike" cap="none" normalizeH="0" baseline="0" smtClean="0">
                        <a:ln>
                          <a:noFill/>
                        </a:ln>
                        <a:solidFill>
                          <a:srgbClr val="0000FF"/>
                        </a:solidFill>
                        <a:effectLst/>
                        <a:latin typeface="Arial" charset="0"/>
                        <a:ea typeface="宋体" pitchFamily="2" charset="-122"/>
                        <a:cs typeface="Times New Roman" pitchFamily="18" charset="0"/>
                      </a:endParaRPr>
                    </a:p>
                  </a:txBody>
                  <a:tcPr horzOverflow="overflow">
                    <a:lnL w="12700" cap="flat" cmpd="sng" algn="ctr">
                      <a:solidFill>
                        <a:srgbClr val="000000"/>
                      </a:solidFill>
                      <a:prstDash val="solid"/>
                      <a:round/>
                      <a:headEnd type="none" w="med" len="med"/>
                      <a:tailEnd type="none" w="med" len="med"/>
                    </a:lnL>
                    <a:lnR w="254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254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en-US" altLang="zh-CN" sz="2000" b="1" i="0" u="none" strike="noStrike" cap="none" normalizeH="0" baseline="0" smtClean="0">
                          <a:ln>
                            <a:noFill/>
                          </a:ln>
                          <a:solidFill>
                            <a:srgbClr val="0000FF"/>
                          </a:solidFill>
                          <a:effectLst/>
                          <a:latin typeface="Times New Roman" pitchFamily="18" charset="0"/>
                          <a:ea typeface="宋体" pitchFamily="2" charset="-122"/>
                          <a:cs typeface="Times New Roman" pitchFamily="18" charset="0"/>
                        </a:rPr>
                        <a:t>20</a:t>
                      </a:r>
                      <a:endParaRPr kumimoji="0" lang="en-US" altLang="zh-CN" sz="2000" b="1" i="0" u="none" strike="noStrike" cap="none" normalizeH="0" baseline="0" smtClean="0">
                        <a:ln>
                          <a:noFill/>
                        </a:ln>
                        <a:solidFill>
                          <a:srgbClr val="0000FF"/>
                        </a:solidFill>
                        <a:effectLst/>
                        <a:latin typeface="Arial" charset="0"/>
                        <a:ea typeface="宋体" pitchFamily="2" charset="-122"/>
                        <a:cs typeface="Times New Roman" pitchFamily="18" charset="0"/>
                      </a:endParaRPr>
                    </a:p>
                  </a:txBody>
                  <a:tcPr horzOverflow="overflow">
                    <a:lnL w="254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254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en-US" altLang="zh-CN" sz="2000" b="1" i="0" u="none" strike="noStrike" cap="none" normalizeH="0" baseline="0" smtClean="0">
                          <a:ln>
                            <a:noFill/>
                          </a:ln>
                          <a:solidFill>
                            <a:srgbClr val="0000FF"/>
                          </a:solidFill>
                          <a:effectLst/>
                          <a:latin typeface="Times New Roman" pitchFamily="18" charset="0"/>
                          <a:ea typeface="宋体" pitchFamily="2" charset="-122"/>
                          <a:cs typeface="Times New Roman" pitchFamily="18" charset="0"/>
                        </a:rPr>
                        <a:t>2</a:t>
                      </a:r>
                      <a:endParaRPr kumimoji="0" lang="en-US" altLang="zh-CN" sz="2000" b="1" i="0" u="none" strike="noStrike" cap="none" normalizeH="0" baseline="0" smtClean="0">
                        <a:ln>
                          <a:noFill/>
                        </a:ln>
                        <a:solidFill>
                          <a:srgbClr val="0000FF"/>
                        </a:solidFill>
                        <a:effectLst/>
                        <a:latin typeface="Arial" charset="0"/>
                        <a:ea typeface="宋体" pitchFamily="2" charset="-122"/>
                        <a:cs typeface="Times New Roman" pitchFamily="18"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254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en-US" altLang="zh-CN" sz="2000" b="1" i="0" u="none" strike="noStrike" cap="none" normalizeH="0" baseline="0" smtClean="0">
                          <a:ln>
                            <a:noFill/>
                          </a:ln>
                          <a:solidFill>
                            <a:srgbClr val="0000FF"/>
                          </a:solidFill>
                          <a:effectLst/>
                          <a:latin typeface="Times New Roman" pitchFamily="18" charset="0"/>
                          <a:ea typeface="宋体" pitchFamily="2" charset="-122"/>
                          <a:cs typeface="Times New Roman" pitchFamily="18" charset="0"/>
                        </a:rPr>
                        <a:t>99</a:t>
                      </a:r>
                      <a:endParaRPr kumimoji="0" lang="en-US" altLang="zh-CN" sz="2000" b="1" i="0" u="none" strike="noStrike" cap="none" normalizeH="0" baseline="0" smtClean="0">
                        <a:ln>
                          <a:noFill/>
                        </a:ln>
                        <a:solidFill>
                          <a:srgbClr val="0000FF"/>
                        </a:solidFill>
                        <a:effectLst/>
                        <a:latin typeface="Arial" charset="0"/>
                        <a:ea typeface="宋体" pitchFamily="2" charset="-122"/>
                        <a:cs typeface="Times New Roman" pitchFamily="18" charset="0"/>
                      </a:endParaRPr>
                    </a:p>
                  </a:txBody>
                  <a:tcPr horzOverflow="overflow">
                    <a:lnL w="12700" cap="flat" cmpd="sng" algn="ctr">
                      <a:solidFill>
                        <a:srgbClr val="000000"/>
                      </a:solidFill>
                      <a:prstDash val="solid"/>
                      <a:round/>
                      <a:headEnd type="none" w="med" len="med"/>
                      <a:tailEnd type="none" w="med" len="med"/>
                    </a:lnL>
                    <a:lnR w="254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254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en-US" altLang="zh-CN" sz="2000" b="1" i="0" u="none" strike="noStrike" cap="none" normalizeH="0" baseline="0" smtClean="0">
                          <a:ln>
                            <a:noFill/>
                          </a:ln>
                          <a:solidFill>
                            <a:srgbClr val="0000FF"/>
                          </a:solidFill>
                          <a:effectLst/>
                          <a:latin typeface="Times New Roman" pitchFamily="18" charset="0"/>
                          <a:ea typeface="宋体" pitchFamily="2" charset="-122"/>
                          <a:cs typeface="Times New Roman" pitchFamily="18" charset="0"/>
                        </a:rPr>
                        <a:t>30</a:t>
                      </a:r>
                      <a:endParaRPr kumimoji="0" lang="en-US" altLang="zh-CN" sz="2000" b="1" i="0" u="none" strike="noStrike" cap="none" normalizeH="0" baseline="0" smtClean="0">
                        <a:ln>
                          <a:noFill/>
                        </a:ln>
                        <a:solidFill>
                          <a:srgbClr val="0000FF"/>
                        </a:solidFill>
                        <a:effectLst/>
                        <a:latin typeface="Arial" charset="0"/>
                        <a:ea typeface="宋体" pitchFamily="2" charset="-122"/>
                        <a:cs typeface="Times New Roman" pitchFamily="18" charset="0"/>
                      </a:endParaRPr>
                    </a:p>
                  </a:txBody>
                  <a:tcPr horzOverflow="overflow">
                    <a:lnL w="254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254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en-US" altLang="zh-CN" sz="2000" b="1" i="0" u="none" strike="noStrike" cap="none" normalizeH="0" baseline="0" smtClean="0">
                          <a:ln>
                            <a:noFill/>
                          </a:ln>
                          <a:solidFill>
                            <a:srgbClr val="0000FF"/>
                          </a:solidFill>
                          <a:effectLst/>
                          <a:latin typeface="Times New Roman" pitchFamily="18" charset="0"/>
                          <a:ea typeface="宋体" pitchFamily="2" charset="-122"/>
                          <a:cs typeface="Times New Roman" pitchFamily="18" charset="0"/>
                        </a:rPr>
                        <a:t>44</a:t>
                      </a:r>
                      <a:endParaRPr kumimoji="0" lang="en-US" altLang="zh-CN" sz="2000" b="1" i="0" u="none" strike="noStrike" cap="none" normalizeH="0" baseline="0" smtClean="0">
                        <a:ln>
                          <a:noFill/>
                        </a:ln>
                        <a:solidFill>
                          <a:srgbClr val="0000FF"/>
                        </a:solidFill>
                        <a:effectLst/>
                        <a:latin typeface="Arial" charset="0"/>
                        <a:ea typeface="宋体" pitchFamily="2" charset="-122"/>
                        <a:cs typeface="Times New Roman" pitchFamily="18"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254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en-US" altLang="zh-CN" sz="2000" b="1" i="0" u="none" strike="noStrike" cap="none" normalizeH="0" baseline="0" smtClean="0">
                          <a:ln>
                            <a:noFill/>
                          </a:ln>
                          <a:solidFill>
                            <a:srgbClr val="0000FF"/>
                          </a:solidFill>
                          <a:effectLst/>
                          <a:latin typeface="Times New Roman" pitchFamily="18" charset="0"/>
                          <a:ea typeface="宋体" pitchFamily="2" charset="-122"/>
                          <a:cs typeface="Times New Roman" pitchFamily="18" charset="0"/>
                        </a:rPr>
                        <a:t>35</a:t>
                      </a:r>
                      <a:endParaRPr kumimoji="0" lang="en-US" altLang="zh-CN" sz="2000" b="1" i="0" u="none" strike="noStrike" cap="none" normalizeH="0" baseline="0" smtClean="0">
                        <a:ln>
                          <a:noFill/>
                        </a:ln>
                        <a:solidFill>
                          <a:srgbClr val="0000FF"/>
                        </a:solidFill>
                        <a:effectLst/>
                        <a:latin typeface="Arial" charset="0"/>
                        <a:ea typeface="宋体" pitchFamily="2" charset="-122"/>
                        <a:cs typeface="Times New Roman" pitchFamily="18" charset="0"/>
                      </a:endParaRPr>
                    </a:p>
                  </a:txBody>
                  <a:tcPr horzOverflow="overflow">
                    <a:lnL w="12700" cap="flat" cmpd="sng" algn="ctr">
                      <a:solidFill>
                        <a:srgbClr val="000000"/>
                      </a:solidFill>
                      <a:prstDash val="solid"/>
                      <a:round/>
                      <a:headEnd type="none" w="med" len="med"/>
                      <a:tailEnd type="none" w="med" len="med"/>
                    </a:lnL>
                    <a:lnR w="254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254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10"/>
                  </a:ext>
                </a:extLst>
              </a:tr>
            </a:tbl>
          </a:graphicData>
        </a:graphic>
      </p:graphicFrame>
      <p:sp>
        <p:nvSpPr>
          <p:cNvPr id="62589" name="Text Box 671"/>
          <p:cNvSpPr txBox="1">
            <a:spLocks noChangeArrowheads="1"/>
          </p:cNvSpPr>
          <p:nvPr/>
        </p:nvSpPr>
        <p:spPr bwMode="auto">
          <a:xfrm>
            <a:off x="533400" y="1295400"/>
            <a:ext cx="7239000" cy="396875"/>
          </a:xfrm>
          <a:prstGeom prst="rect">
            <a:avLst/>
          </a:prstGeom>
          <a:noFill/>
          <a:ln w="9525">
            <a:noFill/>
            <a:miter lim="800000"/>
            <a:headEnd/>
            <a:tailEnd/>
          </a:ln>
        </p:spPr>
        <p:txBody>
          <a:bodyPr>
            <a:spAutoFit/>
          </a:bodyPr>
          <a:lstStyle/>
          <a:p>
            <a:pPr>
              <a:spcBef>
                <a:spcPct val="50000"/>
              </a:spcBef>
            </a:pPr>
            <a:r>
              <a:rPr lang="zh-CN" altLang="en-US" sz="2000" b="1">
                <a:solidFill>
                  <a:srgbClr val="0000FF"/>
                </a:solidFill>
                <a:ea typeface="宋体" charset="-122"/>
              </a:rPr>
              <a:t>本例所用</a:t>
            </a:r>
            <a:r>
              <a:rPr lang="en-US" altLang="zh-CN" sz="2000" b="1">
                <a:solidFill>
                  <a:srgbClr val="0000FF"/>
                </a:solidFill>
                <a:ea typeface="宋体" charset="-122"/>
              </a:rPr>
              <a:t>30</a:t>
            </a:r>
            <a:r>
              <a:rPr lang="zh-CN" altLang="en-US" sz="2000" b="1">
                <a:solidFill>
                  <a:srgbClr val="0000FF"/>
                </a:solidFill>
                <a:ea typeface="宋体" charset="-122"/>
              </a:rPr>
              <a:t>个城市的</a:t>
            </a:r>
            <a:r>
              <a:rPr lang="en-US" altLang="zh-CN" sz="2000" b="1">
                <a:solidFill>
                  <a:srgbClr val="0000FF"/>
                </a:solidFill>
                <a:ea typeface="宋体" charset="-122"/>
              </a:rPr>
              <a:t>XY</a:t>
            </a:r>
            <a:r>
              <a:rPr lang="zh-CN" altLang="en-US" sz="2000" b="1">
                <a:solidFill>
                  <a:srgbClr val="0000FF"/>
                </a:solidFill>
                <a:ea typeface="宋体" charset="-122"/>
              </a:rPr>
              <a:t>坐标：</a:t>
            </a:r>
          </a:p>
        </p:txBody>
      </p:sp>
    </p:spTree>
  </p:cSld>
  <p:clrMapOvr>
    <a:masterClrMapping/>
  </p:clrMapOvr>
  <p:timing>
    <p:tnLst>
      <p:par>
        <p:cTn id="1" dur="indefinite" restart="never" nodeType="tmRoot"/>
      </p:par>
    </p:tnLst>
  </p:timing>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1" name="Rectangle 2"/>
          <p:cNvSpPr>
            <a:spLocks noGrp="1" noChangeArrowheads="1"/>
          </p:cNvSpPr>
          <p:nvPr>
            <p:ph type="title"/>
          </p:nvPr>
        </p:nvSpPr>
        <p:spPr bwMode="auto">
          <a:xfrm>
            <a:off x="609600" y="152400"/>
            <a:ext cx="7924800" cy="958850"/>
          </a:xfrm>
          <a:prstGeom prst="rect">
            <a:avLst/>
          </a:prstGeom>
          <a:noFill/>
          <a:ln>
            <a:miter lim="800000"/>
            <a:headEnd/>
            <a:tailEnd/>
          </a:ln>
        </p:spPr>
        <p:txBody>
          <a:bodyPr vert="horz" wrap="square" lIns="91440" tIns="45720" rIns="91440" bIns="45720" numCol="1" anchor="ctr" anchorCtr="0" compatLnSpc="1">
            <a:prstTxWarp prst="textNoShape">
              <a:avLst/>
            </a:prstTxWarp>
          </a:bodyPr>
          <a:lstStyle/>
          <a:p>
            <a:pPr eaLnBrk="1" hangingPunct="1"/>
            <a:r>
              <a:rPr lang="en-US" altLang="zh-CN" smtClean="0">
                <a:solidFill>
                  <a:srgbClr val="0000FF"/>
                </a:solidFill>
                <a:ea typeface="宋体" charset="-122"/>
              </a:rPr>
              <a:t>4 </a:t>
            </a:r>
            <a:r>
              <a:rPr lang="zh-CN" altLang="en-US" smtClean="0">
                <a:solidFill>
                  <a:srgbClr val="0000FF"/>
                </a:solidFill>
                <a:ea typeface="宋体" charset="-122"/>
              </a:rPr>
              <a:t>遗传算法求解巡回旅行商问题</a:t>
            </a:r>
          </a:p>
        </p:txBody>
      </p:sp>
      <p:sp>
        <p:nvSpPr>
          <p:cNvPr id="12292" name="Rectangle 3"/>
          <p:cNvSpPr>
            <a:spLocks noGrp="1" noChangeArrowheads="1"/>
          </p:cNvSpPr>
          <p:nvPr>
            <p:ph type="body" idx="1"/>
          </p:nvPr>
        </p:nvSpPr>
        <p:spPr>
          <a:xfrm>
            <a:off x="381000" y="1219200"/>
            <a:ext cx="8229600" cy="490538"/>
          </a:xfrm>
          <a:noFill/>
        </p:spPr>
        <p:txBody>
          <a:bodyPr/>
          <a:lstStyle/>
          <a:p>
            <a:pPr eaLnBrk="1" hangingPunct="1">
              <a:lnSpc>
                <a:spcPct val="90000"/>
              </a:lnSpc>
              <a:buFont typeface="Wingdings" pitchFamily="2" charset="2"/>
              <a:buNone/>
            </a:pPr>
            <a:r>
              <a:rPr lang="en-US" altLang="zh-CN" sz="2800" smtClean="0">
                <a:solidFill>
                  <a:srgbClr val="0000FF"/>
                </a:solidFill>
                <a:latin typeface="Arial" charset="0"/>
                <a:ea typeface="宋体" charset="-122"/>
              </a:rPr>
              <a:t>4.2</a:t>
            </a:r>
            <a:r>
              <a:rPr lang="en-US" altLang="zh-CN" sz="2800" smtClean="0">
                <a:solidFill>
                  <a:srgbClr val="0000FF"/>
                </a:solidFill>
                <a:ea typeface="宋体" charset="-122"/>
              </a:rPr>
              <a:t> </a:t>
            </a:r>
            <a:r>
              <a:rPr lang="zh-CN" altLang="en-US" sz="2800" smtClean="0">
                <a:solidFill>
                  <a:srgbClr val="0000FF"/>
                </a:solidFill>
                <a:ea typeface="宋体" charset="-122"/>
              </a:rPr>
              <a:t>基本操作</a:t>
            </a:r>
          </a:p>
        </p:txBody>
      </p:sp>
      <p:sp>
        <p:nvSpPr>
          <p:cNvPr id="12293" name="Text Box 4"/>
          <p:cNvSpPr txBox="1">
            <a:spLocks noChangeArrowheads="1"/>
          </p:cNvSpPr>
          <p:nvPr/>
        </p:nvSpPr>
        <p:spPr bwMode="auto">
          <a:xfrm>
            <a:off x="381000" y="1660525"/>
            <a:ext cx="2743200" cy="396875"/>
          </a:xfrm>
          <a:prstGeom prst="rect">
            <a:avLst/>
          </a:prstGeom>
          <a:noFill/>
          <a:ln w="9525">
            <a:noFill/>
            <a:miter lim="800000"/>
            <a:headEnd/>
            <a:tailEnd/>
          </a:ln>
        </p:spPr>
        <p:txBody>
          <a:bodyPr>
            <a:spAutoFit/>
          </a:bodyPr>
          <a:lstStyle/>
          <a:p>
            <a:pPr marL="342900" indent="-342900">
              <a:spcBef>
                <a:spcPct val="50000"/>
              </a:spcBef>
            </a:pPr>
            <a:r>
              <a:rPr lang="zh-CN" altLang="en-US" sz="2000" b="1">
                <a:solidFill>
                  <a:srgbClr val="0000FF"/>
                </a:solidFill>
                <a:ea typeface="宋体" charset="-122"/>
              </a:rPr>
              <a:t>（</a:t>
            </a:r>
            <a:r>
              <a:rPr lang="en-US" altLang="zh-CN" sz="2000" b="1">
                <a:solidFill>
                  <a:srgbClr val="0000FF"/>
                </a:solidFill>
                <a:ea typeface="宋体" charset="-122"/>
              </a:rPr>
              <a:t>1</a:t>
            </a:r>
            <a:r>
              <a:rPr lang="zh-CN" altLang="en-US" sz="2000" b="1">
                <a:solidFill>
                  <a:srgbClr val="0000FF"/>
                </a:solidFill>
                <a:ea typeface="宋体" charset="-122"/>
              </a:rPr>
              <a:t>）编码与解码</a:t>
            </a:r>
          </a:p>
        </p:txBody>
      </p:sp>
      <p:sp>
        <p:nvSpPr>
          <p:cNvPr id="12294" name="Text Box 5"/>
          <p:cNvSpPr txBox="1">
            <a:spLocks noChangeArrowheads="1"/>
          </p:cNvSpPr>
          <p:nvPr/>
        </p:nvSpPr>
        <p:spPr bwMode="auto">
          <a:xfrm>
            <a:off x="457200" y="1965325"/>
            <a:ext cx="8153400" cy="1006475"/>
          </a:xfrm>
          <a:prstGeom prst="rect">
            <a:avLst/>
          </a:prstGeom>
          <a:noFill/>
          <a:ln w="9525">
            <a:noFill/>
            <a:miter lim="800000"/>
            <a:headEnd/>
            <a:tailEnd/>
          </a:ln>
        </p:spPr>
        <p:txBody>
          <a:bodyPr>
            <a:spAutoFit/>
          </a:bodyPr>
          <a:lstStyle/>
          <a:p>
            <a:pPr>
              <a:spcBef>
                <a:spcPct val="50000"/>
              </a:spcBef>
            </a:pPr>
            <a:r>
              <a:rPr lang="zh-CN" altLang="en-US" sz="2000" b="1">
                <a:solidFill>
                  <a:srgbClr val="0000FF"/>
                </a:solidFill>
                <a:ea typeface="宋体" charset="-122"/>
              </a:rPr>
              <a:t>       采用对访问城市序列进行排列组合的方法编码，即某个巡回路径的染色体是该巡回路径的城市序列。对于</a:t>
            </a:r>
            <a:r>
              <a:rPr lang="en-US" altLang="zh-CN" sz="2000" b="1">
                <a:solidFill>
                  <a:srgbClr val="0000FF"/>
                </a:solidFill>
                <a:ea typeface="宋体" charset="-122"/>
              </a:rPr>
              <a:t>N</a:t>
            </a:r>
            <a:r>
              <a:rPr lang="zh-CN" altLang="en-US" sz="2000" b="1">
                <a:solidFill>
                  <a:srgbClr val="0000FF"/>
                </a:solidFill>
                <a:ea typeface="宋体" charset="-122"/>
              </a:rPr>
              <a:t>（</a:t>
            </a:r>
            <a:r>
              <a:rPr lang="en-US" altLang="zh-CN" sz="2000" b="1">
                <a:solidFill>
                  <a:srgbClr val="0000FF"/>
                </a:solidFill>
                <a:ea typeface="宋体" charset="-122"/>
              </a:rPr>
              <a:t>N</a:t>
            </a:r>
            <a:r>
              <a:rPr lang="zh-CN" altLang="en-US" sz="2000" b="1">
                <a:solidFill>
                  <a:srgbClr val="0000FF"/>
                </a:solidFill>
                <a:ea typeface="宋体" charset="-122"/>
              </a:rPr>
              <a:t>为城市总数）进制编码，即每个基因仅从</a:t>
            </a:r>
            <a:r>
              <a:rPr lang="en-US" altLang="zh-CN" sz="2000" b="1">
                <a:solidFill>
                  <a:srgbClr val="0000FF"/>
                </a:solidFill>
                <a:ea typeface="宋体" charset="-122"/>
              </a:rPr>
              <a:t>1</a:t>
            </a:r>
            <a:r>
              <a:rPr lang="zh-CN" altLang="en-US" sz="2000" b="1">
                <a:solidFill>
                  <a:srgbClr val="0000FF"/>
                </a:solidFill>
                <a:ea typeface="宋体" charset="-122"/>
              </a:rPr>
              <a:t>到</a:t>
            </a:r>
            <a:r>
              <a:rPr lang="en-US" altLang="zh-CN" sz="2000" b="1">
                <a:solidFill>
                  <a:srgbClr val="0000FF"/>
                </a:solidFill>
                <a:ea typeface="宋体" charset="-122"/>
              </a:rPr>
              <a:t>N</a:t>
            </a:r>
            <a:r>
              <a:rPr lang="zh-CN" altLang="en-US" sz="2000" b="1">
                <a:solidFill>
                  <a:srgbClr val="0000FF"/>
                </a:solidFill>
                <a:ea typeface="宋体" charset="-122"/>
              </a:rPr>
              <a:t>得整数里面取一个值，每个个体的长度为</a:t>
            </a:r>
            <a:r>
              <a:rPr lang="en-US" altLang="zh-CN" sz="2000" b="1">
                <a:solidFill>
                  <a:srgbClr val="0000FF"/>
                </a:solidFill>
                <a:ea typeface="宋体" charset="-122"/>
              </a:rPr>
              <a:t>N</a:t>
            </a:r>
            <a:r>
              <a:rPr lang="zh-CN" altLang="en-US" sz="2000" b="1">
                <a:solidFill>
                  <a:srgbClr val="0000FF"/>
                </a:solidFill>
                <a:ea typeface="宋体" charset="-122"/>
              </a:rPr>
              <a:t>。</a:t>
            </a:r>
          </a:p>
        </p:txBody>
      </p:sp>
      <p:sp>
        <p:nvSpPr>
          <p:cNvPr id="12295" name="Text Box 6"/>
          <p:cNvSpPr txBox="1">
            <a:spLocks noChangeArrowheads="1"/>
          </p:cNvSpPr>
          <p:nvPr/>
        </p:nvSpPr>
        <p:spPr bwMode="auto">
          <a:xfrm>
            <a:off x="457200" y="5486400"/>
            <a:ext cx="8153400" cy="1311275"/>
          </a:xfrm>
          <a:prstGeom prst="rect">
            <a:avLst/>
          </a:prstGeom>
          <a:noFill/>
          <a:ln w="9525">
            <a:noFill/>
            <a:miter lim="800000"/>
            <a:headEnd/>
            <a:tailEnd/>
          </a:ln>
        </p:spPr>
        <p:txBody>
          <a:bodyPr>
            <a:spAutoFit/>
          </a:bodyPr>
          <a:lstStyle/>
          <a:p>
            <a:pPr>
              <a:spcBef>
                <a:spcPct val="50000"/>
              </a:spcBef>
            </a:pPr>
            <a:r>
              <a:rPr lang="zh-CN" altLang="en-US" sz="2000" b="1">
                <a:solidFill>
                  <a:srgbClr val="0000FF"/>
                </a:solidFill>
                <a:ea typeface="宋体" charset="-122"/>
              </a:rPr>
              <a:t>       根据编码方法，一次求解得出的最优解（个体）是所访问的城市的次序，需要转换成相应的城市坐标进行输出，则只需将个体的染色体值作为存储</a:t>
            </a:r>
            <a:r>
              <a:rPr lang="en-US" altLang="zh-CN" sz="2000" b="1">
                <a:solidFill>
                  <a:srgbClr val="0000FF"/>
                </a:solidFill>
                <a:ea typeface="宋体" charset="-122"/>
              </a:rPr>
              <a:t>30</a:t>
            </a:r>
            <a:r>
              <a:rPr lang="zh-CN" altLang="en-US" sz="2000" b="1">
                <a:solidFill>
                  <a:srgbClr val="0000FF"/>
                </a:solidFill>
                <a:ea typeface="宋体" charset="-122"/>
              </a:rPr>
              <a:t>个城市坐标的矩阵的下标来引用，输出对应的矩阵元素，便可实现解码。</a:t>
            </a:r>
          </a:p>
        </p:txBody>
      </p:sp>
      <p:sp>
        <p:nvSpPr>
          <p:cNvPr id="12296" name="Rectangle 8"/>
          <p:cNvSpPr>
            <a:spLocks noChangeArrowheads="1"/>
          </p:cNvSpPr>
          <p:nvPr/>
        </p:nvSpPr>
        <p:spPr bwMode="auto">
          <a:xfrm>
            <a:off x="0" y="2789238"/>
            <a:ext cx="184150" cy="366712"/>
          </a:xfrm>
          <a:prstGeom prst="rect">
            <a:avLst/>
          </a:prstGeom>
          <a:noFill/>
          <a:ln w="9525">
            <a:noFill/>
            <a:miter lim="800000"/>
            <a:headEnd/>
            <a:tailEnd/>
          </a:ln>
        </p:spPr>
        <p:txBody>
          <a:bodyPr wrap="none" anchor="ctr">
            <a:spAutoFit/>
          </a:bodyPr>
          <a:lstStyle/>
          <a:p>
            <a:endParaRPr lang="zh-CN" altLang="en-US">
              <a:solidFill>
                <a:srgbClr val="0000FF"/>
              </a:solidFill>
              <a:ea typeface="宋体" charset="-122"/>
            </a:endParaRPr>
          </a:p>
        </p:txBody>
      </p:sp>
      <p:sp>
        <p:nvSpPr>
          <p:cNvPr id="12297" name="Rectangle 10"/>
          <p:cNvSpPr>
            <a:spLocks noChangeArrowheads="1"/>
          </p:cNvSpPr>
          <p:nvPr/>
        </p:nvSpPr>
        <p:spPr bwMode="auto">
          <a:xfrm>
            <a:off x="0" y="2784475"/>
            <a:ext cx="184150" cy="366713"/>
          </a:xfrm>
          <a:prstGeom prst="rect">
            <a:avLst/>
          </a:prstGeom>
          <a:noFill/>
          <a:ln w="9525">
            <a:noFill/>
            <a:miter lim="800000"/>
            <a:headEnd/>
            <a:tailEnd/>
          </a:ln>
        </p:spPr>
        <p:txBody>
          <a:bodyPr wrap="none" anchor="ctr">
            <a:spAutoFit/>
          </a:bodyPr>
          <a:lstStyle/>
          <a:p>
            <a:endParaRPr lang="zh-CN" altLang="en-US">
              <a:solidFill>
                <a:srgbClr val="0000FF"/>
              </a:solidFill>
              <a:ea typeface="宋体" charset="-122"/>
            </a:endParaRPr>
          </a:p>
        </p:txBody>
      </p:sp>
      <p:graphicFrame>
        <p:nvGraphicFramePr>
          <p:cNvPr id="12290" name="Object 9"/>
          <p:cNvGraphicFramePr>
            <a:graphicFrameLocks noChangeAspect="1"/>
          </p:cNvGraphicFramePr>
          <p:nvPr/>
        </p:nvGraphicFramePr>
        <p:xfrm>
          <a:off x="2667000" y="2895600"/>
          <a:ext cx="3048000" cy="1814513"/>
        </p:xfrm>
        <a:graphic>
          <a:graphicData uri="http://schemas.openxmlformats.org/presentationml/2006/ole">
            <mc:AlternateContent xmlns:mc="http://schemas.openxmlformats.org/markup-compatibility/2006">
              <mc:Choice xmlns:v="urn:schemas-microsoft-com:vml" Requires="v">
                <p:oleObj spid="_x0000_s46083" name="Equation" r:id="rId3" imgW="1549400" imgH="927100" progId="Equation.DSMT4">
                  <p:embed/>
                </p:oleObj>
              </mc:Choice>
              <mc:Fallback>
                <p:oleObj name="Equation" r:id="rId3" imgW="1549400" imgH="927100" progId="Equation.DSMT4">
                  <p:embed/>
                  <p:pic>
                    <p:nvPicPr>
                      <p:cNvPr id="0" name="Object 9"/>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667000" y="2895600"/>
                        <a:ext cx="3048000" cy="1814513"/>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2298" name="Line 11"/>
          <p:cNvSpPr>
            <a:spLocks noChangeShapeType="1"/>
          </p:cNvSpPr>
          <p:nvPr/>
        </p:nvSpPr>
        <p:spPr bwMode="auto">
          <a:xfrm flipH="1">
            <a:off x="5257800" y="3517900"/>
            <a:ext cx="762000" cy="0"/>
          </a:xfrm>
          <a:prstGeom prst="line">
            <a:avLst/>
          </a:prstGeom>
          <a:noFill/>
          <a:ln w="38100">
            <a:solidFill>
              <a:srgbClr val="CC6600"/>
            </a:solidFill>
            <a:round/>
            <a:headEnd/>
            <a:tailEnd type="triangle" w="med" len="med"/>
          </a:ln>
        </p:spPr>
        <p:txBody>
          <a:bodyPr/>
          <a:lstStyle/>
          <a:p>
            <a:endParaRPr lang="zh-CN" altLang="en-US"/>
          </a:p>
        </p:txBody>
      </p:sp>
      <p:sp>
        <p:nvSpPr>
          <p:cNvPr id="12299" name="Text Box 12"/>
          <p:cNvSpPr txBox="1">
            <a:spLocks noChangeArrowheads="1"/>
          </p:cNvSpPr>
          <p:nvPr/>
        </p:nvSpPr>
        <p:spPr bwMode="auto">
          <a:xfrm>
            <a:off x="6019800" y="3352800"/>
            <a:ext cx="2362200" cy="701675"/>
          </a:xfrm>
          <a:prstGeom prst="rect">
            <a:avLst/>
          </a:prstGeom>
          <a:noFill/>
          <a:ln w="9525">
            <a:noFill/>
            <a:miter lim="800000"/>
            <a:headEnd/>
            <a:tailEnd/>
          </a:ln>
        </p:spPr>
        <p:txBody>
          <a:bodyPr>
            <a:spAutoFit/>
          </a:bodyPr>
          <a:lstStyle/>
          <a:p>
            <a:pPr>
              <a:spcBef>
                <a:spcPct val="50000"/>
              </a:spcBef>
            </a:pPr>
            <a:r>
              <a:rPr lang="zh-CN" altLang="en-US" sz="2000" b="1">
                <a:solidFill>
                  <a:srgbClr val="0000FF"/>
                </a:solidFill>
                <a:ea typeface="宋体" charset="-122"/>
              </a:rPr>
              <a:t>一行的前</a:t>
            </a:r>
            <a:r>
              <a:rPr lang="en-US" altLang="zh-CN" sz="2000" b="1">
                <a:solidFill>
                  <a:srgbClr val="0000FF"/>
                </a:solidFill>
                <a:ea typeface="宋体" charset="-122"/>
              </a:rPr>
              <a:t>30</a:t>
            </a:r>
            <a:r>
              <a:rPr lang="zh-CN" altLang="en-US" sz="2000" b="1">
                <a:solidFill>
                  <a:srgbClr val="0000FF"/>
                </a:solidFill>
                <a:ea typeface="宋体" charset="-122"/>
              </a:rPr>
              <a:t>个元素为一个个体</a:t>
            </a:r>
          </a:p>
        </p:txBody>
      </p:sp>
      <p:sp>
        <p:nvSpPr>
          <p:cNvPr id="12300" name="AutoShape 13"/>
          <p:cNvSpPr>
            <a:spLocks/>
          </p:cNvSpPr>
          <p:nvPr/>
        </p:nvSpPr>
        <p:spPr bwMode="auto">
          <a:xfrm rot="-5400000">
            <a:off x="3390900" y="4076700"/>
            <a:ext cx="304800" cy="1295400"/>
          </a:xfrm>
          <a:prstGeom prst="leftBrace">
            <a:avLst>
              <a:gd name="adj1" fmla="val 35417"/>
              <a:gd name="adj2" fmla="val 50000"/>
            </a:avLst>
          </a:prstGeom>
          <a:noFill/>
          <a:ln w="38100">
            <a:solidFill>
              <a:srgbClr val="CC6600"/>
            </a:solidFill>
            <a:round/>
            <a:headEnd/>
            <a:tailEnd/>
          </a:ln>
        </p:spPr>
        <p:txBody>
          <a:bodyPr wrap="none" anchor="ctr"/>
          <a:lstStyle/>
          <a:p>
            <a:endParaRPr lang="zh-CN" altLang="en-US">
              <a:solidFill>
                <a:srgbClr val="0000FF"/>
              </a:solidFill>
              <a:ea typeface="宋体" charset="-122"/>
            </a:endParaRPr>
          </a:p>
        </p:txBody>
      </p:sp>
      <p:sp>
        <p:nvSpPr>
          <p:cNvPr id="12301" name="Text Box 14"/>
          <p:cNvSpPr txBox="1">
            <a:spLocks noChangeArrowheads="1"/>
          </p:cNvSpPr>
          <p:nvPr/>
        </p:nvSpPr>
        <p:spPr bwMode="auto">
          <a:xfrm>
            <a:off x="2819400" y="4876800"/>
            <a:ext cx="1524000" cy="701675"/>
          </a:xfrm>
          <a:prstGeom prst="rect">
            <a:avLst/>
          </a:prstGeom>
          <a:noFill/>
          <a:ln w="9525" algn="ctr">
            <a:noFill/>
            <a:miter lim="800000"/>
            <a:headEnd/>
            <a:tailEnd/>
          </a:ln>
        </p:spPr>
        <p:txBody>
          <a:bodyPr>
            <a:spAutoFit/>
          </a:bodyPr>
          <a:lstStyle/>
          <a:p>
            <a:pPr algn="ctr">
              <a:spcBef>
                <a:spcPct val="50000"/>
              </a:spcBef>
            </a:pPr>
            <a:r>
              <a:rPr lang="en-US" altLang="zh-CN" sz="2000" b="1">
                <a:solidFill>
                  <a:srgbClr val="0000FF"/>
                </a:solidFill>
                <a:ea typeface="宋体" charset="-122"/>
              </a:rPr>
              <a:t>30</a:t>
            </a:r>
            <a:r>
              <a:rPr lang="zh-CN" altLang="en-US" sz="2000" b="1">
                <a:solidFill>
                  <a:srgbClr val="0000FF"/>
                </a:solidFill>
                <a:ea typeface="宋体" charset="-122"/>
              </a:rPr>
              <a:t>个城市的访问次序</a:t>
            </a:r>
          </a:p>
        </p:txBody>
      </p:sp>
      <p:sp>
        <p:nvSpPr>
          <p:cNvPr id="12302" name="Line 15"/>
          <p:cNvSpPr>
            <a:spLocks noChangeShapeType="1"/>
          </p:cNvSpPr>
          <p:nvPr/>
        </p:nvSpPr>
        <p:spPr bwMode="auto">
          <a:xfrm>
            <a:off x="4800600" y="4572000"/>
            <a:ext cx="76200" cy="381000"/>
          </a:xfrm>
          <a:prstGeom prst="line">
            <a:avLst/>
          </a:prstGeom>
          <a:noFill/>
          <a:ln w="38100">
            <a:solidFill>
              <a:srgbClr val="CC6600"/>
            </a:solidFill>
            <a:round/>
            <a:headEnd/>
            <a:tailEnd type="triangle" w="med" len="med"/>
          </a:ln>
        </p:spPr>
        <p:txBody>
          <a:bodyPr/>
          <a:lstStyle/>
          <a:p>
            <a:endParaRPr lang="zh-CN" altLang="en-US"/>
          </a:p>
        </p:txBody>
      </p:sp>
      <p:sp>
        <p:nvSpPr>
          <p:cNvPr id="12303" name="Text Box 16"/>
          <p:cNvSpPr txBox="1">
            <a:spLocks noChangeArrowheads="1"/>
          </p:cNvSpPr>
          <p:nvPr/>
        </p:nvSpPr>
        <p:spPr bwMode="auto">
          <a:xfrm>
            <a:off x="4191000" y="4876800"/>
            <a:ext cx="1828800" cy="701675"/>
          </a:xfrm>
          <a:prstGeom prst="rect">
            <a:avLst/>
          </a:prstGeom>
          <a:noFill/>
          <a:ln w="9525" algn="ctr">
            <a:noFill/>
            <a:miter lim="800000"/>
            <a:headEnd/>
            <a:tailEnd/>
          </a:ln>
        </p:spPr>
        <p:txBody>
          <a:bodyPr>
            <a:spAutoFit/>
          </a:bodyPr>
          <a:lstStyle/>
          <a:p>
            <a:pPr algn="ctr">
              <a:spcBef>
                <a:spcPct val="50000"/>
              </a:spcBef>
            </a:pPr>
            <a:r>
              <a:rPr lang="zh-CN" altLang="en-US" sz="2000" b="1">
                <a:solidFill>
                  <a:srgbClr val="0000FF"/>
                </a:solidFill>
                <a:ea typeface="宋体" charset="-122"/>
              </a:rPr>
              <a:t>该种访问次序路径的距离</a:t>
            </a:r>
          </a:p>
        </p:txBody>
      </p:sp>
      <p:sp>
        <p:nvSpPr>
          <p:cNvPr id="12304" name="Text Box 17"/>
          <p:cNvSpPr txBox="1">
            <a:spLocks noChangeArrowheads="1"/>
          </p:cNvSpPr>
          <p:nvPr/>
        </p:nvSpPr>
        <p:spPr bwMode="auto">
          <a:xfrm>
            <a:off x="914400" y="3581400"/>
            <a:ext cx="1371600" cy="701675"/>
          </a:xfrm>
          <a:prstGeom prst="rect">
            <a:avLst/>
          </a:prstGeom>
          <a:noFill/>
          <a:ln w="9525">
            <a:noFill/>
            <a:miter lim="800000"/>
            <a:headEnd/>
            <a:tailEnd/>
          </a:ln>
        </p:spPr>
        <p:txBody>
          <a:bodyPr>
            <a:spAutoFit/>
          </a:bodyPr>
          <a:lstStyle/>
          <a:p>
            <a:pPr>
              <a:spcBef>
                <a:spcPct val="50000"/>
              </a:spcBef>
            </a:pPr>
            <a:r>
              <a:rPr lang="zh-CN" altLang="en-US" sz="2000" b="1">
                <a:solidFill>
                  <a:srgbClr val="0000FF"/>
                </a:solidFill>
                <a:ea typeface="宋体" charset="-122"/>
              </a:rPr>
              <a:t>利用矩阵来存储：</a:t>
            </a:r>
          </a:p>
        </p:txBody>
      </p:sp>
    </p:spTree>
  </p:cSld>
  <p:clrMapOvr>
    <a:masterClrMapping/>
  </p:clrMapOvr>
  <p:timing>
    <p:tnLst>
      <p:par>
        <p:cTn id="1" dur="indefinite" restart="never" nodeType="tmRoot"/>
      </p:par>
    </p:tnLst>
  </p:timing>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8" name="Rectangle 2"/>
          <p:cNvSpPr>
            <a:spLocks noGrp="1" noChangeArrowheads="1"/>
          </p:cNvSpPr>
          <p:nvPr>
            <p:ph type="title"/>
          </p:nvPr>
        </p:nvSpPr>
        <p:spPr bwMode="auto">
          <a:xfrm>
            <a:off x="609600" y="152400"/>
            <a:ext cx="7924800" cy="958850"/>
          </a:xfrm>
          <a:prstGeom prst="rect">
            <a:avLst/>
          </a:prstGeom>
          <a:noFill/>
          <a:ln>
            <a:miter lim="800000"/>
            <a:headEnd/>
            <a:tailEnd/>
          </a:ln>
        </p:spPr>
        <p:txBody>
          <a:bodyPr vert="horz" wrap="square" lIns="91440" tIns="45720" rIns="91440" bIns="45720" numCol="1" anchor="ctr" anchorCtr="0" compatLnSpc="1">
            <a:prstTxWarp prst="textNoShape">
              <a:avLst/>
            </a:prstTxWarp>
          </a:bodyPr>
          <a:lstStyle/>
          <a:p>
            <a:pPr eaLnBrk="1" hangingPunct="1"/>
            <a:r>
              <a:rPr lang="en-US" altLang="zh-CN" smtClean="0">
                <a:solidFill>
                  <a:srgbClr val="0000FF"/>
                </a:solidFill>
                <a:ea typeface="宋体" charset="-122"/>
              </a:rPr>
              <a:t>4 </a:t>
            </a:r>
            <a:r>
              <a:rPr lang="zh-CN" altLang="en-US" smtClean="0">
                <a:solidFill>
                  <a:srgbClr val="0000FF"/>
                </a:solidFill>
                <a:ea typeface="宋体" charset="-122"/>
              </a:rPr>
              <a:t>遗传算法求解巡回旅行商问题</a:t>
            </a:r>
          </a:p>
        </p:txBody>
      </p:sp>
      <p:sp>
        <p:nvSpPr>
          <p:cNvPr id="13319" name="Rectangle 3"/>
          <p:cNvSpPr>
            <a:spLocks noGrp="1" noChangeArrowheads="1"/>
          </p:cNvSpPr>
          <p:nvPr>
            <p:ph type="body" idx="1"/>
          </p:nvPr>
        </p:nvSpPr>
        <p:spPr>
          <a:xfrm>
            <a:off x="381000" y="1295400"/>
            <a:ext cx="8229600" cy="1066800"/>
          </a:xfrm>
        </p:spPr>
        <p:txBody>
          <a:bodyPr/>
          <a:lstStyle/>
          <a:p>
            <a:pPr marL="723900" indent="-723900" eaLnBrk="1" hangingPunct="1">
              <a:spcBef>
                <a:spcPct val="20000"/>
              </a:spcBef>
              <a:buFont typeface="Wingdings" pitchFamily="2" charset="2"/>
              <a:buNone/>
            </a:pPr>
            <a:r>
              <a:rPr lang="zh-CN" altLang="en-US" sz="2000" smtClean="0">
                <a:solidFill>
                  <a:srgbClr val="0000FF"/>
                </a:solidFill>
                <a:ea typeface="宋体" charset="-122"/>
              </a:rPr>
              <a:t>（</a:t>
            </a:r>
            <a:r>
              <a:rPr lang="en-US" altLang="zh-CN" sz="2000" smtClean="0">
                <a:solidFill>
                  <a:srgbClr val="0000FF"/>
                </a:solidFill>
                <a:ea typeface="宋体" charset="-122"/>
              </a:rPr>
              <a:t>2</a:t>
            </a:r>
            <a:r>
              <a:rPr lang="zh-CN" altLang="en-US" sz="2000" smtClean="0">
                <a:solidFill>
                  <a:srgbClr val="0000FF"/>
                </a:solidFill>
                <a:ea typeface="宋体" charset="-122"/>
              </a:rPr>
              <a:t>）适应度函数：在</a:t>
            </a:r>
            <a:r>
              <a:rPr lang="en-US" altLang="zh-CN" sz="2000" smtClean="0">
                <a:solidFill>
                  <a:srgbClr val="0000FF"/>
                </a:solidFill>
                <a:latin typeface="Times New Roman" pitchFamily="18" charset="0"/>
                <a:ea typeface="宋体" charset="-122"/>
              </a:rPr>
              <a:t>TSP</a:t>
            </a:r>
            <a:r>
              <a:rPr lang="zh-CN" altLang="en-US" sz="2000" smtClean="0">
                <a:solidFill>
                  <a:srgbClr val="0000FF"/>
                </a:solidFill>
                <a:ea typeface="宋体" charset="-122"/>
              </a:rPr>
              <a:t>问题中，用路径的总长度作为适应度函数来衡量求解结果是否最优，路径越短对应的个体越优，其适应度值应越大。 </a:t>
            </a:r>
          </a:p>
        </p:txBody>
      </p:sp>
      <p:graphicFrame>
        <p:nvGraphicFramePr>
          <p:cNvPr id="13314" name="Object 5"/>
          <p:cNvGraphicFramePr>
            <a:graphicFrameLocks noChangeAspect="1"/>
          </p:cNvGraphicFramePr>
          <p:nvPr/>
        </p:nvGraphicFramePr>
        <p:xfrm>
          <a:off x="3581400" y="2233613"/>
          <a:ext cx="3810000" cy="661987"/>
        </p:xfrm>
        <a:graphic>
          <a:graphicData uri="http://schemas.openxmlformats.org/presentationml/2006/ole">
            <mc:AlternateContent xmlns:mc="http://schemas.openxmlformats.org/markup-compatibility/2006">
              <mc:Choice xmlns:v="urn:schemas-microsoft-com:vml" Requires="v">
                <p:oleObj spid="_x0000_s47110" name="Equation" r:id="rId3" imgW="1752600" imgH="304800" progId="Equation.DSMT4">
                  <p:embed/>
                </p:oleObj>
              </mc:Choice>
              <mc:Fallback>
                <p:oleObj name="Equation" r:id="rId3" imgW="1752600" imgH="304800" progId="Equation.DSMT4">
                  <p:embed/>
                  <p:pic>
                    <p:nvPicPr>
                      <p:cNvPr id="0" name="Object 5"/>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581400" y="2233613"/>
                        <a:ext cx="3810000" cy="66198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3320" name="Rectangle 7"/>
          <p:cNvSpPr>
            <a:spLocks noChangeArrowheads="1"/>
          </p:cNvSpPr>
          <p:nvPr/>
        </p:nvSpPr>
        <p:spPr bwMode="auto">
          <a:xfrm>
            <a:off x="1143000" y="2362200"/>
            <a:ext cx="2590800" cy="381000"/>
          </a:xfrm>
          <a:prstGeom prst="rect">
            <a:avLst/>
          </a:prstGeom>
          <a:noFill/>
          <a:ln w="9525" algn="ctr">
            <a:noFill/>
            <a:miter lim="800000"/>
            <a:headEnd/>
            <a:tailEnd/>
          </a:ln>
        </p:spPr>
        <p:txBody>
          <a:bodyPr/>
          <a:lstStyle/>
          <a:p>
            <a:pPr marL="533400" indent="-533400">
              <a:spcBef>
                <a:spcPct val="20000"/>
              </a:spcBef>
              <a:buClr>
                <a:schemeClr val="hlink"/>
              </a:buClr>
              <a:buFont typeface="Wingdings" pitchFamily="2" charset="2"/>
              <a:buNone/>
            </a:pPr>
            <a:r>
              <a:rPr lang="zh-CN" altLang="en-US" sz="2000" b="1">
                <a:solidFill>
                  <a:srgbClr val="0000FF"/>
                </a:solidFill>
                <a:latin typeface="Verdana" pitchFamily="34" charset="0"/>
                <a:ea typeface="宋体" charset="-122"/>
              </a:rPr>
              <a:t>两城市间的距离为： </a:t>
            </a:r>
          </a:p>
        </p:txBody>
      </p:sp>
      <p:graphicFrame>
        <p:nvGraphicFramePr>
          <p:cNvPr id="13315" name="Object 8"/>
          <p:cNvGraphicFramePr>
            <a:graphicFrameLocks noChangeAspect="1"/>
          </p:cNvGraphicFramePr>
          <p:nvPr/>
        </p:nvGraphicFramePr>
        <p:xfrm>
          <a:off x="4038600" y="3352800"/>
          <a:ext cx="1600200" cy="900113"/>
        </p:xfrm>
        <a:graphic>
          <a:graphicData uri="http://schemas.openxmlformats.org/presentationml/2006/ole">
            <mc:AlternateContent xmlns:mc="http://schemas.openxmlformats.org/markup-compatibility/2006">
              <mc:Choice xmlns:v="urn:schemas-microsoft-com:vml" Requires="v">
                <p:oleObj spid="_x0000_s47111" name="Equation" r:id="rId5" imgW="761669" imgH="431613" progId="Equation.DSMT4">
                  <p:embed/>
                </p:oleObj>
              </mc:Choice>
              <mc:Fallback>
                <p:oleObj name="Equation" r:id="rId5" imgW="761669" imgH="431613" progId="Equation.DSMT4">
                  <p:embed/>
                  <p:pic>
                    <p:nvPicPr>
                      <p:cNvPr id="0" name="Object 8"/>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4038600" y="3352800"/>
                        <a:ext cx="1600200" cy="900113"/>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13316" name="Object 10"/>
          <p:cNvGraphicFramePr>
            <a:graphicFrameLocks noChangeAspect="1"/>
          </p:cNvGraphicFramePr>
          <p:nvPr/>
        </p:nvGraphicFramePr>
        <p:xfrm>
          <a:off x="5232400" y="4324350"/>
          <a:ext cx="1752600" cy="463550"/>
        </p:xfrm>
        <a:graphic>
          <a:graphicData uri="http://schemas.openxmlformats.org/presentationml/2006/ole">
            <mc:AlternateContent xmlns:mc="http://schemas.openxmlformats.org/markup-compatibility/2006">
              <mc:Choice xmlns:v="urn:schemas-microsoft-com:vml" Requires="v">
                <p:oleObj spid="_x0000_s47112" name="Equation" r:id="rId7" imgW="825142" imgH="215806" progId="Equation.DSMT4">
                  <p:embed/>
                </p:oleObj>
              </mc:Choice>
              <mc:Fallback>
                <p:oleObj name="Equation" r:id="rId7" imgW="825142" imgH="215806" progId="Equation.DSMT4">
                  <p:embed/>
                  <p:pic>
                    <p:nvPicPr>
                      <p:cNvPr id="0" name="Object 10"/>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5232400" y="4324350"/>
                        <a:ext cx="1752600" cy="46355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3321" name="Rectangle 12"/>
          <p:cNvSpPr>
            <a:spLocks noChangeArrowheads="1"/>
          </p:cNvSpPr>
          <p:nvPr/>
        </p:nvSpPr>
        <p:spPr bwMode="auto">
          <a:xfrm>
            <a:off x="1143000" y="2971800"/>
            <a:ext cx="3733800" cy="381000"/>
          </a:xfrm>
          <a:prstGeom prst="rect">
            <a:avLst/>
          </a:prstGeom>
          <a:noFill/>
          <a:ln w="9525" algn="ctr">
            <a:noFill/>
            <a:miter lim="800000"/>
            <a:headEnd/>
            <a:tailEnd/>
          </a:ln>
        </p:spPr>
        <p:txBody>
          <a:bodyPr/>
          <a:lstStyle/>
          <a:p>
            <a:pPr marL="533400" indent="-533400">
              <a:spcBef>
                <a:spcPct val="20000"/>
              </a:spcBef>
              <a:buClr>
                <a:schemeClr val="hlink"/>
              </a:buClr>
              <a:buFont typeface="Wingdings" pitchFamily="2" charset="2"/>
              <a:buNone/>
            </a:pPr>
            <a:r>
              <a:rPr lang="zh-CN" altLang="en-US" sz="2000" b="1">
                <a:solidFill>
                  <a:srgbClr val="0000FF"/>
                </a:solidFill>
                <a:latin typeface="Verdana" pitchFamily="34" charset="0"/>
                <a:ea typeface="宋体" charset="-122"/>
              </a:rPr>
              <a:t>个体代表的路径的总长度为： </a:t>
            </a:r>
          </a:p>
        </p:txBody>
      </p:sp>
      <p:sp>
        <p:nvSpPr>
          <p:cNvPr id="13322" name="Rectangle 13"/>
          <p:cNvSpPr>
            <a:spLocks noChangeArrowheads="1"/>
          </p:cNvSpPr>
          <p:nvPr/>
        </p:nvSpPr>
        <p:spPr bwMode="auto">
          <a:xfrm>
            <a:off x="990600" y="4357688"/>
            <a:ext cx="4724400" cy="366712"/>
          </a:xfrm>
          <a:prstGeom prst="rect">
            <a:avLst/>
          </a:prstGeom>
          <a:noFill/>
          <a:ln w="9525" algn="ctr">
            <a:noFill/>
            <a:miter lim="800000"/>
            <a:headEnd/>
            <a:tailEnd/>
          </a:ln>
        </p:spPr>
        <p:txBody>
          <a:bodyPr/>
          <a:lstStyle/>
          <a:p>
            <a:pPr marL="533400" indent="-533400">
              <a:spcBef>
                <a:spcPct val="20000"/>
              </a:spcBef>
              <a:buClr>
                <a:schemeClr val="hlink"/>
              </a:buClr>
              <a:buFont typeface="Wingdings" pitchFamily="2" charset="2"/>
              <a:buNone/>
            </a:pPr>
            <a:r>
              <a:rPr lang="zh-CN" altLang="en-US" sz="2000" b="1">
                <a:solidFill>
                  <a:srgbClr val="0000FF"/>
                </a:solidFill>
                <a:latin typeface="Verdana" pitchFamily="34" charset="0"/>
                <a:ea typeface="宋体" charset="-122"/>
              </a:rPr>
              <a:t>则可采用倒数法将适应度函数取为： </a:t>
            </a:r>
          </a:p>
        </p:txBody>
      </p:sp>
      <p:sp>
        <p:nvSpPr>
          <p:cNvPr id="13323" name="Rectangle 15"/>
          <p:cNvSpPr>
            <a:spLocks noChangeArrowheads="1"/>
          </p:cNvSpPr>
          <p:nvPr/>
        </p:nvSpPr>
        <p:spPr bwMode="auto">
          <a:xfrm>
            <a:off x="457200" y="5013325"/>
            <a:ext cx="8305800" cy="1006475"/>
          </a:xfrm>
          <a:prstGeom prst="rect">
            <a:avLst/>
          </a:prstGeom>
          <a:noFill/>
          <a:ln w="9525" algn="ctr">
            <a:noFill/>
            <a:miter lim="800000"/>
            <a:headEnd/>
            <a:tailEnd/>
          </a:ln>
        </p:spPr>
        <p:txBody>
          <a:bodyPr/>
          <a:lstStyle/>
          <a:p>
            <a:pPr marL="723900" indent="-723900">
              <a:spcBef>
                <a:spcPct val="20000"/>
              </a:spcBef>
              <a:buClr>
                <a:schemeClr val="hlink"/>
              </a:buClr>
              <a:buFont typeface="Wingdings" pitchFamily="2" charset="2"/>
              <a:buNone/>
            </a:pPr>
            <a:r>
              <a:rPr lang="zh-CN" altLang="en-US" sz="2000" b="1">
                <a:solidFill>
                  <a:srgbClr val="0000FF"/>
                </a:solidFill>
                <a:latin typeface="Verdana" pitchFamily="34" charset="0"/>
                <a:ea typeface="宋体" charset="-122"/>
                <a:cs typeface="Times New Roman" pitchFamily="18" charset="0"/>
              </a:rPr>
              <a:t>（</a:t>
            </a:r>
            <a:r>
              <a:rPr lang="en-US" altLang="zh-CN" sz="2000" b="1">
                <a:solidFill>
                  <a:srgbClr val="0000FF"/>
                </a:solidFill>
                <a:latin typeface="Verdana" pitchFamily="34" charset="0"/>
                <a:ea typeface="宋体" charset="-122"/>
                <a:cs typeface="Times New Roman" pitchFamily="18" charset="0"/>
              </a:rPr>
              <a:t>3</a:t>
            </a:r>
            <a:r>
              <a:rPr lang="zh-CN" altLang="en-US" sz="2000" b="1">
                <a:solidFill>
                  <a:srgbClr val="0000FF"/>
                </a:solidFill>
                <a:latin typeface="Verdana" pitchFamily="34" charset="0"/>
                <a:ea typeface="宋体" charset="-122"/>
                <a:cs typeface="Times New Roman" pitchFamily="18" charset="0"/>
              </a:rPr>
              <a:t>）选择操作：将群体中适应度较大的</a:t>
            </a:r>
            <a:r>
              <a:rPr lang="en-US" altLang="zh-CN" sz="2000" b="1">
                <a:solidFill>
                  <a:srgbClr val="0000FF"/>
                </a:solidFill>
                <a:latin typeface="Times New Roman" pitchFamily="18" charset="0"/>
                <a:ea typeface="宋体" charset="-122"/>
                <a:cs typeface="Times New Roman" pitchFamily="18" charset="0"/>
              </a:rPr>
              <a:t>C</a:t>
            </a:r>
            <a:r>
              <a:rPr lang="zh-CN" altLang="en-US" sz="2000" b="1">
                <a:solidFill>
                  <a:srgbClr val="0000FF"/>
                </a:solidFill>
                <a:latin typeface="Verdana" pitchFamily="34" charset="0"/>
                <a:ea typeface="宋体" charset="-122"/>
                <a:cs typeface="Times New Roman" pitchFamily="18" charset="0"/>
              </a:rPr>
              <a:t>个个体直接替换适应度较小的</a:t>
            </a:r>
            <a:r>
              <a:rPr lang="en-US" altLang="zh-CN" sz="2000" b="1">
                <a:solidFill>
                  <a:srgbClr val="0000FF"/>
                </a:solidFill>
                <a:latin typeface="Times New Roman" pitchFamily="18" charset="0"/>
                <a:ea typeface="宋体" charset="-122"/>
                <a:cs typeface="Times New Roman" pitchFamily="18" charset="0"/>
              </a:rPr>
              <a:t>C</a:t>
            </a:r>
            <a:r>
              <a:rPr lang="zh-CN" altLang="en-US" sz="2000" b="1">
                <a:solidFill>
                  <a:srgbClr val="0000FF"/>
                </a:solidFill>
                <a:latin typeface="Verdana" pitchFamily="34" charset="0"/>
                <a:ea typeface="宋体" charset="-122"/>
                <a:cs typeface="Times New Roman" pitchFamily="18" charset="0"/>
              </a:rPr>
              <a:t>个个体。其中</a:t>
            </a:r>
            <a:r>
              <a:rPr lang="en-US" altLang="zh-CN" sz="2000" b="1">
                <a:solidFill>
                  <a:srgbClr val="0000FF"/>
                </a:solidFill>
                <a:latin typeface="Times New Roman" pitchFamily="18" charset="0"/>
                <a:ea typeface="宋体" charset="-122"/>
                <a:cs typeface="Times New Roman" pitchFamily="18" charset="0"/>
              </a:rPr>
              <a:t>C</a:t>
            </a:r>
            <a:r>
              <a:rPr lang="zh-CN" altLang="en-US" sz="2000" b="1">
                <a:solidFill>
                  <a:srgbClr val="0000FF"/>
                </a:solidFill>
                <a:latin typeface="Verdana" pitchFamily="34" charset="0"/>
                <a:ea typeface="宋体" charset="-122"/>
                <a:cs typeface="Times New Roman" pitchFamily="18" charset="0"/>
              </a:rPr>
              <a:t>值与选择算子和群体规模的关系在这里取为：</a:t>
            </a:r>
          </a:p>
        </p:txBody>
      </p:sp>
      <p:sp>
        <p:nvSpPr>
          <p:cNvPr id="13324" name="Rectangle 18"/>
          <p:cNvSpPr>
            <a:spLocks noChangeArrowheads="1"/>
          </p:cNvSpPr>
          <p:nvPr/>
        </p:nvSpPr>
        <p:spPr bwMode="auto">
          <a:xfrm>
            <a:off x="0" y="3146425"/>
            <a:ext cx="184150" cy="366713"/>
          </a:xfrm>
          <a:prstGeom prst="rect">
            <a:avLst/>
          </a:prstGeom>
          <a:noFill/>
          <a:ln w="9525">
            <a:noFill/>
            <a:miter lim="800000"/>
            <a:headEnd/>
            <a:tailEnd/>
          </a:ln>
        </p:spPr>
        <p:txBody>
          <a:bodyPr wrap="none" anchor="ctr">
            <a:spAutoFit/>
          </a:bodyPr>
          <a:lstStyle/>
          <a:p>
            <a:endParaRPr lang="zh-CN" altLang="en-US">
              <a:solidFill>
                <a:srgbClr val="0000FF"/>
              </a:solidFill>
              <a:ea typeface="宋体" charset="-122"/>
            </a:endParaRPr>
          </a:p>
        </p:txBody>
      </p:sp>
      <p:graphicFrame>
        <p:nvGraphicFramePr>
          <p:cNvPr id="13317" name="Object 17"/>
          <p:cNvGraphicFramePr>
            <a:graphicFrameLocks noChangeAspect="1"/>
          </p:cNvGraphicFramePr>
          <p:nvPr/>
        </p:nvGraphicFramePr>
        <p:xfrm>
          <a:off x="1371600" y="5791200"/>
          <a:ext cx="6705600" cy="523875"/>
        </p:xfrm>
        <a:graphic>
          <a:graphicData uri="http://schemas.openxmlformats.org/presentationml/2006/ole">
            <mc:AlternateContent xmlns:mc="http://schemas.openxmlformats.org/markup-compatibility/2006">
              <mc:Choice xmlns:v="urn:schemas-microsoft-com:vml" Requires="v">
                <p:oleObj spid="_x0000_s47113" name="Equation" r:id="rId9" imgW="2565400" imgH="203200" progId="Equation.DSMT4">
                  <p:embed/>
                </p:oleObj>
              </mc:Choice>
              <mc:Fallback>
                <p:oleObj name="Equation" r:id="rId9" imgW="2565400" imgH="203200" progId="Equation.DSMT4">
                  <p:embed/>
                  <p:pic>
                    <p:nvPicPr>
                      <p:cNvPr id="0" name="Object 17"/>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1371600" y="5791200"/>
                        <a:ext cx="6705600" cy="52387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cSld>
  <p:clrMapOvr>
    <a:masterClrMapping/>
  </p:clrMapOvr>
  <p:timing>
    <p:tnLst>
      <p:par>
        <p:cTn id="1" dur="indefinite" restart="never" nodeType="tmRoot"/>
      </p:par>
    </p:tnLst>
  </p:timing>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6136" name="Text Box 8"/>
          <p:cNvSpPr txBox="1">
            <a:spLocks noChangeArrowheads="1"/>
          </p:cNvSpPr>
          <p:nvPr/>
        </p:nvSpPr>
        <p:spPr bwMode="auto">
          <a:xfrm>
            <a:off x="2057400" y="5334000"/>
            <a:ext cx="4876800" cy="457200"/>
          </a:xfrm>
          <a:prstGeom prst="rect">
            <a:avLst/>
          </a:prstGeom>
          <a:noFill/>
          <a:ln w="9525">
            <a:noFill/>
            <a:miter lim="800000"/>
            <a:headEnd/>
            <a:tailEnd/>
          </a:ln>
        </p:spPr>
        <p:txBody>
          <a:bodyPr>
            <a:spAutoFit/>
          </a:bodyPr>
          <a:lstStyle/>
          <a:p>
            <a:pPr algn="ctr">
              <a:spcBef>
                <a:spcPct val="50000"/>
              </a:spcBef>
            </a:pPr>
            <a:r>
              <a:rPr lang="en-US" altLang="zh-CN" sz="2400" b="1">
                <a:solidFill>
                  <a:srgbClr val="0000FF"/>
                </a:solidFill>
                <a:ea typeface="宋体" charset="-122"/>
              </a:rPr>
              <a:t>A</a:t>
            </a:r>
            <a:r>
              <a:rPr lang="en-US" altLang="zh-CN" sz="2400" b="1" baseline="-25000">
                <a:solidFill>
                  <a:srgbClr val="0000FF"/>
                </a:solidFill>
                <a:ea typeface="宋体" charset="-122"/>
              </a:rPr>
              <a:t>1</a:t>
            </a:r>
            <a:r>
              <a:rPr lang="zh-CN" altLang="en-US" sz="2400" b="1">
                <a:solidFill>
                  <a:srgbClr val="0000FF"/>
                </a:solidFill>
                <a:ea typeface="宋体" charset="-122"/>
              </a:rPr>
              <a:t>：</a:t>
            </a:r>
            <a:r>
              <a:rPr lang="zh-CN" altLang="en-US" sz="2400" b="1">
                <a:solidFill>
                  <a:srgbClr val="0000FF"/>
                </a:solidFill>
                <a:ea typeface="宋体" charset="-122"/>
                <a:sym typeface="Wingdings" pitchFamily="2" charset="2"/>
              </a:rPr>
              <a:t>（</a:t>
            </a:r>
            <a:r>
              <a:rPr lang="en-US" altLang="zh-CN" sz="2400" b="1">
                <a:solidFill>
                  <a:srgbClr val="0000FF"/>
                </a:solidFill>
                <a:ea typeface="宋体" charset="-122"/>
                <a:sym typeface="Wingdings" pitchFamily="2" charset="2"/>
              </a:rPr>
              <a:t>        </a:t>
            </a:r>
            <a:r>
              <a:rPr lang="zh-CN" altLang="en-US" sz="2400">
                <a:solidFill>
                  <a:srgbClr val="0000FF"/>
                </a:solidFill>
                <a:ea typeface="宋体" charset="-122"/>
                <a:sym typeface="Wingdings" pitchFamily="2" charset="2"/>
              </a:rPr>
              <a:t>｜</a:t>
            </a:r>
            <a:r>
              <a:rPr lang="en-US" altLang="zh-CN" sz="2400" b="1">
                <a:solidFill>
                  <a:srgbClr val="0000FF"/>
                </a:solidFill>
                <a:ea typeface="宋体" charset="-122"/>
                <a:sym typeface="Wingdings" pitchFamily="2" charset="2"/>
              </a:rPr>
              <a:t>3 4 5 6</a:t>
            </a:r>
            <a:r>
              <a:rPr lang="zh-CN" altLang="en-US" sz="2400">
                <a:solidFill>
                  <a:srgbClr val="0000FF"/>
                </a:solidFill>
                <a:ea typeface="宋体" charset="-122"/>
                <a:sym typeface="Wingdings" pitchFamily="2" charset="2"/>
              </a:rPr>
              <a:t>｜</a:t>
            </a:r>
            <a:r>
              <a:rPr lang="en-US" altLang="zh-CN" sz="2400" b="1">
                <a:solidFill>
                  <a:srgbClr val="0000FF"/>
                </a:solidFill>
                <a:ea typeface="宋体" charset="-122"/>
                <a:sym typeface="Wingdings" pitchFamily="2" charset="2"/>
              </a:rPr>
              <a:t>        </a:t>
            </a:r>
            <a:r>
              <a:rPr lang="zh-CN" altLang="en-US" sz="2400" b="1">
                <a:solidFill>
                  <a:srgbClr val="0000FF"/>
                </a:solidFill>
                <a:ea typeface="宋体" charset="-122"/>
                <a:sym typeface="Wingdings" pitchFamily="2" charset="2"/>
              </a:rPr>
              <a:t>）</a:t>
            </a:r>
          </a:p>
        </p:txBody>
      </p:sp>
      <p:sp>
        <p:nvSpPr>
          <p:cNvPr id="176142" name="Text Box 14"/>
          <p:cNvSpPr txBox="1">
            <a:spLocks noChangeArrowheads="1"/>
          </p:cNvSpPr>
          <p:nvPr/>
        </p:nvSpPr>
        <p:spPr bwMode="auto">
          <a:xfrm>
            <a:off x="3803650" y="5334000"/>
            <a:ext cx="457200" cy="457200"/>
          </a:xfrm>
          <a:prstGeom prst="rect">
            <a:avLst/>
          </a:prstGeom>
          <a:noFill/>
          <a:ln w="9525">
            <a:noFill/>
            <a:miter lim="800000"/>
            <a:headEnd/>
            <a:tailEnd/>
          </a:ln>
        </p:spPr>
        <p:txBody>
          <a:bodyPr>
            <a:spAutoFit/>
          </a:bodyPr>
          <a:lstStyle/>
          <a:p>
            <a:pPr>
              <a:spcBef>
                <a:spcPct val="50000"/>
              </a:spcBef>
            </a:pPr>
            <a:r>
              <a:rPr lang="en-US" altLang="zh-CN" sz="2400" b="1">
                <a:solidFill>
                  <a:srgbClr val="0000FF"/>
                </a:solidFill>
                <a:ea typeface="宋体" charset="-122"/>
                <a:sym typeface="Wingdings" pitchFamily="2" charset="2"/>
              </a:rPr>
              <a:t>×</a:t>
            </a:r>
            <a:endParaRPr lang="zh-CN" altLang="en-US" sz="2400" b="1">
              <a:solidFill>
                <a:srgbClr val="0000FF"/>
              </a:solidFill>
              <a:ea typeface="宋体" charset="-122"/>
              <a:sym typeface="Wingdings" pitchFamily="2" charset="2"/>
            </a:endParaRPr>
          </a:p>
        </p:txBody>
      </p:sp>
      <p:sp>
        <p:nvSpPr>
          <p:cNvPr id="176144" name="Text Box 16"/>
          <p:cNvSpPr txBox="1">
            <a:spLocks noChangeArrowheads="1"/>
          </p:cNvSpPr>
          <p:nvPr/>
        </p:nvSpPr>
        <p:spPr bwMode="auto">
          <a:xfrm>
            <a:off x="5400675" y="5334000"/>
            <a:ext cx="457200" cy="457200"/>
          </a:xfrm>
          <a:prstGeom prst="rect">
            <a:avLst/>
          </a:prstGeom>
          <a:noFill/>
          <a:ln w="9525">
            <a:noFill/>
            <a:miter lim="800000"/>
            <a:headEnd/>
            <a:tailEnd/>
          </a:ln>
        </p:spPr>
        <p:txBody>
          <a:bodyPr>
            <a:spAutoFit/>
          </a:bodyPr>
          <a:lstStyle/>
          <a:p>
            <a:pPr>
              <a:spcBef>
                <a:spcPct val="50000"/>
              </a:spcBef>
            </a:pPr>
            <a:r>
              <a:rPr lang="en-US" altLang="zh-CN" sz="2400" b="1">
                <a:solidFill>
                  <a:srgbClr val="0000FF"/>
                </a:solidFill>
                <a:ea typeface="宋体" charset="-122"/>
                <a:sym typeface="Wingdings" pitchFamily="2" charset="2"/>
              </a:rPr>
              <a:t>×</a:t>
            </a:r>
            <a:endParaRPr lang="zh-CN" altLang="en-US" sz="2400" b="1">
              <a:solidFill>
                <a:srgbClr val="0000FF"/>
              </a:solidFill>
              <a:ea typeface="宋体" charset="-122"/>
              <a:sym typeface="Wingdings" pitchFamily="2" charset="2"/>
            </a:endParaRPr>
          </a:p>
        </p:txBody>
      </p:sp>
      <p:sp>
        <p:nvSpPr>
          <p:cNvPr id="176145" name="Text Box 17"/>
          <p:cNvSpPr txBox="1">
            <a:spLocks noChangeArrowheads="1"/>
          </p:cNvSpPr>
          <p:nvPr/>
        </p:nvSpPr>
        <p:spPr bwMode="auto">
          <a:xfrm>
            <a:off x="5667375" y="5334000"/>
            <a:ext cx="457200" cy="457200"/>
          </a:xfrm>
          <a:prstGeom prst="rect">
            <a:avLst/>
          </a:prstGeom>
          <a:noFill/>
          <a:ln w="9525">
            <a:noFill/>
            <a:miter lim="800000"/>
            <a:headEnd/>
            <a:tailEnd/>
          </a:ln>
        </p:spPr>
        <p:txBody>
          <a:bodyPr>
            <a:spAutoFit/>
          </a:bodyPr>
          <a:lstStyle/>
          <a:p>
            <a:pPr>
              <a:spcBef>
                <a:spcPct val="50000"/>
              </a:spcBef>
            </a:pPr>
            <a:r>
              <a:rPr lang="en-US" altLang="zh-CN" sz="2400" b="1">
                <a:solidFill>
                  <a:srgbClr val="0000FF"/>
                </a:solidFill>
                <a:ea typeface="宋体" charset="-122"/>
                <a:sym typeface="Wingdings" pitchFamily="2" charset="2"/>
              </a:rPr>
              <a:t>×</a:t>
            </a:r>
            <a:endParaRPr lang="zh-CN" altLang="en-US" sz="2400" b="1">
              <a:solidFill>
                <a:srgbClr val="0000FF"/>
              </a:solidFill>
              <a:ea typeface="宋体" charset="-122"/>
              <a:sym typeface="Wingdings" pitchFamily="2" charset="2"/>
            </a:endParaRPr>
          </a:p>
        </p:txBody>
      </p:sp>
      <p:sp>
        <p:nvSpPr>
          <p:cNvPr id="176146" name="Text Box 18"/>
          <p:cNvSpPr txBox="1">
            <a:spLocks noChangeArrowheads="1"/>
          </p:cNvSpPr>
          <p:nvPr/>
        </p:nvSpPr>
        <p:spPr bwMode="auto">
          <a:xfrm>
            <a:off x="5921375" y="5334000"/>
            <a:ext cx="457200" cy="457200"/>
          </a:xfrm>
          <a:prstGeom prst="rect">
            <a:avLst/>
          </a:prstGeom>
          <a:noFill/>
          <a:ln w="9525">
            <a:noFill/>
            <a:miter lim="800000"/>
            <a:headEnd/>
            <a:tailEnd/>
          </a:ln>
        </p:spPr>
        <p:txBody>
          <a:bodyPr>
            <a:spAutoFit/>
          </a:bodyPr>
          <a:lstStyle/>
          <a:p>
            <a:pPr>
              <a:spcBef>
                <a:spcPct val="50000"/>
              </a:spcBef>
            </a:pPr>
            <a:r>
              <a:rPr lang="en-US" altLang="zh-CN" sz="2400" b="1">
                <a:solidFill>
                  <a:srgbClr val="0000FF"/>
                </a:solidFill>
                <a:ea typeface="宋体" charset="-122"/>
                <a:sym typeface="Wingdings" pitchFamily="2" charset="2"/>
              </a:rPr>
              <a:t>×</a:t>
            </a:r>
            <a:endParaRPr lang="zh-CN" altLang="en-US" sz="2400" b="1">
              <a:solidFill>
                <a:srgbClr val="0000FF"/>
              </a:solidFill>
              <a:ea typeface="宋体" charset="-122"/>
              <a:sym typeface="Wingdings" pitchFamily="2" charset="2"/>
            </a:endParaRPr>
          </a:p>
        </p:txBody>
      </p:sp>
      <p:sp>
        <p:nvSpPr>
          <p:cNvPr id="176137" name="Text Box 9"/>
          <p:cNvSpPr txBox="1">
            <a:spLocks noChangeArrowheads="1"/>
          </p:cNvSpPr>
          <p:nvPr/>
        </p:nvSpPr>
        <p:spPr bwMode="auto">
          <a:xfrm>
            <a:off x="1295400" y="4937125"/>
            <a:ext cx="5486400" cy="396875"/>
          </a:xfrm>
          <a:prstGeom prst="rect">
            <a:avLst/>
          </a:prstGeom>
          <a:noFill/>
          <a:ln w="9525">
            <a:noFill/>
            <a:miter lim="800000"/>
            <a:headEnd/>
            <a:tailEnd/>
          </a:ln>
        </p:spPr>
        <p:txBody>
          <a:bodyPr>
            <a:spAutoFit/>
          </a:bodyPr>
          <a:lstStyle/>
          <a:p>
            <a:pPr>
              <a:spcBef>
                <a:spcPct val="50000"/>
              </a:spcBef>
            </a:pPr>
            <a:r>
              <a:rPr lang="zh-CN" altLang="en-US" sz="2000" b="1">
                <a:solidFill>
                  <a:srgbClr val="0000FF"/>
                </a:solidFill>
                <a:ea typeface="宋体" charset="-122"/>
              </a:rPr>
              <a:t>第一步：保留交叉点的中间部分</a:t>
            </a:r>
          </a:p>
        </p:txBody>
      </p:sp>
      <p:sp>
        <p:nvSpPr>
          <p:cNvPr id="176167" name="Text Box 39"/>
          <p:cNvSpPr txBox="1">
            <a:spLocks noChangeArrowheads="1"/>
          </p:cNvSpPr>
          <p:nvPr/>
        </p:nvSpPr>
        <p:spPr bwMode="auto">
          <a:xfrm>
            <a:off x="1295400" y="4937125"/>
            <a:ext cx="4267200" cy="396875"/>
          </a:xfrm>
          <a:prstGeom prst="rect">
            <a:avLst/>
          </a:prstGeom>
          <a:noFill/>
          <a:ln w="9525">
            <a:noFill/>
            <a:miter lim="800000"/>
            <a:headEnd/>
            <a:tailEnd/>
          </a:ln>
        </p:spPr>
        <p:txBody>
          <a:bodyPr>
            <a:spAutoFit/>
          </a:bodyPr>
          <a:lstStyle/>
          <a:p>
            <a:pPr>
              <a:spcBef>
                <a:spcPct val="50000"/>
              </a:spcBef>
            </a:pPr>
            <a:r>
              <a:rPr lang="zh-CN" altLang="en-US" sz="2000" b="1">
                <a:solidFill>
                  <a:srgbClr val="0000FF"/>
                </a:solidFill>
                <a:ea typeface="宋体" charset="-122"/>
              </a:rPr>
              <a:t>第二步：交换对应位置的子串</a:t>
            </a:r>
          </a:p>
        </p:txBody>
      </p:sp>
      <p:sp>
        <p:nvSpPr>
          <p:cNvPr id="176135" name="Text Box 7"/>
          <p:cNvSpPr txBox="1">
            <a:spLocks noChangeArrowheads="1"/>
          </p:cNvSpPr>
          <p:nvPr/>
        </p:nvSpPr>
        <p:spPr bwMode="auto">
          <a:xfrm>
            <a:off x="2057400" y="5867400"/>
            <a:ext cx="4876800" cy="457200"/>
          </a:xfrm>
          <a:prstGeom prst="rect">
            <a:avLst/>
          </a:prstGeom>
          <a:noFill/>
          <a:ln w="9525">
            <a:noFill/>
            <a:miter lim="800000"/>
            <a:headEnd/>
            <a:tailEnd/>
          </a:ln>
        </p:spPr>
        <p:txBody>
          <a:bodyPr>
            <a:spAutoFit/>
          </a:bodyPr>
          <a:lstStyle/>
          <a:p>
            <a:pPr algn="ctr">
              <a:spcBef>
                <a:spcPct val="50000"/>
              </a:spcBef>
            </a:pPr>
            <a:r>
              <a:rPr lang="en-US" altLang="zh-CN" sz="2400" b="1">
                <a:solidFill>
                  <a:srgbClr val="0000FF"/>
                </a:solidFill>
                <a:ea typeface="宋体" charset="-122"/>
              </a:rPr>
              <a:t>A</a:t>
            </a:r>
            <a:r>
              <a:rPr lang="en-US" altLang="zh-CN" sz="2400" b="1" baseline="-25000">
                <a:solidFill>
                  <a:srgbClr val="0000FF"/>
                </a:solidFill>
                <a:ea typeface="宋体" charset="-122"/>
              </a:rPr>
              <a:t>2</a:t>
            </a:r>
            <a:r>
              <a:rPr lang="zh-CN" altLang="en-US" sz="2400" b="1">
                <a:solidFill>
                  <a:srgbClr val="0000FF"/>
                </a:solidFill>
                <a:ea typeface="宋体" charset="-122"/>
              </a:rPr>
              <a:t>：</a:t>
            </a:r>
            <a:r>
              <a:rPr lang="zh-CN" altLang="en-US" sz="2400" b="1">
                <a:solidFill>
                  <a:srgbClr val="0000FF"/>
                </a:solidFill>
                <a:ea typeface="宋体" charset="-122"/>
                <a:sym typeface="Wingdings" pitchFamily="2" charset="2"/>
              </a:rPr>
              <a:t>（</a:t>
            </a:r>
            <a:r>
              <a:rPr lang="en-US" altLang="zh-CN" sz="2400" b="1">
                <a:solidFill>
                  <a:srgbClr val="0000FF"/>
                </a:solidFill>
                <a:ea typeface="宋体" charset="-122"/>
                <a:sym typeface="Wingdings" pitchFamily="2" charset="2"/>
              </a:rPr>
              <a:t>        </a:t>
            </a:r>
            <a:r>
              <a:rPr lang="zh-CN" altLang="en-US" sz="2400">
                <a:solidFill>
                  <a:srgbClr val="0000FF"/>
                </a:solidFill>
                <a:ea typeface="宋体" charset="-122"/>
                <a:sym typeface="Wingdings" pitchFamily="2" charset="2"/>
              </a:rPr>
              <a:t>｜</a:t>
            </a:r>
            <a:r>
              <a:rPr lang="en-US" altLang="zh-CN" sz="2400" b="1">
                <a:solidFill>
                  <a:srgbClr val="0000FF"/>
                </a:solidFill>
                <a:ea typeface="宋体" charset="-122"/>
                <a:sym typeface="Wingdings" pitchFamily="2" charset="2"/>
              </a:rPr>
              <a:t>0 8 5 3</a:t>
            </a:r>
            <a:r>
              <a:rPr lang="zh-CN" altLang="en-US" sz="2400">
                <a:solidFill>
                  <a:srgbClr val="0000FF"/>
                </a:solidFill>
                <a:ea typeface="宋体" charset="-122"/>
                <a:sym typeface="Wingdings" pitchFamily="2" charset="2"/>
              </a:rPr>
              <a:t>｜        </a:t>
            </a:r>
            <a:r>
              <a:rPr lang="zh-CN" altLang="en-US" sz="2400" b="1">
                <a:solidFill>
                  <a:srgbClr val="0000FF"/>
                </a:solidFill>
                <a:ea typeface="宋体" charset="-122"/>
                <a:sym typeface="Wingdings" pitchFamily="2" charset="2"/>
              </a:rPr>
              <a:t>）</a:t>
            </a:r>
          </a:p>
        </p:txBody>
      </p:sp>
      <p:sp>
        <p:nvSpPr>
          <p:cNvPr id="176152" name="Text Box 24"/>
          <p:cNvSpPr txBox="1">
            <a:spLocks noChangeArrowheads="1"/>
          </p:cNvSpPr>
          <p:nvPr/>
        </p:nvSpPr>
        <p:spPr bwMode="auto">
          <a:xfrm>
            <a:off x="5935663" y="5867400"/>
            <a:ext cx="457200" cy="457200"/>
          </a:xfrm>
          <a:prstGeom prst="rect">
            <a:avLst/>
          </a:prstGeom>
          <a:noFill/>
          <a:ln w="9525">
            <a:noFill/>
            <a:miter lim="800000"/>
            <a:headEnd/>
            <a:tailEnd/>
          </a:ln>
        </p:spPr>
        <p:txBody>
          <a:bodyPr>
            <a:spAutoFit/>
          </a:bodyPr>
          <a:lstStyle/>
          <a:p>
            <a:pPr>
              <a:spcBef>
                <a:spcPct val="50000"/>
              </a:spcBef>
            </a:pPr>
            <a:r>
              <a:rPr lang="en-US" altLang="zh-CN" sz="2400" b="1">
                <a:solidFill>
                  <a:srgbClr val="0000FF"/>
                </a:solidFill>
                <a:ea typeface="宋体" charset="-122"/>
                <a:sym typeface="Wingdings" pitchFamily="2" charset="2"/>
              </a:rPr>
              <a:t>×</a:t>
            </a:r>
            <a:endParaRPr lang="zh-CN" altLang="en-US" sz="2400" b="1">
              <a:solidFill>
                <a:srgbClr val="0000FF"/>
              </a:solidFill>
              <a:ea typeface="宋体" charset="-122"/>
              <a:sym typeface="Wingdings" pitchFamily="2" charset="2"/>
            </a:endParaRPr>
          </a:p>
        </p:txBody>
      </p:sp>
      <p:sp>
        <p:nvSpPr>
          <p:cNvPr id="176150" name="Text Box 22"/>
          <p:cNvSpPr txBox="1">
            <a:spLocks noChangeArrowheads="1"/>
          </p:cNvSpPr>
          <p:nvPr/>
        </p:nvSpPr>
        <p:spPr bwMode="auto">
          <a:xfrm>
            <a:off x="5414963" y="5867400"/>
            <a:ext cx="457200" cy="457200"/>
          </a:xfrm>
          <a:prstGeom prst="rect">
            <a:avLst/>
          </a:prstGeom>
          <a:noFill/>
          <a:ln w="9525">
            <a:noFill/>
            <a:miter lim="800000"/>
            <a:headEnd/>
            <a:tailEnd/>
          </a:ln>
        </p:spPr>
        <p:txBody>
          <a:bodyPr>
            <a:spAutoFit/>
          </a:bodyPr>
          <a:lstStyle/>
          <a:p>
            <a:pPr>
              <a:spcBef>
                <a:spcPct val="50000"/>
              </a:spcBef>
            </a:pPr>
            <a:r>
              <a:rPr lang="en-US" altLang="zh-CN" sz="2400" b="1">
                <a:solidFill>
                  <a:srgbClr val="0000FF"/>
                </a:solidFill>
                <a:ea typeface="宋体" charset="-122"/>
                <a:sym typeface="Wingdings" pitchFamily="2" charset="2"/>
              </a:rPr>
              <a:t>×</a:t>
            </a:r>
            <a:endParaRPr lang="zh-CN" altLang="en-US" sz="2400" b="1">
              <a:solidFill>
                <a:srgbClr val="0000FF"/>
              </a:solidFill>
              <a:ea typeface="宋体" charset="-122"/>
              <a:sym typeface="Wingdings" pitchFamily="2" charset="2"/>
            </a:endParaRPr>
          </a:p>
        </p:txBody>
      </p:sp>
      <p:sp>
        <p:nvSpPr>
          <p:cNvPr id="176151" name="Text Box 23"/>
          <p:cNvSpPr txBox="1">
            <a:spLocks noChangeArrowheads="1"/>
          </p:cNvSpPr>
          <p:nvPr/>
        </p:nvSpPr>
        <p:spPr bwMode="auto">
          <a:xfrm>
            <a:off x="5681663" y="5867400"/>
            <a:ext cx="457200" cy="457200"/>
          </a:xfrm>
          <a:prstGeom prst="rect">
            <a:avLst/>
          </a:prstGeom>
          <a:noFill/>
          <a:ln w="9525">
            <a:noFill/>
            <a:miter lim="800000"/>
            <a:headEnd/>
            <a:tailEnd/>
          </a:ln>
        </p:spPr>
        <p:txBody>
          <a:bodyPr>
            <a:spAutoFit/>
          </a:bodyPr>
          <a:lstStyle/>
          <a:p>
            <a:pPr>
              <a:spcBef>
                <a:spcPct val="50000"/>
              </a:spcBef>
            </a:pPr>
            <a:r>
              <a:rPr lang="en-US" altLang="zh-CN" sz="2400" b="1">
                <a:solidFill>
                  <a:srgbClr val="0000FF"/>
                </a:solidFill>
                <a:ea typeface="宋体" charset="-122"/>
                <a:sym typeface="Wingdings" pitchFamily="2" charset="2"/>
              </a:rPr>
              <a:t>×</a:t>
            </a:r>
            <a:endParaRPr lang="zh-CN" altLang="en-US" sz="2400" b="1">
              <a:solidFill>
                <a:srgbClr val="0000FF"/>
              </a:solidFill>
              <a:ea typeface="宋体" charset="-122"/>
              <a:sym typeface="Wingdings" pitchFamily="2" charset="2"/>
            </a:endParaRPr>
          </a:p>
        </p:txBody>
      </p:sp>
      <p:sp>
        <p:nvSpPr>
          <p:cNvPr id="63501" name="Text Box 6"/>
          <p:cNvSpPr txBox="1">
            <a:spLocks noChangeArrowheads="1"/>
          </p:cNvSpPr>
          <p:nvPr/>
        </p:nvSpPr>
        <p:spPr bwMode="auto">
          <a:xfrm>
            <a:off x="2057400" y="4191000"/>
            <a:ext cx="4876800" cy="457200"/>
          </a:xfrm>
          <a:prstGeom prst="rect">
            <a:avLst/>
          </a:prstGeom>
          <a:noFill/>
          <a:ln w="9525">
            <a:noFill/>
            <a:miter lim="800000"/>
            <a:headEnd/>
            <a:tailEnd/>
          </a:ln>
        </p:spPr>
        <p:txBody>
          <a:bodyPr>
            <a:spAutoFit/>
          </a:bodyPr>
          <a:lstStyle/>
          <a:p>
            <a:pPr algn="ctr">
              <a:spcBef>
                <a:spcPct val="50000"/>
              </a:spcBef>
            </a:pPr>
            <a:r>
              <a:rPr lang="en-US" altLang="zh-CN" sz="2400" b="1">
                <a:solidFill>
                  <a:srgbClr val="0000FF"/>
                </a:solidFill>
                <a:ea typeface="宋体" charset="-122"/>
              </a:rPr>
              <a:t>A</a:t>
            </a:r>
            <a:r>
              <a:rPr lang="en-US" altLang="zh-CN" sz="2400" b="1" baseline="-25000">
                <a:solidFill>
                  <a:srgbClr val="0000FF"/>
                </a:solidFill>
                <a:ea typeface="宋体" charset="-122"/>
              </a:rPr>
              <a:t>2</a:t>
            </a:r>
            <a:r>
              <a:rPr lang="zh-CN" altLang="en-US" sz="2400" b="1">
                <a:solidFill>
                  <a:srgbClr val="0000FF"/>
                </a:solidFill>
                <a:ea typeface="宋体" charset="-122"/>
              </a:rPr>
              <a:t>：</a:t>
            </a:r>
            <a:r>
              <a:rPr lang="zh-CN" altLang="en-US" sz="2400" b="1">
                <a:solidFill>
                  <a:srgbClr val="0000FF"/>
                </a:solidFill>
                <a:ea typeface="宋体" charset="-122"/>
                <a:sym typeface="Wingdings" pitchFamily="2" charset="2"/>
              </a:rPr>
              <a:t>（</a:t>
            </a:r>
            <a:r>
              <a:rPr lang="en-US" altLang="zh-CN" sz="2400" b="1">
                <a:solidFill>
                  <a:srgbClr val="0000FF"/>
                </a:solidFill>
                <a:ea typeface="宋体" charset="-122"/>
                <a:sym typeface="Wingdings" pitchFamily="2" charset="2"/>
              </a:rPr>
              <a:t>4 2 9</a:t>
            </a:r>
            <a:r>
              <a:rPr lang="zh-CN" altLang="en-US" sz="2400">
                <a:solidFill>
                  <a:srgbClr val="0000FF"/>
                </a:solidFill>
                <a:ea typeface="宋体" charset="-122"/>
                <a:sym typeface="Wingdings" pitchFamily="2" charset="2"/>
              </a:rPr>
              <a:t>｜</a:t>
            </a:r>
            <a:r>
              <a:rPr lang="en-US" altLang="zh-CN" sz="2400" b="1">
                <a:solidFill>
                  <a:srgbClr val="0000FF"/>
                </a:solidFill>
                <a:ea typeface="宋体" charset="-122"/>
                <a:sym typeface="Wingdings" pitchFamily="2" charset="2"/>
              </a:rPr>
              <a:t>0 8 5 3</a:t>
            </a:r>
            <a:r>
              <a:rPr lang="zh-CN" altLang="en-US" sz="2400">
                <a:solidFill>
                  <a:srgbClr val="0000FF"/>
                </a:solidFill>
                <a:ea typeface="宋体" charset="-122"/>
                <a:sym typeface="Wingdings" pitchFamily="2" charset="2"/>
              </a:rPr>
              <a:t>｜</a:t>
            </a:r>
            <a:r>
              <a:rPr lang="en-US" altLang="zh-CN" sz="2400" b="1">
                <a:solidFill>
                  <a:srgbClr val="0000FF"/>
                </a:solidFill>
                <a:ea typeface="宋体" charset="-122"/>
                <a:sym typeface="Wingdings" pitchFamily="2" charset="2"/>
              </a:rPr>
              <a:t>1</a:t>
            </a:r>
            <a:r>
              <a:rPr lang="zh-CN" altLang="en-US" sz="2400">
                <a:solidFill>
                  <a:srgbClr val="0000FF"/>
                </a:solidFill>
                <a:ea typeface="宋体" charset="-122"/>
                <a:sym typeface="Wingdings" pitchFamily="2" charset="2"/>
              </a:rPr>
              <a:t> </a:t>
            </a:r>
            <a:r>
              <a:rPr lang="en-US" altLang="zh-CN" sz="2400" b="1">
                <a:solidFill>
                  <a:srgbClr val="0000FF"/>
                </a:solidFill>
                <a:ea typeface="宋体" charset="-122"/>
                <a:sym typeface="Wingdings" pitchFamily="2" charset="2"/>
              </a:rPr>
              <a:t>7 6</a:t>
            </a:r>
            <a:r>
              <a:rPr lang="zh-CN" altLang="en-US" sz="2400" b="1">
                <a:solidFill>
                  <a:srgbClr val="0000FF"/>
                </a:solidFill>
                <a:ea typeface="宋体" charset="-122"/>
                <a:sym typeface="Wingdings" pitchFamily="2" charset="2"/>
              </a:rPr>
              <a:t>）</a:t>
            </a:r>
          </a:p>
        </p:txBody>
      </p:sp>
      <p:sp>
        <p:nvSpPr>
          <p:cNvPr id="176148" name="Text Box 20"/>
          <p:cNvSpPr txBox="1">
            <a:spLocks noChangeArrowheads="1"/>
          </p:cNvSpPr>
          <p:nvPr/>
        </p:nvSpPr>
        <p:spPr bwMode="auto">
          <a:xfrm>
            <a:off x="3803650" y="5867400"/>
            <a:ext cx="457200" cy="457200"/>
          </a:xfrm>
          <a:prstGeom prst="rect">
            <a:avLst/>
          </a:prstGeom>
          <a:noFill/>
          <a:ln w="9525">
            <a:noFill/>
            <a:miter lim="800000"/>
            <a:headEnd/>
            <a:tailEnd/>
          </a:ln>
        </p:spPr>
        <p:txBody>
          <a:bodyPr>
            <a:spAutoFit/>
          </a:bodyPr>
          <a:lstStyle/>
          <a:p>
            <a:pPr>
              <a:spcBef>
                <a:spcPct val="50000"/>
              </a:spcBef>
            </a:pPr>
            <a:r>
              <a:rPr lang="en-US" altLang="zh-CN" sz="2400" b="1">
                <a:solidFill>
                  <a:srgbClr val="0000FF"/>
                </a:solidFill>
                <a:ea typeface="宋体" charset="-122"/>
                <a:sym typeface="Wingdings" pitchFamily="2" charset="2"/>
              </a:rPr>
              <a:t>×</a:t>
            </a:r>
            <a:endParaRPr lang="zh-CN" altLang="en-US" sz="2400" b="1">
              <a:solidFill>
                <a:srgbClr val="0000FF"/>
              </a:solidFill>
              <a:ea typeface="宋体" charset="-122"/>
              <a:sym typeface="Wingdings" pitchFamily="2" charset="2"/>
            </a:endParaRPr>
          </a:p>
        </p:txBody>
      </p:sp>
      <p:sp>
        <p:nvSpPr>
          <p:cNvPr id="176149" name="Text Box 21"/>
          <p:cNvSpPr txBox="1">
            <a:spLocks noChangeArrowheads="1"/>
          </p:cNvSpPr>
          <p:nvPr/>
        </p:nvSpPr>
        <p:spPr bwMode="auto">
          <a:xfrm>
            <a:off x="3527425" y="5867400"/>
            <a:ext cx="457200" cy="457200"/>
          </a:xfrm>
          <a:prstGeom prst="rect">
            <a:avLst/>
          </a:prstGeom>
          <a:noFill/>
          <a:ln w="9525">
            <a:noFill/>
            <a:miter lim="800000"/>
            <a:headEnd/>
            <a:tailEnd/>
          </a:ln>
        </p:spPr>
        <p:txBody>
          <a:bodyPr>
            <a:spAutoFit/>
          </a:bodyPr>
          <a:lstStyle/>
          <a:p>
            <a:pPr>
              <a:spcBef>
                <a:spcPct val="50000"/>
              </a:spcBef>
            </a:pPr>
            <a:r>
              <a:rPr lang="en-US" altLang="zh-CN" sz="2400" b="1">
                <a:solidFill>
                  <a:srgbClr val="0000FF"/>
                </a:solidFill>
                <a:ea typeface="宋体" charset="-122"/>
                <a:sym typeface="Wingdings" pitchFamily="2" charset="2"/>
              </a:rPr>
              <a:t>×</a:t>
            </a:r>
            <a:endParaRPr lang="zh-CN" altLang="en-US" sz="2400" b="1">
              <a:solidFill>
                <a:srgbClr val="0000FF"/>
              </a:solidFill>
              <a:ea typeface="宋体" charset="-122"/>
              <a:sym typeface="Wingdings" pitchFamily="2" charset="2"/>
            </a:endParaRPr>
          </a:p>
        </p:txBody>
      </p:sp>
      <p:sp>
        <p:nvSpPr>
          <p:cNvPr id="63504" name="Text Box 5"/>
          <p:cNvSpPr txBox="1">
            <a:spLocks noChangeArrowheads="1"/>
          </p:cNvSpPr>
          <p:nvPr/>
        </p:nvSpPr>
        <p:spPr bwMode="auto">
          <a:xfrm>
            <a:off x="2057400" y="3657600"/>
            <a:ext cx="4876800" cy="457200"/>
          </a:xfrm>
          <a:prstGeom prst="rect">
            <a:avLst/>
          </a:prstGeom>
          <a:noFill/>
          <a:ln w="9525">
            <a:noFill/>
            <a:miter lim="800000"/>
            <a:headEnd/>
            <a:tailEnd/>
          </a:ln>
        </p:spPr>
        <p:txBody>
          <a:bodyPr>
            <a:spAutoFit/>
          </a:bodyPr>
          <a:lstStyle/>
          <a:p>
            <a:pPr algn="ctr">
              <a:spcBef>
                <a:spcPct val="50000"/>
              </a:spcBef>
            </a:pPr>
            <a:r>
              <a:rPr lang="en-US" altLang="zh-CN" sz="2400" b="1">
                <a:solidFill>
                  <a:srgbClr val="0000FF"/>
                </a:solidFill>
                <a:ea typeface="宋体" charset="-122"/>
              </a:rPr>
              <a:t>A</a:t>
            </a:r>
            <a:r>
              <a:rPr lang="en-US" altLang="zh-CN" sz="2400" b="1" baseline="-25000">
                <a:solidFill>
                  <a:srgbClr val="0000FF"/>
                </a:solidFill>
                <a:ea typeface="宋体" charset="-122"/>
              </a:rPr>
              <a:t>1</a:t>
            </a:r>
            <a:r>
              <a:rPr lang="zh-CN" altLang="en-US" sz="2400" b="1">
                <a:solidFill>
                  <a:srgbClr val="0000FF"/>
                </a:solidFill>
                <a:ea typeface="宋体" charset="-122"/>
              </a:rPr>
              <a:t>：</a:t>
            </a:r>
            <a:r>
              <a:rPr lang="zh-CN" altLang="en-US" sz="2400" b="1">
                <a:solidFill>
                  <a:srgbClr val="0000FF"/>
                </a:solidFill>
                <a:ea typeface="宋体" charset="-122"/>
                <a:sym typeface="Wingdings" pitchFamily="2" charset="2"/>
              </a:rPr>
              <a:t>（</a:t>
            </a:r>
            <a:r>
              <a:rPr lang="en-US" altLang="zh-CN" sz="2400" b="1">
                <a:solidFill>
                  <a:srgbClr val="0000FF"/>
                </a:solidFill>
                <a:ea typeface="宋体" charset="-122"/>
                <a:sym typeface="Wingdings" pitchFamily="2" charset="2"/>
              </a:rPr>
              <a:t>0 1 2</a:t>
            </a:r>
            <a:r>
              <a:rPr lang="zh-CN" altLang="en-US" sz="2400">
                <a:solidFill>
                  <a:srgbClr val="0000FF"/>
                </a:solidFill>
                <a:ea typeface="宋体" charset="-122"/>
                <a:sym typeface="Wingdings" pitchFamily="2" charset="2"/>
              </a:rPr>
              <a:t>｜</a:t>
            </a:r>
            <a:r>
              <a:rPr lang="en-US" altLang="zh-CN" sz="2400" b="1">
                <a:solidFill>
                  <a:srgbClr val="0000FF"/>
                </a:solidFill>
                <a:ea typeface="宋体" charset="-122"/>
                <a:sym typeface="Wingdings" pitchFamily="2" charset="2"/>
              </a:rPr>
              <a:t>3 4 5 6</a:t>
            </a:r>
            <a:r>
              <a:rPr lang="zh-CN" altLang="en-US" sz="2400">
                <a:solidFill>
                  <a:srgbClr val="0000FF"/>
                </a:solidFill>
                <a:ea typeface="宋体" charset="-122"/>
                <a:sym typeface="Wingdings" pitchFamily="2" charset="2"/>
              </a:rPr>
              <a:t>｜</a:t>
            </a:r>
            <a:r>
              <a:rPr lang="en-US" altLang="zh-CN" sz="2400" b="1">
                <a:solidFill>
                  <a:srgbClr val="0000FF"/>
                </a:solidFill>
                <a:ea typeface="宋体" charset="-122"/>
                <a:sym typeface="Wingdings" pitchFamily="2" charset="2"/>
              </a:rPr>
              <a:t>7 8 9</a:t>
            </a:r>
            <a:r>
              <a:rPr lang="zh-CN" altLang="en-US" sz="2400" b="1">
                <a:solidFill>
                  <a:srgbClr val="0000FF"/>
                </a:solidFill>
                <a:ea typeface="宋体" charset="-122"/>
                <a:sym typeface="Wingdings" pitchFamily="2" charset="2"/>
              </a:rPr>
              <a:t>）</a:t>
            </a:r>
          </a:p>
        </p:txBody>
      </p:sp>
      <p:sp>
        <p:nvSpPr>
          <p:cNvPr id="176160" name="Rectangle 32"/>
          <p:cNvSpPr>
            <a:spLocks noChangeArrowheads="1"/>
          </p:cNvSpPr>
          <p:nvPr/>
        </p:nvSpPr>
        <p:spPr bwMode="auto">
          <a:xfrm>
            <a:off x="3524250" y="4191000"/>
            <a:ext cx="354013" cy="457200"/>
          </a:xfrm>
          <a:prstGeom prst="rect">
            <a:avLst/>
          </a:prstGeom>
          <a:noFill/>
          <a:ln w="9525">
            <a:noFill/>
            <a:miter lim="800000"/>
            <a:headEnd/>
            <a:tailEnd/>
          </a:ln>
        </p:spPr>
        <p:txBody>
          <a:bodyPr wrap="none">
            <a:spAutoFit/>
          </a:bodyPr>
          <a:lstStyle/>
          <a:p>
            <a:r>
              <a:rPr lang="en-US" altLang="zh-CN" sz="2400" b="1">
                <a:solidFill>
                  <a:srgbClr val="0000FF"/>
                </a:solidFill>
                <a:ea typeface="宋体" charset="-122"/>
                <a:sym typeface="Wingdings" pitchFamily="2" charset="2"/>
              </a:rPr>
              <a:t>2</a:t>
            </a:r>
            <a:endParaRPr lang="zh-CN" altLang="en-US" sz="2400" b="1">
              <a:solidFill>
                <a:srgbClr val="0000FF"/>
              </a:solidFill>
              <a:ea typeface="宋体" charset="-122"/>
              <a:sym typeface="Wingdings" pitchFamily="2" charset="2"/>
            </a:endParaRPr>
          </a:p>
        </p:txBody>
      </p:sp>
      <p:sp>
        <p:nvSpPr>
          <p:cNvPr id="176161" name="Rectangle 33"/>
          <p:cNvSpPr>
            <a:spLocks noChangeArrowheads="1"/>
          </p:cNvSpPr>
          <p:nvPr/>
        </p:nvSpPr>
        <p:spPr bwMode="auto">
          <a:xfrm>
            <a:off x="3862388" y="5334000"/>
            <a:ext cx="354012" cy="457200"/>
          </a:xfrm>
          <a:prstGeom prst="rect">
            <a:avLst/>
          </a:prstGeom>
          <a:noFill/>
          <a:ln w="9525">
            <a:noFill/>
            <a:miter lim="800000"/>
            <a:headEnd/>
            <a:tailEnd/>
          </a:ln>
        </p:spPr>
        <p:txBody>
          <a:bodyPr wrap="none">
            <a:spAutoFit/>
          </a:bodyPr>
          <a:lstStyle/>
          <a:p>
            <a:r>
              <a:rPr lang="en-US" altLang="zh-CN" sz="2400" b="1">
                <a:solidFill>
                  <a:srgbClr val="0000FF"/>
                </a:solidFill>
                <a:ea typeface="宋体" charset="-122"/>
                <a:sym typeface="Wingdings" pitchFamily="2" charset="2"/>
              </a:rPr>
              <a:t>9</a:t>
            </a:r>
            <a:endParaRPr lang="zh-CN" altLang="en-US" sz="2400" b="1">
              <a:solidFill>
                <a:srgbClr val="0000FF"/>
              </a:solidFill>
              <a:ea typeface="宋体" charset="-122"/>
              <a:sym typeface="Wingdings" pitchFamily="2" charset="2"/>
            </a:endParaRPr>
          </a:p>
        </p:txBody>
      </p:sp>
      <p:sp>
        <p:nvSpPr>
          <p:cNvPr id="176162" name="Rectangle 34"/>
          <p:cNvSpPr>
            <a:spLocks noChangeArrowheads="1"/>
          </p:cNvSpPr>
          <p:nvPr/>
        </p:nvSpPr>
        <p:spPr bwMode="auto">
          <a:xfrm>
            <a:off x="5457825" y="5334000"/>
            <a:ext cx="354013" cy="457200"/>
          </a:xfrm>
          <a:prstGeom prst="rect">
            <a:avLst/>
          </a:prstGeom>
          <a:noFill/>
          <a:ln w="9525">
            <a:noFill/>
            <a:miter lim="800000"/>
            <a:headEnd/>
            <a:tailEnd/>
          </a:ln>
        </p:spPr>
        <p:txBody>
          <a:bodyPr wrap="none">
            <a:spAutoFit/>
          </a:bodyPr>
          <a:lstStyle/>
          <a:p>
            <a:r>
              <a:rPr lang="en-US" altLang="zh-CN" sz="2400" b="1">
                <a:solidFill>
                  <a:srgbClr val="0000FF"/>
                </a:solidFill>
                <a:ea typeface="宋体" charset="-122"/>
                <a:sym typeface="Wingdings" pitchFamily="2" charset="2"/>
              </a:rPr>
              <a:t>1</a:t>
            </a:r>
            <a:endParaRPr lang="zh-CN" altLang="en-US" sz="2400" b="1">
              <a:solidFill>
                <a:srgbClr val="0000FF"/>
              </a:solidFill>
              <a:ea typeface="宋体" charset="-122"/>
              <a:sym typeface="Wingdings" pitchFamily="2" charset="2"/>
            </a:endParaRPr>
          </a:p>
        </p:txBody>
      </p:sp>
      <p:sp>
        <p:nvSpPr>
          <p:cNvPr id="176163" name="Rectangle 35"/>
          <p:cNvSpPr>
            <a:spLocks noChangeArrowheads="1"/>
          </p:cNvSpPr>
          <p:nvPr/>
        </p:nvSpPr>
        <p:spPr bwMode="auto">
          <a:xfrm>
            <a:off x="5743575" y="5334000"/>
            <a:ext cx="354013" cy="457200"/>
          </a:xfrm>
          <a:prstGeom prst="rect">
            <a:avLst/>
          </a:prstGeom>
          <a:noFill/>
          <a:ln w="9525">
            <a:noFill/>
            <a:miter lim="800000"/>
            <a:headEnd/>
            <a:tailEnd/>
          </a:ln>
        </p:spPr>
        <p:txBody>
          <a:bodyPr wrap="none">
            <a:spAutoFit/>
          </a:bodyPr>
          <a:lstStyle/>
          <a:p>
            <a:r>
              <a:rPr lang="en-US" altLang="zh-CN" sz="2400" b="1">
                <a:solidFill>
                  <a:srgbClr val="0000FF"/>
                </a:solidFill>
                <a:ea typeface="宋体" charset="-122"/>
                <a:sym typeface="Wingdings" pitchFamily="2" charset="2"/>
              </a:rPr>
              <a:t>7</a:t>
            </a:r>
            <a:endParaRPr lang="zh-CN" altLang="en-US" sz="2400" b="1">
              <a:solidFill>
                <a:srgbClr val="0000FF"/>
              </a:solidFill>
              <a:ea typeface="宋体" charset="-122"/>
              <a:sym typeface="Wingdings" pitchFamily="2" charset="2"/>
            </a:endParaRPr>
          </a:p>
        </p:txBody>
      </p:sp>
      <p:sp>
        <p:nvSpPr>
          <p:cNvPr id="176159" name="Rectangle 31"/>
          <p:cNvSpPr>
            <a:spLocks noChangeArrowheads="1"/>
          </p:cNvSpPr>
          <p:nvPr/>
        </p:nvSpPr>
        <p:spPr bwMode="auto">
          <a:xfrm>
            <a:off x="6002338" y="5867400"/>
            <a:ext cx="354012" cy="457200"/>
          </a:xfrm>
          <a:prstGeom prst="rect">
            <a:avLst/>
          </a:prstGeom>
          <a:noFill/>
          <a:ln w="9525">
            <a:noFill/>
            <a:miter lim="800000"/>
            <a:headEnd/>
            <a:tailEnd/>
          </a:ln>
        </p:spPr>
        <p:txBody>
          <a:bodyPr wrap="none">
            <a:spAutoFit/>
          </a:bodyPr>
          <a:lstStyle/>
          <a:p>
            <a:r>
              <a:rPr lang="en-US" altLang="zh-CN" sz="2400" b="1">
                <a:solidFill>
                  <a:srgbClr val="0000FF"/>
                </a:solidFill>
                <a:ea typeface="宋体" charset="-122"/>
                <a:sym typeface="Wingdings" pitchFamily="2" charset="2"/>
              </a:rPr>
              <a:t>9</a:t>
            </a:r>
            <a:endParaRPr lang="zh-CN" altLang="en-US" sz="2400" b="1">
              <a:solidFill>
                <a:srgbClr val="0000FF"/>
              </a:solidFill>
              <a:ea typeface="宋体" charset="-122"/>
              <a:sym typeface="Wingdings" pitchFamily="2" charset="2"/>
            </a:endParaRPr>
          </a:p>
        </p:txBody>
      </p:sp>
      <p:sp>
        <p:nvSpPr>
          <p:cNvPr id="176157" name="Rectangle 29"/>
          <p:cNvSpPr>
            <a:spLocks noChangeArrowheads="1"/>
          </p:cNvSpPr>
          <p:nvPr/>
        </p:nvSpPr>
        <p:spPr bwMode="auto">
          <a:xfrm>
            <a:off x="5484813" y="5867400"/>
            <a:ext cx="354012" cy="457200"/>
          </a:xfrm>
          <a:prstGeom prst="rect">
            <a:avLst/>
          </a:prstGeom>
          <a:noFill/>
          <a:ln w="9525">
            <a:noFill/>
            <a:miter lim="800000"/>
            <a:headEnd/>
            <a:tailEnd/>
          </a:ln>
        </p:spPr>
        <p:txBody>
          <a:bodyPr wrap="none">
            <a:spAutoFit/>
          </a:bodyPr>
          <a:lstStyle/>
          <a:p>
            <a:r>
              <a:rPr lang="en-US" altLang="zh-CN" sz="2400" b="1">
                <a:solidFill>
                  <a:srgbClr val="0000FF"/>
                </a:solidFill>
                <a:ea typeface="宋体" charset="-122"/>
                <a:sym typeface="Wingdings" pitchFamily="2" charset="2"/>
              </a:rPr>
              <a:t>7</a:t>
            </a:r>
            <a:endParaRPr lang="zh-CN" altLang="en-US" sz="2400" b="1">
              <a:solidFill>
                <a:srgbClr val="0000FF"/>
              </a:solidFill>
              <a:ea typeface="宋体" charset="-122"/>
              <a:sym typeface="Wingdings" pitchFamily="2" charset="2"/>
            </a:endParaRPr>
          </a:p>
        </p:txBody>
      </p:sp>
      <p:sp>
        <p:nvSpPr>
          <p:cNvPr id="63511" name="Rectangle 2"/>
          <p:cNvSpPr>
            <a:spLocks noGrp="1" noChangeArrowheads="1"/>
          </p:cNvSpPr>
          <p:nvPr>
            <p:ph type="title"/>
          </p:nvPr>
        </p:nvSpPr>
        <p:spPr bwMode="auto">
          <a:xfrm>
            <a:off x="609600" y="152400"/>
            <a:ext cx="7924800" cy="958850"/>
          </a:xfrm>
          <a:prstGeom prst="rect">
            <a:avLst/>
          </a:prstGeom>
          <a:noFill/>
          <a:ln>
            <a:miter lim="800000"/>
            <a:headEnd/>
            <a:tailEnd/>
          </a:ln>
        </p:spPr>
        <p:txBody>
          <a:bodyPr vert="horz" wrap="square" lIns="91440" tIns="45720" rIns="91440" bIns="45720" numCol="1" anchor="ctr" anchorCtr="0" compatLnSpc="1">
            <a:prstTxWarp prst="textNoShape">
              <a:avLst/>
            </a:prstTxWarp>
          </a:bodyPr>
          <a:lstStyle/>
          <a:p>
            <a:pPr eaLnBrk="1" hangingPunct="1"/>
            <a:r>
              <a:rPr lang="en-US" altLang="zh-CN" smtClean="0">
                <a:solidFill>
                  <a:srgbClr val="0000FF"/>
                </a:solidFill>
                <a:ea typeface="宋体" charset="-122"/>
              </a:rPr>
              <a:t>4 </a:t>
            </a:r>
            <a:r>
              <a:rPr lang="zh-CN" altLang="en-US" smtClean="0">
                <a:solidFill>
                  <a:srgbClr val="0000FF"/>
                </a:solidFill>
                <a:ea typeface="宋体" charset="-122"/>
              </a:rPr>
              <a:t>遗传算法求解巡回旅行商问题</a:t>
            </a:r>
          </a:p>
        </p:txBody>
      </p:sp>
      <p:sp>
        <p:nvSpPr>
          <p:cNvPr id="63512" name="Rectangle 3"/>
          <p:cNvSpPr>
            <a:spLocks noGrp="1" noChangeArrowheads="1"/>
          </p:cNvSpPr>
          <p:nvPr>
            <p:ph type="body" idx="1"/>
          </p:nvPr>
        </p:nvSpPr>
        <p:spPr>
          <a:xfrm>
            <a:off x="609600" y="1651000"/>
            <a:ext cx="7924800" cy="1752600"/>
          </a:xfrm>
        </p:spPr>
        <p:txBody>
          <a:bodyPr/>
          <a:lstStyle/>
          <a:p>
            <a:pPr marL="0" indent="0" eaLnBrk="1" hangingPunct="1">
              <a:spcBef>
                <a:spcPct val="20000"/>
              </a:spcBef>
              <a:buFont typeface="Wingdings" pitchFamily="2" charset="2"/>
              <a:buNone/>
            </a:pPr>
            <a:r>
              <a:rPr lang="zh-CN" altLang="en-US" sz="2000" smtClean="0">
                <a:solidFill>
                  <a:srgbClr val="0000FF"/>
                </a:solidFill>
                <a:ea typeface="宋体" charset="-122"/>
              </a:rPr>
              <a:t>       本例中采用有序交叉执行交叉操作。有序交叉能够有效地继承双亲的部分基因成分，达到了进化的遗传功能，使该遗传算法并不盲目搜索，二是趋向于使群体具有更多的优良基因。交叉后，考察父个体与子个体的适应度来决定是否更新种群。具体操作过程如下（以</a:t>
            </a:r>
            <a:r>
              <a:rPr lang="en-US" altLang="zh-CN" sz="2000" smtClean="0">
                <a:solidFill>
                  <a:srgbClr val="0000FF"/>
                </a:solidFill>
                <a:latin typeface="Times New Roman" pitchFamily="18" charset="0"/>
                <a:ea typeface="宋体" charset="-122"/>
              </a:rPr>
              <a:t>0~9</a:t>
            </a:r>
            <a:r>
              <a:rPr lang="zh-CN" altLang="en-US" sz="2000" smtClean="0">
                <a:solidFill>
                  <a:srgbClr val="0000FF"/>
                </a:solidFill>
                <a:ea typeface="宋体" charset="-122"/>
              </a:rPr>
              <a:t>编码为例）：</a:t>
            </a:r>
            <a:endParaRPr lang="en-US" altLang="zh-CN" sz="2000" smtClean="0">
              <a:solidFill>
                <a:srgbClr val="0000FF"/>
              </a:solidFill>
              <a:ea typeface="宋体" charset="-122"/>
            </a:endParaRPr>
          </a:p>
        </p:txBody>
      </p:sp>
      <p:sp>
        <p:nvSpPr>
          <p:cNvPr id="63513" name="Text Box 4"/>
          <p:cNvSpPr txBox="1">
            <a:spLocks noChangeArrowheads="1"/>
          </p:cNvSpPr>
          <p:nvPr/>
        </p:nvSpPr>
        <p:spPr bwMode="auto">
          <a:xfrm>
            <a:off x="457200" y="1295400"/>
            <a:ext cx="2743200" cy="396875"/>
          </a:xfrm>
          <a:prstGeom prst="rect">
            <a:avLst/>
          </a:prstGeom>
          <a:noFill/>
          <a:ln w="9525">
            <a:noFill/>
            <a:miter lim="800000"/>
            <a:headEnd/>
            <a:tailEnd/>
          </a:ln>
        </p:spPr>
        <p:txBody>
          <a:bodyPr>
            <a:spAutoFit/>
          </a:bodyPr>
          <a:lstStyle/>
          <a:p>
            <a:pPr marL="342900" indent="-342900">
              <a:spcBef>
                <a:spcPct val="50000"/>
              </a:spcBef>
            </a:pPr>
            <a:r>
              <a:rPr lang="zh-CN" altLang="en-US" sz="2000" b="1">
                <a:solidFill>
                  <a:srgbClr val="0000FF"/>
                </a:solidFill>
                <a:ea typeface="宋体" charset="-122"/>
              </a:rPr>
              <a:t>（</a:t>
            </a:r>
            <a:r>
              <a:rPr lang="en-US" altLang="zh-CN" sz="2000" b="1">
                <a:solidFill>
                  <a:srgbClr val="0000FF"/>
                </a:solidFill>
                <a:ea typeface="宋体" charset="-122"/>
              </a:rPr>
              <a:t>4</a:t>
            </a:r>
            <a:r>
              <a:rPr lang="zh-CN" altLang="en-US" sz="2000" b="1">
                <a:solidFill>
                  <a:srgbClr val="0000FF"/>
                </a:solidFill>
                <a:ea typeface="宋体" charset="-122"/>
              </a:rPr>
              <a:t>）交叉操作</a:t>
            </a:r>
            <a:r>
              <a:rPr lang="zh-CN" altLang="en-US" sz="2000">
                <a:solidFill>
                  <a:srgbClr val="0000FF"/>
                </a:solidFill>
                <a:ea typeface="宋体" charset="-122"/>
              </a:rPr>
              <a:t> </a:t>
            </a:r>
          </a:p>
        </p:txBody>
      </p:sp>
      <p:sp>
        <p:nvSpPr>
          <p:cNvPr id="63514" name="Text Box 10"/>
          <p:cNvSpPr txBox="1">
            <a:spLocks noChangeArrowheads="1"/>
          </p:cNvSpPr>
          <p:nvPr/>
        </p:nvSpPr>
        <p:spPr bwMode="auto">
          <a:xfrm>
            <a:off x="1295400" y="3352800"/>
            <a:ext cx="3962400" cy="396875"/>
          </a:xfrm>
          <a:prstGeom prst="rect">
            <a:avLst/>
          </a:prstGeom>
          <a:noFill/>
          <a:ln w="9525">
            <a:noFill/>
            <a:miter lim="800000"/>
            <a:headEnd/>
            <a:tailEnd/>
          </a:ln>
        </p:spPr>
        <p:txBody>
          <a:bodyPr>
            <a:spAutoFit/>
          </a:bodyPr>
          <a:lstStyle/>
          <a:p>
            <a:pPr>
              <a:spcBef>
                <a:spcPct val="50000"/>
              </a:spcBef>
            </a:pPr>
            <a:r>
              <a:rPr lang="zh-CN" altLang="en-US" sz="2000" b="1">
                <a:solidFill>
                  <a:srgbClr val="0000FF"/>
                </a:solidFill>
                <a:ea typeface="宋体" charset="-122"/>
              </a:rPr>
              <a:t>父个体：（“</a:t>
            </a:r>
            <a:r>
              <a:rPr lang="en-US" altLang="zh-CN" sz="2000">
                <a:solidFill>
                  <a:srgbClr val="0000FF"/>
                </a:solidFill>
                <a:ea typeface="宋体" charset="-122"/>
              </a:rPr>
              <a:t>|</a:t>
            </a:r>
            <a:r>
              <a:rPr lang="en-US" altLang="zh-CN" sz="2000" b="1">
                <a:solidFill>
                  <a:srgbClr val="0000FF"/>
                </a:solidFill>
                <a:ea typeface="宋体" charset="-122"/>
              </a:rPr>
              <a:t>”</a:t>
            </a:r>
            <a:r>
              <a:rPr lang="zh-CN" altLang="en-US" sz="2000" b="1">
                <a:solidFill>
                  <a:srgbClr val="0000FF"/>
                </a:solidFill>
                <a:ea typeface="宋体" charset="-122"/>
              </a:rPr>
              <a:t>表示交叉点）</a:t>
            </a:r>
          </a:p>
        </p:txBody>
      </p:sp>
      <p:sp>
        <p:nvSpPr>
          <p:cNvPr id="176141" name="Text Box 13"/>
          <p:cNvSpPr txBox="1">
            <a:spLocks noChangeArrowheads="1"/>
          </p:cNvSpPr>
          <p:nvPr/>
        </p:nvSpPr>
        <p:spPr bwMode="auto">
          <a:xfrm>
            <a:off x="3251200" y="5334000"/>
            <a:ext cx="457200" cy="457200"/>
          </a:xfrm>
          <a:prstGeom prst="rect">
            <a:avLst/>
          </a:prstGeom>
          <a:noFill/>
          <a:ln w="9525">
            <a:noFill/>
            <a:miter lim="800000"/>
            <a:headEnd/>
            <a:tailEnd/>
          </a:ln>
        </p:spPr>
        <p:txBody>
          <a:bodyPr>
            <a:spAutoFit/>
          </a:bodyPr>
          <a:lstStyle/>
          <a:p>
            <a:pPr>
              <a:spcBef>
                <a:spcPct val="50000"/>
              </a:spcBef>
            </a:pPr>
            <a:r>
              <a:rPr lang="en-US" altLang="zh-CN" sz="2400" b="1">
                <a:solidFill>
                  <a:srgbClr val="0000FF"/>
                </a:solidFill>
                <a:ea typeface="宋体" charset="-122"/>
                <a:sym typeface="Wingdings" pitchFamily="2" charset="2"/>
              </a:rPr>
              <a:t>×</a:t>
            </a:r>
            <a:endParaRPr lang="zh-CN" altLang="en-US" sz="2400" b="1">
              <a:solidFill>
                <a:srgbClr val="0000FF"/>
              </a:solidFill>
              <a:ea typeface="宋体" charset="-122"/>
              <a:sym typeface="Wingdings" pitchFamily="2" charset="2"/>
            </a:endParaRPr>
          </a:p>
        </p:txBody>
      </p:sp>
      <p:sp>
        <p:nvSpPr>
          <p:cNvPr id="176143" name="Text Box 15"/>
          <p:cNvSpPr txBox="1">
            <a:spLocks noChangeArrowheads="1"/>
          </p:cNvSpPr>
          <p:nvPr/>
        </p:nvSpPr>
        <p:spPr bwMode="auto">
          <a:xfrm>
            <a:off x="3527425" y="5334000"/>
            <a:ext cx="457200" cy="457200"/>
          </a:xfrm>
          <a:prstGeom prst="rect">
            <a:avLst/>
          </a:prstGeom>
          <a:noFill/>
          <a:ln w="9525">
            <a:noFill/>
            <a:miter lim="800000"/>
            <a:headEnd/>
            <a:tailEnd/>
          </a:ln>
        </p:spPr>
        <p:txBody>
          <a:bodyPr>
            <a:spAutoFit/>
          </a:bodyPr>
          <a:lstStyle/>
          <a:p>
            <a:pPr>
              <a:spcBef>
                <a:spcPct val="50000"/>
              </a:spcBef>
            </a:pPr>
            <a:r>
              <a:rPr lang="en-US" altLang="zh-CN" sz="2400" b="1">
                <a:solidFill>
                  <a:srgbClr val="0000FF"/>
                </a:solidFill>
                <a:ea typeface="宋体" charset="-122"/>
                <a:sym typeface="Wingdings" pitchFamily="2" charset="2"/>
              </a:rPr>
              <a:t>×</a:t>
            </a:r>
            <a:endParaRPr lang="zh-CN" altLang="en-US" sz="2400" b="1">
              <a:solidFill>
                <a:srgbClr val="0000FF"/>
              </a:solidFill>
              <a:ea typeface="宋体" charset="-122"/>
              <a:sym typeface="Wingdings" pitchFamily="2" charset="2"/>
            </a:endParaRPr>
          </a:p>
        </p:txBody>
      </p:sp>
      <p:sp>
        <p:nvSpPr>
          <p:cNvPr id="176147" name="Text Box 19"/>
          <p:cNvSpPr txBox="1">
            <a:spLocks noChangeArrowheads="1"/>
          </p:cNvSpPr>
          <p:nvPr/>
        </p:nvSpPr>
        <p:spPr bwMode="auto">
          <a:xfrm>
            <a:off x="3251200" y="5867400"/>
            <a:ext cx="457200" cy="457200"/>
          </a:xfrm>
          <a:prstGeom prst="rect">
            <a:avLst/>
          </a:prstGeom>
          <a:noFill/>
          <a:ln w="9525">
            <a:noFill/>
            <a:miter lim="800000"/>
            <a:headEnd/>
            <a:tailEnd/>
          </a:ln>
        </p:spPr>
        <p:txBody>
          <a:bodyPr>
            <a:spAutoFit/>
          </a:bodyPr>
          <a:lstStyle/>
          <a:p>
            <a:pPr>
              <a:spcBef>
                <a:spcPct val="50000"/>
              </a:spcBef>
            </a:pPr>
            <a:r>
              <a:rPr lang="en-US" altLang="zh-CN" sz="2400" b="1">
                <a:solidFill>
                  <a:srgbClr val="0000FF"/>
                </a:solidFill>
                <a:ea typeface="宋体" charset="-122"/>
                <a:sym typeface="Wingdings" pitchFamily="2" charset="2"/>
              </a:rPr>
              <a:t>×</a:t>
            </a:r>
            <a:endParaRPr lang="zh-CN" altLang="en-US" sz="2400" b="1">
              <a:solidFill>
                <a:srgbClr val="0000FF"/>
              </a:solidFill>
              <a:ea typeface="宋体" charset="-122"/>
              <a:sym typeface="Wingdings" pitchFamily="2" charset="2"/>
            </a:endParaRPr>
          </a:p>
        </p:txBody>
      </p:sp>
      <p:sp>
        <p:nvSpPr>
          <p:cNvPr id="176153" name="Text Box 25"/>
          <p:cNvSpPr txBox="1">
            <a:spLocks noChangeArrowheads="1"/>
          </p:cNvSpPr>
          <p:nvPr/>
        </p:nvSpPr>
        <p:spPr bwMode="auto">
          <a:xfrm>
            <a:off x="5019675" y="4191000"/>
            <a:ext cx="457200" cy="457200"/>
          </a:xfrm>
          <a:prstGeom prst="rect">
            <a:avLst/>
          </a:prstGeom>
          <a:noFill/>
          <a:ln w="9525">
            <a:noFill/>
            <a:miter lim="800000"/>
            <a:headEnd/>
            <a:tailEnd/>
          </a:ln>
        </p:spPr>
        <p:txBody>
          <a:bodyPr>
            <a:spAutoFit/>
          </a:bodyPr>
          <a:lstStyle/>
          <a:p>
            <a:pPr>
              <a:spcBef>
                <a:spcPct val="50000"/>
              </a:spcBef>
            </a:pPr>
            <a:r>
              <a:rPr lang="en-US" altLang="zh-CN" sz="2400" b="1">
                <a:solidFill>
                  <a:srgbClr val="0000FF"/>
                </a:solidFill>
                <a:ea typeface="宋体" charset="-122"/>
                <a:sym typeface="Wingdings" pitchFamily="2" charset="2"/>
              </a:rPr>
              <a:t>3</a:t>
            </a:r>
            <a:endParaRPr lang="zh-CN" altLang="en-US" sz="2400" b="1">
              <a:solidFill>
                <a:srgbClr val="0000FF"/>
              </a:solidFill>
              <a:ea typeface="宋体" charset="-122"/>
              <a:sym typeface="Wingdings" pitchFamily="2" charset="2"/>
            </a:endParaRPr>
          </a:p>
        </p:txBody>
      </p:sp>
      <p:sp>
        <p:nvSpPr>
          <p:cNvPr id="176154" name="Rectangle 26"/>
          <p:cNvSpPr>
            <a:spLocks noChangeArrowheads="1"/>
          </p:cNvSpPr>
          <p:nvPr/>
        </p:nvSpPr>
        <p:spPr bwMode="auto">
          <a:xfrm>
            <a:off x="4257675" y="4191000"/>
            <a:ext cx="354013" cy="457200"/>
          </a:xfrm>
          <a:prstGeom prst="rect">
            <a:avLst/>
          </a:prstGeom>
          <a:noFill/>
          <a:ln w="9525">
            <a:noFill/>
            <a:miter lim="800000"/>
            <a:headEnd/>
            <a:tailEnd/>
          </a:ln>
        </p:spPr>
        <p:txBody>
          <a:bodyPr wrap="none">
            <a:spAutoFit/>
          </a:bodyPr>
          <a:lstStyle/>
          <a:p>
            <a:r>
              <a:rPr lang="en-US" altLang="zh-CN" sz="2400" b="1">
                <a:solidFill>
                  <a:srgbClr val="0000FF"/>
                </a:solidFill>
                <a:ea typeface="宋体" charset="-122"/>
                <a:sym typeface="Wingdings" pitchFamily="2" charset="2"/>
              </a:rPr>
              <a:t>0</a:t>
            </a:r>
            <a:endParaRPr lang="zh-CN" altLang="en-US" sz="2400" b="1">
              <a:solidFill>
                <a:srgbClr val="0000FF"/>
              </a:solidFill>
              <a:ea typeface="宋体" charset="-122"/>
              <a:sym typeface="Wingdings" pitchFamily="2" charset="2"/>
            </a:endParaRPr>
          </a:p>
        </p:txBody>
      </p:sp>
      <p:sp>
        <p:nvSpPr>
          <p:cNvPr id="176155" name="Rectangle 27"/>
          <p:cNvSpPr>
            <a:spLocks noChangeArrowheads="1"/>
          </p:cNvSpPr>
          <p:nvPr/>
        </p:nvSpPr>
        <p:spPr bwMode="auto">
          <a:xfrm>
            <a:off x="3584575" y="5867400"/>
            <a:ext cx="354013" cy="457200"/>
          </a:xfrm>
          <a:prstGeom prst="rect">
            <a:avLst/>
          </a:prstGeom>
          <a:noFill/>
          <a:ln w="9525">
            <a:noFill/>
            <a:miter lim="800000"/>
            <a:headEnd/>
            <a:tailEnd/>
          </a:ln>
        </p:spPr>
        <p:txBody>
          <a:bodyPr wrap="none">
            <a:spAutoFit/>
          </a:bodyPr>
          <a:lstStyle/>
          <a:p>
            <a:r>
              <a:rPr lang="en-US" altLang="zh-CN" sz="2400" b="1">
                <a:solidFill>
                  <a:srgbClr val="0000FF"/>
                </a:solidFill>
                <a:ea typeface="宋体" charset="-122"/>
                <a:sym typeface="Wingdings" pitchFamily="2" charset="2"/>
              </a:rPr>
              <a:t>1</a:t>
            </a:r>
            <a:endParaRPr lang="zh-CN" altLang="en-US" sz="2400" b="1">
              <a:solidFill>
                <a:srgbClr val="0000FF"/>
              </a:solidFill>
              <a:ea typeface="宋体" charset="-122"/>
              <a:sym typeface="Wingdings" pitchFamily="2" charset="2"/>
            </a:endParaRPr>
          </a:p>
        </p:txBody>
      </p:sp>
      <p:sp>
        <p:nvSpPr>
          <p:cNvPr id="176156" name="Rectangle 28"/>
          <p:cNvSpPr>
            <a:spLocks noChangeArrowheads="1"/>
          </p:cNvSpPr>
          <p:nvPr/>
        </p:nvSpPr>
        <p:spPr bwMode="auto">
          <a:xfrm>
            <a:off x="3865563" y="5867400"/>
            <a:ext cx="354012" cy="457200"/>
          </a:xfrm>
          <a:prstGeom prst="rect">
            <a:avLst/>
          </a:prstGeom>
          <a:noFill/>
          <a:ln w="9525">
            <a:noFill/>
            <a:miter lim="800000"/>
            <a:headEnd/>
            <a:tailEnd/>
          </a:ln>
        </p:spPr>
        <p:txBody>
          <a:bodyPr wrap="none">
            <a:spAutoFit/>
          </a:bodyPr>
          <a:lstStyle/>
          <a:p>
            <a:r>
              <a:rPr lang="en-US" altLang="zh-CN" sz="2400" b="1">
                <a:solidFill>
                  <a:srgbClr val="0000FF"/>
                </a:solidFill>
                <a:ea typeface="宋体" charset="-122"/>
                <a:sym typeface="Wingdings" pitchFamily="2" charset="2"/>
              </a:rPr>
              <a:t>2</a:t>
            </a:r>
            <a:endParaRPr lang="zh-CN" altLang="en-US" sz="2400" b="1">
              <a:solidFill>
                <a:srgbClr val="0000FF"/>
              </a:solidFill>
              <a:ea typeface="宋体" charset="-122"/>
              <a:sym typeface="Wingdings" pitchFamily="2" charset="2"/>
            </a:endParaRPr>
          </a:p>
        </p:txBody>
      </p:sp>
      <p:sp>
        <p:nvSpPr>
          <p:cNvPr id="176158" name="Rectangle 30"/>
          <p:cNvSpPr>
            <a:spLocks noChangeArrowheads="1"/>
          </p:cNvSpPr>
          <p:nvPr/>
        </p:nvSpPr>
        <p:spPr bwMode="auto">
          <a:xfrm>
            <a:off x="3276600" y="4191000"/>
            <a:ext cx="354013" cy="457200"/>
          </a:xfrm>
          <a:prstGeom prst="rect">
            <a:avLst/>
          </a:prstGeom>
          <a:noFill/>
          <a:ln w="9525">
            <a:noFill/>
            <a:miter lim="800000"/>
            <a:headEnd/>
            <a:tailEnd/>
          </a:ln>
        </p:spPr>
        <p:txBody>
          <a:bodyPr wrap="none">
            <a:spAutoFit/>
          </a:bodyPr>
          <a:lstStyle/>
          <a:p>
            <a:r>
              <a:rPr lang="en-US" altLang="zh-CN" sz="2400" b="1">
                <a:solidFill>
                  <a:srgbClr val="0000FF"/>
                </a:solidFill>
                <a:ea typeface="宋体" charset="-122"/>
                <a:sym typeface="Wingdings" pitchFamily="2" charset="2"/>
              </a:rPr>
              <a:t>4</a:t>
            </a:r>
            <a:endParaRPr lang="zh-CN" altLang="en-US" sz="2400" b="1">
              <a:solidFill>
                <a:srgbClr val="0000FF"/>
              </a:solidFill>
              <a:ea typeface="宋体" charset="-122"/>
              <a:sym typeface="Wingdings" pitchFamily="2" charset="2"/>
            </a:endParaRPr>
          </a:p>
        </p:txBody>
      </p:sp>
      <p:sp>
        <p:nvSpPr>
          <p:cNvPr id="176164" name="Rectangle 36"/>
          <p:cNvSpPr>
            <a:spLocks noChangeArrowheads="1"/>
          </p:cNvSpPr>
          <p:nvPr/>
        </p:nvSpPr>
        <p:spPr bwMode="auto">
          <a:xfrm>
            <a:off x="4510088" y="4191000"/>
            <a:ext cx="354012" cy="457200"/>
          </a:xfrm>
          <a:prstGeom prst="rect">
            <a:avLst/>
          </a:prstGeom>
          <a:noFill/>
          <a:ln w="9525">
            <a:noFill/>
            <a:miter lim="800000"/>
            <a:headEnd/>
            <a:tailEnd/>
          </a:ln>
        </p:spPr>
        <p:txBody>
          <a:bodyPr wrap="none">
            <a:spAutoFit/>
          </a:bodyPr>
          <a:lstStyle/>
          <a:p>
            <a:r>
              <a:rPr lang="en-US" altLang="zh-CN" sz="2400" b="1">
                <a:solidFill>
                  <a:srgbClr val="0000FF"/>
                </a:solidFill>
                <a:ea typeface="宋体" charset="-122"/>
                <a:sym typeface="Wingdings" pitchFamily="2" charset="2"/>
              </a:rPr>
              <a:t>8</a:t>
            </a:r>
            <a:endParaRPr lang="zh-CN" altLang="en-US" sz="2400" b="1">
              <a:solidFill>
                <a:srgbClr val="0000FF"/>
              </a:solidFill>
              <a:ea typeface="宋体" charset="-122"/>
              <a:sym typeface="Wingdings" pitchFamily="2" charset="2"/>
            </a:endParaRPr>
          </a:p>
        </p:txBody>
      </p:sp>
      <p:sp>
        <p:nvSpPr>
          <p:cNvPr id="176165" name="Rectangle 37"/>
          <p:cNvSpPr>
            <a:spLocks noChangeArrowheads="1"/>
          </p:cNvSpPr>
          <p:nvPr/>
        </p:nvSpPr>
        <p:spPr bwMode="auto">
          <a:xfrm>
            <a:off x="3314700" y="5867400"/>
            <a:ext cx="354013" cy="457200"/>
          </a:xfrm>
          <a:prstGeom prst="rect">
            <a:avLst/>
          </a:prstGeom>
          <a:noFill/>
          <a:ln w="9525">
            <a:noFill/>
            <a:miter lim="800000"/>
            <a:headEnd/>
            <a:tailEnd/>
          </a:ln>
        </p:spPr>
        <p:txBody>
          <a:bodyPr wrap="none">
            <a:spAutoFit/>
          </a:bodyPr>
          <a:lstStyle/>
          <a:p>
            <a:r>
              <a:rPr lang="en-US" altLang="zh-CN" sz="2400" b="1">
                <a:solidFill>
                  <a:srgbClr val="0000FF"/>
                </a:solidFill>
                <a:ea typeface="宋体" charset="-122"/>
                <a:sym typeface="Wingdings" pitchFamily="2" charset="2"/>
              </a:rPr>
              <a:t>6</a:t>
            </a:r>
            <a:endParaRPr lang="zh-CN" altLang="en-US" sz="2400" b="1">
              <a:solidFill>
                <a:srgbClr val="0000FF"/>
              </a:solidFill>
              <a:ea typeface="宋体" charset="-122"/>
              <a:sym typeface="Wingdings" pitchFamily="2" charset="2"/>
            </a:endParaRPr>
          </a:p>
        </p:txBody>
      </p:sp>
      <p:sp>
        <p:nvSpPr>
          <p:cNvPr id="176166" name="Rectangle 38"/>
          <p:cNvSpPr>
            <a:spLocks noChangeArrowheads="1"/>
          </p:cNvSpPr>
          <p:nvPr/>
        </p:nvSpPr>
        <p:spPr bwMode="auto">
          <a:xfrm>
            <a:off x="6000750" y="4191000"/>
            <a:ext cx="354013" cy="457200"/>
          </a:xfrm>
          <a:prstGeom prst="rect">
            <a:avLst/>
          </a:prstGeom>
          <a:noFill/>
          <a:ln w="9525">
            <a:noFill/>
            <a:miter lim="800000"/>
            <a:headEnd/>
            <a:tailEnd/>
          </a:ln>
        </p:spPr>
        <p:txBody>
          <a:bodyPr wrap="none">
            <a:spAutoFit/>
          </a:bodyPr>
          <a:lstStyle/>
          <a:p>
            <a:r>
              <a:rPr lang="en-US" altLang="zh-CN" sz="2400" b="1">
                <a:solidFill>
                  <a:srgbClr val="0000FF"/>
                </a:solidFill>
                <a:ea typeface="宋体" charset="-122"/>
                <a:sym typeface="Wingdings" pitchFamily="2" charset="2"/>
              </a:rPr>
              <a:t>6</a:t>
            </a:r>
            <a:endParaRPr lang="zh-CN" altLang="en-US" sz="2400" b="1">
              <a:solidFill>
                <a:srgbClr val="0000FF"/>
              </a:solidFill>
              <a:ea typeface="宋体" charset="-122"/>
              <a:sym typeface="Wingdings" pitchFamily="2" charset="2"/>
            </a:endParaRPr>
          </a:p>
        </p:txBody>
      </p:sp>
      <p:sp>
        <p:nvSpPr>
          <p:cNvPr id="176168" name="Rectangle 40"/>
          <p:cNvSpPr>
            <a:spLocks noChangeArrowheads="1"/>
          </p:cNvSpPr>
          <p:nvPr/>
        </p:nvSpPr>
        <p:spPr bwMode="auto">
          <a:xfrm>
            <a:off x="5751513" y="5867400"/>
            <a:ext cx="354012" cy="457200"/>
          </a:xfrm>
          <a:prstGeom prst="rect">
            <a:avLst/>
          </a:prstGeom>
          <a:noFill/>
          <a:ln w="9525">
            <a:noFill/>
            <a:miter lim="800000"/>
            <a:headEnd/>
            <a:tailEnd/>
          </a:ln>
        </p:spPr>
        <p:txBody>
          <a:bodyPr wrap="none">
            <a:spAutoFit/>
          </a:bodyPr>
          <a:lstStyle/>
          <a:p>
            <a:r>
              <a:rPr lang="en-US" altLang="zh-CN" sz="2400" b="1">
                <a:solidFill>
                  <a:srgbClr val="0000FF"/>
                </a:solidFill>
                <a:ea typeface="宋体" charset="-122"/>
                <a:sym typeface="Wingdings" pitchFamily="2" charset="2"/>
              </a:rPr>
              <a:t>4</a:t>
            </a:r>
            <a:endParaRPr lang="zh-CN" altLang="en-US" sz="2400" b="1">
              <a:solidFill>
                <a:srgbClr val="0000FF"/>
              </a:solidFill>
              <a:ea typeface="宋体" charset="-122"/>
              <a:sym typeface="Wingdings" pitchFamily="2" charset="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1" presetClass="entr" presetSubtype="4" fill="hold" grpId="0" nodeType="clickEffect">
                                  <p:stCondLst>
                                    <p:cond delay="0"/>
                                  </p:stCondLst>
                                  <p:childTnLst>
                                    <p:set>
                                      <p:cBhvr>
                                        <p:cTn id="6" dur="1" fill="hold">
                                          <p:stCondLst>
                                            <p:cond delay="0"/>
                                          </p:stCondLst>
                                        </p:cTn>
                                        <p:tgtEl>
                                          <p:spTgt spid="176136"/>
                                        </p:tgtEl>
                                        <p:attrNameLst>
                                          <p:attrName>style.visibility</p:attrName>
                                        </p:attrNameLst>
                                      </p:cBhvr>
                                      <p:to>
                                        <p:strVal val="visible"/>
                                      </p:to>
                                    </p:set>
                                    <p:animEffect transition="in" filter="wheel(4)">
                                      <p:cBhvr>
                                        <p:cTn id="7" dur="2000"/>
                                        <p:tgtEl>
                                          <p:spTgt spid="176136"/>
                                        </p:tgtEl>
                                      </p:cBhvr>
                                    </p:animEffect>
                                  </p:childTnLst>
                                </p:cTn>
                              </p:par>
                              <p:par>
                                <p:cTn id="8" presetID="21" presetClass="entr" presetSubtype="4" fill="hold" grpId="1" nodeType="withEffect">
                                  <p:stCondLst>
                                    <p:cond delay="0"/>
                                  </p:stCondLst>
                                  <p:childTnLst>
                                    <p:set>
                                      <p:cBhvr>
                                        <p:cTn id="9" dur="1" fill="hold">
                                          <p:stCondLst>
                                            <p:cond delay="0"/>
                                          </p:stCondLst>
                                        </p:cTn>
                                        <p:tgtEl>
                                          <p:spTgt spid="176142"/>
                                        </p:tgtEl>
                                        <p:attrNameLst>
                                          <p:attrName>style.visibility</p:attrName>
                                        </p:attrNameLst>
                                      </p:cBhvr>
                                      <p:to>
                                        <p:strVal val="visible"/>
                                      </p:to>
                                    </p:set>
                                    <p:animEffect transition="in" filter="wheel(4)">
                                      <p:cBhvr>
                                        <p:cTn id="10" dur="2000"/>
                                        <p:tgtEl>
                                          <p:spTgt spid="176142"/>
                                        </p:tgtEl>
                                      </p:cBhvr>
                                    </p:animEffect>
                                  </p:childTnLst>
                                </p:cTn>
                              </p:par>
                              <p:par>
                                <p:cTn id="11" presetID="21" presetClass="entr" presetSubtype="4" fill="hold" grpId="1" nodeType="withEffect">
                                  <p:stCondLst>
                                    <p:cond delay="0"/>
                                  </p:stCondLst>
                                  <p:childTnLst>
                                    <p:set>
                                      <p:cBhvr>
                                        <p:cTn id="12" dur="1" fill="hold">
                                          <p:stCondLst>
                                            <p:cond delay="0"/>
                                          </p:stCondLst>
                                        </p:cTn>
                                        <p:tgtEl>
                                          <p:spTgt spid="176144"/>
                                        </p:tgtEl>
                                        <p:attrNameLst>
                                          <p:attrName>style.visibility</p:attrName>
                                        </p:attrNameLst>
                                      </p:cBhvr>
                                      <p:to>
                                        <p:strVal val="visible"/>
                                      </p:to>
                                    </p:set>
                                    <p:animEffect transition="in" filter="wheel(4)">
                                      <p:cBhvr>
                                        <p:cTn id="13" dur="2000"/>
                                        <p:tgtEl>
                                          <p:spTgt spid="176144"/>
                                        </p:tgtEl>
                                      </p:cBhvr>
                                    </p:animEffect>
                                  </p:childTnLst>
                                </p:cTn>
                              </p:par>
                              <p:par>
                                <p:cTn id="14" presetID="21" presetClass="entr" presetSubtype="4" fill="hold" grpId="1" nodeType="withEffect">
                                  <p:stCondLst>
                                    <p:cond delay="0"/>
                                  </p:stCondLst>
                                  <p:childTnLst>
                                    <p:set>
                                      <p:cBhvr>
                                        <p:cTn id="15" dur="1" fill="hold">
                                          <p:stCondLst>
                                            <p:cond delay="0"/>
                                          </p:stCondLst>
                                        </p:cTn>
                                        <p:tgtEl>
                                          <p:spTgt spid="176145"/>
                                        </p:tgtEl>
                                        <p:attrNameLst>
                                          <p:attrName>style.visibility</p:attrName>
                                        </p:attrNameLst>
                                      </p:cBhvr>
                                      <p:to>
                                        <p:strVal val="visible"/>
                                      </p:to>
                                    </p:set>
                                    <p:animEffect transition="in" filter="wheel(4)">
                                      <p:cBhvr>
                                        <p:cTn id="16" dur="2000"/>
                                        <p:tgtEl>
                                          <p:spTgt spid="176145"/>
                                        </p:tgtEl>
                                      </p:cBhvr>
                                    </p:animEffect>
                                  </p:childTnLst>
                                </p:cTn>
                              </p:par>
                              <p:par>
                                <p:cTn id="17" presetID="21" presetClass="entr" presetSubtype="4" fill="hold" grpId="1" nodeType="withEffect">
                                  <p:stCondLst>
                                    <p:cond delay="0"/>
                                  </p:stCondLst>
                                  <p:childTnLst>
                                    <p:set>
                                      <p:cBhvr>
                                        <p:cTn id="18" dur="1" fill="hold">
                                          <p:stCondLst>
                                            <p:cond delay="0"/>
                                          </p:stCondLst>
                                        </p:cTn>
                                        <p:tgtEl>
                                          <p:spTgt spid="176146"/>
                                        </p:tgtEl>
                                        <p:attrNameLst>
                                          <p:attrName>style.visibility</p:attrName>
                                        </p:attrNameLst>
                                      </p:cBhvr>
                                      <p:to>
                                        <p:strVal val="visible"/>
                                      </p:to>
                                    </p:set>
                                    <p:animEffect transition="in" filter="wheel(4)">
                                      <p:cBhvr>
                                        <p:cTn id="19" dur="2000"/>
                                        <p:tgtEl>
                                          <p:spTgt spid="176146"/>
                                        </p:tgtEl>
                                      </p:cBhvr>
                                    </p:animEffect>
                                  </p:childTnLst>
                                </p:cTn>
                              </p:par>
                              <p:par>
                                <p:cTn id="20" presetID="21" presetClass="entr" presetSubtype="4" fill="hold" grpId="0" nodeType="withEffect">
                                  <p:stCondLst>
                                    <p:cond delay="0"/>
                                  </p:stCondLst>
                                  <p:childTnLst>
                                    <p:set>
                                      <p:cBhvr>
                                        <p:cTn id="21" dur="1" fill="hold">
                                          <p:stCondLst>
                                            <p:cond delay="0"/>
                                          </p:stCondLst>
                                        </p:cTn>
                                        <p:tgtEl>
                                          <p:spTgt spid="176137"/>
                                        </p:tgtEl>
                                        <p:attrNameLst>
                                          <p:attrName>style.visibility</p:attrName>
                                        </p:attrNameLst>
                                      </p:cBhvr>
                                      <p:to>
                                        <p:strVal val="visible"/>
                                      </p:to>
                                    </p:set>
                                    <p:animEffect transition="in" filter="wheel(4)">
                                      <p:cBhvr>
                                        <p:cTn id="22" dur="2000"/>
                                        <p:tgtEl>
                                          <p:spTgt spid="176137"/>
                                        </p:tgtEl>
                                      </p:cBhvr>
                                    </p:animEffect>
                                  </p:childTnLst>
                                </p:cTn>
                              </p:par>
                              <p:par>
                                <p:cTn id="23" presetID="21" presetClass="entr" presetSubtype="4" fill="hold" grpId="0" nodeType="withEffect">
                                  <p:stCondLst>
                                    <p:cond delay="0"/>
                                  </p:stCondLst>
                                  <p:childTnLst>
                                    <p:set>
                                      <p:cBhvr>
                                        <p:cTn id="24" dur="1" fill="hold">
                                          <p:stCondLst>
                                            <p:cond delay="0"/>
                                          </p:stCondLst>
                                        </p:cTn>
                                        <p:tgtEl>
                                          <p:spTgt spid="176135"/>
                                        </p:tgtEl>
                                        <p:attrNameLst>
                                          <p:attrName>style.visibility</p:attrName>
                                        </p:attrNameLst>
                                      </p:cBhvr>
                                      <p:to>
                                        <p:strVal val="visible"/>
                                      </p:to>
                                    </p:set>
                                    <p:animEffect transition="in" filter="wheel(4)">
                                      <p:cBhvr>
                                        <p:cTn id="25" dur="2000"/>
                                        <p:tgtEl>
                                          <p:spTgt spid="176135"/>
                                        </p:tgtEl>
                                      </p:cBhvr>
                                    </p:animEffect>
                                  </p:childTnLst>
                                </p:cTn>
                              </p:par>
                              <p:par>
                                <p:cTn id="26" presetID="21" presetClass="entr" presetSubtype="4" fill="hold" grpId="1" nodeType="withEffect">
                                  <p:stCondLst>
                                    <p:cond delay="0"/>
                                  </p:stCondLst>
                                  <p:iterate type="lt">
                                    <p:tmPct val="0"/>
                                  </p:iterate>
                                  <p:childTnLst>
                                    <p:set>
                                      <p:cBhvr>
                                        <p:cTn id="27" dur="1" fill="hold">
                                          <p:stCondLst>
                                            <p:cond delay="0"/>
                                          </p:stCondLst>
                                        </p:cTn>
                                        <p:tgtEl>
                                          <p:spTgt spid="176152"/>
                                        </p:tgtEl>
                                        <p:attrNameLst>
                                          <p:attrName>style.visibility</p:attrName>
                                        </p:attrNameLst>
                                      </p:cBhvr>
                                      <p:to>
                                        <p:strVal val="visible"/>
                                      </p:to>
                                    </p:set>
                                    <p:animEffect transition="in" filter="wheel(4)">
                                      <p:cBhvr>
                                        <p:cTn id="28" dur="2000"/>
                                        <p:tgtEl>
                                          <p:spTgt spid="176152"/>
                                        </p:tgtEl>
                                      </p:cBhvr>
                                    </p:animEffect>
                                  </p:childTnLst>
                                </p:cTn>
                              </p:par>
                              <p:par>
                                <p:cTn id="29" presetID="21" presetClass="entr" presetSubtype="4" fill="hold" grpId="1" nodeType="withEffect">
                                  <p:stCondLst>
                                    <p:cond delay="0"/>
                                  </p:stCondLst>
                                  <p:iterate type="lt">
                                    <p:tmPct val="0"/>
                                  </p:iterate>
                                  <p:childTnLst>
                                    <p:set>
                                      <p:cBhvr>
                                        <p:cTn id="30" dur="1" fill="hold">
                                          <p:stCondLst>
                                            <p:cond delay="0"/>
                                          </p:stCondLst>
                                        </p:cTn>
                                        <p:tgtEl>
                                          <p:spTgt spid="176150"/>
                                        </p:tgtEl>
                                        <p:attrNameLst>
                                          <p:attrName>style.visibility</p:attrName>
                                        </p:attrNameLst>
                                      </p:cBhvr>
                                      <p:to>
                                        <p:strVal val="visible"/>
                                      </p:to>
                                    </p:set>
                                    <p:animEffect transition="in" filter="wheel(4)">
                                      <p:cBhvr>
                                        <p:cTn id="31" dur="2000"/>
                                        <p:tgtEl>
                                          <p:spTgt spid="176150"/>
                                        </p:tgtEl>
                                      </p:cBhvr>
                                    </p:animEffect>
                                  </p:childTnLst>
                                </p:cTn>
                              </p:par>
                              <p:par>
                                <p:cTn id="32" presetID="21" presetClass="entr" presetSubtype="4" fill="hold" grpId="1" nodeType="withEffect">
                                  <p:stCondLst>
                                    <p:cond delay="0"/>
                                  </p:stCondLst>
                                  <p:childTnLst>
                                    <p:set>
                                      <p:cBhvr>
                                        <p:cTn id="33" dur="1" fill="hold">
                                          <p:stCondLst>
                                            <p:cond delay="0"/>
                                          </p:stCondLst>
                                        </p:cTn>
                                        <p:tgtEl>
                                          <p:spTgt spid="176151"/>
                                        </p:tgtEl>
                                        <p:attrNameLst>
                                          <p:attrName>style.visibility</p:attrName>
                                        </p:attrNameLst>
                                      </p:cBhvr>
                                      <p:to>
                                        <p:strVal val="visible"/>
                                      </p:to>
                                    </p:set>
                                    <p:animEffect transition="in" filter="wheel(4)">
                                      <p:cBhvr>
                                        <p:cTn id="34" dur="2000"/>
                                        <p:tgtEl>
                                          <p:spTgt spid="176151"/>
                                        </p:tgtEl>
                                      </p:cBhvr>
                                    </p:animEffect>
                                  </p:childTnLst>
                                </p:cTn>
                              </p:par>
                              <p:par>
                                <p:cTn id="35" presetID="21" presetClass="entr" presetSubtype="4" fill="hold" grpId="1" nodeType="withEffect">
                                  <p:stCondLst>
                                    <p:cond delay="0"/>
                                  </p:stCondLst>
                                  <p:iterate type="lt">
                                    <p:tmPct val="0"/>
                                  </p:iterate>
                                  <p:childTnLst>
                                    <p:set>
                                      <p:cBhvr>
                                        <p:cTn id="36" dur="1" fill="hold">
                                          <p:stCondLst>
                                            <p:cond delay="0"/>
                                          </p:stCondLst>
                                        </p:cTn>
                                        <p:tgtEl>
                                          <p:spTgt spid="176148"/>
                                        </p:tgtEl>
                                        <p:attrNameLst>
                                          <p:attrName>style.visibility</p:attrName>
                                        </p:attrNameLst>
                                      </p:cBhvr>
                                      <p:to>
                                        <p:strVal val="visible"/>
                                      </p:to>
                                    </p:set>
                                    <p:animEffect transition="in" filter="wheel(4)">
                                      <p:cBhvr>
                                        <p:cTn id="37" dur="2000"/>
                                        <p:tgtEl>
                                          <p:spTgt spid="176148"/>
                                        </p:tgtEl>
                                      </p:cBhvr>
                                    </p:animEffect>
                                  </p:childTnLst>
                                </p:cTn>
                              </p:par>
                              <p:par>
                                <p:cTn id="38" presetID="21" presetClass="entr" presetSubtype="4" fill="hold" grpId="1" nodeType="withEffect">
                                  <p:stCondLst>
                                    <p:cond delay="0"/>
                                  </p:stCondLst>
                                  <p:iterate type="lt">
                                    <p:tmPct val="0"/>
                                  </p:iterate>
                                  <p:childTnLst>
                                    <p:set>
                                      <p:cBhvr>
                                        <p:cTn id="39" dur="1" fill="hold">
                                          <p:stCondLst>
                                            <p:cond delay="0"/>
                                          </p:stCondLst>
                                        </p:cTn>
                                        <p:tgtEl>
                                          <p:spTgt spid="176149"/>
                                        </p:tgtEl>
                                        <p:attrNameLst>
                                          <p:attrName>style.visibility</p:attrName>
                                        </p:attrNameLst>
                                      </p:cBhvr>
                                      <p:to>
                                        <p:strVal val="visible"/>
                                      </p:to>
                                    </p:set>
                                    <p:animEffect transition="in" filter="wheel(4)">
                                      <p:cBhvr>
                                        <p:cTn id="40" dur="2000"/>
                                        <p:tgtEl>
                                          <p:spTgt spid="176149"/>
                                        </p:tgtEl>
                                      </p:cBhvr>
                                    </p:animEffect>
                                  </p:childTnLst>
                                </p:cTn>
                              </p:par>
                              <p:par>
                                <p:cTn id="41" presetID="21" presetClass="entr" presetSubtype="4" fill="hold" grpId="1" nodeType="withEffect">
                                  <p:stCondLst>
                                    <p:cond delay="0"/>
                                  </p:stCondLst>
                                  <p:childTnLst>
                                    <p:set>
                                      <p:cBhvr>
                                        <p:cTn id="42" dur="1" fill="hold">
                                          <p:stCondLst>
                                            <p:cond delay="0"/>
                                          </p:stCondLst>
                                        </p:cTn>
                                        <p:tgtEl>
                                          <p:spTgt spid="176141"/>
                                        </p:tgtEl>
                                        <p:attrNameLst>
                                          <p:attrName>style.visibility</p:attrName>
                                        </p:attrNameLst>
                                      </p:cBhvr>
                                      <p:to>
                                        <p:strVal val="visible"/>
                                      </p:to>
                                    </p:set>
                                    <p:animEffect transition="in" filter="wheel(4)">
                                      <p:cBhvr>
                                        <p:cTn id="43" dur="2000"/>
                                        <p:tgtEl>
                                          <p:spTgt spid="176141"/>
                                        </p:tgtEl>
                                      </p:cBhvr>
                                    </p:animEffect>
                                  </p:childTnLst>
                                </p:cTn>
                              </p:par>
                              <p:par>
                                <p:cTn id="44" presetID="21" presetClass="entr" presetSubtype="4" fill="hold" grpId="1" nodeType="withEffect">
                                  <p:stCondLst>
                                    <p:cond delay="0"/>
                                  </p:stCondLst>
                                  <p:childTnLst>
                                    <p:set>
                                      <p:cBhvr>
                                        <p:cTn id="45" dur="1" fill="hold">
                                          <p:stCondLst>
                                            <p:cond delay="0"/>
                                          </p:stCondLst>
                                        </p:cTn>
                                        <p:tgtEl>
                                          <p:spTgt spid="176143"/>
                                        </p:tgtEl>
                                        <p:attrNameLst>
                                          <p:attrName>style.visibility</p:attrName>
                                        </p:attrNameLst>
                                      </p:cBhvr>
                                      <p:to>
                                        <p:strVal val="visible"/>
                                      </p:to>
                                    </p:set>
                                    <p:animEffect transition="in" filter="wheel(4)">
                                      <p:cBhvr>
                                        <p:cTn id="46" dur="2000"/>
                                        <p:tgtEl>
                                          <p:spTgt spid="176143"/>
                                        </p:tgtEl>
                                      </p:cBhvr>
                                    </p:animEffect>
                                  </p:childTnLst>
                                </p:cTn>
                              </p:par>
                              <p:par>
                                <p:cTn id="47" presetID="21" presetClass="entr" presetSubtype="4" fill="hold" grpId="1" nodeType="withEffect">
                                  <p:stCondLst>
                                    <p:cond delay="0"/>
                                  </p:stCondLst>
                                  <p:childTnLst>
                                    <p:set>
                                      <p:cBhvr>
                                        <p:cTn id="48" dur="1" fill="hold">
                                          <p:stCondLst>
                                            <p:cond delay="0"/>
                                          </p:stCondLst>
                                        </p:cTn>
                                        <p:tgtEl>
                                          <p:spTgt spid="176147"/>
                                        </p:tgtEl>
                                        <p:attrNameLst>
                                          <p:attrName>style.visibility</p:attrName>
                                        </p:attrNameLst>
                                      </p:cBhvr>
                                      <p:to>
                                        <p:strVal val="visible"/>
                                      </p:to>
                                    </p:set>
                                    <p:animEffect transition="in" filter="wheel(4)">
                                      <p:cBhvr>
                                        <p:cTn id="49" dur="2000"/>
                                        <p:tgtEl>
                                          <p:spTgt spid="176147"/>
                                        </p:tgtEl>
                                      </p:cBhvr>
                                    </p:animEffect>
                                  </p:childTnLst>
                                </p:cTn>
                              </p:par>
                            </p:childTnLst>
                          </p:cTn>
                        </p:par>
                      </p:childTnLst>
                    </p:cTn>
                  </p:par>
                  <p:par>
                    <p:cTn id="50" fill="hold">
                      <p:stCondLst>
                        <p:cond delay="indefinite"/>
                      </p:stCondLst>
                      <p:childTnLst>
                        <p:par>
                          <p:cTn id="51" fill="hold">
                            <p:stCondLst>
                              <p:cond delay="0"/>
                            </p:stCondLst>
                            <p:childTnLst>
                              <p:par>
                                <p:cTn id="52" presetID="10" presetClass="exit" presetSubtype="0" fill="hold" nodeType="clickEffect">
                                  <p:stCondLst>
                                    <p:cond delay="0"/>
                                  </p:stCondLst>
                                  <p:childTnLst>
                                    <p:animEffect transition="out" filter="fade">
                                      <p:cBhvr>
                                        <p:cTn id="53" dur="2000"/>
                                        <p:tgtEl>
                                          <p:spTgt spid="176137"/>
                                        </p:tgtEl>
                                      </p:cBhvr>
                                    </p:animEffect>
                                    <p:set>
                                      <p:cBhvr>
                                        <p:cTn id="54" dur="1" fill="hold">
                                          <p:stCondLst>
                                            <p:cond delay="1999"/>
                                          </p:stCondLst>
                                        </p:cTn>
                                        <p:tgtEl>
                                          <p:spTgt spid="176137"/>
                                        </p:tgtEl>
                                        <p:attrNameLst>
                                          <p:attrName>style.visibility</p:attrName>
                                        </p:attrNameLst>
                                      </p:cBhvr>
                                      <p:to>
                                        <p:strVal val="hidden"/>
                                      </p:to>
                                    </p:set>
                                  </p:childTnLst>
                                </p:cTn>
                              </p:par>
                            </p:childTnLst>
                          </p:cTn>
                        </p:par>
                        <p:par>
                          <p:cTn id="55" fill="hold">
                            <p:stCondLst>
                              <p:cond delay="2000"/>
                            </p:stCondLst>
                            <p:childTnLst>
                              <p:par>
                                <p:cTn id="56" presetID="10" presetClass="entr" presetSubtype="0" fill="hold" grpId="0" nodeType="afterEffect">
                                  <p:stCondLst>
                                    <p:cond delay="0"/>
                                  </p:stCondLst>
                                  <p:childTnLst>
                                    <p:set>
                                      <p:cBhvr>
                                        <p:cTn id="57" dur="1" fill="hold">
                                          <p:stCondLst>
                                            <p:cond delay="0"/>
                                          </p:stCondLst>
                                        </p:cTn>
                                        <p:tgtEl>
                                          <p:spTgt spid="176167"/>
                                        </p:tgtEl>
                                        <p:attrNameLst>
                                          <p:attrName>style.visibility</p:attrName>
                                        </p:attrNameLst>
                                      </p:cBhvr>
                                      <p:to>
                                        <p:strVal val="visible"/>
                                      </p:to>
                                    </p:set>
                                    <p:animEffect transition="in" filter="fade">
                                      <p:cBhvr>
                                        <p:cTn id="58" dur="1000"/>
                                        <p:tgtEl>
                                          <p:spTgt spid="176167"/>
                                        </p:tgtEl>
                                      </p:cBhvr>
                                    </p:animEffect>
                                  </p:childTnLst>
                                </p:cTn>
                              </p:par>
                            </p:childTnLst>
                          </p:cTn>
                        </p:par>
                      </p:childTnLst>
                    </p:cTn>
                  </p:par>
                  <p:par>
                    <p:cTn id="59" fill="hold">
                      <p:stCondLst>
                        <p:cond delay="indefinite"/>
                      </p:stCondLst>
                      <p:childTnLst>
                        <p:par>
                          <p:cTn id="60" fill="hold">
                            <p:stCondLst>
                              <p:cond delay="0"/>
                            </p:stCondLst>
                            <p:childTnLst>
                              <p:par>
                                <p:cTn id="61" presetID="64" presetClass="path" presetSubtype="0" accel="50000" decel="50000" fill="hold" grpId="0" nodeType="clickEffect">
                                  <p:stCondLst>
                                    <p:cond delay="0"/>
                                  </p:stCondLst>
                                  <p:childTnLst>
                                    <p:animMotion origin="layout" path="M -0.00209 -1.11111E-6 L -0.00209 -0.16667 " pathEditMode="relative" rAng="0" ptsTypes="AA">
                                      <p:cBhvr>
                                        <p:cTn id="62" dur="1000" fill="hold"/>
                                        <p:tgtEl>
                                          <p:spTgt spid="176141"/>
                                        </p:tgtEl>
                                        <p:attrNameLst>
                                          <p:attrName>ppt_x</p:attrName>
                                          <p:attrName>ppt_y</p:attrName>
                                        </p:attrNameLst>
                                      </p:cBhvr>
                                      <p:rCtr x="0" y="-83"/>
                                    </p:animMotion>
                                  </p:childTnLst>
                                  <p:subTnLst>
                                    <p:set>
                                      <p:cBhvr override="childStyle">
                                        <p:cTn dur="1" fill="hold" display="0" masterRel="sameClick" afterEffect="1">
                                          <p:stCondLst>
                                            <p:cond evt="end" delay="0">
                                              <p:tn val="61"/>
                                            </p:cond>
                                          </p:stCondLst>
                                        </p:cTn>
                                        <p:tgtEl>
                                          <p:spTgt spid="176141"/>
                                        </p:tgtEl>
                                        <p:attrNameLst>
                                          <p:attrName>style.visibility</p:attrName>
                                        </p:attrNameLst>
                                      </p:cBhvr>
                                      <p:to>
                                        <p:strVal val="hidden"/>
                                      </p:to>
                                    </p:set>
                                  </p:subTnLst>
                                </p:cTn>
                              </p:par>
                            </p:childTnLst>
                          </p:cTn>
                        </p:par>
                        <p:par>
                          <p:cTn id="63" fill="hold">
                            <p:stCondLst>
                              <p:cond delay="1000"/>
                            </p:stCondLst>
                            <p:childTnLst>
                              <p:par>
                                <p:cTn id="64" presetID="42" presetClass="path" presetSubtype="0" accel="50000" decel="50000" fill="hold" grpId="0" nodeType="afterEffect">
                                  <p:stCondLst>
                                    <p:cond delay="0"/>
                                  </p:stCondLst>
                                  <p:childTnLst>
                                    <p:animMotion origin="layout" path="M -0.00017 -4.44444E-6 L 0.13907 0.12223 " pathEditMode="relative" rAng="0" ptsTypes="AA">
                                      <p:cBhvr>
                                        <p:cTn id="65" dur="1000" fill="hold"/>
                                        <p:tgtEl>
                                          <p:spTgt spid="176158"/>
                                        </p:tgtEl>
                                        <p:attrNameLst>
                                          <p:attrName>ppt_x</p:attrName>
                                          <p:attrName>ppt_y</p:attrName>
                                        </p:attrNameLst>
                                      </p:cBhvr>
                                      <p:rCtr x="70" y="61"/>
                                    </p:animMotion>
                                  </p:childTnLst>
                                </p:cTn>
                              </p:par>
                            </p:childTnLst>
                          </p:cTn>
                        </p:par>
                        <p:par>
                          <p:cTn id="66" fill="hold">
                            <p:stCondLst>
                              <p:cond delay="2000"/>
                            </p:stCondLst>
                            <p:childTnLst>
                              <p:par>
                                <p:cTn id="67" presetID="64" presetClass="path" presetSubtype="0" accel="50000" decel="50000" fill="hold" grpId="1" nodeType="afterEffect">
                                  <p:stCondLst>
                                    <p:cond delay="0"/>
                                  </p:stCondLst>
                                  <p:childTnLst>
                                    <p:animMotion origin="layout" path="M 0.13594 0.12223 L 0.13594 -0.07777 " pathEditMode="relative" rAng="0" ptsTypes="AA">
                                      <p:cBhvr>
                                        <p:cTn id="68" dur="1000" fill="hold"/>
                                        <p:tgtEl>
                                          <p:spTgt spid="176158"/>
                                        </p:tgtEl>
                                        <p:attrNameLst>
                                          <p:attrName>ppt_x</p:attrName>
                                          <p:attrName>ppt_y</p:attrName>
                                        </p:attrNameLst>
                                      </p:cBhvr>
                                      <p:rCtr x="0" y="-100"/>
                                    </p:animMotion>
                                  </p:childTnLst>
                                </p:cTn>
                              </p:par>
                            </p:childTnLst>
                          </p:cTn>
                        </p:par>
                        <p:par>
                          <p:cTn id="69" fill="hold">
                            <p:stCondLst>
                              <p:cond delay="3000"/>
                            </p:stCondLst>
                            <p:childTnLst>
                              <p:par>
                                <p:cTn id="70" presetID="42" presetClass="path" presetSubtype="0" accel="50000" decel="50000" fill="hold" grpId="2" nodeType="afterEffect">
                                  <p:stCondLst>
                                    <p:cond delay="0"/>
                                  </p:stCondLst>
                                  <p:childTnLst>
                                    <p:animMotion origin="layout" path="M 0.13594 -0.07777 L 0.13594 -4.44444E-6 " pathEditMode="relative" rAng="0" ptsTypes="AA">
                                      <p:cBhvr>
                                        <p:cTn id="71" dur="1000" fill="hold"/>
                                        <p:tgtEl>
                                          <p:spTgt spid="176158"/>
                                        </p:tgtEl>
                                        <p:attrNameLst>
                                          <p:attrName>ppt_x</p:attrName>
                                          <p:attrName>ppt_y</p:attrName>
                                        </p:attrNameLst>
                                      </p:cBhvr>
                                      <p:rCtr x="0" y="39"/>
                                    </p:animMotion>
                                  </p:childTnLst>
                                  <p:subTnLst>
                                    <p:set>
                                      <p:cBhvr override="childStyle">
                                        <p:cTn dur="1" fill="hold" display="0" masterRel="sameClick" afterEffect="1">
                                          <p:stCondLst>
                                            <p:cond evt="end" delay="0">
                                              <p:tn val="70"/>
                                            </p:cond>
                                          </p:stCondLst>
                                        </p:cTn>
                                        <p:tgtEl>
                                          <p:spTgt spid="176158"/>
                                        </p:tgtEl>
                                        <p:attrNameLst>
                                          <p:attrName>style.visibility</p:attrName>
                                        </p:attrNameLst>
                                      </p:cBhvr>
                                      <p:to>
                                        <p:strVal val="hidden"/>
                                      </p:to>
                                    </p:set>
                                  </p:subTnLst>
                                </p:cTn>
                              </p:par>
                            </p:childTnLst>
                          </p:cTn>
                        </p:par>
                        <p:par>
                          <p:cTn id="72" fill="hold">
                            <p:stCondLst>
                              <p:cond delay="4000"/>
                            </p:stCondLst>
                            <p:childTnLst>
                              <p:par>
                                <p:cTn id="73" presetID="0" presetClass="path" presetSubtype="0" accel="50000" decel="50000" fill="hold" grpId="0" nodeType="afterEffect">
                                  <p:stCondLst>
                                    <p:cond delay="0"/>
                                  </p:stCondLst>
                                  <p:childTnLst>
                                    <p:animMotion origin="layout" path="M 0.00052 -4.44444E-6 L -0.1375 0.16667 " pathEditMode="relative" rAng="0" ptsTypes="AA">
                                      <p:cBhvr>
                                        <p:cTn id="74" dur="1000" fill="hold"/>
                                        <p:tgtEl>
                                          <p:spTgt spid="176164"/>
                                        </p:tgtEl>
                                        <p:attrNameLst>
                                          <p:attrName>ppt_x</p:attrName>
                                          <p:attrName>ppt_y</p:attrName>
                                        </p:attrNameLst>
                                      </p:cBhvr>
                                      <p:rCtr x="-69" y="83"/>
                                    </p:animMotion>
                                  </p:childTnLst>
                                </p:cTn>
                              </p:par>
                            </p:childTnLst>
                          </p:cTn>
                        </p:par>
                      </p:childTnLst>
                    </p:cTn>
                  </p:par>
                  <p:par>
                    <p:cTn id="75" fill="hold">
                      <p:stCondLst>
                        <p:cond delay="indefinite"/>
                      </p:stCondLst>
                      <p:childTnLst>
                        <p:par>
                          <p:cTn id="76" fill="hold">
                            <p:stCondLst>
                              <p:cond delay="0"/>
                            </p:stCondLst>
                            <p:childTnLst>
                              <p:par>
                                <p:cTn id="77" presetID="64" presetClass="path" presetSubtype="0" accel="50000" decel="50000" fill="hold" grpId="0" nodeType="clickEffect">
                                  <p:stCondLst>
                                    <p:cond delay="0"/>
                                  </p:stCondLst>
                                  <p:childTnLst>
                                    <p:animMotion origin="layout" path="M -0.00416 -1.11111E-6 L -0.00416 -0.16667 " pathEditMode="relative" rAng="0" ptsTypes="AA">
                                      <p:cBhvr>
                                        <p:cTn id="78" dur="1000" fill="hold"/>
                                        <p:tgtEl>
                                          <p:spTgt spid="176143"/>
                                        </p:tgtEl>
                                        <p:attrNameLst>
                                          <p:attrName>ppt_x</p:attrName>
                                          <p:attrName>ppt_y</p:attrName>
                                        </p:attrNameLst>
                                      </p:cBhvr>
                                      <p:rCtr x="0" y="-83"/>
                                    </p:animMotion>
                                  </p:childTnLst>
                                  <p:subTnLst>
                                    <p:set>
                                      <p:cBhvr override="childStyle">
                                        <p:cTn dur="1" fill="hold" display="0" masterRel="sameClick" afterEffect="1">
                                          <p:stCondLst>
                                            <p:cond evt="end" delay="0">
                                              <p:tn val="77"/>
                                            </p:cond>
                                          </p:stCondLst>
                                        </p:cTn>
                                        <p:tgtEl>
                                          <p:spTgt spid="176143"/>
                                        </p:tgtEl>
                                        <p:attrNameLst>
                                          <p:attrName>style.visibility</p:attrName>
                                        </p:attrNameLst>
                                      </p:cBhvr>
                                      <p:to>
                                        <p:strVal val="hidden"/>
                                      </p:to>
                                    </p:set>
                                  </p:subTnLst>
                                </p:cTn>
                              </p:par>
                            </p:childTnLst>
                          </p:cTn>
                        </p:par>
                        <p:par>
                          <p:cTn id="79" fill="hold">
                            <p:stCondLst>
                              <p:cond delay="1000"/>
                            </p:stCondLst>
                            <p:childTnLst>
                              <p:par>
                                <p:cTn id="80" presetID="42" presetClass="path" presetSubtype="0" accel="50000" decel="50000" fill="hold" grpId="0" nodeType="afterEffect">
                                  <p:stCondLst>
                                    <p:cond delay="0"/>
                                  </p:stCondLst>
                                  <p:childTnLst>
                                    <p:animMotion origin="layout" path="M 1.66667E-6 -4.44444E-6 L 0.06979 0.12223 " pathEditMode="relative" rAng="0" ptsTypes="AA">
                                      <p:cBhvr>
                                        <p:cTn id="81" dur="1000" fill="hold"/>
                                        <p:tgtEl>
                                          <p:spTgt spid="176160"/>
                                        </p:tgtEl>
                                        <p:attrNameLst>
                                          <p:attrName>ppt_x</p:attrName>
                                          <p:attrName>ppt_y</p:attrName>
                                        </p:attrNameLst>
                                      </p:cBhvr>
                                      <p:rCtr x="35" y="61"/>
                                    </p:animMotion>
                                  </p:childTnLst>
                                </p:cTn>
                              </p:par>
                            </p:childTnLst>
                          </p:cTn>
                        </p:par>
                        <p:par>
                          <p:cTn id="82" fill="hold">
                            <p:stCondLst>
                              <p:cond delay="2000"/>
                            </p:stCondLst>
                            <p:childTnLst>
                              <p:par>
                                <p:cTn id="83" presetID="63" presetClass="path" presetSubtype="0" accel="50000" decel="50000" fill="hold" grpId="1" nodeType="afterEffect">
                                  <p:stCondLst>
                                    <p:cond delay="0"/>
                                  </p:stCondLst>
                                  <p:childTnLst>
                                    <p:animMotion origin="layout" path="M 0.06979 0.12223 L 0.17135 0.12223 " pathEditMode="relative" rAng="0" ptsTypes="AA">
                                      <p:cBhvr>
                                        <p:cTn id="84" dur="1000" fill="hold"/>
                                        <p:tgtEl>
                                          <p:spTgt spid="176160"/>
                                        </p:tgtEl>
                                        <p:attrNameLst>
                                          <p:attrName>ppt_x</p:attrName>
                                          <p:attrName>ppt_y</p:attrName>
                                        </p:attrNameLst>
                                      </p:cBhvr>
                                      <p:rCtr x="51" y="0"/>
                                    </p:animMotion>
                                  </p:childTnLst>
                                </p:cTn>
                              </p:par>
                            </p:childTnLst>
                          </p:cTn>
                        </p:par>
                        <p:par>
                          <p:cTn id="85" fill="hold">
                            <p:stCondLst>
                              <p:cond delay="3000"/>
                            </p:stCondLst>
                            <p:childTnLst>
                              <p:par>
                                <p:cTn id="86" presetID="0" presetClass="path" presetSubtype="0" accel="50000" decel="50000" fill="hold" grpId="2" nodeType="afterEffect">
                                  <p:stCondLst>
                                    <p:cond delay="0"/>
                                  </p:stCondLst>
                                  <p:childTnLst>
                                    <p:animMotion origin="layout" path="M 0.17135 0.12223 L 0.00468 0.16667 " pathEditMode="relative" rAng="0" ptsTypes="AA">
                                      <p:cBhvr>
                                        <p:cTn id="87" dur="1000" fill="hold"/>
                                        <p:tgtEl>
                                          <p:spTgt spid="176160"/>
                                        </p:tgtEl>
                                        <p:attrNameLst>
                                          <p:attrName>ppt_x</p:attrName>
                                          <p:attrName>ppt_y</p:attrName>
                                        </p:attrNameLst>
                                      </p:cBhvr>
                                      <p:rCtr x="-83" y="22"/>
                                    </p:animMotion>
                                  </p:childTnLst>
                                </p:cTn>
                              </p:par>
                            </p:childTnLst>
                          </p:cTn>
                        </p:par>
                      </p:childTnLst>
                    </p:cTn>
                  </p:par>
                  <p:par>
                    <p:cTn id="88" fill="hold">
                      <p:stCondLst>
                        <p:cond delay="indefinite"/>
                      </p:stCondLst>
                      <p:childTnLst>
                        <p:par>
                          <p:cTn id="89" fill="hold">
                            <p:stCondLst>
                              <p:cond delay="0"/>
                            </p:stCondLst>
                            <p:childTnLst>
                              <p:par>
                                <p:cTn id="90" presetID="10" presetClass="exit" presetSubtype="0" fill="hold" grpId="0" nodeType="clickEffect">
                                  <p:stCondLst>
                                    <p:cond delay="0"/>
                                  </p:stCondLst>
                                  <p:childTnLst>
                                    <p:animEffect transition="out" filter="fade">
                                      <p:cBhvr>
                                        <p:cTn id="91" dur="2000"/>
                                        <p:tgtEl>
                                          <p:spTgt spid="176142"/>
                                        </p:tgtEl>
                                      </p:cBhvr>
                                    </p:animEffect>
                                    <p:set>
                                      <p:cBhvr>
                                        <p:cTn id="92" dur="1" fill="hold">
                                          <p:stCondLst>
                                            <p:cond delay="1999"/>
                                          </p:stCondLst>
                                        </p:cTn>
                                        <p:tgtEl>
                                          <p:spTgt spid="176142"/>
                                        </p:tgtEl>
                                        <p:attrNameLst>
                                          <p:attrName>style.visibility</p:attrName>
                                        </p:attrNameLst>
                                      </p:cBhvr>
                                      <p:to>
                                        <p:strVal val="hidden"/>
                                      </p:to>
                                    </p:set>
                                  </p:childTnLst>
                                </p:cTn>
                              </p:par>
                            </p:childTnLst>
                          </p:cTn>
                        </p:par>
                        <p:par>
                          <p:cTn id="93" fill="hold">
                            <p:stCondLst>
                              <p:cond delay="2000"/>
                            </p:stCondLst>
                            <p:childTnLst>
                              <p:par>
                                <p:cTn id="94" presetID="10" presetClass="entr" presetSubtype="0" fill="hold" grpId="0" nodeType="afterEffect">
                                  <p:stCondLst>
                                    <p:cond delay="0"/>
                                  </p:stCondLst>
                                  <p:childTnLst>
                                    <p:set>
                                      <p:cBhvr>
                                        <p:cTn id="95" dur="1" fill="hold">
                                          <p:stCondLst>
                                            <p:cond delay="0"/>
                                          </p:stCondLst>
                                        </p:cTn>
                                        <p:tgtEl>
                                          <p:spTgt spid="176161"/>
                                        </p:tgtEl>
                                        <p:attrNameLst>
                                          <p:attrName>style.visibility</p:attrName>
                                        </p:attrNameLst>
                                      </p:cBhvr>
                                      <p:to>
                                        <p:strVal val="visible"/>
                                      </p:to>
                                    </p:set>
                                    <p:animEffect transition="in" filter="fade">
                                      <p:cBhvr>
                                        <p:cTn id="96" dur="1000"/>
                                        <p:tgtEl>
                                          <p:spTgt spid="176161"/>
                                        </p:tgtEl>
                                      </p:cBhvr>
                                    </p:animEffect>
                                  </p:childTnLst>
                                </p:cTn>
                              </p:par>
                            </p:childTnLst>
                          </p:cTn>
                        </p:par>
                      </p:childTnLst>
                    </p:cTn>
                  </p:par>
                  <p:par>
                    <p:cTn id="97" fill="hold">
                      <p:stCondLst>
                        <p:cond delay="indefinite"/>
                      </p:stCondLst>
                      <p:childTnLst>
                        <p:par>
                          <p:cTn id="98" fill="hold">
                            <p:stCondLst>
                              <p:cond delay="0"/>
                            </p:stCondLst>
                            <p:childTnLst>
                              <p:par>
                                <p:cTn id="99" presetID="53" presetClass="exit" presetSubtype="0" fill="hold" grpId="0" nodeType="clickEffect">
                                  <p:stCondLst>
                                    <p:cond delay="0"/>
                                  </p:stCondLst>
                                  <p:childTnLst>
                                    <p:anim calcmode="lin" valueType="num">
                                      <p:cBhvr>
                                        <p:cTn id="100" dur="500"/>
                                        <p:tgtEl>
                                          <p:spTgt spid="176145"/>
                                        </p:tgtEl>
                                        <p:attrNameLst>
                                          <p:attrName>ppt_w</p:attrName>
                                        </p:attrNameLst>
                                      </p:cBhvr>
                                      <p:tavLst>
                                        <p:tav tm="0">
                                          <p:val>
                                            <p:strVal val="ppt_w"/>
                                          </p:val>
                                        </p:tav>
                                        <p:tav tm="100000">
                                          <p:val>
                                            <p:fltVal val="0"/>
                                          </p:val>
                                        </p:tav>
                                      </p:tavLst>
                                    </p:anim>
                                    <p:anim calcmode="lin" valueType="num">
                                      <p:cBhvr>
                                        <p:cTn id="101" dur="500"/>
                                        <p:tgtEl>
                                          <p:spTgt spid="176145"/>
                                        </p:tgtEl>
                                        <p:attrNameLst>
                                          <p:attrName>ppt_h</p:attrName>
                                        </p:attrNameLst>
                                      </p:cBhvr>
                                      <p:tavLst>
                                        <p:tav tm="0">
                                          <p:val>
                                            <p:strVal val="ppt_h"/>
                                          </p:val>
                                        </p:tav>
                                        <p:tav tm="100000">
                                          <p:val>
                                            <p:fltVal val="0"/>
                                          </p:val>
                                        </p:tav>
                                      </p:tavLst>
                                    </p:anim>
                                    <p:animEffect transition="out" filter="fade">
                                      <p:cBhvr>
                                        <p:cTn id="102" dur="500"/>
                                        <p:tgtEl>
                                          <p:spTgt spid="176145"/>
                                        </p:tgtEl>
                                      </p:cBhvr>
                                    </p:animEffect>
                                    <p:set>
                                      <p:cBhvr>
                                        <p:cTn id="103" dur="1" fill="hold">
                                          <p:stCondLst>
                                            <p:cond delay="499"/>
                                          </p:stCondLst>
                                        </p:cTn>
                                        <p:tgtEl>
                                          <p:spTgt spid="176145"/>
                                        </p:tgtEl>
                                        <p:attrNameLst>
                                          <p:attrName>style.visibility</p:attrName>
                                        </p:attrNameLst>
                                      </p:cBhvr>
                                      <p:to>
                                        <p:strVal val="hidden"/>
                                      </p:to>
                                    </p:set>
                                  </p:childTnLst>
                                </p:cTn>
                              </p:par>
                              <p:par>
                                <p:cTn id="104" presetID="53" presetClass="exit" presetSubtype="0" fill="hold" grpId="0" nodeType="withEffect">
                                  <p:stCondLst>
                                    <p:cond delay="0"/>
                                  </p:stCondLst>
                                  <p:childTnLst>
                                    <p:anim calcmode="lin" valueType="num">
                                      <p:cBhvr>
                                        <p:cTn id="105" dur="500"/>
                                        <p:tgtEl>
                                          <p:spTgt spid="176144"/>
                                        </p:tgtEl>
                                        <p:attrNameLst>
                                          <p:attrName>ppt_w</p:attrName>
                                        </p:attrNameLst>
                                      </p:cBhvr>
                                      <p:tavLst>
                                        <p:tav tm="0">
                                          <p:val>
                                            <p:strVal val="ppt_w"/>
                                          </p:val>
                                        </p:tav>
                                        <p:tav tm="100000">
                                          <p:val>
                                            <p:fltVal val="0"/>
                                          </p:val>
                                        </p:tav>
                                      </p:tavLst>
                                    </p:anim>
                                    <p:anim calcmode="lin" valueType="num">
                                      <p:cBhvr>
                                        <p:cTn id="106" dur="500"/>
                                        <p:tgtEl>
                                          <p:spTgt spid="176144"/>
                                        </p:tgtEl>
                                        <p:attrNameLst>
                                          <p:attrName>ppt_h</p:attrName>
                                        </p:attrNameLst>
                                      </p:cBhvr>
                                      <p:tavLst>
                                        <p:tav tm="0">
                                          <p:val>
                                            <p:strVal val="ppt_h"/>
                                          </p:val>
                                        </p:tav>
                                        <p:tav tm="100000">
                                          <p:val>
                                            <p:fltVal val="0"/>
                                          </p:val>
                                        </p:tav>
                                      </p:tavLst>
                                    </p:anim>
                                    <p:animEffect transition="out" filter="fade">
                                      <p:cBhvr>
                                        <p:cTn id="107" dur="500"/>
                                        <p:tgtEl>
                                          <p:spTgt spid="176144"/>
                                        </p:tgtEl>
                                      </p:cBhvr>
                                    </p:animEffect>
                                    <p:set>
                                      <p:cBhvr>
                                        <p:cTn id="108" dur="1" fill="hold">
                                          <p:stCondLst>
                                            <p:cond delay="499"/>
                                          </p:stCondLst>
                                        </p:cTn>
                                        <p:tgtEl>
                                          <p:spTgt spid="176144"/>
                                        </p:tgtEl>
                                        <p:attrNameLst>
                                          <p:attrName>style.visibility</p:attrName>
                                        </p:attrNameLst>
                                      </p:cBhvr>
                                      <p:to>
                                        <p:strVal val="hidden"/>
                                      </p:to>
                                    </p:set>
                                  </p:childTnLst>
                                </p:cTn>
                              </p:par>
                            </p:childTnLst>
                          </p:cTn>
                        </p:par>
                        <p:par>
                          <p:cTn id="109" fill="hold">
                            <p:stCondLst>
                              <p:cond delay="500"/>
                            </p:stCondLst>
                            <p:childTnLst>
                              <p:par>
                                <p:cTn id="110" presetID="53" presetClass="entr" presetSubtype="0" fill="hold" grpId="0" nodeType="afterEffect">
                                  <p:stCondLst>
                                    <p:cond delay="0"/>
                                  </p:stCondLst>
                                  <p:childTnLst>
                                    <p:set>
                                      <p:cBhvr>
                                        <p:cTn id="111" dur="1" fill="hold">
                                          <p:stCondLst>
                                            <p:cond delay="0"/>
                                          </p:stCondLst>
                                        </p:cTn>
                                        <p:tgtEl>
                                          <p:spTgt spid="176163"/>
                                        </p:tgtEl>
                                        <p:attrNameLst>
                                          <p:attrName>style.visibility</p:attrName>
                                        </p:attrNameLst>
                                      </p:cBhvr>
                                      <p:to>
                                        <p:strVal val="visible"/>
                                      </p:to>
                                    </p:set>
                                    <p:anim calcmode="lin" valueType="num">
                                      <p:cBhvr>
                                        <p:cTn id="112" dur="500" fill="hold"/>
                                        <p:tgtEl>
                                          <p:spTgt spid="176163"/>
                                        </p:tgtEl>
                                        <p:attrNameLst>
                                          <p:attrName>ppt_w</p:attrName>
                                        </p:attrNameLst>
                                      </p:cBhvr>
                                      <p:tavLst>
                                        <p:tav tm="0">
                                          <p:val>
                                            <p:fltVal val="0"/>
                                          </p:val>
                                        </p:tav>
                                        <p:tav tm="100000">
                                          <p:val>
                                            <p:strVal val="#ppt_w"/>
                                          </p:val>
                                        </p:tav>
                                      </p:tavLst>
                                    </p:anim>
                                    <p:anim calcmode="lin" valueType="num">
                                      <p:cBhvr>
                                        <p:cTn id="113" dur="500" fill="hold"/>
                                        <p:tgtEl>
                                          <p:spTgt spid="176163"/>
                                        </p:tgtEl>
                                        <p:attrNameLst>
                                          <p:attrName>ppt_h</p:attrName>
                                        </p:attrNameLst>
                                      </p:cBhvr>
                                      <p:tavLst>
                                        <p:tav tm="0">
                                          <p:val>
                                            <p:fltVal val="0"/>
                                          </p:val>
                                        </p:tav>
                                        <p:tav tm="100000">
                                          <p:val>
                                            <p:strVal val="#ppt_h"/>
                                          </p:val>
                                        </p:tav>
                                      </p:tavLst>
                                    </p:anim>
                                    <p:animEffect transition="in" filter="fade">
                                      <p:cBhvr>
                                        <p:cTn id="114" dur="500"/>
                                        <p:tgtEl>
                                          <p:spTgt spid="176163"/>
                                        </p:tgtEl>
                                      </p:cBhvr>
                                    </p:animEffect>
                                  </p:childTnLst>
                                </p:cTn>
                              </p:par>
                              <p:par>
                                <p:cTn id="115" presetID="53" presetClass="entr" presetSubtype="0" fill="hold" grpId="0" nodeType="withEffect">
                                  <p:stCondLst>
                                    <p:cond delay="0"/>
                                  </p:stCondLst>
                                  <p:childTnLst>
                                    <p:set>
                                      <p:cBhvr>
                                        <p:cTn id="116" dur="1" fill="hold">
                                          <p:stCondLst>
                                            <p:cond delay="0"/>
                                          </p:stCondLst>
                                        </p:cTn>
                                        <p:tgtEl>
                                          <p:spTgt spid="176162"/>
                                        </p:tgtEl>
                                        <p:attrNameLst>
                                          <p:attrName>style.visibility</p:attrName>
                                        </p:attrNameLst>
                                      </p:cBhvr>
                                      <p:to>
                                        <p:strVal val="visible"/>
                                      </p:to>
                                    </p:set>
                                    <p:anim calcmode="lin" valueType="num">
                                      <p:cBhvr>
                                        <p:cTn id="117" dur="500" fill="hold"/>
                                        <p:tgtEl>
                                          <p:spTgt spid="176162"/>
                                        </p:tgtEl>
                                        <p:attrNameLst>
                                          <p:attrName>ppt_w</p:attrName>
                                        </p:attrNameLst>
                                      </p:cBhvr>
                                      <p:tavLst>
                                        <p:tav tm="0">
                                          <p:val>
                                            <p:fltVal val="0"/>
                                          </p:val>
                                        </p:tav>
                                        <p:tav tm="100000">
                                          <p:val>
                                            <p:strVal val="#ppt_w"/>
                                          </p:val>
                                        </p:tav>
                                      </p:tavLst>
                                    </p:anim>
                                    <p:anim calcmode="lin" valueType="num">
                                      <p:cBhvr>
                                        <p:cTn id="118" dur="500" fill="hold"/>
                                        <p:tgtEl>
                                          <p:spTgt spid="176162"/>
                                        </p:tgtEl>
                                        <p:attrNameLst>
                                          <p:attrName>ppt_h</p:attrName>
                                        </p:attrNameLst>
                                      </p:cBhvr>
                                      <p:tavLst>
                                        <p:tav tm="0">
                                          <p:val>
                                            <p:fltVal val="0"/>
                                          </p:val>
                                        </p:tav>
                                        <p:tav tm="100000">
                                          <p:val>
                                            <p:strVal val="#ppt_h"/>
                                          </p:val>
                                        </p:tav>
                                      </p:tavLst>
                                    </p:anim>
                                    <p:animEffect transition="in" filter="fade">
                                      <p:cBhvr>
                                        <p:cTn id="119" dur="500"/>
                                        <p:tgtEl>
                                          <p:spTgt spid="176162"/>
                                        </p:tgtEl>
                                      </p:cBhvr>
                                    </p:animEffect>
                                  </p:childTnLst>
                                </p:cTn>
                              </p:par>
                            </p:childTnLst>
                          </p:cTn>
                        </p:par>
                      </p:childTnLst>
                    </p:cTn>
                  </p:par>
                  <p:par>
                    <p:cTn id="120" fill="hold">
                      <p:stCondLst>
                        <p:cond delay="indefinite"/>
                      </p:stCondLst>
                      <p:childTnLst>
                        <p:par>
                          <p:cTn id="121" fill="hold">
                            <p:stCondLst>
                              <p:cond delay="0"/>
                            </p:stCondLst>
                            <p:childTnLst>
                              <p:par>
                                <p:cTn id="122" presetID="64" presetClass="path" presetSubtype="0" accel="50000" decel="50000" fill="hold" grpId="0" nodeType="clickEffect">
                                  <p:stCondLst>
                                    <p:cond delay="0"/>
                                  </p:stCondLst>
                                  <p:childTnLst>
                                    <p:animMotion origin="layout" path="M -0.00729 -0.00139 L -0.00729 -0.16805 " pathEditMode="relative" rAng="0" ptsTypes="AA">
                                      <p:cBhvr>
                                        <p:cTn id="123" dur="1000" fill="hold"/>
                                        <p:tgtEl>
                                          <p:spTgt spid="176146"/>
                                        </p:tgtEl>
                                        <p:attrNameLst>
                                          <p:attrName>ppt_x</p:attrName>
                                          <p:attrName>ppt_y</p:attrName>
                                        </p:attrNameLst>
                                      </p:cBhvr>
                                      <p:rCtr x="0" y="-83"/>
                                    </p:animMotion>
                                  </p:childTnLst>
                                  <p:subTnLst>
                                    <p:set>
                                      <p:cBhvr override="childStyle">
                                        <p:cTn dur="1" fill="hold" display="0" masterRel="sameClick" afterEffect="1">
                                          <p:stCondLst>
                                            <p:cond evt="end" delay="0">
                                              <p:tn val="122"/>
                                            </p:cond>
                                          </p:stCondLst>
                                        </p:cTn>
                                        <p:tgtEl>
                                          <p:spTgt spid="176146"/>
                                        </p:tgtEl>
                                        <p:attrNameLst>
                                          <p:attrName>style.visibility</p:attrName>
                                        </p:attrNameLst>
                                      </p:cBhvr>
                                      <p:to>
                                        <p:strVal val="hidden"/>
                                      </p:to>
                                    </p:set>
                                  </p:subTnLst>
                                </p:cTn>
                              </p:par>
                            </p:childTnLst>
                          </p:cTn>
                        </p:par>
                        <p:par>
                          <p:cTn id="124" fill="hold">
                            <p:stCondLst>
                              <p:cond delay="1000"/>
                            </p:stCondLst>
                            <p:childTnLst>
                              <p:par>
                                <p:cTn id="125" presetID="0" presetClass="path" presetSubtype="0" accel="50000" decel="50000" fill="hold" grpId="0" nodeType="afterEffect">
                                  <p:stCondLst>
                                    <p:cond delay="0"/>
                                  </p:stCondLst>
                                  <p:childTnLst>
                                    <p:animMotion origin="layout" path="M 0.00052 -4.44444E-6 L -0.10781 0.12223 " pathEditMode="relative" ptsTypes="AA">
                                      <p:cBhvr>
                                        <p:cTn id="126" dur="1000" fill="hold"/>
                                        <p:tgtEl>
                                          <p:spTgt spid="176166"/>
                                        </p:tgtEl>
                                        <p:attrNameLst>
                                          <p:attrName>ppt_x</p:attrName>
                                          <p:attrName>ppt_y</p:attrName>
                                        </p:attrNameLst>
                                      </p:cBhvr>
                                    </p:animMotion>
                                  </p:childTnLst>
                                </p:cTn>
                              </p:par>
                            </p:childTnLst>
                          </p:cTn>
                        </p:par>
                        <p:par>
                          <p:cTn id="127" fill="hold">
                            <p:stCondLst>
                              <p:cond delay="2000"/>
                            </p:stCondLst>
                            <p:childTnLst>
                              <p:par>
                                <p:cTn id="128" presetID="64" presetClass="path" presetSubtype="0" accel="50000" decel="50000" fill="hold" grpId="1" nodeType="afterEffect">
                                  <p:stCondLst>
                                    <p:cond delay="0"/>
                                  </p:stCondLst>
                                  <p:childTnLst>
                                    <p:animMotion origin="layout" path="M -0.10781 0.12223 L -0.10885 -0.07777 " pathEditMode="relative" rAng="0" ptsTypes="AA">
                                      <p:cBhvr>
                                        <p:cTn id="129" dur="1000" fill="hold"/>
                                        <p:tgtEl>
                                          <p:spTgt spid="176166"/>
                                        </p:tgtEl>
                                        <p:attrNameLst>
                                          <p:attrName>ppt_x</p:attrName>
                                          <p:attrName>ppt_y</p:attrName>
                                        </p:attrNameLst>
                                      </p:cBhvr>
                                      <p:rCtr x="-1" y="-100"/>
                                    </p:animMotion>
                                  </p:childTnLst>
                                </p:cTn>
                              </p:par>
                            </p:childTnLst>
                          </p:cTn>
                        </p:par>
                        <p:par>
                          <p:cTn id="130" fill="hold">
                            <p:stCondLst>
                              <p:cond delay="3000"/>
                            </p:stCondLst>
                            <p:childTnLst>
                              <p:par>
                                <p:cTn id="131" presetID="42" presetClass="path" presetSubtype="0" accel="50000" decel="50000" fill="hold" grpId="2" nodeType="afterEffect">
                                  <p:stCondLst>
                                    <p:cond delay="0"/>
                                  </p:stCondLst>
                                  <p:childTnLst>
                                    <p:animMotion origin="layout" path="M -0.10885 -0.07777 L -0.10885 -4.44444E-6 " pathEditMode="relative" rAng="0" ptsTypes="AA">
                                      <p:cBhvr>
                                        <p:cTn id="132" dur="1000" fill="hold"/>
                                        <p:tgtEl>
                                          <p:spTgt spid="176166"/>
                                        </p:tgtEl>
                                        <p:attrNameLst>
                                          <p:attrName>ppt_x</p:attrName>
                                          <p:attrName>ppt_y</p:attrName>
                                        </p:attrNameLst>
                                      </p:cBhvr>
                                      <p:rCtr x="0" y="39"/>
                                    </p:animMotion>
                                  </p:childTnLst>
                                  <p:subTnLst>
                                    <p:set>
                                      <p:cBhvr override="childStyle">
                                        <p:cTn dur="1" fill="hold" display="0" masterRel="sameClick" afterEffect="1">
                                          <p:stCondLst>
                                            <p:cond evt="end" delay="0">
                                              <p:tn val="131"/>
                                            </p:cond>
                                          </p:stCondLst>
                                        </p:cTn>
                                        <p:tgtEl>
                                          <p:spTgt spid="176166"/>
                                        </p:tgtEl>
                                        <p:attrNameLst>
                                          <p:attrName>style.visibility</p:attrName>
                                        </p:attrNameLst>
                                      </p:cBhvr>
                                      <p:to>
                                        <p:strVal val="hidden"/>
                                      </p:to>
                                    </p:set>
                                  </p:subTnLst>
                                </p:cTn>
                              </p:par>
                            </p:childTnLst>
                          </p:cTn>
                        </p:par>
                        <p:par>
                          <p:cTn id="133" fill="hold">
                            <p:stCondLst>
                              <p:cond delay="4000"/>
                            </p:stCondLst>
                            <p:childTnLst>
                              <p:par>
                                <p:cTn id="134" presetID="0" presetClass="path" presetSubtype="0" accel="50000" decel="50000" fill="hold" grpId="0" nodeType="afterEffect">
                                  <p:stCondLst>
                                    <p:cond delay="0"/>
                                  </p:stCondLst>
                                  <p:childTnLst>
                                    <p:animMotion origin="layout" path="M -0.00521 -4.44444E-6 L -0.08854 -0.07777 " pathEditMode="relative" rAng="0" ptsTypes="AA">
                                      <p:cBhvr>
                                        <p:cTn id="135" dur="1000" fill="hold"/>
                                        <p:tgtEl>
                                          <p:spTgt spid="176153"/>
                                        </p:tgtEl>
                                        <p:attrNameLst>
                                          <p:attrName>ppt_x</p:attrName>
                                          <p:attrName>ppt_y</p:attrName>
                                        </p:attrNameLst>
                                      </p:cBhvr>
                                      <p:rCtr x="-42" y="-39"/>
                                    </p:animMotion>
                                  </p:childTnLst>
                                </p:cTn>
                              </p:par>
                            </p:childTnLst>
                          </p:cTn>
                        </p:par>
                        <p:par>
                          <p:cTn id="136" fill="hold">
                            <p:stCondLst>
                              <p:cond delay="5000"/>
                            </p:stCondLst>
                            <p:childTnLst>
                              <p:par>
                                <p:cTn id="137" presetID="42" presetClass="path" presetSubtype="0" accel="50000" decel="50000" fill="hold" grpId="1" nodeType="afterEffect">
                                  <p:stCondLst>
                                    <p:cond delay="0"/>
                                  </p:stCondLst>
                                  <p:childTnLst>
                                    <p:animMotion origin="layout" path="M -0.08229 -0.07777 L -0.08229 -4.44444E-6 " pathEditMode="relative" rAng="0" ptsTypes="AA">
                                      <p:cBhvr>
                                        <p:cTn id="138" dur="1000" fill="hold"/>
                                        <p:tgtEl>
                                          <p:spTgt spid="176153"/>
                                        </p:tgtEl>
                                        <p:attrNameLst>
                                          <p:attrName>ppt_x</p:attrName>
                                          <p:attrName>ppt_y</p:attrName>
                                        </p:attrNameLst>
                                      </p:cBhvr>
                                      <p:rCtr x="0" y="39"/>
                                    </p:animMotion>
                                  </p:childTnLst>
                                  <p:subTnLst>
                                    <p:set>
                                      <p:cBhvr override="childStyle">
                                        <p:cTn dur="1" fill="hold" display="0" masterRel="sameClick" afterEffect="1">
                                          <p:stCondLst>
                                            <p:cond evt="end" delay="0">
                                              <p:tn val="137"/>
                                            </p:cond>
                                          </p:stCondLst>
                                        </p:cTn>
                                        <p:tgtEl>
                                          <p:spTgt spid="176153"/>
                                        </p:tgtEl>
                                        <p:attrNameLst>
                                          <p:attrName>style.visibility</p:attrName>
                                        </p:attrNameLst>
                                      </p:cBhvr>
                                      <p:to>
                                        <p:strVal val="hidden"/>
                                      </p:to>
                                    </p:set>
                                  </p:subTnLst>
                                </p:cTn>
                              </p:par>
                            </p:childTnLst>
                          </p:cTn>
                        </p:par>
                        <p:par>
                          <p:cTn id="139" fill="hold">
                            <p:stCondLst>
                              <p:cond delay="6000"/>
                            </p:stCondLst>
                            <p:childTnLst>
                              <p:par>
                                <p:cTn id="140" presetID="0" presetClass="path" presetSubtype="0" accel="50000" decel="50000" fill="hold" grpId="0" nodeType="afterEffect">
                                  <p:stCondLst>
                                    <p:cond delay="0"/>
                                  </p:stCondLst>
                                  <p:childTnLst>
                                    <p:animMotion origin="layout" path="M -7.5E-6 -4.44444E-6 L 0.19166 0.16667 " pathEditMode="relative" ptsTypes="AA">
                                      <p:cBhvr>
                                        <p:cTn id="141" dur="2000" fill="hold"/>
                                        <p:tgtEl>
                                          <p:spTgt spid="176154"/>
                                        </p:tgtEl>
                                        <p:attrNameLst>
                                          <p:attrName>ppt_x</p:attrName>
                                          <p:attrName>ppt_y</p:attrName>
                                        </p:attrNameLst>
                                      </p:cBhvr>
                                    </p:animMotion>
                                  </p:childTnLst>
                                </p:cTn>
                              </p:par>
                            </p:childTnLst>
                          </p:cTn>
                        </p:par>
                      </p:childTnLst>
                    </p:cTn>
                  </p:par>
                  <p:par>
                    <p:cTn id="142" fill="hold">
                      <p:stCondLst>
                        <p:cond delay="indefinite"/>
                      </p:stCondLst>
                      <p:childTnLst>
                        <p:par>
                          <p:cTn id="143" fill="hold">
                            <p:stCondLst>
                              <p:cond delay="0"/>
                            </p:stCondLst>
                            <p:childTnLst>
                              <p:par>
                                <p:cTn id="144" presetID="45" presetClass="exit" presetSubtype="0" fill="hold" grpId="0" nodeType="clickEffect">
                                  <p:stCondLst>
                                    <p:cond delay="0"/>
                                  </p:stCondLst>
                                  <p:iterate type="lt">
                                    <p:tmPct val="10000"/>
                                  </p:iterate>
                                  <p:childTnLst>
                                    <p:animEffect transition="out" filter="fade">
                                      <p:cBhvr>
                                        <p:cTn id="145" dur="2000"/>
                                        <p:tgtEl>
                                          <p:spTgt spid="176149"/>
                                        </p:tgtEl>
                                      </p:cBhvr>
                                    </p:animEffect>
                                    <p:anim calcmode="lin" valueType="num">
                                      <p:cBhvr>
                                        <p:cTn id="146" dur="2000"/>
                                        <p:tgtEl>
                                          <p:spTgt spid="176149"/>
                                        </p:tgtEl>
                                        <p:attrNameLst>
                                          <p:attrName>ppt_w</p:attrName>
                                        </p:attrNameLst>
                                      </p:cBhvr>
                                      <p:tavLst>
                                        <p:tav tm="0">
                                          <p:val>
                                            <p:strVal val="ppt_w"/>
                                          </p:val>
                                        </p:tav>
                                        <p:tav tm="5000">
                                          <p:val>
                                            <p:strVal val="0.92*ppt_w"/>
                                          </p:val>
                                        </p:tav>
                                        <p:tav tm="10000">
                                          <p:val>
                                            <p:strVal val="0.71*ppt_w"/>
                                          </p:val>
                                        </p:tav>
                                        <p:tav tm="15000">
                                          <p:val>
                                            <p:strVal val="0.38*ppt_w"/>
                                          </p:val>
                                        </p:tav>
                                        <p:tav tm="20000">
                                          <p:val>
                                            <p:fltVal val="0"/>
                                          </p:val>
                                        </p:tav>
                                        <p:tav tm="25000">
                                          <p:val>
                                            <p:strVal val="-0.38*ppt_w"/>
                                          </p:val>
                                        </p:tav>
                                        <p:tav tm="30000">
                                          <p:val>
                                            <p:strVal val="-0.71*ppt_w"/>
                                          </p:val>
                                        </p:tav>
                                        <p:tav tm="35000">
                                          <p:val>
                                            <p:strVal val="-0.92*ppt_w"/>
                                          </p:val>
                                        </p:tav>
                                        <p:tav tm="40000">
                                          <p:val>
                                            <p:strVal val="-ppt_w"/>
                                          </p:val>
                                        </p:tav>
                                        <p:tav tm="45000">
                                          <p:val>
                                            <p:strVal val="-0.92*ppt_w"/>
                                          </p:val>
                                        </p:tav>
                                        <p:tav tm="50000">
                                          <p:val>
                                            <p:strVal val="-0.71*ppt_w"/>
                                          </p:val>
                                        </p:tav>
                                        <p:tav tm="55000">
                                          <p:val>
                                            <p:strVal val="-0.38*ppt_w"/>
                                          </p:val>
                                        </p:tav>
                                        <p:tav tm="60000">
                                          <p:val>
                                            <p:fltVal val="0"/>
                                          </p:val>
                                        </p:tav>
                                        <p:tav tm="65000">
                                          <p:val>
                                            <p:strVal val="0.38*ppt_w"/>
                                          </p:val>
                                        </p:tav>
                                        <p:tav tm="70000">
                                          <p:val>
                                            <p:strVal val="0.71*ppt_w"/>
                                          </p:val>
                                        </p:tav>
                                        <p:tav tm="75000">
                                          <p:val>
                                            <p:strVal val="0.92*ppt_w"/>
                                          </p:val>
                                        </p:tav>
                                        <p:tav tm="80000">
                                          <p:val>
                                            <p:strVal val="ppt_w"/>
                                          </p:val>
                                        </p:tav>
                                        <p:tav tm="85000">
                                          <p:val>
                                            <p:strVal val="0.92*ppt_w"/>
                                          </p:val>
                                        </p:tav>
                                        <p:tav tm="90000">
                                          <p:val>
                                            <p:strVal val="0.71*ppt_w"/>
                                          </p:val>
                                        </p:tav>
                                        <p:tav tm="95000">
                                          <p:val>
                                            <p:strVal val="0.38*ppt_w"/>
                                          </p:val>
                                        </p:tav>
                                        <p:tav tm="100000">
                                          <p:val>
                                            <p:fltVal val="0"/>
                                          </p:val>
                                        </p:tav>
                                      </p:tavLst>
                                    </p:anim>
                                    <p:anim calcmode="lin" valueType="num">
                                      <p:cBhvr>
                                        <p:cTn id="147" dur="2000"/>
                                        <p:tgtEl>
                                          <p:spTgt spid="176149"/>
                                        </p:tgtEl>
                                        <p:attrNameLst>
                                          <p:attrName>ppt_h</p:attrName>
                                        </p:attrNameLst>
                                      </p:cBhvr>
                                      <p:tavLst>
                                        <p:tav tm="0">
                                          <p:val>
                                            <p:strVal val="ppt_h"/>
                                          </p:val>
                                        </p:tav>
                                        <p:tav tm="100000">
                                          <p:val>
                                            <p:strVal val="ppt_h"/>
                                          </p:val>
                                        </p:tav>
                                      </p:tavLst>
                                    </p:anim>
                                    <p:set>
                                      <p:cBhvr>
                                        <p:cTn id="148" dur="1" fill="hold">
                                          <p:stCondLst>
                                            <p:cond delay="1999"/>
                                          </p:stCondLst>
                                        </p:cTn>
                                        <p:tgtEl>
                                          <p:spTgt spid="176149"/>
                                        </p:tgtEl>
                                        <p:attrNameLst>
                                          <p:attrName>style.visibility</p:attrName>
                                        </p:attrNameLst>
                                      </p:cBhvr>
                                      <p:to>
                                        <p:strVal val="hidden"/>
                                      </p:to>
                                    </p:set>
                                  </p:childTnLst>
                                </p:cTn>
                              </p:par>
                              <p:par>
                                <p:cTn id="149" presetID="45" presetClass="exit" presetSubtype="0" fill="hold" grpId="0" nodeType="withEffect">
                                  <p:stCondLst>
                                    <p:cond delay="0"/>
                                  </p:stCondLst>
                                  <p:iterate type="lt">
                                    <p:tmPct val="10000"/>
                                  </p:iterate>
                                  <p:childTnLst>
                                    <p:animEffect transition="out" filter="fade">
                                      <p:cBhvr>
                                        <p:cTn id="150" dur="2000"/>
                                        <p:tgtEl>
                                          <p:spTgt spid="176148"/>
                                        </p:tgtEl>
                                      </p:cBhvr>
                                    </p:animEffect>
                                    <p:anim calcmode="lin" valueType="num">
                                      <p:cBhvr>
                                        <p:cTn id="151" dur="2000"/>
                                        <p:tgtEl>
                                          <p:spTgt spid="176148"/>
                                        </p:tgtEl>
                                        <p:attrNameLst>
                                          <p:attrName>ppt_w</p:attrName>
                                        </p:attrNameLst>
                                      </p:cBhvr>
                                      <p:tavLst>
                                        <p:tav tm="0">
                                          <p:val>
                                            <p:strVal val="ppt_w"/>
                                          </p:val>
                                        </p:tav>
                                        <p:tav tm="5000">
                                          <p:val>
                                            <p:strVal val="0.92*ppt_w"/>
                                          </p:val>
                                        </p:tav>
                                        <p:tav tm="10000">
                                          <p:val>
                                            <p:strVal val="0.71*ppt_w"/>
                                          </p:val>
                                        </p:tav>
                                        <p:tav tm="15000">
                                          <p:val>
                                            <p:strVal val="0.38*ppt_w"/>
                                          </p:val>
                                        </p:tav>
                                        <p:tav tm="20000">
                                          <p:val>
                                            <p:fltVal val="0"/>
                                          </p:val>
                                        </p:tav>
                                        <p:tav tm="25000">
                                          <p:val>
                                            <p:strVal val="-0.38*ppt_w"/>
                                          </p:val>
                                        </p:tav>
                                        <p:tav tm="30000">
                                          <p:val>
                                            <p:strVal val="-0.71*ppt_w"/>
                                          </p:val>
                                        </p:tav>
                                        <p:tav tm="35000">
                                          <p:val>
                                            <p:strVal val="-0.92*ppt_w"/>
                                          </p:val>
                                        </p:tav>
                                        <p:tav tm="40000">
                                          <p:val>
                                            <p:strVal val="-ppt_w"/>
                                          </p:val>
                                        </p:tav>
                                        <p:tav tm="45000">
                                          <p:val>
                                            <p:strVal val="-0.92*ppt_w"/>
                                          </p:val>
                                        </p:tav>
                                        <p:tav tm="50000">
                                          <p:val>
                                            <p:strVal val="-0.71*ppt_w"/>
                                          </p:val>
                                        </p:tav>
                                        <p:tav tm="55000">
                                          <p:val>
                                            <p:strVal val="-0.38*ppt_w"/>
                                          </p:val>
                                        </p:tav>
                                        <p:tav tm="60000">
                                          <p:val>
                                            <p:fltVal val="0"/>
                                          </p:val>
                                        </p:tav>
                                        <p:tav tm="65000">
                                          <p:val>
                                            <p:strVal val="0.38*ppt_w"/>
                                          </p:val>
                                        </p:tav>
                                        <p:tav tm="70000">
                                          <p:val>
                                            <p:strVal val="0.71*ppt_w"/>
                                          </p:val>
                                        </p:tav>
                                        <p:tav tm="75000">
                                          <p:val>
                                            <p:strVal val="0.92*ppt_w"/>
                                          </p:val>
                                        </p:tav>
                                        <p:tav tm="80000">
                                          <p:val>
                                            <p:strVal val="ppt_w"/>
                                          </p:val>
                                        </p:tav>
                                        <p:tav tm="85000">
                                          <p:val>
                                            <p:strVal val="0.92*ppt_w"/>
                                          </p:val>
                                        </p:tav>
                                        <p:tav tm="90000">
                                          <p:val>
                                            <p:strVal val="0.71*ppt_w"/>
                                          </p:val>
                                        </p:tav>
                                        <p:tav tm="95000">
                                          <p:val>
                                            <p:strVal val="0.38*ppt_w"/>
                                          </p:val>
                                        </p:tav>
                                        <p:tav tm="100000">
                                          <p:val>
                                            <p:fltVal val="0"/>
                                          </p:val>
                                        </p:tav>
                                      </p:tavLst>
                                    </p:anim>
                                    <p:anim calcmode="lin" valueType="num">
                                      <p:cBhvr>
                                        <p:cTn id="152" dur="2000"/>
                                        <p:tgtEl>
                                          <p:spTgt spid="176148"/>
                                        </p:tgtEl>
                                        <p:attrNameLst>
                                          <p:attrName>ppt_h</p:attrName>
                                        </p:attrNameLst>
                                      </p:cBhvr>
                                      <p:tavLst>
                                        <p:tav tm="0">
                                          <p:val>
                                            <p:strVal val="ppt_h"/>
                                          </p:val>
                                        </p:tav>
                                        <p:tav tm="100000">
                                          <p:val>
                                            <p:strVal val="ppt_h"/>
                                          </p:val>
                                        </p:tav>
                                      </p:tavLst>
                                    </p:anim>
                                    <p:set>
                                      <p:cBhvr>
                                        <p:cTn id="153" dur="1" fill="hold">
                                          <p:stCondLst>
                                            <p:cond delay="1999"/>
                                          </p:stCondLst>
                                        </p:cTn>
                                        <p:tgtEl>
                                          <p:spTgt spid="176148"/>
                                        </p:tgtEl>
                                        <p:attrNameLst>
                                          <p:attrName>style.visibility</p:attrName>
                                        </p:attrNameLst>
                                      </p:cBhvr>
                                      <p:to>
                                        <p:strVal val="hidden"/>
                                      </p:to>
                                    </p:set>
                                  </p:childTnLst>
                                </p:cTn>
                              </p:par>
                              <p:par>
                                <p:cTn id="154" presetID="45" presetClass="exit" presetSubtype="0" fill="hold" grpId="0" nodeType="withEffect">
                                  <p:stCondLst>
                                    <p:cond delay="0"/>
                                  </p:stCondLst>
                                  <p:iterate type="lt">
                                    <p:tmPct val="10000"/>
                                  </p:iterate>
                                  <p:childTnLst>
                                    <p:animEffect transition="out" filter="fade">
                                      <p:cBhvr>
                                        <p:cTn id="155" dur="2000"/>
                                        <p:tgtEl>
                                          <p:spTgt spid="176150"/>
                                        </p:tgtEl>
                                      </p:cBhvr>
                                    </p:animEffect>
                                    <p:anim calcmode="lin" valueType="num">
                                      <p:cBhvr>
                                        <p:cTn id="156" dur="2000"/>
                                        <p:tgtEl>
                                          <p:spTgt spid="176150"/>
                                        </p:tgtEl>
                                        <p:attrNameLst>
                                          <p:attrName>ppt_w</p:attrName>
                                        </p:attrNameLst>
                                      </p:cBhvr>
                                      <p:tavLst>
                                        <p:tav tm="0">
                                          <p:val>
                                            <p:strVal val="ppt_w"/>
                                          </p:val>
                                        </p:tav>
                                        <p:tav tm="5000">
                                          <p:val>
                                            <p:strVal val="0.92*ppt_w"/>
                                          </p:val>
                                        </p:tav>
                                        <p:tav tm="10000">
                                          <p:val>
                                            <p:strVal val="0.71*ppt_w"/>
                                          </p:val>
                                        </p:tav>
                                        <p:tav tm="15000">
                                          <p:val>
                                            <p:strVal val="0.38*ppt_w"/>
                                          </p:val>
                                        </p:tav>
                                        <p:tav tm="20000">
                                          <p:val>
                                            <p:fltVal val="0"/>
                                          </p:val>
                                        </p:tav>
                                        <p:tav tm="25000">
                                          <p:val>
                                            <p:strVal val="-0.38*ppt_w"/>
                                          </p:val>
                                        </p:tav>
                                        <p:tav tm="30000">
                                          <p:val>
                                            <p:strVal val="-0.71*ppt_w"/>
                                          </p:val>
                                        </p:tav>
                                        <p:tav tm="35000">
                                          <p:val>
                                            <p:strVal val="-0.92*ppt_w"/>
                                          </p:val>
                                        </p:tav>
                                        <p:tav tm="40000">
                                          <p:val>
                                            <p:strVal val="-ppt_w"/>
                                          </p:val>
                                        </p:tav>
                                        <p:tav tm="45000">
                                          <p:val>
                                            <p:strVal val="-0.92*ppt_w"/>
                                          </p:val>
                                        </p:tav>
                                        <p:tav tm="50000">
                                          <p:val>
                                            <p:strVal val="-0.71*ppt_w"/>
                                          </p:val>
                                        </p:tav>
                                        <p:tav tm="55000">
                                          <p:val>
                                            <p:strVal val="-0.38*ppt_w"/>
                                          </p:val>
                                        </p:tav>
                                        <p:tav tm="60000">
                                          <p:val>
                                            <p:fltVal val="0"/>
                                          </p:val>
                                        </p:tav>
                                        <p:tav tm="65000">
                                          <p:val>
                                            <p:strVal val="0.38*ppt_w"/>
                                          </p:val>
                                        </p:tav>
                                        <p:tav tm="70000">
                                          <p:val>
                                            <p:strVal val="0.71*ppt_w"/>
                                          </p:val>
                                        </p:tav>
                                        <p:tav tm="75000">
                                          <p:val>
                                            <p:strVal val="0.92*ppt_w"/>
                                          </p:val>
                                        </p:tav>
                                        <p:tav tm="80000">
                                          <p:val>
                                            <p:strVal val="ppt_w"/>
                                          </p:val>
                                        </p:tav>
                                        <p:tav tm="85000">
                                          <p:val>
                                            <p:strVal val="0.92*ppt_w"/>
                                          </p:val>
                                        </p:tav>
                                        <p:tav tm="90000">
                                          <p:val>
                                            <p:strVal val="0.71*ppt_w"/>
                                          </p:val>
                                        </p:tav>
                                        <p:tav tm="95000">
                                          <p:val>
                                            <p:strVal val="0.38*ppt_w"/>
                                          </p:val>
                                        </p:tav>
                                        <p:tav tm="100000">
                                          <p:val>
                                            <p:fltVal val="0"/>
                                          </p:val>
                                        </p:tav>
                                      </p:tavLst>
                                    </p:anim>
                                    <p:anim calcmode="lin" valueType="num">
                                      <p:cBhvr>
                                        <p:cTn id="157" dur="2000"/>
                                        <p:tgtEl>
                                          <p:spTgt spid="176150"/>
                                        </p:tgtEl>
                                        <p:attrNameLst>
                                          <p:attrName>ppt_h</p:attrName>
                                        </p:attrNameLst>
                                      </p:cBhvr>
                                      <p:tavLst>
                                        <p:tav tm="0">
                                          <p:val>
                                            <p:strVal val="ppt_h"/>
                                          </p:val>
                                        </p:tav>
                                        <p:tav tm="100000">
                                          <p:val>
                                            <p:strVal val="ppt_h"/>
                                          </p:val>
                                        </p:tav>
                                      </p:tavLst>
                                    </p:anim>
                                    <p:set>
                                      <p:cBhvr>
                                        <p:cTn id="158" dur="1" fill="hold">
                                          <p:stCondLst>
                                            <p:cond delay="1999"/>
                                          </p:stCondLst>
                                        </p:cTn>
                                        <p:tgtEl>
                                          <p:spTgt spid="176150"/>
                                        </p:tgtEl>
                                        <p:attrNameLst>
                                          <p:attrName>style.visibility</p:attrName>
                                        </p:attrNameLst>
                                      </p:cBhvr>
                                      <p:to>
                                        <p:strVal val="hidden"/>
                                      </p:to>
                                    </p:set>
                                  </p:childTnLst>
                                </p:cTn>
                              </p:par>
                              <p:par>
                                <p:cTn id="159" presetID="45" presetClass="exit" presetSubtype="0" fill="hold" grpId="0" nodeType="withEffect">
                                  <p:stCondLst>
                                    <p:cond delay="0"/>
                                  </p:stCondLst>
                                  <p:iterate type="lt">
                                    <p:tmPct val="10000"/>
                                  </p:iterate>
                                  <p:childTnLst>
                                    <p:animEffect transition="out" filter="fade">
                                      <p:cBhvr>
                                        <p:cTn id="160" dur="2000"/>
                                        <p:tgtEl>
                                          <p:spTgt spid="176152"/>
                                        </p:tgtEl>
                                      </p:cBhvr>
                                    </p:animEffect>
                                    <p:anim calcmode="lin" valueType="num">
                                      <p:cBhvr>
                                        <p:cTn id="161" dur="2000"/>
                                        <p:tgtEl>
                                          <p:spTgt spid="176152"/>
                                        </p:tgtEl>
                                        <p:attrNameLst>
                                          <p:attrName>ppt_w</p:attrName>
                                        </p:attrNameLst>
                                      </p:cBhvr>
                                      <p:tavLst>
                                        <p:tav tm="0">
                                          <p:val>
                                            <p:strVal val="ppt_w"/>
                                          </p:val>
                                        </p:tav>
                                        <p:tav tm="5000">
                                          <p:val>
                                            <p:strVal val="0.92*ppt_w"/>
                                          </p:val>
                                        </p:tav>
                                        <p:tav tm="10000">
                                          <p:val>
                                            <p:strVal val="0.71*ppt_w"/>
                                          </p:val>
                                        </p:tav>
                                        <p:tav tm="15000">
                                          <p:val>
                                            <p:strVal val="0.38*ppt_w"/>
                                          </p:val>
                                        </p:tav>
                                        <p:tav tm="20000">
                                          <p:val>
                                            <p:fltVal val="0"/>
                                          </p:val>
                                        </p:tav>
                                        <p:tav tm="25000">
                                          <p:val>
                                            <p:strVal val="-0.38*ppt_w"/>
                                          </p:val>
                                        </p:tav>
                                        <p:tav tm="30000">
                                          <p:val>
                                            <p:strVal val="-0.71*ppt_w"/>
                                          </p:val>
                                        </p:tav>
                                        <p:tav tm="35000">
                                          <p:val>
                                            <p:strVal val="-0.92*ppt_w"/>
                                          </p:val>
                                        </p:tav>
                                        <p:tav tm="40000">
                                          <p:val>
                                            <p:strVal val="-ppt_w"/>
                                          </p:val>
                                        </p:tav>
                                        <p:tav tm="45000">
                                          <p:val>
                                            <p:strVal val="-0.92*ppt_w"/>
                                          </p:val>
                                        </p:tav>
                                        <p:tav tm="50000">
                                          <p:val>
                                            <p:strVal val="-0.71*ppt_w"/>
                                          </p:val>
                                        </p:tav>
                                        <p:tav tm="55000">
                                          <p:val>
                                            <p:strVal val="-0.38*ppt_w"/>
                                          </p:val>
                                        </p:tav>
                                        <p:tav tm="60000">
                                          <p:val>
                                            <p:fltVal val="0"/>
                                          </p:val>
                                        </p:tav>
                                        <p:tav tm="65000">
                                          <p:val>
                                            <p:strVal val="0.38*ppt_w"/>
                                          </p:val>
                                        </p:tav>
                                        <p:tav tm="70000">
                                          <p:val>
                                            <p:strVal val="0.71*ppt_w"/>
                                          </p:val>
                                        </p:tav>
                                        <p:tav tm="75000">
                                          <p:val>
                                            <p:strVal val="0.92*ppt_w"/>
                                          </p:val>
                                        </p:tav>
                                        <p:tav tm="80000">
                                          <p:val>
                                            <p:strVal val="ppt_w"/>
                                          </p:val>
                                        </p:tav>
                                        <p:tav tm="85000">
                                          <p:val>
                                            <p:strVal val="0.92*ppt_w"/>
                                          </p:val>
                                        </p:tav>
                                        <p:tav tm="90000">
                                          <p:val>
                                            <p:strVal val="0.71*ppt_w"/>
                                          </p:val>
                                        </p:tav>
                                        <p:tav tm="95000">
                                          <p:val>
                                            <p:strVal val="0.38*ppt_w"/>
                                          </p:val>
                                        </p:tav>
                                        <p:tav tm="100000">
                                          <p:val>
                                            <p:fltVal val="0"/>
                                          </p:val>
                                        </p:tav>
                                      </p:tavLst>
                                    </p:anim>
                                    <p:anim calcmode="lin" valueType="num">
                                      <p:cBhvr>
                                        <p:cTn id="162" dur="2000"/>
                                        <p:tgtEl>
                                          <p:spTgt spid="176152"/>
                                        </p:tgtEl>
                                        <p:attrNameLst>
                                          <p:attrName>ppt_h</p:attrName>
                                        </p:attrNameLst>
                                      </p:cBhvr>
                                      <p:tavLst>
                                        <p:tav tm="0">
                                          <p:val>
                                            <p:strVal val="ppt_h"/>
                                          </p:val>
                                        </p:tav>
                                        <p:tav tm="100000">
                                          <p:val>
                                            <p:strVal val="ppt_h"/>
                                          </p:val>
                                        </p:tav>
                                      </p:tavLst>
                                    </p:anim>
                                    <p:set>
                                      <p:cBhvr>
                                        <p:cTn id="163" dur="1" fill="hold">
                                          <p:stCondLst>
                                            <p:cond delay="1999"/>
                                          </p:stCondLst>
                                        </p:cTn>
                                        <p:tgtEl>
                                          <p:spTgt spid="176152"/>
                                        </p:tgtEl>
                                        <p:attrNameLst>
                                          <p:attrName>style.visibility</p:attrName>
                                        </p:attrNameLst>
                                      </p:cBhvr>
                                      <p:to>
                                        <p:strVal val="hidden"/>
                                      </p:to>
                                    </p:set>
                                  </p:childTnLst>
                                </p:cTn>
                              </p:par>
                            </p:childTnLst>
                          </p:cTn>
                        </p:par>
                        <p:par>
                          <p:cTn id="164" fill="hold">
                            <p:stCondLst>
                              <p:cond delay="2000"/>
                            </p:stCondLst>
                            <p:childTnLst>
                              <p:par>
                                <p:cTn id="165" presetID="45" presetClass="entr" presetSubtype="0" fill="hold" grpId="0" nodeType="afterEffect">
                                  <p:stCondLst>
                                    <p:cond delay="0"/>
                                  </p:stCondLst>
                                  <p:iterate type="lt">
                                    <p:tmPct val="10000"/>
                                  </p:iterate>
                                  <p:childTnLst>
                                    <p:set>
                                      <p:cBhvr>
                                        <p:cTn id="166" dur="1" fill="hold">
                                          <p:stCondLst>
                                            <p:cond delay="0"/>
                                          </p:stCondLst>
                                        </p:cTn>
                                        <p:tgtEl>
                                          <p:spTgt spid="176159"/>
                                        </p:tgtEl>
                                        <p:attrNameLst>
                                          <p:attrName>style.visibility</p:attrName>
                                        </p:attrNameLst>
                                      </p:cBhvr>
                                      <p:to>
                                        <p:strVal val="visible"/>
                                      </p:to>
                                    </p:set>
                                    <p:animEffect transition="in" filter="fade">
                                      <p:cBhvr>
                                        <p:cTn id="167" dur="2000"/>
                                        <p:tgtEl>
                                          <p:spTgt spid="176159"/>
                                        </p:tgtEl>
                                      </p:cBhvr>
                                    </p:animEffect>
                                    <p:anim calcmode="lin" valueType="num">
                                      <p:cBhvr>
                                        <p:cTn id="168" dur="2000" fill="hold"/>
                                        <p:tgtEl>
                                          <p:spTgt spid="176159"/>
                                        </p:tgtEl>
                                        <p:attrNameLst>
                                          <p:attrName>ppt_w</p:attrName>
                                        </p:attrNameLst>
                                      </p:cBhvr>
                                      <p:tavLst>
                                        <p:tav tm="0" fmla="#ppt_w*sin(2.5*pi*$)">
                                          <p:val>
                                            <p:fltVal val="0"/>
                                          </p:val>
                                        </p:tav>
                                        <p:tav tm="100000">
                                          <p:val>
                                            <p:fltVal val="1"/>
                                          </p:val>
                                        </p:tav>
                                      </p:tavLst>
                                    </p:anim>
                                    <p:anim calcmode="lin" valueType="num">
                                      <p:cBhvr>
                                        <p:cTn id="169" dur="2000" fill="hold"/>
                                        <p:tgtEl>
                                          <p:spTgt spid="176159"/>
                                        </p:tgtEl>
                                        <p:attrNameLst>
                                          <p:attrName>ppt_h</p:attrName>
                                        </p:attrNameLst>
                                      </p:cBhvr>
                                      <p:tavLst>
                                        <p:tav tm="0">
                                          <p:val>
                                            <p:strVal val="#ppt_h"/>
                                          </p:val>
                                        </p:tav>
                                        <p:tav tm="100000">
                                          <p:val>
                                            <p:strVal val="#ppt_h"/>
                                          </p:val>
                                        </p:tav>
                                      </p:tavLst>
                                    </p:anim>
                                  </p:childTnLst>
                                </p:cTn>
                              </p:par>
                              <p:par>
                                <p:cTn id="170" presetID="45" presetClass="entr" presetSubtype="0" fill="hold" grpId="0" nodeType="withEffect">
                                  <p:stCondLst>
                                    <p:cond delay="0"/>
                                  </p:stCondLst>
                                  <p:iterate type="lt">
                                    <p:tmPct val="10000"/>
                                  </p:iterate>
                                  <p:childTnLst>
                                    <p:set>
                                      <p:cBhvr>
                                        <p:cTn id="171" dur="1" fill="hold">
                                          <p:stCondLst>
                                            <p:cond delay="0"/>
                                          </p:stCondLst>
                                        </p:cTn>
                                        <p:tgtEl>
                                          <p:spTgt spid="176157"/>
                                        </p:tgtEl>
                                        <p:attrNameLst>
                                          <p:attrName>style.visibility</p:attrName>
                                        </p:attrNameLst>
                                      </p:cBhvr>
                                      <p:to>
                                        <p:strVal val="visible"/>
                                      </p:to>
                                    </p:set>
                                    <p:animEffect transition="in" filter="fade">
                                      <p:cBhvr>
                                        <p:cTn id="172" dur="2000"/>
                                        <p:tgtEl>
                                          <p:spTgt spid="176157"/>
                                        </p:tgtEl>
                                      </p:cBhvr>
                                    </p:animEffect>
                                    <p:anim calcmode="lin" valueType="num">
                                      <p:cBhvr>
                                        <p:cTn id="173" dur="2000" fill="hold"/>
                                        <p:tgtEl>
                                          <p:spTgt spid="176157"/>
                                        </p:tgtEl>
                                        <p:attrNameLst>
                                          <p:attrName>ppt_w</p:attrName>
                                        </p:attrNameLst>
                                      </p:cBhvr>
                                      <p:tavLst>
                                        <p:tav tm="0" fmla="#ppt_w*sin(2.5*pi*$)">
                                          <p:val>
                                            <p:fltVal val="0"/>
                                          </p:val>
                                        </p:tav>
                                        <p:tav tm="100000">
                                          <p:val>
                                            <p:fltVal val="1"/>
                                          </p:val>
                                        </p:tav>
                                      </p:tavLst>
                                    </p:anim>
                                    <p:anim calcmode="lin" valueType="num">
                                      <p:cBhvr>
                                        <p:cTn id="174" dur="2000" fill="hold"/>
                                        <p:tgtEl>
                                          <p:spTgt spid="176157"/>
                                        </p:tgtEl>
                                        <p:attrNameLst>
                                          <p:attrName>ppt_h</p:attrName>
                                        </p:attrNameLst>
                                      </p:cBhvr>
                                      <p:tavLst>
                                        <p:tav tm="0">
                                          <p:val>
                                            <p:strVal val="#ppt_h"/>
                                          </p:val>
                                        </p:tav>
                                        <p:tav tm="100000">
                                          <p:val>
                                            <p:strVal val="#ppt_h"/>
                                          </p:val>
                                        </p:tav>
                                      </p:tavLst>
                                    </p:anim>
                                  </p:childTnLst>
                                </p:cTn>
                              </p:par>
                              <p:par>
                                <p:cTn id="175" presetID="45" presetClass="entr" presetSubtype="0" fill="hold" grpId="0" nodeType="withEffect">
                                  <p:stCondLst>
                                    <p:cond delay="0"/>
                                  </p:stCondLst>
                                  <p:iterate type="lt">
                                    <p:tmPct val="10000"/>
                                  </p:iterate>
                                  <p:childTnLst>
                                    <p:set>
                                      <p:cBhvr>
                                        <p:cTn id="176" dur="1" fill="hold">
                                          <p:stCondLst>
                                            <p:cond delay="0"/>
                                          </p:stCondLst>
                                        </p:cTn>
                                        <p:tgtEl>
                                          <p:spTgt spid="176155"/>
                                        </p:tgtEl>
                                        <p:attrNameLst>
                                          <p:attrName>style.visibility</p:attrName>
                                        </p:attrNameLst>
                                      </p:cBhvr>
                                      <p:to>
                                        <p:strVal val="visible"/>
                                      </p:to>
                                    </p:set>
                                    <p:animEffect transition="in" filter="fade">
                                      <p:cBhvr>
                                        <p:cTn id="177" dur="2000"/>
                                        <p:tgtEl>
                                          <p:spTgt spid="176155"/>
                                        </p:tgtEl>
                                      </p:cBhvr>
                                    </p:animEffect>
                                    <p:anim calcmode="lin" valueType="num">
                                      <p:cBhvr>
                                        <p:cTn id="178" dur="2000" fill="hold"/>
                                        <p:tgtEl>
                                          <p:spTgt spid="176155"/>
                                        </p:tgtEl>
                                        <p:attrNameLst>
                                          <p:attrName>ppt_w</p:attrName>
                                        </p:attrNameLst>
                                      </p:cBhvr>
                                      <p:tavLst>
                                        <p:tav tm="0" fmla="#ppt_w*sin(2.5*pi*$)">
                                          <p:val>
                                            <p:fltVal val="0"/>
                                          </p:val>
                                        </p:tav>
                                        <p:tav tm="100000">
                                          <p:val>
                                            <p:fltVal val="1"/>
                                          </p:val>
                                        </p:tav>
                                      </p:tavLst>
                                    </p:anim>
                                    <p:anim calcmode="lin" valueType="num">
                                      <p:cBhvr>
                                        <p:cTn id="179" dur="2000" fill="hold"/>
                                        <p:tgtEl>
                                          <p:spTgt spid="176155"/>
                                        </p:tgtEl>
                                        <p:attrNameLst>
                                          <p:attrName>ppt_h</p:attrName>
                                        </p:attrNameLst>
                                      </p:cBhvr>
                                      <p:tavLst>
                                        <p:tav tm="0">
                                          <p:val>
                                            <p:strVal val="#ppt_h"/>
                                          </p:val>
                                        </p:tav>
                                        <p:tav tm="100000">
                                          <p:val>
                                            <p:strVal val="#ppt_h"/>
                                          </p:val>
                                        </p:tav>
                                      </p:tavLst>
                                    </p:anim>
                                  </p:childTnLst>
                                </p:cTn>
                              </p:par>
                              <p:par>
                                <p:cTn id="180" presetID="45" presetClass="entr" presetSubtype="0" fill="hold" grpId="0" nodeType="withEffect">
                                  <p:stCondLst>
                                    <p:cond delay="0"/>
                                  </p:stCondLst>
                                  <p:iterate type="lt">
                                    <p:tmPct val="10000"/>
                                  </p:iterate>
                                  <p:childTnLst>
                                    <p:set>
                                      <p:cBhvr>
                                        <p:cTn id="181" dur="1" fill="hold">
                                          <p:stCondLst>
                                            <p:cond delay="0"/>
                                          </p:stCondLst>
                                        </p:cTn>
                                        <p:tgtEl>
                                          <p:spTgt spid="176156"/>
                                        </p:tgtEl>
                                        <p:attrNameLst>
                                          <p:attrName>style.visibility</p:attrName>
                                        </p:attrNameLst>
                                      </p:cBhvr>
                                      <p:to>
                                        <p:strVal val="visible"/>
                                      </p:to>
                                    </p:set>
                                    <p:animEffect transition="in" filter="fade">
                                      <p:cBhvr>
                                        <p:cTn id="182" dur="2000"/>
                                        <p:tgtEl>
                                          <p:spTgt spid="176156"/>
                                        </p:tgtEl>
                                      </p:cBhvr>
                                    </p:animEffect>
                                    <p:anim calcmode="lin" valueType="num">
                                      <p:cBhvr>
                                        <p:cTn id="183" dur="2000" fill="hold"/>
                                        <p:tgtEl>
                                          <p:spTgt spid="176156"/>
                                        </p:tgtEl>
                                        <p:attrNameLst>
                                          <p:attrName>ppt_w</p:attrName>
                                        </p:attrNameLst>
                                      </p:cBhvr>
                                      <p:tavLst>
                                        <p:tav tm="0" fmla="#ppt_w*sin(2.5*pi*$)">
                                          <p:val>
                                            <p:fltVal val="0"/>
                                          </p:val>
                                        </p:tav>
                                        <p:tav tm="100000">
                                          <p:val>
                                            <p:fltVal val="1"/>
                                          </p:val>
                                        </p:tav>
                                      </p:tavLst>
                                    </p:anim>
                                    <p:anim calcmode="lin" valueType="num">
                                      <p:cBhvr>
                                        <p:cTn id="184" dur="2000" fill="hold"/>
                                        <p:tgtEl>
                                          <p:spTgt spid="176156"/>
                                        </p:tgtEl>
                                        <p:attrNameLst>
                                          <p:attrName>ppt_h</p:attrName>
                                        </p:attrNameLst>
                                      </p:cBhvr>
                                      <p:tavLst>
                                        <p:tav tm="0">
                                          <p:val>
                                            <p:strVal val="#ppt_h"/>
                                          </p:val>
                                        </p:tav>
                                        <p:tav tm="100000">
                                          <p:val>
                                            <p:strVal val="#ppt_h"/>
                                          </p:val>
                                        </p:tav>
                                      </p:tavLst>
                                    </p:anim>
                                  </p:childTnLst>
                                </p:cTn>
                              </p:par>
                            </p:childTnLst>
                          </p:cTn>
                        </p:par>
                      </p:childTnLst>
                    </p:cTn>
                  </p:par>
                  <p:par>
                    <p:cTn id="185" fill="hold">
                      <p:stCondLst>
                        <p:cond delay="indefinite"/>
                      </p:stCondLst>
                      <p:childTnLst>
                        <p:par>
                          <p:cTn id="186" fill="hold">
                            <p:stCondLst>
                              <p:cond delay="0"/>
                            </p:stCondLst>
                            <p:childTnLst>
                              <p:par>
                                <p:cTn id="187" presetID="9" presetClass="exit" presetSubtype="0" fill="hold" grpId="0" nodeType="clickEffect">
                                  <p:stCondLst>
                                    <p:cond delay="0"/>
                                  </p:stCondLst>
                                  <p:childTnLst>
                                    <p:animEffect transition="out" filter="dissolve">
                                      <p:cBhvr>
                                        <p:cTn id="188" dur="500"/>
                                        <p:tgtEl>
                                          <p:spTgt spid="176147"/>
                                        </p:tgtEl>
                                      </p:cBhvr>
                                    </p:animEffect>
                                    <p:set>
                                      <p:cBhvr>
                                        <p:cTn id="189" dur="1" fill="hold">
                                          <p:stCondLst>
                                            <p:cond delay="499"/>
                                          </p:stCondLst>
                                        </p:cTn>
                                        <p:tgtEl>
                                          <p:spTgt spid="176147"/>
                                        </p:tgtEl>
                                        <p:attrNameLst>
                                          <p:attrName>style.visibility</p:attrName>
                                        </p:attrNameLst>
                                      </p:cBhvr>
                                      <p:to>
                                        <p:strVal val="hidden"/>
                                      </p:to>
                                    </p:set>
                                  </p:childTnLst>
                                </p:cTn>
                              </p:par>
                            </p:childTnLst>
                          </p:cTn>
                        </p:par>
                        <p:par>
                          <p:cTn id="190" fill="hold">
                            <p:stCondLst>
                              <p:cond delay="500"/>
                            </p:stCondLst>
                            <p:childTnLst>
                              <p:par>
                                <p:cTn id="191" presetID="38" presetClass="entr" presetSubtype="0" accel="50000" fill="hold" grpId="0" nodeType="afterEffect">
                                  <p:stCondLst>
                                    <p:cond delay="0"/>
                                  </p:stCondLst>
                                  <p:iterate type="lt">
                                    <p:tmPct val="50000"/>
                                  </p:iterate>
                                  <p:childTnLst>
                                    <p:set>
                                      <p:cBhvr>
                                        <p:cTn id="192" dur="1" fill="hold">
                                          <p:stCondLst>
                                            <p:cond delay="0"/>
                                          </p:stCondLst>
                                        </p:cTn>
                                        <p:tgtEl>
                                          <p:spTgt spid="176165"/>
                                        </p:tgtEl>
                                        <p:attrNameLst>
                                          <p:attrName>style.visibility</p:attrName>
                                        </p:attrNameLst>
                                      </p:cBhvr>
                                      <p:to>
                                        <p:strVal val="visible"/>
                                      </p:to>
                                    </p:set>
                                    <p:set>
                                      <p:cBhvr>
                                        <p:cTn id="193" dur="455" fill="hold">
                                          <p:stCondLst>
                                            <p:cond delay="0"/>
                                          </p:stCondLst>
                                        </p:cTn>
                                        <p:tgtEl>
                                          <p:spTgt spid="176165"/>
                                        </p:tgtEl>
                                        <p:attrNameLst>
                                          <p:attrName>style.rotation</p:attrName>
                                        </p:attrNameLst>
                                      </p:cBhvr>
                                      <p:to>
                                        <p:strVal val="-45.0"/>
                                      </p:to>
                                    </p:set>
                                    <p:anim calcmode="lin" valueType="num">
                                      <p:cBhvr>
                                        <p:cTn id="194" dur="455" fill="hold">
                                          <p:stCondLst>
                                            <p:cond delay="455"/>
                                          </p:stCondLst>
                                        </p:cTn>
                                        <p:tgtEl>
                                          <p:spTgt spid="176165"/>
                                        </p:tgtEl>
                                        <p:attrNameLst>
                                          <p:attrName>style.rotation</p:attrName>
                                        </p:attrNameLst>
                                      </p:cBhvr>
                                      <p:tavLst>
                                        <p:tav tm="0">
                                          <p:val>
                                            <p:fltVal val="-45"/>
                                          </p:val>
                                        </p:tav>
                                        <p:tav tm="69900">
                                          <p:val>
                                            <p:fltVal val="45"/>
                                          </p:val>
                                        </p:tav>
                                        <p:tav tm="100000">
                                          <p:val>
                                            <p:fltVal val="0"/>
                                          </p:val>
                                        </p:tav>
                                      </p:tavLst>
                                    </p:anim>
                                    <p:anim calcmode="lin" valueType="num">
                                      <p:cBhvr>
                                        <p:cTn id="195" dur="455" fill="hold">
                                          <p:stCondLst>
                                            <p:cond delay="0"/>
                                          </p:stCondLst>
                                        </p:cTn>
                                        <p:tgtEl>
                                          <p:spTgt spid="176165"/>
                                        </p:tgtEl>
                                        <p:attrNameLst>
                                          <p:attrName>ppt_y</p:attrName>
                                        </p:attrNameLst>
                                      </p:cBhvr>
                                      <p:tavLst>
                                        <p:tav tm="0">
                                          <p:val>
                                            <p:strVal val="#ppt_y-1"/>
                                          </p:val>
                                        </p:tav>
                                        <p:tav tm="100000">
                                          <p:val>
                                            <p:strVal val="#ppt_y-(0.354*#ppt_w-0.172*#ppt_h)"/>
                                          </p:val>
                                        </p:tav>
                                      </p:tavLst>
                                    </p:anim>
                                    <p:anim calcmode="lin" valueType="num">
                                      <p:cBhvr>
                                        <p:cTn id="196" dur="156" decel="50000" autoRev="1" fill="hold">
                                          <p:stCondLst>
                                            <p:cond delay="455"/>
                                          </p:stCondLst>
                                        </p:cTn>
                                        <p:tgtEl>
                                          <p:spTgt spid="176165"/>
                                        </p:tgtEl>
                                        <p:attrNameLst>
                                          <p:attrName>ppt_y</p:attrName>
                                        </p:attrNameLst>
                                      </p:cBhvr>
                                      <p:tavLst>
                                        <p:tav tm="0">
                                          <p:val>
                                            <p:strVal val="#ppt_y-(0.354*#ppt_w-0.172*#ppt_h)"/>
                                          </p:val>
                                        </p:tav>
                                        <p:tav tm="100000">
                                          <p:val>
                                            <p:strVal val="#ppt_y-(0.354*#ppt_w-0.172*#ppt_h)-#ppt_h/2"/>
                                          </p:val>
                                        </p:tav>
                                      </p:tavLst>
                                    </p:anim>
                                    <p:anim calcmode="lin" valueType="num">
                                      <p:cBhvr>
                                        <p:cTn id="197" dur="136" fill="hold">
                                          <p:stCondLst>
                                            <p:cond delay="864"/>
                                          </p:stCondLst>
                                        </p:cTn>
                                        <p:tgtEl>
                                          <p:spTgt spid="176165"/>
                                        </p:tgtEl>
                                        <p:attrNameLst>
                                          <p:attrName>ppt_y</p:attrName>
                                        </p:attrNameLst>
                                      </p:cBhvr>
                                      <p:tavLst>
                                        <p:tav tm="0">
                                          <p:val>
                                            <p:strVal val="#ppt_y-(0.354*#ppt_w-0.172*#ppt_h)"/>
                                          </p:val>
                                        </p:tav>
                                        <p:tav tm="100000">
                                          <p:val>
                                            <p:strVal val="#ppt_y"/>
                                          </p:val>
                                        </p:tav>
                                      </p:tavLst>
                                    </p:anim>
                                  </p:childTnLst>
                                </p:cTn>
                              </p:par>
                            </p:childTnLst>
                          </p:cTn>
                        </p:par>
                      </p:childTnLst>
                    </p:cTn>
                  </p:par>
                  <p:par>
                    <p:cTn id="198" fill="hold">
                      <p:stCondLst>
                        <p:cond delay="indefinite"/>
                      </p:stCondLst>
                      <p:childTnLst>
                        <p:par>
                          <p:cTn id="199" fill="hold">
                            <p:stCondLst>
                              <p:cond delay="0"/>
                            </p:stCondLst>
                            <p:childTnLst>
                              <p:par>
                                <p:cTn id="200" presetID="9" presetClass="exit" presetSubtype="0" fill="hold" grpId="0" nodeType="clickEffect">
                                  <p:stCondLst>
                                    <p:cond delay="0"/>
                                  </p:stCondLst>
                                  <p:childTnLst>
                                    <p:animEffect transition="out" filter="dissolve">
                                      <p:cBhvr>
                                        <p:cTn id="201" dur="500"/>
                                        <p:tgtEl>
                                          <p:spTgt spid="176151"/>
                                        </p:tgtEl>
                                      </p:cBhvr>
                                    </p:animEffect>
                                    <p:set>
                                      <p:cBhvr>
                                        <p:cTn id="202" dur="1" fill="hold">
                                          <p:stCondLst>
                                            <p:cond delay="499"/>
                                          </p:stCondLst>
                                        </p:cTn>
                                        <p:tgtEl>
                                          <p:spTgt spid="176151"/>
                                        </p:tgtEl>
                                        <p:attrNameLst>
                                          <p:attrName>style.visibility</p:attrName>
                                        </p:attrNameLst>
                                      </p:cBhvr>
                                      <p:to>
                                        <p:strVal val="hidden"/>
                                      </p:to>
                                    </p:set>
                                  </p:childTnLst>
                                </p:cTn>
                              </p:par>
                            </p:childTnLst>
                          </p:cTn>
                        </p:par>
                        <p:par>
                          <p:cTn id="203" fill="hold">
                            <p:stCondLst>
                              <p:cond delay="500"/>
                            </p:stCondLst>
                            <p:childTnLst>
                              <p:par>
                                <p:cTn id="204" presetID="38" presetClass="entr" presetSubtype="0" accel="50000" fill="hold" grpId="0" nodeType="afterEffect">
                                  <p:stCondLst>
                                    <p:cond delay="0"/>
                                  </p:stCondLst>
                                  <p:iterate type="lt">
                                    <p:tmPct val="50000"/>
                                  </p:iterate>
                                  <p:childTnLst>
                                    <p:set>
                                      <p:cBhvr>
                                        <p:cTn id="205" dur="1" fill="hold">
                                          <p:stCondLst>
                                            <p:cond delay="0"/>
                                          </p:stCondLst>
                                        </p:cTn>
                                        <p:tgtEl>
                                          <p:spTgt spid="176168"/>
                                        </p:tgtEl>
                                        <p:attrNameLst>
                                          <p:attrName>style.visibility</p:attrName>
                                        </p:attrNameLst>
                                      </p:cBhvr>
                                      <p:to>
                                        <p:strVal val="visible"/>
                                      </p:to>
                                    </p:set>
                                    <p:set>
                                      <p:cBhvr>
                                        <p:cTn id="206" dur="455" fill="hold">
                                          <p:stCondLst>
                                            <p:cond delay="0"/>
                                          </p:stCondLst>
                                        </p:cTn>
                                        <p:tgtEl>
                                          <p:spTgt spid="176168"/>
                                        </p:tgtEl>
                                        <p:attrNameLst>
                                          <p:attrName>style.rotation</p:attrName>
                                        </p:attrNameLst>
                                      </p:cBhvr>
                                      <p:to>
                                        <p:strVal val="-45.0"/>
                                      </p:to>
                                    </p:set>
                                    <p:anim calcmode="lin" valueType="num">
                                      <p:cBhvr>
                                        <p:cTn id="207" dur="455" fill="hold">
                                          <p:stCondLst>
                                            <p:cond delay="455"/>
                                          </p:stCondLst>
                                        </p:cTn>
                                        <p:tgtEl>
                                          <p:spTgt spid="176168"/>
                                        </p:tgtEl>
                                        <p:attrNameLst>
                                          <p:attrName>style.rotation</p:attrName>
                                        </p:attrNameLst>
                                      </p:cBhvr>
                                      <p:tavLst>
                                        <p:tav tm="0">
                                          <p:val>
                                            <p:fltVal val="-45"/>
                                          </p:val>
                                        </p:tav>
                                        <p:tav tm="69900">
                                          <p:val>
                                            <p:fltVal val="45"/>
                                          </p:val>
                                        </p:tav>
                                        <p:tav tm="100000">
                                          <p:val>
                                            <p:fltVal val="0"/>
                                          </p:val>
                                        </p:tav>
                                      </p:tavLst>
                                    </p:anim>
                                    <p:anim calcmode="lin" valueType="num">
                                      <p:cBhvr>
                                        <p:cTn id="208" dur="455" fill="hold">
                                          <p:stCondLst>
                                            <p:cond delay="0"/>
                                          </p:stCondLst>
                                        </p:cTn>
                                        <p:tgtEl>
                                          <p:spTgt spid="176168"/>
                                        </p:tgtEl>
                                        <p:attrNameLst>
                                          <p:attrName>ppt_y</p:attrName>
                                        </p:attrNameLst>
                                      </p:cBhvr>
                                      <p:tavLst>
                                        <p:tav tm="0">
                                          <p:val>
                                            <p:strVal val="#ppt_y-1"/>
                                          </p:val>
                                        </p:tav>
                                        <p:tav tm="100000">
                                          <p:val>
                                            <p:strVal val="#ppt_y-(0.354*#ppt_w-0.172*#ppt_h)"/>
                                          </p:val>
                                        </p:tav>
                                      </p:tavLst>
                                    </p:anim>
                                    <p:anim calcmode="lin" valueType="num">
                                      <p:cBhvr>
                                        <p:cTn id="209" dur="156" decel="50000" autoRev="1" fill="hold">
                                          <p:stCondLst>
                                            <p:cond delay="455"/>
                                          </p:stCondLst>
                                        </p:cTn>
                                        <p:tgtEl>
                                          <p:spTgt spid="176168"/>
                                        </p:tgtEl>
                                        <p:attrNameLst>
                                          <p:attrName>ppt_y</p:attrName>
                                        </p:attrNameLst>
                                      </p:cBhvr>
                                      <p:tavLst>
                                        <p:tav tm="0">
                                          <p:val>
                                            <p:strVal val="#ppt_y-(0.354*#ppt_w-0.172*#ppt_h)"/>
                                          </p:val>
                                        </p:tav>
                                        <p:tav tm="100000">
                                          <p:val>
                                            <p:strVal val="#ppt_y-(0.354*#ppt_w-0.172*#ppt_h)-#ppt_h/2"/>
                                          </p:val>
                                        </p:tav>
                                      </p:tavLst>
                                    </p:anim>
                                    <p:anim calcmode="lin" valueType="num">
                                      <p:cBhvr>
                                        <p:cTn id="210" dur="136" fill="hold">
                                          <p:stCondLst>
                                            <p:cond delay="864"/>
                                          </p:stCondLst>
                                        </p:cTn>
                                        <p:tgtEl>
                                          <p:spTgt spid="176168"/>
                                        </p:tgtEl>
                                        <p:attrNameLst>
                                          <p:attrName>ppt_y</p:attrName>
                                        </p:attrNameLst>
                                      </p:cBhvr>
                                      <p:tavLst>
                                        <p:tav tm="0">
                                          <p:val>
                                            <p:strVal val="#ppt_y-(0.354*#ppt_w-0.172*#ppt_h)"/>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6136" grpId="0"/>
      <p:bldP spid="176142" grpId="0"/>
      <p:bldP spid="176142" grpId="1"/>
      <p:bldP spid="176144" grpId="0"/>
      <p:bldP spid="176144" grpId="1"/>
      <p:bldP spid="176145" grpId="0"/>
      <p:bldP spid="176145" grpId="1"/>
      <p:bldP spid="176146" grpId="0"/>
      <p:bldP spid="176146" grpId="1"/>
      <p:bldP spid="176137" grpId="0"/>
      <p:bldP spid="176167" grpId="0"/>
      <p:bldP spid="176135" grpId="0"/>
      <p:bldP spid="176152" grpId="0"/>
      <p:bldP spid="176152" grpId="1"/>
      <p:bldP spid="176150" grpId="0"/>
      <p:bldP spid="176150" grpId="1"/>
      <p:bldP spid="176151" grpId="0"/>
      <p:bldP spid="176151" grpId="1"/>
      <p:bldP spid="176148" grpId="0"/>
      <p:bldP spid="176148" grpId="1"/>
      <p:bldP spid="176149" grpId="0"/>
      <p:bldP spid="176149" grpId="1"/>
      <p:bldP spid="176160" grpId="0"/>
      <p:bldP spid="176160" grpId="1"/>
      <p:bldP spid="176160" grpId="2"/>
      <p:bldP spid="176161" grpId="0"/>
      <p:bldP spid="176162" grpId="0"/>
      <p:bldP spid="176163" grpId="0"/>
      <p:bldP spid="176159" grpId="0"/>
      <p:bldP spid="176157" grpId="0"/>
      <p:bldP spid="176141" grpId="0"/>
      <p:bldP spid="176141" grpId="1"/>
      <p:bldP spid="176143" grpId="0"/>
      <p:bldP spid="176143" grpId="1"/>
      <p:bldP spid="176147" grpId="0"/>
      <p:bldP spid="176147" grpId="1"/>
      <p:bldP spid="176153" grpId="0"/>
      <p:bldP spid="176153" grpId="1"/>
      <p:bldP spid="176154" grpId="0"/>
      <p:bldP spid="176155" grpId="0"/>
      <p:bldP spid="176156" grpId="0"/>
      <p:bldP spid="176158" grpId="0"/>
      <p:bldP spid="176158" grpId="1"/>
      <p:bldP spid="176158" grpId="2"/>
      <p:bldP spid="176164" grpId="0"/>
      <p:bldP spid="176165" grpId="0"/>
      <p:bldP spid="176166" grpId="0"/>
      <p:bldP spid="176166" grpId="1"/>
      <p:bldP spid="176166" grpId="2"/>
      <p:bldP spid="176168" grpId="0"/>
    </p:bldLst>
  </p:timing>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514" name="Text Box 10"/>
          <p:cNvSpPr txBox="1">
            <a:spLocks noChangeArrowheads="1"/>
          </p:cNvSpPr>
          <p:nvPr/>
        </p:nvSpPr>
        <p:spPr bwMode="auto">
          <a:xfrm>
            <a:off x="914400" y="4038600"/>
            <a:ext cx="2743200" cy="396875"/>
          </a:xfrm>
          <a:prstGeom prst="rect">
            <a:avLst/>
          </a:prstGeom>
          <a:noFill/>
          <a:ln w="9525">
            <a:noFill/>
            <a:miter lim="800000"/>
            <a:headEnd/>
            <a:tailEnd/>
          </a:ln>
        </p:spPr>
        <p:txBody>
          <a:bodyPr>
            <a:spAutoFit/>
          </a:bodyPr>
          <a:lstStyle/>
          <a:p>
            <a:pPr>
              <a:spcBef>
                <a:spcPct val="50000"/>
              </a:spcBef>
            </a:pPr>
            <a:r>
              <a:rPr lang="zh-CN" altLang="en-US" sz="2000" b="1">
                <a:solidFill>
                  <a:srgbClr val="0000FF"/>
                </a:solidFill>
                <a:ea typeface="宋体" charset="-122"/>
              </a:rPr>
              <a:t>变异后子代个体：</a:t>
            </a:r>
          </a:p>
        </p:txBody>
      </p:sp>
      <p:sp>
        <p:nvSpPr>
          <p:cNvPr id="64515" name="Rectangle 6"/>
          <p:cNvSpPr>
            <a:spLocks noChangeArrowheads="1"/>
          </p:cNvSpPr>
          <p:nvPr/>
        </p:nvSpPr>
        <p:spPr bwMode="auto">
          <a:xfrm>
            <a:off x="3048000" y="3276600"/>
            <a:ext cx="3435350" cy="519113"/>
          </a:xfrm>
          <a:prstGeom prst="rect">
            <a:avLst/>
          </a:prstGeom>
          <a:noFill/>
          <a:ln w="9525">
            <a:noFill/>
            <a:miter lim="800000"/>
            <a:headEnd/>
            <a:tailEnd/>
          </a:ln>
        </p:spPr>
        <p:txBody>
          <a:bodyPr wrap="none">
            <a:spAutoFit/>
          </a:bodyPr>
          <a:lstStyle/>
          <a:p>
            <a:r>
              <a:rPr lang="en-US" altLang="zh-CN" sz="2800" b="1">
                <a:solidFill>
                  <a:srgbClr val="0000FF"/>
                </a:solidFill>
                <a:ea typeface="宋体" charset="-122"/>
              </a:rPr>
              <a:t>5 6 7 </a:t>
            </a:r>
            <a:r>
              <a:rPr lang="en-US" altLang="zh-CN" sz="2800">
                <a:solidFill>
                  <a:srgbClr val="0000FF"/>
                </a:solidFill>
                <a:ea typeface="宋体" charset="-122"/>
              </a:rPr>
              <a:t>|</a:t>
            </a:r>
            <a:r>
              <a:rPr lang="en-US" altLang="zh-CN" sz="2800" b="1">
                <a:solidFill>
                  <a:srgbClr val="0000FF"/>
                </a:solidFill>
                <a:ea typeface="宋体" charset="-122"/>
              </a:rPr>
              <a:t> 8 4 1 2 </a:t>
            </a:r>
            <a:r>
              <a:rPr lang="en-US" altLang="zh-CN" sz="2800">
                <a:solidFill>
                  <a:srgbClr val="0000FF"/>
                </a:solidFill>
                <a:ea typeface="宋体" charset="-122"/>
              </a:rPr>
              <a:t>|</a:t>
            </a:r>
            <a:r>
              <a:rPr lang="en-US" altLang="zh-CN" sz="2800" b="1">
                <a:solidFill>
                  <a:srgbClr val="0000FF"/>
                </a:solidFill>
                <a:ea typeface="宋体" charset="-122"/>
              </a:rPr>
              <a:t> 3 9 0</a:t>
            </a:r>
            <a:endParaRPr lang="zh-CN" altLang="en-US" sz="2800" b="1">
              <a:solidFill>
                <a:srgbClr val="0000FF"/>
              </a:solidFill>
              <a:ea typeface="宋体" charset="-122"/>
            </a:endParaRPr>
          </a:p>
        </p:txBody>
      </p:sp>
      <p:sp>
        <p:nvSpPr>
          <p:cNvPr id="64516" name="Rectangle 2"/>
          <p:cNvSpPr>
            <a:spLocks noGrp="1" noChangeArrowheads="1"/>
          </p:cNvSpPr>
          <p:nvPr>
            <p:ph type="title"/>
          </p:nvPr>
        </p:nvSpPr>
        <p:spPr bwMode="auto">
          <a:xfrm>
            <a:off x="609600" y="152400"/>
            <a:ext cx="7924800" cy="958850"/>
          </a:xfrm>
          <a:prstGeom prst="rect">
            <a:avLst/>
          </a:prstGeom>
          <a:noFill/>
          <a:ln>
            <a:miter lim="800000"/>
            <a:headEnd/>
            <a:tailEnd/>
          </a:ln>
        </p:spPr>
        <p:txBody>
          <a:bodyPr vert="horz" wrap="square" lIns="91440" tIns="45720" rIns="91440" bIns="45720" numCol="1" anchor="ctr" anchorCtr="0" compatLnSpc="1">
            <a:prstTxWarp prst="textNoShape">
              <a:avLst/>
            </a:prstTxWarp>
          </a:bodyPr>
          <a:lstStyle/>
          <a:p>
            <a:pPr eaLnBrk="1" hangingPunct="1"/>
            <a:r>
              <a:rPr lang="en-US" altLang="zh-CN" smtClean="0">
                <a:solidFill>
                  <a:srgbClr val="0000FF"/>
                </a:solidFill>
                <a:ea typeface="宋体" charset="-122"/>
              </a:rPr>
              <a:t>4 </a:t>
            </a:r>
            <a:r>
              <a:rPr lang="zh-CN" altLang="en-US" smtClean="0">
                <a:solidFill>
                  <a:srgbClr val="0000FF"/>
                </a:solidFill>
                <a:ea typeface="宋体" charset="-122"/>
              </a:rPr>
              <a:t>遗传算法求解巡回旅行商问题</a:t>
            </a:r>
          </a:p>
        </p:txBody>
      </p:sp>
      <p:sp>
        <p:nvSpPr>
          <p:cNvPr id="64517" name="Rectangle 3"/>
          <p:cNvSpPr>
            <a:spLocks noGrp="1" noChangeArrowheads="1"/>
          </p:cNvSpPr>
          <p:nvPr>
            <p:ph type="body" idx="1"/>
          </p:nvPr>
        </p:nvSpPr>
        <p:spPr>
          <a:xfrm>
            <a:off x="609600" y="1600200"/>
            <a:ext cx="8001000" cy="1676400"/>
          </a:xfrm>
        </p:spPr>
        <p:txBody>
          <a:bodyPr/>
          <a:lstStyle/>
          <a:p>
            <a:pPr marL="0" indent="0" eaLnBrk="1" hangingPunct="1">
              <a:buFont typeface="Wingdings" pitchFamily="2" charset="2"/>
              <a:buNone/>
            </a:pPr>
            <a:r>
              <a:rPr lang="zh-CN" altLang="en-US" sz="2000" smtClean="0">
                <a:solidFill>
                  <a:srgbClr val="0000FF"/>
                </a:solidFill>
                <a:ea typeface="宋体" charset="-122"/>
              </a:rPr>
              <a:t>       变异操作中，若变异后子代的适应度值更加优异，则保留子代染色体，否则仍保留父代染色体。本例中，采用倒置变异法。例如：假设当前个体为</a:t>
            </a:r>
            <a:r>
              <a:rPr lang="zh-CN" altLang="en-US" sz="2000" smtClean="0">
                <a:solidFill>
                  <a:srgbClr val="0000FF"/>
                </a:solidFill>
                <a:latin typeface="Times New Roman" pitchFamily="18" charset="0"/>
                <a:ea typeface="宋体" charset="-122"/>
              </a:rPr>
              <a:t>“</a:t>
            </a:r>
            <a:r>
              <a:rPr lang="en-US" altLang="zh-CN" sz="2000" smtClean="0">
                <a:solidFill>
                  <a:srgbClr val="0000FF"/>
                </a:solidFill>
                <a:latin typeface="Times New Roman" pitchFamily="18" charset="0"/>
                <a:ea typeface="宋体" charset="-122"/>
              </a:rPr>
              <a:t>5678412390”</a:t>
            </a:r>
            <a:r>
              <a:rPr lang="zh-CN" altLang="en-US" sz="2000" smtClean="0">
                <a:solidFill>
                  <a:srgbClr val="0000FF"/>
                </a:solidFill>
                <a:ea typeface="宋体" charset="-122"/>
              </a:rPr>
              <a:t>，如果当前随机值</a:t>
            </a:r>
            <a:r>
              <a:rPr lang="en-US" altLang="zh-CN" sz="2000" smtClean="0">
                <a:solidFill>
                  <a:srgbClr val="0000FF"/>
                </a:solidFill>
                <a:latin typeface="Times New Roman" pitchFamily="18" charset="0"/>
                <a:ea typeface="宋体" charset="-122"/>
              </a:rPr>
              <a:t>p∈</a:t>
            </a:r>
            <a:r>
              <a:rPr lang="en-US" altLang="zh-CN" sz="2000" smtClean="0">
                <a:solidFill>
                  <a:srgbClr val="0000FF"/>
                </a:solidFill>
                <a:latin typeface="宋体" charset="-122"/>
                <a:ea typeface="宋体" charset="-122"/>
              </a:rPr>
              <a:t>[0</a:t>
            </a:r>
            <a:r>
              <a:rPr lang="zh-CN" altLang="en-US" sz="2000" smtClean="0">
                <a:solidFill>
                  <a:srgbClr val="0000FF"/>
                </a:solidFill>
                <a:latin typeface="宋体" charset="-122"/>
                <a:ea typeface="宋体" charset="-122"/>
              </a:rPr>
              <a:t>，</a:t>
            </a:r>
            <a:r>
              <a:rPr lang="en-US" altLang="zh-CN" sz="2000" smtClean="0">
                <a:solidFill>
                  <a:srgbClr val="0000FF"/>
                </a:solidFill>
                <a:latin typeface="宋体" charset="-122"/>
                <a:ea typeface="宋体" charset="-122"/>
              </a:rPr>
              <a:t>1]</a:t>
            </a:r>
            <a:r>
              <a:rPr lang="en-US" altLang="zh-CN" sz="2000" smtClean="0">
                <a:solidFill>
                  <a:srgbClr val="0000FF"/>
                </a:solidFill>
                <a:latin typeface="Times New Roman" pitchFamily="18" charset="0"/>
                <a:ea typeface="宋体" charset="-122"/>
              </a:rPr>
              <a:t>≥p</a:t>
            </a:r>
            <a:r>
              <a:rPr lang="en-US" altLang="zh-CN" sz="2000" baseline="-25000" smtClean="0">
                <a:solidFill>
                  <a:srgbClr val="0000FF"/>
                </a:solidFill>
                <a:latin typeface="Times New Roman" pitchFamily="18" charset="0"/>
                <a:ea typeface="宋体" charset="-122"/>
              </a:rPr>
              <a:t>mutation</a:t>
            </a:r>
            <a:r>
              <a:rPr lang="zh-CN" altLang="en-US" sz="2000" smtClean="0">
                <a:solidFill>
                  <a:srgbClr val="0000FF"/>
                </a:solidFill>
                <a:ea typeface="宋体" charset="-122"/>
              </a:rPr>
              <a:t>，则随机选择来自同一个体的两个点（设为</a:t>
            </a:r>
            <a:r>
              <a:rPr lang="zh-CN" altLang="en-US" sz="2000" smtClean="0">
                <a:solidFill>
                  <a:srgbClr val="0000FF"/>
                </a:solidFill>
                <a:latin typeface="Times New Roman" pitchFamily="18" charset="0"/>
                <a:ea typeface="宋体" charset="-122"/>
              </a:rPr>
              <a:t>“</a:t>
            </a:r>
            <a:r>
              <a:rPr lang="en-US" altLang="zh-CN" sz="2000" smtClean="0">
                <a:solidFill>
                  <a:srgbClr val="0000FF"/>
                </a:solidFill>
                <a:latin typeface="Times New Roman" pitchFamily="18" charset="0"/>
                <a:ea typeface="宋体" charset="-122"/>
              </a:rPr>
              <a:t>8”</a:t>
            </a:r>
            <a:r>
              <a:rPr lang="zh-CN" altLang="en-US" sz="2000" smtClean="0">
                <a:solidFill>
                  <a:srgbClr val="0000FF"/>
                </a:solidFill>
                <a:ea typeface="宋体" charset="-122"/>
              </a:rPr>
              <a:t>和</a:t>
            </a:r>
            <a:r>
              <a:rPr lang="zh-CN" altLang="en-US" sz="2000" smtClean="0">
                <a:solidFill>
                  <a:srgbClr val="0000FF"/>
                </a:solidFill>
                <a:latin typeface="Times New Roman" pitchFamily="18" charset="0"/>
                <a:ea typeface="宋体" charset="-122"/>
              </a:rPr>
              <a:t>“</a:t>
            </a:r>
            <a:r>
              <a:rPr lang="en-US" altLang="zh-CN" sz="2000" smtClean="0">
                <a:solidFill>
                  <a:srgbClr val="0000FF"/>
                </a:solidFill>
                <a:latin typeface="Times New Roman" pitchFamily="18" charset="0"/>
                <a:ea typeface="宋体" charset="-122"/>
              </a:rPr>
              <a:t>2”</a:t>
            </a:r>
            <a:r>
              <a:rPr lang="en-US" altLang="zh-CN" sz="2000" smtClean="0">
                <a:solidFill>
                  <a:srgbClr val="0000FF"/>
                </a:solidFill>
                <a:ea typeface="宋体" charset="-122"/>
              </a:rPr>
              <a:t> </a:t>
            </a:r>
            <a:r>
              <a:rPr lang="zh-CN" altLang="en-US" sz="2000" smtClean="0">
                <a:solidFill>
                  <a:srgbClr val="0000FF"/>
                </a:solidFill>
                <a:ea typeface="宋体" charset="-122"/>
              </a:rPr>
              <a:t>），执行变异操作，即倒置该两点的中间部分。产生的新个体为</a:t>
            </a:r>
            <a:r>
              <a:rPr lang="zh-CN" altLang="en-US" sz="2000" smtClean="0">
                <a:solidFill>
                  <a:srgbClr val="0000FF"/>
                </a:solidFill>
                <a:latin typeface="Times New Roman" pitchFamily="18" charset="0"/>
                <a:ea typeface="宋体" charset="-122"/>
              </a:rPr>
              <a:t>“</a:t>
            </a:r>
            <a:r>
              <a:rPr lang="en-US" altLang="zh-CN" sz="2000" smtClean="0">
                <a:solidFill>
                  <a:srgbClr val="0000FF"/>
                </a:solidFill>
                <a:latin typeface="Times New Roman" pitchFamily="18" charset="0"/>
                <a:ea typeface="宋体" charset="-122"/>
              </a:rPr>
              <a:t>5672148390”</a:t>
            </a:r>
            <a:r>
              <a:rPr lang="zh-CN" altLang="en-US" sz="2000" smtClean="0">
                <a:solidFill>
                  <a:srgbClr val="0000FF"/>
                </a:solidFill>
                <a:ea typeface="宋体" charset="-122"/>
              </a:rPr>
              <a:t>。 </a:t>
            </a:r>
          </a:p>
        </p:txBody>
      </p:sp>
      <p:sp>
        <p:nvSpPr>
          <p:cNvPr id="64518" name="Rectangle 4"/>
          <p:cNvSpPr>
            <a:spLocks noChangeArrowheads="1"/>
          </p:cNvSpPr>
          <p:nvPr/>
        </p:nvSpPr>
        <p:spPr bwMode="auto">
          <a:xfrm>
            <a:off x="609600" y="1219200"/>
            <a:ext cx="3124200" cy="396875"/>
          </a:xfrm>
          <a:prstGeom prst="rect">
            <a:avLst/>
          </a:prstGeom>
          <a:noFill/>
          <a:ln w="9525">
            <a:noFill/>
            <a:miter lim="800000"/>
            <a:headEnd/>
            <a:tailEnd/>
          </a:ln>
        </p:spPr>
        <p:txBody>
          <a:bodyPr anchor="ctr">
            <a:spAutoFit/>
          </a:bodyPr>
          <a:lstStyle/>
          <a:p>
            <a:r>
              <a:rPr lang="zh-CN" altLang="en-US" sz="2000" b="1">
                <a:solidFill>
                  <a:srgbClr val="0000FF"/>
                </a:solidFill>
                <a:ea typeface="宋体" charset="-122"/>
              </a:rPr>
              <a:t>（</a:t>
            </a:r>
            <a:r>
              <a:rPr lang="en-US" altLang="zh-CN" sz="2000" b="1">
                <a:solidFill>
                  <a:srgbClr val="0000FF"/>
                </a:solidFill>
                <a:ea typeface="宋体" charset="-122"/>
              </a:rPr>
              <a:t>5</a:t>
            </a:r>
            <a:r>
              <a:rPr lang="zh-CN" altLang="en-US" sz="2000" b="1">
                <a:solidFill>
                  <a:srgbClr val="0000FF"/>
                </a:solidFill>
                <a:ea typeface="宋体" charset="-122"/>
              </a:rPr>
              <a:t>）变异操作 </a:t>
            </a:r>
          </a:p>
        </p:txBody>
      </p:sp>
      <p:sp>
        <p:nvSpPr>
          <p:cNvPr id="64519" name="Text Box 5"/>
          <p:cNvSpPr txBox="1">
            <a:spLocks noChangeArrowheads="1"/>
          </p:cNvSpPr>
          <p:nvPr/>
        </p:nvSpPr>
        <p:spPr bwMode="auto">
          <a:xfrm>
            <a:off x="609600" y="4572000"/>
            <a:ext cx="6858000" cy="396875"/>
          </a:xfrm>
          <a:prstGeom prst="rect">
            <a:avLst/>
          </a:prstGeom>
          <a:noFill/>
          <a:ln w="9525" algn="ctr">
            <a:noFill/>
            <a:miter lim="800000"/>
            <a:headEnd/>
            <a:tailEnd/>
          </a:ln>
        </p:spPr>
        <p:txBody>
          <a:bodyPr anchor="ctr">
            <a:spAutoFit/>
          </a:bodyPr>
          <a:lstStyle/>
          <a:p>
            <a:r>
              <a:rPr lang="zh-CN" altLang="en-US" sz="2000" b="1">
                <a:solidFill>
                  <a:srgbClr val="0000FF"/>
                </a:solidFill>
                <a:ea typeface="宋体" charset="-122"/>
              </a:rPr>
              <a:t>（</a:t>
            </a:r>
            <a:r>
              <a:rPr lang="en-US" altLang="zh-CN" sz="2000" b="1">
                <a:solidFill>
                  <a:srgbClr val="0000FF"/>
                </a:solidFill>
                <a:ea typeface="宋体" charset="-122"/>
              </a:rPr>
              <a:t>6</a:t>
            </a:r>
            <a:r>
              <a:rPr lang="zh-CN" altLang="en-US" sz="2000" b="1">
                <a:solidFill>
                  <a:srgbClr val="0000FF"/>
                </a:solidFill>
                <a:ea typeface="宋体" charset="-122"/>
              </a:rPr>
              <a:t>）群体初始化</a:t>
            </a:r>
          </a:p>
        </p:txBody>
      </p:sp>
      <p:sp>
        <p:nvSpPr>
          <p:cNvPr id="177159" name="Rectangle 7"/>
          <p:cNvSpPr>
            <a:spLocks noChangeArrowheads="1"/>
          </p:cNvSpPr>
          <p:nvPr/>
        </p:nvSpPr>
        <p:spPr bwMode="auto">
          <a:xfrm>
            <a:off x="5010150" y="3276600"/>
            <a:ext cx="382588" cy="519113"/>
          </a:xfrm>
          <a:prstGeom prst="rect">
            <a:avLst/>
          </a:prstGeom>
          <a:noFill/>
          <a:ln w="9525">
            <a:noFill/>
            <a:miter lim="800000"/>
            <a:headEnd/>
            <a:tailEnd/>
          </a:ln>
        </p:spPr>
        <p:txBody>
          <a:bodyPr wrap="none">
            <a:spAutoFit/>
          </a:bodyPr>
          <a:lstStyle/>
          <a:p>
            <a:r>
              <a:rPr lang="en-US" altLang="zh-CN" sz="2800" b="1">
                <a:solidFill>
                  <a:srgbClr val="0000FF"/>
                </a:solidFill>
                <a:ea typeface="宋体" charset="-122"/>
              </a:rPr>
              <a:t>2</a:t>
            </a:r>
            <a:endParaRPr lang="zh-CN" altLang="en-US" sz="2800" b="1">
              <a:solidFill>
                <a:srgbClr val="0000FF"/>
              </a:solidFill>
              <a:ea typeface="宋体" charset="-122"/>
            </a:endParaRPr>
          </a:p>
        </p:txBody>
      </p:sp>
      <p:sp>
        <p:nvSpPr>
          <p:cNvPr id="64521" name="Text Box 9"/>
          <p:cNvSpPr txBox="1">
            <a:spLocks noChangeArrowheads="1"/>
          </p:cNvSpPr>
          <p:nvPr/>
        </p:nvSpPr>
        <p:spPr bwMode="auto">
          <a:xfrm>
            <a:off x="914400" y="3352800"/>
            <a:ext cx="2743200" cy="396875"/>
          </a:xfrm>
          <a:prstGeom prst="rect">
            <a:avLst/>
          </a:prstGeom>
          <a:noFill/>
          <a:ln w="9525">
            <a:noFill/>
            <a:miter lim="800000"/>
            <a:headEnd/>
            <a:tailEnd/>
          </a:ln>
        </p:spPr>
        <p:txBody>
          <a:bodyPr>
            <a:spAutoFit/>
          </a:bodyPr>
          <a:lstStyle/>
          <a:p>
            <a:pPr>
              <a:spcBef>
                <a:spcPct val="50000"/>
              </a:spcBef>
            </a:pPr>
            <a:r>
              <a:rPr lang="zh-CN" altLang="en-US" sz="2000" b="1">
                <a:solidFill>
                  <a:srgbClr val="0000FF"/>
                </a:solidFill>
                <a:ea typeface="宋体" charset="-122"/>
              </a:rPr>
              <a:t>变异前父代个体：</a:t>
            </a:r>
          </a:p>
        </p:txBody>
      </p:sp>
      <p:sp>
        <p:nvSpPr>
          <p:cNvPr id="64522" name="Rectangle 11"/>
          <p:cNvSpPr>
            <a:spLocks noChangeArrowheads="1"/>
          </p:cNvSpPr>
          <p:nvPr/>
        </p:nvSpPr>
        <p:spPr bwMode="auto">
          <a:xfrm>
            <a:off x="3048000" y="3962400"/>
            <a:ext cx="3429000" cy="519113"/>
          </a:xfrm>
          <a:prstGeom prst="rect">
            <a:avLst/>
          </a:prstGeom>
          <a:noFill/>
          <a:ln w="9525">
            <a:noFill/>
            <a:miter lim="800000"/>
            <a:headEnd/>
            <a:tailEnd/>
          </a:ln>
        </p:spPr>
        <p:txBody>
          <a:bodyPr wrap="none">
            <a:spAutoFit/>
          </a:bodyPr>
          <a:lstStyle/>
          <a:p>
            <a:r>
              <a:rPr lang="en-US" altLang="zh-CN" sz="2800" b="1">
                <a:solidFill>
                  <a:srgbClr val="0000FF"/>
                </a:solidFill>
                <a:ea typeface="宋体" charset="-122"/>
              </a:rPr>
              <a:t>5 6 7 </a:t>
            </a:r>
            <a:r>
              <a:rPr lang="en-US" altLang="zh-CN" sz="2800">
                <a:solidFill>
                  <a:srgbClr val="0000FF"/>
                </a:solidFill>
                <a:ea typeface="宋体" charset="-122"/>
              </a:rPr>
              <a:t>|</a:t>
            </a:r>
            <a:r>
              <a:rPr lang="en-US" altLang="zh-CN" sz="2800" b="1">
                <a:solidFill>
                  <a:srgbClr val="0000FF"/>
                </a:solidFill>
                <a:ea typeface="宋体" charset="-122"/>
              </a:rPr>
              <a:t>             </a:t>
            </a:r>
            <a:r>
              <a:rPr lang="en-US" altLang="zh-CN" sz="2800">
                <a:solidFill>
                  <a:srgbClr val="0000FF"/>
                </a:solidFill>
                <a:ea typeface="宋体" charset="-122"/>
              </a:rPr>
              <a:t>|</a:t>
            </a:r>
            <a:r>
              <a:rPr lang="en-US" altLang="zh-CN" sz="2800" b="1">
                <a:solidFill>
                  <a:srgbClr val="0000FF"/>
                </a:solidFill>
                <a:ea typeface="宋体" charset="-122"/>
              </a:rPr>
              <a:t> 3 9 0</a:t>
            </a:r>
            <a:endParaRPr lang="zh-CN" altLang="en-US" sz="2800" b="1">
              <a:solidFill>
                <a:srgbClr val="0000FF"/>
              </a:solidFill>
              <a:ea typeface="宋体" charset="-122"/>
            </a:endParaRPr>
          </a:p>
        </p:txBody>
      </p:sp>
      <p:sp>
        <p:nvSpPr>
          <p:cNvPr id="177164" name="Rectangle 12"/>
          <p:cNvSpPr>
            <a:spLocks noChangeArrowheads="1"/>
          </p:cNvSpPr>
          <p:nvPr/>
        </p:nvSpPr>
        <p:spPr bwMode="auto">
          <a:xfrm>
            <a:off x="4718050" y="3276600"/>
            <a:ext cx="382588" cy="519113"/>
          </a:xfrm>
          <a:prstGeom prst="rect">
            <a:avLst/>
          </a:prstGeom>
          <a:noFill/>
          <a:ln w="9525" algn="ctr">
            <a:noFill/>
            <a:miter lim="800000"/>
            <a:headEnd/>
            <a:tailEnd/>
          </a:ln>
        </p:spPr>
        <p:txBody>
          <a:bodyPr wrap="none">
            <a:spAutoFit/>
          </a:bodyPr>
          <a:lstStyle/>
          <a:p>
            <a:r>
              <a:rPr lang="en-US" altLang="zh-CN" sz="2800" b="1" dirty="0">
                <a:solidFill>
                  <a:srgbClr val="0000FF"/>
                </a:solidFill>
                <a:ea typeface="宋体" charset="-122"/>
              </a:rPr>
              <a:t>1</a:t>
            </a:r>
            <a:endParaRPr lang="zh-CN" altLang="en-US" sz="2800" b="1" dirty="0">
              <a:solidFill>
                <a:srgbClr val="0000FF"/>
              </a:solidFill>
              <a:ea typeface="宋体" charset="-122"/>
            </a:endParaRPr>
          </a:p>
        </p:txBody>
      </p:sp>
      <p:sp>
        <p:nvSpPr>
          <p:cNvPr id="177165" name="Rectangle 13"/>
          <p:cNvSpPr>
            <a:spLocks noChangeArrowheads="1"/>
          </p:cNvSpPr>
          <p:nvPr/>
        </p:nvSpPr>
        <p:spPr bwMode="auto">
          <a:xfrm>
            <a:off x="4422775" y="3276600"/>
            <a:ext cx="382588" cy="519113"/>
          </a:xfrm>
          <a:prstGeom prst="rect">
            <a:avLst/>
          </a:prstGeom>
          <a:noFill/>
          <a:ln w="9525" algn="ctr">
            <a:noFill/>
            <a:miter lim="800000"/>
            <a:headEnd/>
            <a:tailEnd/>
          </a:ln>
        </p:spPr>
        <p:txBody>
          <a:bodyPr wrap="none">
            <a:spAutoFit/>
          </a:bodyPr>
          <a:lstStyle/>
          <a:p>
            <a:r>
              <a:rPr lang="en-US" altLang="zh-CN" sz="2800" b="1" dirty="0">
                <a:solidFill>
                  <a:srgbClr val="0000FF"/>
                </a:solidFill>
                <a:ea typeface="宋体" charset="-122"/>
              </a:rPr>
              <a:t>4</a:t>
            </a:r>
            <a:endParaRPr lang="zh-CN" altLang="en-US" sz="2800" b="1" dirty="0">
              <a:solidFill>
                <a:srgbClr val="0000FF"/>
              </a:solidFill>
              <a:ea typeface="宋体" charset="-122"/>
            </a:endParaRPr>
          </a:p>
        </p:txBody>
      </p:sp>
      <p:sp>
        <p:nvSpPr>
          <p:cNvPr id="177166" name="Rectangle 14"/>
          <p:cNvSpPr>
            <a:spLocks noChangeArrowheads="1"/>
          </p:cNvSpPr>
          <p:nvPr/>
        </p:nvSpPr>
        <p:spPr bwMode="auto">
          <a:xfrm>
            <a:off x="4117975" y="3276600"/>
            <a:ext cx="382588" cy="519113"/>
          </a:xfrm>
          <a:prstGeom prst="rect">
            <a:avLst/>
          </a:prstGeom>
          <a:noFill/>
          <a:ln w="9525" algn="ctr">
            <a:noFill/>
            <a:miter lim="800000"/>
            <a:headEnd/>
            <a:tailEnd/>
          </a:ln>
        </p:spPr>
        <p:txBody>
          <a:bodyPr wrap="none">
            <a:spAutoFit/>
          </a:bodyPr>
          <a:lstStyle/>
          <a:p>
            <a:r>
              <a:rPr lang="en-US" altLang="zh-CN" sz="2800" b="1" dirty="0">
                <a:solidFill>
                  <a:srgbClr val="0000FF"/>
                </a:solidFill>
                <a:ea typeface="宋体" charset="-122"/>
              </a:rPr>
              <a:t>8</a:t>
            </a:r>
            <a:endParaRPr lang="zh-CN" altLang="en-US" sz="2800" b="1" dirty="0">
              <a:solidFill>
                <a:srgbClr val="0000FF"/>
              </a:solidFill>
              <a:ea typeface="宋体" charset="-122"/>
            </a:endParaRPr>
          </a:p>
        </p:txBody>
      </p:sp>
      <p:sp>
        <p:nvSpPr>
          <p:cNvPr id="64526" name="Text Box 15"/>
          <p:cNvSpPr txBox="1">
            <a:spLocks noChangeArrowheads="1"/>
          </p:cNvSpPr>
          <p:nvPr/>
        </p:nvSpPr>
        <p:spPr bwMode="auto">
          <a:xfrm>
            <a:off x="762000" y="5029200"/>
            <a:ext cx="4495800" cy="1311275"/>
          </a:xfrm>
          <a:prstGeom prst="rect">
            <a:avLst/>
          </a:prstGeom>
          <a:noFill/>
          <a:ln w="9525">
            <a:noFill/>
            <a:miter lim="800000"/>
            <a:headEnd/>
            <a:tailEnd/>
          </a:ln>
        </p:spPr>
        <p:txBody>
          <a:bodyPr>
            <a:spAutoFit/>
          </a:bodyPr>
          <a:lstStyle/>
          <a:p>
            <a:pPr>
              <a:spcBef>
                <a:spcPct val="50000"/>
              </a:spcBef>
            </a:pPr>
            <a:r>
              <a:rPr lang="en-US" altLang="zh-CN" sz="2000">
                <a:solidFill>
                  <a:srgbClr val="0000FF"/>
                </a:solidFill>
                <a:ea typeface="宋体" charset="-122"/>
              </a:rPr>
              <a:t>pop=zeros(s,t);</a:t>
            </a:r>
          </a:p>
          <a:p>
            <a:r>
              <a:rPr lang="en-US" altLang="zh-CN" sz="2000">
                <a:solidFill>
                  <a:srgbClr val="0000FF"/>
                </a:solidFill>
                <a:ea typeface="宋体" charset="-122"/>
              </a:rPr>
              <a:t>for i=1:s </a:t>
            </a:r>
          </a:p>
          <a:p>
            <a:r>
              <a:rPr lang="en-US" altLang="zh-CN" sz="2000">
                <a:solidFill>
                  <a:srgbClr val="0000FF"/>
                </a:solidFill>
                <a:ea typeface="宋体" charset="-122"/>
              </a:rPr>
              <a:t>        pop(i,1:t-1)=randperm(t-1); </a:t>
            </a:r>
          </a:p>
          <a:p>
            <a:r>
              <a:rPr lang="en-US" altLang="zh-CN" sz="2000">
                <a:solidFill>
                  <a:srgbClr val="0000FF"/>
                </a:solidFill>
                <a:ea typeface="宋体" charset="-122"/>
              </a:rPr>
              <a:t>end</a:t>
            </a:r>
            <a:endParaRPr lang="zh-CN" altLang="en-US" sz="2000">
              <a:solidFill>
                <a:srgbClr val="0000FF"/>
              </a:solidFill>
              <a:ea typeface="宋体"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4" presetClass="path" presetSubtype="0" accel="50000" decel="50000" fill="hold" grpId="0" nodeType="clickEffect">
                                  <p:stCondLst>
                                    <p:cond delay="0"/>
                                  </p:stCondLst>
                                  <p:childTnLst>
                                    <p:animMotion origin="layout" path="M -3.88889E-6 1.11111E-6 C 0.00105 -0.00417 0.00747 -0.00671 0.0099 -0.00671 C 0.02448 -0.00671 0.03959 0.04722 0.03959 0.10208 C 0.03959 0.07407 0.04653 0.04722 0.05382 0.04722 C 0.06112 0.04722 0.06858 0.0743 0.06858 0.10208 C 0.06858 0.08773 0.07205 0.07407 0.07605 0.07407 C 0.07969 0.07407 0.08334 0.08727 0.08334 0.10208 C 0.08334 0.09398 0.08525 0.08773 0.08681 0.08773 C 0.08889 0.08773 0.09063 0.09467 0.09063 0.10208 C 0.09063 0.09768 0.09167 0.09398 0.09271 0.09398 C 0.09289 0.09398 0.09445 0.09792 0.09445 0.10208 C 0.09445 0.09977 0.0948 0.09768 0.09549 0.09768 C 0.09549 0.09815 0.09636 0.09977 0.09636 0.10208 C 0.09636 0.10046 0.09636 0.09977 0.09671 0.09977 C 0.09671 0.10023 0.0974 0.10046 0.0974 0.10208 C 0.0974 0.10092 0.0974 0.10046 0.0974 0.10023 C 0.09792 0.10023 0.09792 0.10046 0.09792 0.10092 C 0.09844 0.10092 0.09844 0.10046 0.09844 0.10023 C 0.09966 0.10023 0.09966 0.10046 0.09966 0.10092 " pathEditMode="relative" rAng="0" ptsTypes="fffffffffffffffffff">
                                      <p:cBhvr>
                                        <p:cTn id="6" dur="2000" fill="hold"/>
                                        <p:tgtEl>
                                          <p:spTgt spid="177166"/>
                                        </p:tgtEl>
                                        <p:attrNameLst>
                                          <p:attrName>ppt_x</p:attrName>
                                          <p:attrName>ppt_y</p:attrName>
                                        </p:attrNameLst>
                                      </p:cBhvr>
                                      <p:rCtr x="5000" y="4800"/>
                                    </p:animMotion>
                                  </p:childTnLst>
                                </p:cTn>
                              </p:par>
                              <p:par>
                                <p:cTn id="7" presetID="41" presetClass="path" presetSubtype="0" accel="50000" decel="50000" fill="hold" grpId="0" nodeType="withEffect">
                                  <p:stCondLst>
                                    <p:cond delay="0"/>
                                  </p:stCondLst>
                                  <p:childTnLst>
                                    <p:animMotion origin="layout" path="M -0.00104 0.00532 C -0.00312 0.00185 -0.00903 -0.00116 -0.01128 -0.00116 C -0.02483 -0.00116 -0.03889 0.05023 -0.03889 0.10255 C -0.03889 0.07593 -0.04601 0.05023 -0.0526 0.05023 C -0.05972 0.05023 -0.06632 0.07662 -0.06632 0.10255 C -0.06632 0.08958 -0.06979 0.07593 -0.07344 0.07593 C -0.07691 0.07593 -0.08038 0.08889 -0.08038 0.10255 C -0.08038 0.09537 -0.08212 0.08958 -0.08385 0.08958 C -0.08559 0.08958 -0.08733 0.09606 -0.08733 0.10255 C -0.08733 0.09861 -0.08819 0.09537 -0.08906 0.09537 C -0.08958 0.09537 -0.09097 0.09861 -0.09097 0.10255 C -0.09097 0.10046 -0.09132 0.09861 -0.09167 0.09861 C -0.09167 0.09838 -0.09271 0.10046 -0.09271 0.10255 C -0.09271 0.10116 -0.09271 0.10046 -0.09306 0.10046 C -0.09306 0.10093 -0.09358 0.10139 -0.09358 0.10255 C -0.09358 0.10162 -0.09358 0.10116 -0.09358 0.10093 C -0.0941 0.10093 -0.0941 0.10139 -0.0941 0.10185 C -0.09462 0.10185 -0.09462 0.10139 -0.09462 0.10093 C -0.09479 0.10093 -0.09479 0.10139 -0.09479 0.10185 " pathEditMode="relative" rAng="0" ptsTypes="fffffffffffffffffff">
                                      <p:cBhvr>
                                        <p:cTn id="8" dur="2000" fill="hold"/>
                                        <p:tgtEl>
                                          <p:spTgt spid="177159"/>
                                        </p:tgtEl>
                                        <p:attrNameLst>
                                          <p:attrName>ppt_x</p:attrName>
                                          <p:attrName>ppt_y</p:attrName>
                                        </p:attrNameLst>
                                      </p:cBhvr>
                                      <p:rCtr x="-4700" y="4500"/>
                                    </p:animMotion>
                                  </p:childTnLst>
                                </p:cTn>
                              </p:par>
                            </p:childTnLst>
                          </p:cTn>
                        </p:par>
                      </p:childTnLst>
                    </p:cTn>
                  </p:par>
                  <p:par>
                    <p:cTn id="9" fill="hold">
                      <p:stCondLst>
                        <p:cond delay="indefinite"/>
                      </p:stCondLst>
                      <p:childTnLst>
                        <p:par>
                          <p:cTn id="10" fill="hold">
                            <p:stCondLst>
                              <p:cond delay="0"/>
                            </p:stCondLst>
                            <p:childTnLst>
                              <p:par>
                                <p:cTn id="11" presetID="62" presetClass="path" presetSubtype="0" accel="50000" decel="50000" fill="hold" grpId="0" nodeType="clickEffect">
                                  <p:stCondLst>
                                    <p:cond delay="0"/>
                                  </p:stCondLst>
                                  <p:childTnLst>
                                    <p:animMotion origin="layout" path="M -0.00104 0.00555 L 0.004 0.00555 L 0.004 0.01875 L 0.00938 0.01875 L 0.00938 0.03241 L 0.01459 0.03241 L 0.01459 0.04606 L 0.01997 0.04606 L 0.01997 0.05972 L 0.025 0.05972 L 0.025 0.07338 L 0.03039 0.07338 L 0.03039 0.08704 L 0.03612 0.08704 L 0.03612 0.10116 " pathEditMode="relative" rAng="0" ptsTypes="FFFFFFFFFFFFFFF">
                                      <p:cBhvr>
                                        <p:cTn id="12" dur="2000" fill="hold"/>
                                        <p:tgtEl>
                                          <p:spTgt spid="177165"/>
                                        </p:tgtEl>
                                        <p:attrNameLst>
                                          <p:attrName>ppt_x</p:attrName>
                                          <p:attrName>ppt_y</p:attrName>
                                        </p:attrNameLst>
                                      </p:cBhvr>
                                      <p:rCtr x="1900" y="4800"/>
                                    </p:animMotion>
                                  </p:childTnLst>
                                </p:cTn>
                              </p:par>
                              <p:par>
                                <p:cTn id="13" presetID="62" presetClass="path" presetSubtype="0" accel="50000" decel="50000" fill="hold" grpId="0" nodeType="withEffect">
                                  <p:stCondLst>
                                    <p:cond delay="0"/>
                                  </p:stCondLst>
                                  <p:childTnLst>
                                    <p:animMotion origin="layout" path="M 4.44444E-6 0.00555 L -0.00434 0.00555 L -0.00434 0.01898 L -0.00851 0.01898 L -0.00851 0.03264 L -0.0125 0.03264 L -0.0125 0.0463 L -0.0165 0.0463 L -0.0165 0.05995 L -0.02066 0.05995 L -0.02066 0.07361 L -0.02466 0.07361 L -0.02466 0.08727 L -0.02848 0.08727 L -0.02848 0.10116 " pathEditMode="relative" rAng="0" ptsTypes="FFFFFFFFFFFFFFF">
                                      <p:cBhvr>
                                        <p:cTn id="14" dur="2000" fill="hold"/>
                                        <p:tgtEl>
                                          <p:spTgt spid="177164"/>
                                        </p:tgtEl>
                                        <p:attrNameLst>
                                          <p:attrName>ppt_x</p:attrName>
                                          <p:attrName>ppt_y</p:attrName>
                                        </p:attrNameLst>
                                      </p:cBhvr>
                                      <p:rCtr x="-1400" y="4800"/>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7159" grpId="0"/>
      <p:bldP spid="177164" grpId="0"/>
      <p:bldP spid="177165" grpId="0"/>
      <p:bldP spid="177166" grpId="0"/>
    </p:bldLst>
  </p:timing>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538" name="Rectangle 2"/>
          <p:cNvSpPr>
            <a:spLocks noGrp="1" noChangeArrowheads="1"/>
          </p:cNvSpPr>
          <p:nvPr>
            <p:ph type="title"/>
          </p:nvPr>
        </p:nvSpPr>
        <p:spPr bwMode="auto">
          <a:xfrm>
            <a:off x="609600" y="152400"/>
            <a:ext cx="7924800" cy="958850"/>
          </a:xfrm>
          <a:prstGeom prst="rect">
            <a:avLst/>
          </a:prstGeom>
          <a:noFill/>
          <a:ln>
            <a:miter lim="800000"/>
            <a:headEnd/>
            <a:tailEnd/>
          </a:ln>
        </p:spPr>
        <p:txBody>
          <a:bodyPr vert="horz" wrap="square" lIns="91440" tIns="45720" rIns="91440" bIns="45720" numCol="1" anchor="ctr" anchorCtr="0" compatLnSpc="1">
            <a:prstTxWarp prst="textNoShape">
              <a:avLst/>
            </a:prstTxWarp>
          </a:bodyPr>
          <a:lstStyle/>
          <a:p>
            <a:pPr eaLnBrk="1" hangingPunct="1"/>
            <a:r>
              <a:rPr lang="en-US" altLang="zh-CN" smtClean="0">
                <a:solidFill>
                  <a:srgbClr val="0000FF"/>
                </a:solidFill>
                <a:ea typeface="宋体" charset="-122"/>
              </a:rPr>
              <a:t>4 </a:t>
            </a:r>
            <a:r>
              <a:rPr lang="zh-CN" altLang="en-US" smtClean="0">
                <a:solidFill>
                  <a:srgbClr val="0000FF"/>
                </a:solidFill>
                <a:ea typeface="宋体" charset="-122"/>
              </a:rPr>
              <a:t>遗传算法求解巡回旅行商问题</a:t>
            </a:r>
          </a:p>
        </p:txBody>
      </p:sp>
      <p:sp>
        <p:nvSpPr>
          <p:cNvPr id="65539" name="Rectangle 4"/>
          <p:cNvSpPr>
            <a:spLocks noGrp="1" noChangeArrowheads="1"/>
          </p:cNvSpPr>
          <p:nvPr>
            <p:ph type="body" idx="1"/>
          </p:nvPr>
        </p:nvSpPr>
        <p:spPr>
          <a:xfrm>
            <a:off x="457200" y="1219200"/>
            <a:ext cx="8229600" cy="566738"/>
          </a:xfrm>
          <a:noFill/>
        </p:spPr>
        <p:txBody>
          <a:bodyPr/>
          <a:lstStyle/>
          <a:p>
            <a:pPr eaLnBrk="1" hangingPunct="1">
              <a:lnSpc>
                <a:spcPct val="90000"/>
              </a:lnSpc>
              <a:buFont typeface="Wingdings" pitchFamily="2" charset="2"/>
              <a:buNone/>
            </a:pPr>
            <a:r>
              <a:rPr lang="en-US" altLang="zh-CN" sz="2800" smtClean="0">
                <a:solidFill>
                  <a:srgbClr val="0000FF"/>
                </a:solidFill>
                <a:ea typeface="宋体" charset="-122"/>
              </a:rPr>
              <a:t>4.3 </a:t>
            </a:r>
            <a:r>
              <a:rPr lang="zh-CN" altLang="en-US" sz="2800" smtClean="0">
                <a:solidFill>
                  <a:srgbClr val="0000FF"/>
                </a:solidFill>
                <a:ea typeface="宋体" charset="-122"/>
              </a:rPr>
              <a:t>计算仿真结果</a:t>
            </a:r>
          </a:p>
        </p:txBody>
      </p:sp>
      <p:pic>
        <p:nvPicPr>
          <p:cNvPr id="65540" name="Picture 5"/>
          <p:cNvPicPr>
            <a:picLocks noChangeAspect="1" noChangeArrowheads="1"/>
          </p:cNvPicPr>
          <p:nvPr/>
        </p:nvPicPr>
        <p:blipFill>
          <a:blip r:embed="rId2" cstate="print"/>
          <a:srcRect/>
          <a:stretch>
            <a:fillRect/>
          </a:stretch>
        </p:blipFill>
        <p:spPr bwMode="auto">
          <a:xfrm>
            <a:off x="0" y="1639888"/>
            <a:ext cx="6953250" cy="5218112"/>
          </a:xfrm>
          <a:prstGeom prst="rect">
            <a:avLst/>
          </a:prstGeom>
          <a:noFill/>
          <a:ln w="9525">
            <a:noFill/>
            <a:miter lim="800000"/>
            <a:headEnd/>
            <a:tailEnd/>
          </a:ln>
        </p:spPr>
      </p:pic>
      <p:sp>
        <p:nvSpPr>
          <p:cNvPr id="65541" name="Rectangle 6"/>
          <p:cNvSpPr>
            <a:spLocks noChangeArrowheads="1"/>
          </p:cNvSpPr>
          <p:nvPr/>
        </p:nvSpPr>
        <p:spPr bwMode="auto">
          <a:xfrm>
            <a:off x="6772275" y="4891088"/>
            <a:ext cx="1770063" cy="519112"/>
          </a:xfrm>
          <a:prstGeom prst="rect">
            <a:avLst/>
          </a:prstGeom>
          <a:noFill/>
          <a:ln w="9525">
            <a:noFill/>
            <a:miter lim="800000"/>
            <a:headEnd/>
            <a:tailEnd/>
          </a:ln>
        </p:spPr>
        <p:txBody>
          <a:bodyPr wrap="none" anchor="ctr">
            <a:spAutoFit/>
          </a:bodyPr>
          <a:lstStyle/>
          <a:p>
            <a:pPr algn="ctr"/>
            <a:r>
              <a:rPr lang="en-US" altLang="zh-CN" sz="2800" b="1">
                <a:solidFill>
                  <a:srgbClr val="0000FF"/>
                </a:solidFill>
                <a:ea typeface="宋体" charset="-122"/>
              </a:rPr>
              <a:t>990.0829 </a:t>
            </a:r>
          </a:p>
        </p:txBody>
      </p:sp>
      <p:sp>
        <p:nvSpPr>
          <p:cNvPr id="65542" name="Text Box 7"/>
          <p:cNvSpPr txBox="1">
            <a:spLocks noChangeArrowheads="1"/>
          </p:cNvSpPr>
          <p:nvPr/>
        </p:nvSpPr>
        <p:spPr bwMode="auto">
          <a:xfrm>
            <a:off x="6629400" y="4357688"/>
            <a:ext cx="2057400" cy="519112"/>
          </a:xfrm>
          <a:prstGeom prst="rect">
            <a:avLst/>
          </a:prstGeom>
          <a:noFill/>
          <a:ln w="9525">
            <a:noFill/>
            <a:miter lim="800000"/>
            <a:headEnd/>
            <a:tailEnd/>
          </a:ln>
        </p:spPr>
        <p:txBody>
          <a:bodyPr>
            <a:spAutoFit/>
          </a:bodyPr>
          <a:lstStyle/>
          <a:p>
            <a:pPr algn="ctr">
              <a:spcBef>
                <a:spcPct val="50000"/>
              </a:spcBef>
            </a:pPr>
            <a:r>
              <a:rPr lang="zh-CN" altLang="en-US" sz="2800" b="1">
                <a:solidFill>
                  <a:srgbClr val="0000FF"/>
                </a:solidFill>
                <a:ea typeface="宋体" charset="-122"/>
              </a:rPr>
              <a:t>路径长度：</a:t>
            </a:r>
          </a:p>
        </p:txBody>
      </p:sp>
      <p:sp>
        <p:nvSpPr>
          <p:cNvPr id="65543" name="Text Box 8"/>
          <p:cNvSpPr txBox="1">
            <a:spLocks noChangeArrowheads="1"/>
          </p:cNvSpPr>
          <p:nvPr/>
        </p:nvSpPr>
        <p:spPr bwMode="auto">
          <a:xfrm>
            <a:off x="6553200" y="2819400"/>
            <a:ext cx="2209800" cy="519113"/>
          </a:xfrm>
          <a:prstGeom prst="rect">
            <a:avLst/>
          </a:prstGeom>
          <a:noFill/>
          <a:ln w="9525" algn="ctr">
            <a:noFill/>
            <a:miter lim="800000"/>
            <a:headEnd/>
            <a:tailEnd/>
          </a:ln>
        </p:spPr>
        <p:txBody>
          <a:bodyPr>
            <a:spAutoFit/>
          </a:bodyPr>
          <a:lstStyle/>
          <a:p>
            <a:pPr algn="ctr">
              <a:spcBef>
                <a:spcPct val="50000"/>
              </a:spcBef>
            </a:pPr>
            <a:r>
              <a:rPr lang="zh-CN" altLang="en-US" sz="2800" b="1">
                <a:solidFill>
                  <a:srgbClr val="0000FF"/>
                </a:solidFill>
                <a:ea typeface="宋体" charset="-122"/>
              </a:rPr>
              <a:t>迁移代数：</a:t>
            </a:r>
          </a:p>
        </p:txBody>
      </p:sp>
      <p:sp>
        <p:nvSpPr>
          <p:cNvPr id="65544" name="Text Box 9"/>
          <p:cNvSpPr txBox="1">
            <a:spLocks noChangeArrowheads="1"/>
          </p:cNvSpPr>
          <p:nvPr/>
        </p:nvSpPr>
        <p:spPr bwMode="auto">
          <a:xfrm>
            <a:off x="7239000" y="3429000"/>
            <a:ext cx="838200" cy="519113"/>
          </a:xfrm>
          <a:prstGeom prst="rect">
            <a:avLst/>
          </a:prstGeom>
          <a:noFill/>
          <a:ln w="9525" algn="ctr">
            <a:noFill/>
            <a:miter lim="800000"/>
            <a:headEnd/>
            <a:tailEnd/>
          </a:ln>
        </p:spPr>
        <p:txBody>
          <a:bodyPr anchor="ctr">
            <a:spAutoFit/>
          </a:bodyPr>
          <a:lstStyle/>
          <a:p>
            <a:pPr algn="ctr"/>
            <a:r>
              <a:rPr lang="en-US" altLang="zh-CN" sz="2800" b="1">
                <a:solidFill>
                  <a:srgbClr val="0000FF"/>
                </a:solidFill>
                <a:ea typeface="宋体" charset="-122"/>
              </a:rPr>
              <a:t>50</a:t>
            </a:r>
          </a:p>
        </p:txBody>
      </p:sp>
    </p:spTree>
  </p:cSld>
  <p:clrMapOvr>
    <a:masterClrMapping/>
  </p:clrMapOvr>
  <p:timing>
    <p:tnLst>
      <p:par>
        <p:cTn id="1" dur="indefinite" restart="never" nodeType="tmRoot"/>
      </p:par>
    </p:tnLst>
  </p:timing>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6562" name="Picture 9"/>
          <p:cNvPicPr>
            <a:picLocks noChangeAspect="1" noChangeArrowheads="1"/>
          </p:cNvPicPr>
          <p:nvPr/>
        </p:nvPicPr>
        <p:blipFill>
          <a:blip r:embed="rId2" cstate="print"/>
          <a:srcRect/>
          <a:stretch>
            <a:fillRect/>
          </a:stretch>
        </p:blipFill>
        <p:spPr bwMode="auto">
          <a:xfrm>
            <a:off x="0" y="1639888"/>
            <a:ext cx="6953250" cy="5218112"/>
          </a:xfrm>
          <a:prstGeom prst="rect">
            <a:avLst/>
          </a:prstGeom>
          <a:noFill/>
          <a:ln w="9525">
            <a:noFill/>
            <a:miter lim="800000"/>
            <a:headEnd/>
            <a:tailEnd/>
          </a:ln>
        </p:spPr>
      </p:pic>
      <p:sp>
        <p:nvSpPr>
          <p:cNvPr id="66563" name="Rectangle 2"/>
          <p:cNvSpPr>
            <a:spLocks noGrp="1" noChangeArrowheads="1"/>
          </p:cNvSpPr>
          <p:nvPr>
            <p:ph type="title"/>
          </p:nvPr>
        </p:nvSpPr>
        <p:spPr bwMode="auto">
          <a:xfrm>
            <a:off x="609600" y="152400"/>
            <a:ext cx="7924800" cy="958850"/>
          </a:xfrm>
          <a:prstGeom prst="rect">
            <a:avLst/>
          </a:prstGeom>
          <a:noFill/>
          <a:ln>
            <a:miter lim="800000"/>
            <a:headEnd/>
            <a:tailEnd/>
          </a:ln>
        </p:spPr>
        <p:txBody>
          <a:bodyPr vert="horz" wrap="square" lIns="91440" tIns="45720" rIns="91440" bIns="45720" numCol="1" anchor="ctr" anchorCtr="0" compatLnSpc="1">
            <a:prstTxWarp prst="textNoShape">
              <a:avLst/>
            </a:prstTxWarp>
          </a:bodyPr>
          <a:lstStyle/>
          <a:p>
            <a:pPr eaLnBrk="1" hangingPunct="1"/>
            <a:r>
              <a:rPr lang="en-US" altLang="zh-CN" smtClean="0">
                <a:solidFill>
                  <a:srgbClr val="0000FF"/>
                </a:solidFill>
                <a:ea typeface="宋体" charset="-122"/>
              </a:rPr>
              <a:t>4</a:t>
            </a:r>
            <a:r>
              <a:rPr lang="zh-CN" altLang="en-US" smtClean="0">
                <a:solidFill>
                  <a:srgbClr val="0000FF"/>
                </a:solidFill>
                <a:ea typeface="宋体" charset="-122"/>
              </a:rPr>
              <a:t>遗传算法求解巡回旅行商问题</a:t>
            </a:r>
          </a:p>
        </p:txBody>
      </p:sp>
      <p:sp>
        <p:nvSpPr>
          <p:cNvPr id="66564" name="Rectangle 3"/>
          <p:cNvSpPr>
            <a:spLocks noGrp="1" noChangeArrowheads="1"/>
          </p:cNvSpPr>
          <p:nvPr>
            <p:ph type="body" idx="1"/>
          </p:nvPr>
        </p:nvSpPr>
        <p:spPr>
          <a:xfrm>
            <a:off x="457200" y="1219200"/>
            <a:ext cx="8229600" cy="566738"/>
          </a:xfrm>
          <a:noFill/>
        </p:spPr>
        <p:txBody>
          <a:bodyPr/>
          <a:lstStyle/>
          <a:p>
            <a:pPr eaLnBrk="1" hangingPunct="1">
              <a:lnSpc>
                <a:spcPct val="90000"/>
              </a:lnSpc>
              <a:buFont typeface="Wingdings" pitchFamily="2" charset="2"/>
              <a:buNone/>
            </a:pPr>
            <a:r>
              <a:rPr lang="en-US" altLang="zh-CN" sz="2800" smtClean="0">
                <a:solidFill>
                  <a:srgbClr val="0000FF"/>
                </a:solidFill>
                <a:ea typeface="宋体" charset="-122"/>
              </a:rPr>
              <a:t>4.3 </a:t>
            </a:r>
            <a:r>
              <a:rPr lang="zh-CN" altLang="en-US" sz="2800" smtClean="0">
                <a:solidFill>
                  <a:srgbClr val="0000FF"/>
                </a:solidFill>
                <a:ea typeface="宋体" charset="-122"/>
              </a:rPr>
              <a:t>计算仿真结果</a:t>
            </a:r>
          </a:p>
        </p:txBody>
      </p:sp>
      <p:sp>
        <p:nvSpPr>
          <p:cNvPr id="66565" name="Rectangle 5"/>
          <p:cNvSpPr>
            <a:spLocks noChangeArrowheads="1"/>
          </p:cNvSpPr>
          <p:nvPr/>
        </p:nvSpPr>
        <p:spPr bwMode="auto">
          <a:xfrm>
            <a:off x="6777038" y="4891088"/>
            <a:ext cx="1770062" cy="519112"/>
          </a:xfrm>
          <a:prstGeom prst="rect">
            <a:avLst/>
          </a:prstGeom>
          <a:noFill/>
          <a:ln w="9525">
            <a:noFill/>
            <a:miter lim="800000"/>
            <a:headEnd/>
            <a:tailEnd/>
          </a:ln>
        </p:spPr>
        <p:txBody>
          <a:bodyPr wrap="none" anchor="ctr">
            <a:spAutoFit/>
          </a:bodyPr>
          <a:lstStyle/>
          <a:p>
            <a:pPr algn="ctr"/>
            <a:r>
              <a:rPr lang="en-US" altLang="zh-CN" sz="2800" b="1">
                <a:solidFill>
                  <a:srgbClr val="0000FF"/>
                </a:solidFill>
                <a:ea typeface="宋体" charset="-122"/>
              </a:rPr>
              <a:t>701.7754 </a:t>
            </a:r>
          </a:p>
        </p:txBody>
      </p:sp>
      <p:sp>
        <p:nvSpPr>
          <p:cNvPr id="66566" name="Text Box 6"/>
          <p:cNvSpPr txBox="1">
            <a:spLocks noChangeArrowheads="1"/>
          </p:cNvSpPr>
          <p:nvPr/>
        </p:nvSpPr>
        <p:spPr bwMode="auto">
          <a:xfrm>
            <a:off x="6629400" y="4357688"/>
            <a:ext cx="2057400" cy="519112"/>
          </a:xfrm>
          <a:prstGeom prst="rect">
            <a:avLst/>
          </a:prstGeom>
          <a:noFill/>
          <a:ln w="9525">
            <a:noFill/>
            <a:miter lim="800000"/>
            <a:headEnd/>
            <a:tailEnd/>
          </a:ln>
        </p:spPr>
        <p:txBody>
          <a:bodyPr>
            <a:spAutoFit/>
          </a:bodyPr>
          <a:lstStyle/>
          <a:p>
            <a:pPr algn="ctr">
              <a:spcBef>
                <a:spcPct val="50000"/>
              </a:spcBef>
            </a:pPr>
            <a:r>
              <a:rPr lang="zh-CN" altLang="en-US" sz="2800" b="1">
                <a:solidFill>
                  <a:srgbClr val="0000FF"/>
                </a:solidFill>
                <a:ea typeface="宋体" charset="-122"/>
              </a:rPr>
              <a:t>路径长度：</a:t>
            </a:r>
          </a:p>
        </p:txBody>
      </p:sp>
      <p:sp>
        <p:nvSpPr>
          <p:cNvPr id="66567" name="Text Box 7"/>
          <p:cNvSpPr txBox="1">
            <a:spLocks noChangeArrowheads="1"/>
          </p:cNvSpPr>
          <p:nvPr/>
        </p:nvSpPr>
        <p:spPr bwMode="auto">
          <a:xfrm>
            <a:off x="6553200" y="2819400"/>
            <a:ext cx="2209800" cy="519113"/>
          </a:xfrm>
          <a:prstGeom prst="rect">
            <a:avLst/>
          </a:prstGeom>
          <a:noFill/>
          <a:ln w="9525" algn="ctr">
            <a:noFill/>
            <a:miter lim="800000"/>
            <a:headEnd/>
            <a:tailEnd/>
          </a:ln>
        </p:spPr>
        <p:txBody>
          <a:bodyPr>
            <a:spAutoFit/>
          </a:bodyPr>
          <a:lstStyle/>
          <a:p>
            <a:pPr algn="ctr">
              <a:spcBef>
                <a:spcPct val="50000"/>
              </a:spcBef>
            </a:pPr>
            <a:r>
              <a:rPr lang="zh-CN" altLang="en-US" sz="2800" b="1">
                <a:solidFill>
                  <a:srgbClr val="0000FF"/>
                </a:solidFill>
                <a:ea typeface="宋体" charset="-122"/>
              </a:rPr>
              <a:t>迁移代数：</a:t>
            </a:r>
          </a:p>
        </p:txBody>
      </p:sp>
      <p:sp>
        <p:nvSpPr>
          <p:cNvPr id="66568" name="Text Box 8"/>
          <p:cNvSpPr txBox="1">
            <a:spLocks noChangeArrowheads="1"/>
          </p:cNvSpPr>
          <p:nvPr/>
        </p:nvSpPr>
        <p:spPr bwMode="auto">
          <a:xfrm>
            <a:off x="7239000" y="3429000"/>
            <a:ext cx="838200" cy="519113"/>
          </a:xfrm>
          <a:prstGeom prst="rect">
            <a:avLst/>
          </a:prstGeom>
          <a:noFill/>
          <a:ln w="9525" algn="ctr">
            <a:noFill/>
            <a:miter lim="800000"/>
            <a:headEnd/>
            <a:tailEnd/>
          </a:ln>
        </p:spPr>
        <p:txBody>
          <a:bodyPr anchor="ctr">
            <a:spAutoFit/>
          </a:bodyPr>
          <a:lstStyle/>
          <a:p>
            <a:pPr algn="ctr"/>
            <a:r>
              <a:rPr lang="en-US" altLang="zh-CN" sz="2800" b="1">
                <a:solidFill>
                  <a:srgbClr val="0000FF"/>
                </a:solidFill>
                <a:ea typeface="宋体" charset="-122"/>
              </a:rPr>
              <a:t>100</a:t>
            </a:r>
          </a:p>
        </p:txBody>
      </p:sp>
    </p:spTree>
  </p:cSld>
  <p:clrMapOvr>
    <a:masterClrMapping/>
  </p:clrMapOvr>
  <p:timing>
    <p:tnLst>
      <p:par>
        <p:cTn id="1" dur="indefinite" restart="never" nodeType="tmRoot"/>
      </p:par>
    </p:tnLst>
  </p:timing>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7586" name="Picture 9"/>
          <p:cNvPicPr>
            <a:picLocks noChangeAspect="1" noChangeArrowheads="1"/>
          </p:cNvPicPr>
          <p:nvPr/>
        </p:nvPicPr>
        <p:blipFill>
          <a:blip r:embed="rId2" cstate="print"/>
          <a:srcRect/>
          <a:stretch>
            <a:fillRect/>
          </a:stretch>
        </p:blipFill>
        <p:spPr bwMode="auto">
          <a:xfrm>
            <a:off x="0" y="1639888"/>
            <a:ext cx="6953250" cy="5218112"/>
          </a:xfrm>
          <a:prstGeom prst="rect">
            <a:avLst/>
          </a:prstGeom>
          <a:noFill/>
          <a:ln w="9525">
            <a:noFill/>
            <a:miter lim="800000"/>
            <a:headEnd/>
            <a:tailEnd/>
          </a:ln>
        </p:spPr>
      </p:pic>
      <p:sp>
        <p:nvSpPr>
          <p:cNvPr id="67587" name="Rectangle 3"/>
          <p:cNvSpPr>
            <a:spLocks noGrp="1" noChangeArrowheads="1"/>
          </p:cNvSpPr>
          <p:nvPr>
            <p:ph type="title"/>
          </p:nvPr>
        </p:nvSpPr>
        <p:spPr bwMode="auto">
          <a:xfrm>
            <a:off x="609600" y="152400"/>
            <a:ext cx="7924800" cy="958850"/>
          </a:xfrm>
          <a:prstGeom prst="rect">
            <a:avLst/>
          </a:prstGeom>
          <a:noFill/>
          <a:ln>
            <a:miter lim="800000"/>
            <a:headEnd/>
            <a:tailEnd/>
          </a:ln>
        </p:spPr>
        <p:txBody>
          <a:bodyPr vert="horz" wrap="square" lIns="91440" tIns="45720" rIns="91440" bIns="45720" numCol="1" anchor="ctr" anchorCtr="0" compatLnSpc="1">
            <a:prstTxWarp prst="textNoShape">
              <a:avLst/>
            </a:prstTxWarp>
          </a:bodyPr>
          <a:lstStyle/>
          <a:p>
            <a:pPr eaLnBrk="1" hangingPunct="1"/>
            <a:r>
              <a:rPr lang="en-US" altLang="zh-CN" smtClean="0">
                <a:solidFill>
                  <a:srgbClr val="0000FF"/>
                </a:solidFill>
                <a:ea typeface="宋体" charset="-122"/>
              </a:rPr>
              <a:t>4 </a:t>
            </a:r>
            <a:r>
              <a:rPr lang="zh-CN" altLang="en-US" smtClean="0">
                <a:solidFill>
                  <a:srgbClr val="0000FF"/>
                </a:solidFill>
                <a:ea typeface="宋体" charset="-122"/>
              </a:rPr>
              <a:t>遗传算法求解巡回旅行商问题</a:t>
            </a:r>
          </a:p>
        </p:txBody>
      </p:sp>
      <p:sp>
        <p:nvSpPr>
          <p:cNvPr id="67588" name="Rectangle 4"/>
          <p:cNvSpPr>
            <a:spLocks noGrp="1" noChangeArrowheads="1"/>
          </p:cNvSpPr>
          <p:nvPr>
            <p:ph type="body" idx="1"/>
          </p:nvPr>
        </p:nvSpPr>
        <p:spPr>
          <a:xfrm>
            <a:off x="457200" y="1219200"/>
            <a:ext cx="8229600" cy="566738"/>
          </a:xfrm>
          <a:noFill/>
        </p:spPr>
        <p:txBody>
          <a:bodyPr/>
          <a:lstStyle/>
          <a:p>
            <a:pPr eaLnBrk="1" hangingPunct="1">
              <a:lnSpc>
                <a:spcPct val="90000"/>
              </a:lnSpc>
              <a:buFont typeface="Wingdings" pitchFamily="2" charset="2"/>
              <a:buNone/>
            </a:pPr>
            <a:r>
              <a:rPr lang="en-US" altLang="zh-CN" sz="2800" smtClean="0">
                <a:solidFill>
                  <a:srgbClr val="0000FF"/>
                </a:solidFill>
                <a:ea typeface="宋体" charset="-122"/>
              </a:rPr>
              <a:t>4.3 </a:t>
            </a:r>
            <a:r>
              <a:rPr lang="zh-CN" altLang="en-US" sz="2800" smtClean="0">
                <a:solidFill>
                  <a:srgbClr val="0000FF"/>
                </a:solidFill>
                <a:ea typeface="宋体" charset="-122"/>
              </a:rPr>
              <a:t>计算仿真结果</a:t>
            </a:r>
          </a:p>
        </p:txBody>
      </p:sp>
      <p:sp>
        <p:nvSpPr>
          <p:cNvPr id="67589" name="Rectangle 5"/>
          <p:cNvSpPr>
            <a:spLocks noChangeArrowheads="1"/>
          </p:cNvSpPr>
          <p:nvPr/>
        </p:nvSpPr>
        <p:spPr bwMode="auto">
          <a:xfrm>
            <a:off x="6781800" y="4891088"/>
            <a:ext cx="1770063" cy="519112"/>
          </a:xfrm>
          <a:prstGeom prst="rect">
            <a:avLst/>
          </a:prstGeom>
          <a:noFill/>
          <a:ln w="9525">
            <a:noFill/>
            <a:miter lim="800000"/>
            <a:headEnd/>
            <a:tailEnd/>
          </a:ln>
        </p:spPr>
        <p:txBody>
          <a:bodyPr wrap="none" anchor="ctr">
            <a:spAutoFit/>
          </a:bodyPr>
          <a:lstStyle/>
          <a:p>
            <a:pPr algn="ctr"/>
            <a:r>
              <a:rPr lang="en-US" altLang="zh-CN" sz="2800" b="1">
                <a:solidFill>
                  <a:srgbClr val="0000FF"/>
                </a:solidFill>
                <a:ea typeface="宋体" charset="-122"/>
              </a:rPr>
              <a:t>624.1821 </a:t>
            </a:r>
          </a:p>
        </p:txBody>
      </p:sp>
      <p:sp>
        <p:nvSpPr>
          <p:cNvPr id="67590" name="Text Box 6"/>
          <p:cNvSpPr txBox="1">
            <a:spLocks noChangeArrowheads="1"/>
          </p:cNvSpPr>
          <p:nvPr/>
        </p:nvSpPr>
        <p:spPr bwMode="auto">
          <a:xfrm>
            <a:off x="6629400" y="4357688"/>
            <a:ext cx="2057400" cy="519112"/>
          </a:xfrm>
          <a:prstGeom prst="rect">
            <a:avLst/>
          </a:prstGeom>
          <a:noFill/>
          <a:ln w="9525">
            <a:noFill/>
            <a:miter lim="800000"/>
            <a:headEnd/>
            <a:tailEnd/>
          </a:ln>
        </p:spPr>
        <p:txBody>
          <a:bodyPr>
            <a:spAutoFit/>
          </a:bodyPr>
          <a:lstStyle/>
          <a:p>
            <a:pPr algn="ctr">
              <a:spcBef>
                <a:spcPct val="50000"/>
              </a:spcBef>
            </a:pPr>
            <a:r>
              <a:rPr lang="zh-CN" altLang="en-US" sz="2800" b="1">
                <a:solidFill>
                  <a:srgbClr val="0000FF"/>
                </a:solidFill>
                <a:ea typeface="宋体" charset="-122"/>
              </a:rPr>
              <a:t>路径长度：</a:t>
            </a:r>
          </a:p>
        </p:txBody>
      </p:sp>
      <p:sp>
        <p:nvSpPr>
          <p:cNvPr id="67591" name="Text Box 7"/>
          <p:cNvSpPr txBox="1">
            <a:spLocks noChangeArrowheads="1"/>
          </p:cNvSpPr>
          <p:nvPr/>
        </p:nvSpPr>
        <p:spPr bwMode="auto">
          <a:xfrm>
            <a:off x="6553200" y="2819400"/>
            <a:ext cx="2209800" cy="519113"/>
          </a:xfrm>
          <a:prstGeom prst="rect">
            <a:avLst/>
          </a:prstGeom>
          <a:noFill/>
          <a:ln w="9525" algn="ctr">
            <a:noFill/>
            <a:miter lim="800000"/>
            <a:headEnd/>
            <a:tailEnd/>
          </a:ln>
        </p:spPr>
        <p:txBody>
          <a:bodyPr>
            <a:spAutoFit/>
          </a:bodyPr>
          <a:lstStyle/>
          <a:p>
            <a:pPr algn="ctr">
              <a:spcBef>
                <a:spcPct val="50000"/>
              </a:spcBef>
            </a:pPr>
            <a:r>
              <a:rPr lang="zh-CN" altLang="en-US" sz="2800" b="1">
                <a:solidFill>
                  <a:srgbClr val="0000FF"/>
                </a:solidFill>
                <a:ea typeface="宋体" charset="-122"/>
              </a:rPr>
              <a:t>迁移代数：</a:t>
            </a:r>
          </a:p>
        </p:txBody>
      </p:sp>
      <p:sp>
        <p:nvSpPr>
          <p:cNvPr id="67592" name="Text Box 8"/>
          <p:cNvSpPr txBox="1">
            <a:spLocks noChangeArrowheads="1"/>
          </p:cNvSpPr>
          <p:nvPr/>
        </p:nvSpPr>
        <p:spPr bwMode="auto">
          <a:xfrm>
            <a:off x="7239000" y="3429000"/>
            <a:ext cx="838200" cy="519113"/>
          </a:xfrm>
          <a:prstGeom prst="rect">
            <a:avLst/>
          </a:prstGeom>
          <a:noFill/>
          <a:ln w="9525" algn="ctr">
            <a:noFill/>
            <a:miter lim="800000"/>
            <a:headEnd/>
            <a:tailEnd/>
          </a:ln>
        </p:spPr>
        <p:txBody>
          <a:bodyPr anchor="ctr">
            <a:spAutoFit/>
          </a:bodyPr>
          <a:lstStyle/>
          <a:p>
            <a:pPr algn="ctr"/>
            <a:r>
              <a:rPr lang="en-US" altLang="zh-CN" sz="2800" b="1">
                <a:solidFill>
                  <a:srgbClr val="0000FF"/>
                </a:solidFill>
                <a:ea typeface="宋体" charset="-122"/>
              </a:rPr>
              <a:t>150</a:t>
            </a:r>
          </a:p>
        </p:txBody>
      </p:sp>
    </p:spTree>
  </p:cSld>
  <p:clrMapOvr>
    <a:masterClrMapping/>
  </p:clrMapOvr>
  <p:timing>
    <p:tnLst>
      <p:par>
        <p:cTn id="1" dur="indefinite" restart="never" nodeType="tmRoot"/>
      </p:par>
    </p:tnLst>
  </p:timing>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8610" name="Picture 9"/>
          <p:cNvPicPr>
            <a:picLocks noChangeAspect="1" noChangeArrowheads="1"/>
          </p:cNvPicPr>
          <p:nvPr/>
        </p:nvPicPr>
        <p:blipFill>
          <a:blip r:embed="rId2" cstate="print"/>
          <a:srcRect/>
          <a:stretch>
            <a:fillRect/>
          </a:stretch>
        </p:blipFill>
        <p:spPr bwMode="auto">
          <a:xfrm>
            <a:off x="0" y="1639888"/>
            <a:ext cx="6953250" cy="5218112"/>
          </a:xfrm>
          <a:prstGeom prst="rect">
            <a:avLst/>
          </a:prstGeom>
          <a:noFill/>
          <a:ln w="9525">
            <a:noFill/>
            <a:miter lim="800000"/>
            <a:headEnd/>
            <a:tailEnd/>
          </a:ln>
        </p:spPr>
      </p:pic>
      <p:sp>
        <p:nvSpPr>
          <p:cNvPr id="68611" name="Rectangle 3"/>
          <p:cNvSpPr>
            <a:spLocks noGrp="1" noChangeArrowheads="1"/>
          </p:cNvSpPr>
          <p:nvPr>
            <p:ph type="title"/>
          </p:nvPr>
        </p:nvSpPr>
        <p:spPr bwMode="auto">
          <a:xfrm>
            <a:off x="609600" y="152400"/>
            <a:ext cx="7924800" cy="958850"/>
          </a:xfrm>
          <a:prstGeom prst="rect">
            <a:avLst/>
          </a:prstGeom>
          <a:noFill/>
          <a:ln>
            <a:miter lim="800000"/>
            <a:headEnd/>
            <a:tailEnd/>
          </a:ln>
        </p:spPr>
        <p:txBody>
          <a:bodyPr vert="horz" wrap="square" lIns="91440" tIns="45720" rIns="91440" bIns="45720" numCol="1" anchor="ctr" anchorCtr="0" compatLnSpc="1">
            <a:prstTxWarp prst="textNoShape">
              <a:avLst/>
            </a:prstTxWarp>
          </a:bodyPr>
          <a:lstStyle/>
          <a:p>
            <a:pPr eaLnBrk="1" hangingPunct="1"/>
            <a:r>
              <a:rPr lang="en-US" altLang="zh-CN" smtClean="0">
                <a:solidFill>
                  <a:srgbClr val="0000FF"/>
                </a:solidFill>
                <a:ea typeface="宋体" charset="-122"/>
              </a:rPr>
              <a:t>4 </a:t>
            </a:r>
            <a:r>
              <a:rPr lang="zh-CN" altLang="en-US" smtClean="0">
                <a:solidFill>
                  <a:srgbClr val="0000FF"/>
                </a:solidFill>
                <a:ea typeface="宋体" charset="-122"/>
              </a:rPr>
              <a:t>遗传算法求解巡回旅行商问题</a:t>
            </a:r>
          </a:p>
        </p:txBody>
      </p:sp>
      <p:sp>
        <p:nvSpPr>
          <p:cNvPr id="68612" name="Rectangle 4"/>
          <p:cNvSpPr>
            <a:spLocks noGrp="1" noChangeArrowheads="1"/>
          </p:cNvSpPr>
          <p:nvPr>
            <p:ph type="body" idx="1"/>
          </p:nvPr>
        </p:nvSpPr>
        <p:spPr>
          <a:xfrm>
            <a:off x="457200" y="1219200"/>
            <a:ext cx="8229600" cy="566738"/>
          </a:xfrm>
          <a:noFill/>
        </p:spPr>
        <p:txBody>
          <a:bodyPr/>
          <a:lstStyle/>
          <a:p>
            <a:pPr eaLnBrk="1" hangingPunct="1">
              <a:lnSpc>
                <a:spcPct val="90000"/>
              </a:lnSpc>
              <a:buFont typeface="Wingdings" pitchFamily="2" charset="2"/>
              <a:buNone/>
            </a:pPr>
            <a:r>
              <a:rPr lang="en-US" altLang="zh-CN" sz="2800" smtClean="0">
                <a:solidFill>
                  <a:srgbClr val="0000FF"/>
                </a:solidFill>
                <a:ea typeface="宋体" charset="-122"/>
              </a:rPr>
              <a:t>4.3 </a:t>
            </a:r>
            <a:r>
              <a:rPr lang="zh-CN" altLang="en-US" sz="2800" smtClean="0">
                <a:solidFill>
                  <a:srgbClr val="0000FF"/>
                </a:solidFill>
                <a:ea typeface="宋体" charset="-122"/>
              </a:rPr>
              <a:t>计算仿真结果</a:t>
            </a:r>
          </a:p>
        </p:txBody>
      </p:sp>
      <p:sp>
        <p:nvSpPr>
          <p:cNvPr id="68613" name="Rectangle 5"/>
          <p:cNvSpPr>
            <a:spLocks noChangeArrowheads="1"/>
          </p:cNvSpPr>
          <p:nvPr/>
        </p:nvSpPr>
        <p:spPr bwMode="auto">
          <a:xfrm>
            <a:off x="6781800" y="4891088"/>
            <a:ext cx="1770063" cy="519112"/>
          </a:xfrm>
          <a:prstGeom prst="rect">
            <a:avLst/>
          </a:prstGeom>
          <a:noFill/>
          <a:ln w="9525">
            <a:noFill/>
            <a:miter lim="800000"/>
            <a:headEnd/>
            <a:tailEnd/>
          </a:ln>
        </p:spPr>
        <p:txBody>
          <a:bodyPr wrap="none" anchor="ctr">
            <a:spAutoFit/>
          </a:bodyPr>
          <a:lstStyle/>
          <a:p>
            <a:pPr algn="ctr"/>
            <a:r>
              <a:rPr lang="en-US" altLang="zh-CN" sz="2800" b="1">
                <a:solidFill>
                  <a:srgbClr val="0000FF"/>
                </a:solidFill>
                <a:ea typeface="宋体" charset="-122"/>
              </a:rPr>
              <a:t>523.2674 </a:t>
            </a:r>
          </a:p>
        </p:txBody>
      </p:sp>
      <p:sp>
        <p:nvSpPr>
          <p:cNvPr id="68614" name="Text Box 6"/>
          <p:cNvSpPr txBox="1">
            <a:spLocks noChangeArrowheads="1"/>
          </p:cNvSpPr>
          <p:nvPr/>
        </p:nvSpPr>
        <p:spPr bwMode="auto">
          <a:xfrm>
            <a:off x="6629400" y="4357688"/>
            <a:ext cx="2057400" cy="519112"/>
          </a:xfrm>
          <a:prstGeom prst="rect">
            <a:avLst/>
          </a:prstGeom>
          <a:noFill/>
          <a:ln w="9525">
            <a:noFill/>
            <a:miter lim="800000"/>
            <a:headEnd/>
            <a:tailEnd/>
          </a:ln>
        </p:spPr>
        <p:txBody>
          <a:bodyPr>
            <a:spAutoFit/>
          </a:bodyPr>
          <a:lstStyle/>
          <a:p>
            <a:pPr algn="ctr">
              <a:spcBef>
                <a:spcPct val="50000"/>
              </a:spcBef>
            </a:pPr>
            <a:r>
              <a:rPr lang="zh-CN" altLang="en-US" sz="2800" b="1">
                <a:solidFill>
                  <a:srgbClr val="0000FF"/>
                </a:solidFill>
                <a:ea typeface="宋体" charset="-122"/>
              </a:rPr>
              <a:t>路径长度：</a:t>
            </a:r>
          </a:p>
        </p:txBody>
      </p:sp>
      <p:sp>
        <p:nvSpPr>
          <p:cNvPr id="68615" name="Text Box 7"/>
          <p:cNvSpPr txBox="1">
            <a:spLocks noChangeArrowheads="1"/>
          </p:cNvSpPr>
          <p:nvPr/>
        </p:nvSpPr>
        <p:spPr bwMode="auto">
          <a:xfrm>
            <a:off x="6553200" y="2819400"/>
            <a:ext cx="2209800" cy="519113"/>
          </a:xfrm>
          <a:prstGeom prst="rect">
            <a:avLst/>
          </a:prstGeom>
          <a:noFill/>
          <a:ln w="9525" algn="ctr">
            <a:noFill/>
            <a:miter lim="800000"/>
            <a:headEnd/>
            <a:tailEnd/>
          </a:ln>
        </p:spPr>
        <p:txBody>
          <a:bodyPr>
            <a:spAutoFit/>
          </a:bodyPr>
          <a:lstStyle/>
          <a:p>
            <a:pPr algn="ctr">
              <a:spcBef>
                <a:spcPct val="50000"/>
              </a:spcBef>
            </a:pPr>
            <a:r>
              <a:rPr lang="zh-CN" altLang="en-US" sz="2800" b="1">
                <a:solidFill>
                  <a:srgbClr val="0000FF"/>
                </a:solidFill>
                <a:ea typeface="宋体" charset="-122"/>
              </a:rPr>
              <a:t>迁移代数：</a:t>
            </a:r>
          </a:p>
        </p:txBody>
      </p:sp>
      <p:sp>
        <p:nvSpPr>
          <p:cNvPr id="68616" name="Text Box 8"/>
          <p:cNvSpPr txBox="1">
            <a:spLocks noChangeArrowheads="1"/>
          </p:cNvSpPr>
          <p:nvPr/>
        </p:nvSpPr>
        <p:spPr bwMode="auto">
          <a:xfrm>
            <a:off x="7239000" y="3429000"/>
            <a:ext cx="838200" cy="519113"/>
          </a:xfrm>
          <a:prstGeom prst="rect">
            <a:avLst/>
          </a:prstGeom>
          <a:noFill/>
          <a:ln w="9525" algn="ctr">
            <a:noFill/>
            <a:miter lim="800000"/>
            <a:headEnd/>
            <a:tailEnd/>
          </a:ln>
        </p:spPr>
        <p:txBody>
          <a:bodyPr anchor="ctr">
            <a:spAutoFit/>
          </a:bodyPr>
          <a:lstStyle/>
          <a:p>
            <a:pPr algn="ctr"/>
            <a:r>
              <a:rPr lang="en-US" altLang="zh-CN" sz="2800" b="1">
                <a:solidFill>
                  <a:srgbClr val="0000FF"/>
                </a:solidFill>
                <a:ea typeface="宋体" charset="-122"/>
              </a:rPr>
              <a:t>200</a:t>
            </a:r>
          </a:p>
        </p:txBody>
      </p:sp>
    </p:spTree>
  </p:cSld>
  <p:clrMapOvr>
    <a:masterClrMapping/>
  </p:clrMapOvr>
  <p:timing>
    <p:tnLst>
      <p:par>
        <p:cTn id="1" dur="indefinite" restart="never" nodeType="tmRoot"/>
      </p:par>
    </p:tnLst>
  </p:timing>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9634" name="Picture 10"/>
          <p:cNvPicPr>
            <a:picLocks noChangeAspect="1" noChangeArrowheads="1"/>
          </p:cNvPicPr>
          <p:nvPr/>
        </p:nvPicPr>
        <p:blipFill>
          <a:blip r:embed="rId2" cstate="print"/>
          <a:srcRect/>
          <a:stretch>
            <a:fillRect/>
          </a:stretch>
        </p:blipFill>
        <p:spPr bwMode="auto">
          <a:xfrm>
            <a:off x="0" y="1639888"/>
            <a:ext cx="6953250" cy="5218112"/>
          </a:xfrm>
          <a:prstGeom prst="rect">
            <a:avLst/>
          </a:prstGeom>
          <a:noFill/>
          <a:ln w="9525">
            <a:noFill/>
            <a:miter lim="800000"/>
            <a:headEnd/>
            <a:tailEnd/>
          </a:ln>
        </p:spPr>
      </p:pic>
      <p:sp>
        <p:nvSpPr>
          <p:cNvPr id="69635" name="Rectangle 3"/>
          <p:cNvSpPr>
            <a:spLocks noGrp="1" noChangeArrowheads="1"/>
          </p:cNvSpPr>
          <p:nvPr>
            <p:ph type="title"/>
          </p:nvPr>
        </p:nvSpPr>
        <p:spPr bwMode="auto">
          <a:xfrm>
            <a:off x="609600" y="152400"/>
            <a:ext cx="7924800" cy="958850"/>
          </a:xfrm>
          <a:prstGeom prst="rect">
            <a:avLst/>
          </a:prstGeom>
          <a:noFill/>
          <a:ln>
            <a:miter lim="800000"/>
            <a:headEnd/>
            <a:tailEnd/>
          </a:ln>
        </p:spPr>
        <p:txBody>
          <a:bodyPr vert="horz" wrap="square" lIns="91440" tIns="45720" rIns="91440" bIns="45720" numCol="1" anchor="ctr" anchorCtr="0" compatLnSpc="1">
            <a:prstTxWarp prst="textNoShape">
              <a:avLst/>
            </a:prstTxWarp>
          </a:bodyPr>
          <a:lstStyle/>
          <a:p>
            <a:pPr eaLnBrk="1" hangingPunct="1"/>
            <a:r>
              <a:rPr lang="en-US" altLang="zh-CN" smtClean="0">
                <a:solidFill>
                  <a:srgbClr val="0000FF"/>
                </a:solidFill>
                <a:ea typeface="宋体" charset="-122"/>
              </a:rPr>
              <a:t>4 </a:t>
            </a:r>
            <a:r>
              <a:rPr lang="zh-CN" altLang="en-US" smtClean="0">
                <a:solidFill>
                  <a:srgbClr val="0000FF"/>
                </a:solidFill>
                <a:ea typeface="宋体" charset="-122"/>
              </a:rPr>
              <a:t>遗传算法求解巡回旅行商问题</a:t>
            </a:r>
          </a:p>
        </p:txBody>
      </p:sp>
      <p:sp>
        <p:nvSpPr>
          <p:cNvPr id="69636" name="Rectangle 4"/>
          <p:cNvSpPr>
            <a:spLocks noGrp="1" noChangeArrowheads="1"/>
          </p:cNvSpPr>
          <p:nvPr>
            <p:ph type="body" idx="1"/>
          </p:nvPr>
        </p:nvSpPr>
        <p:spPr>
          <a:xfrm>
            <a:off x="457200" y="1219200"/>
            <a:ext cx="8229600" cy="566738"/>
          </a:xfrm>
          <a:noFill/>
        </p:spPr>
        <p:txBody>
          <a:bodyPr/>
          <a:lstStyle/>
          <a:p>
            <a:pPr eaLnBrk="1" hangingPunct="1">
              <a:lnSpc>
                <a:spcPct val="90000"/>
              </a:lnSpc>
              <a:buFont typeface="Wingdings" pitchFamily="2" charset="2"/>
              <a:buNone/>
            </a:pPr>
            <a:r>
              <a:rPr lang="en-US" altLang="zh-CN" sz="2800" smtClean="0">
                <a:solidFill>
                  <a:srgbClr val="0000FF"/>
                </a:solidFill>
                <a:ea typeface="宋体" charset="-122"/>
              </a:rPr>
              <a:t>4.3 </a:t>
            </a:r>
            <a:r>
              <a:rPr lang="zh-CN" altLang="en-US" sz="2800" smtClean="0">
                <a:solidFill>
                  <a:srgbClr val="0000FF"/>
                </a:solidFill>
                <a:ea typeface="宋体" charset="-122"/>
              </a:rPr>
              <a:t>计算仿真结果</a:t>
            </a:r>
          </a:p>
        </p:txBody>
      </p:sp>
      <p:sp>
        <p:nvSpPr>
          <p:cNvPr id="69637" name="Rectangle 5"/>
          <p:cNvSpPr>
            <a:spLocks noChangeArrowheads="1"/>
          </p:cNvSpPr>
          <p:nvPr/>
        </p:nvSpPr>
        <p:spPr bwMode="auto">
          <a:xfrm>
            <a:off x="6789738" y="4891088"/>
            <a:ext cx="1770062" cy="519112"/>
          </a:xfrm>
          <a:prstGeom prst="rect">
            <a:avLst/>
          </a:prstGeom>
          <a:noFill/>
          <a:ln w="9525">
            <a:noFill/>
            <a:miter lim="800000"/>
            <a:headEnd/>
            <a:tailEnd/>
          </a:ln>
        </p:spPr>
        <p:txBody>
          <a:bodyPr wrap="none" anchor="ctr">
            <a:spAutoFit/>
          </a:bodyPr>
          <a:lstStyle/>
          <a:p>
            <a:pPr algn="ctr"/>
            <a:r>
              <a:rPr lang="en-US" altLang="zh-CN" sz="2800" b="1">
                <a:solidFill>
                  <a:srgbClr val="0000FF"/>
                </a:solidFill>
                <a:ea typeface="宋体" charset="-122"/>
              </a:rPr>
              <a:t>491.4063 </a:t>
            </a:r>
          </a:p>
        </p:txBody>
      </p:sp>
      <p:sp>
        <p:nvSpPr>
          <p:cNvPr id="69638" name="Text Box 6"/>
          <p:cNvSpPr txBox="1">
            <a:spLocks noChangeArrowheads="1"/>
          </p:cNvSpPr>
          <p:nvPr/>
        </p:nvSpPr>
        <p:spPr bwMode="auto">
          <a:xfrm>
            <a:off x="6629400" y="4357688"/>
            <a:ext cx="2057400" cy="519112"/>
          </a:xfrm>
          <a:prstGeom prst="rect">
            <a:avLst/>
          </a:prstGeom>
          <a:noFill/>
          <a:ln w="9525">
            <a:noFill/>
            <a:miter lim="800000"/>
            <a:headEnd/>
            <a:tailEnd/>
          </a:ln>
        </p:spPr>
        <p:txBody>
          <a:bodyPr>
            <a:spAutoFit/>
          </a:bodyPr>
          <a:lstStyle/>
          <a:p>
            <a:pPr algn="ctr">
              <a:spcBef>
                <a:spcPct val="50000"/>
              </a:spcBef>
            </a:pPr>
            <a:r>
              <a:rPr lang="zh-CN" altLang="en-US" sz="2800" b="1">
                <a:solidFill>
                  <a:srgbClr val="0000FF"/>
                </a:solidFill>
                <a:ea typeface="宋体" charset="-122"/>
              </a:rPr>
              <a:t>路径长度：</a:t>
            </a:r>
          </a:p>
        </p:txBody>
      </p:sp>
      <p:sp>
        <p:nvSpPr>
          <p:cNvPr id="69639" name="Text Box 7"/>
          <p:cNvSpPr txBox="1">
            <a:spLocks noChangeArrowheads="1"/>
          </p:cNvSpPr>
          <p:nvPr/>
        </p:nvSpPr>
        <p:spPr bwMode="auto">
          <a:xfrm>
            <a:off x="6553200" y="2819400"/>
            <a:ext cx="2209800" cy="519113"/>
          </a:xfrm>
          <a:prstGeom prst="rect">
            <a:avLst/>
          </a:prstGeom>
          <a:noFill/>
          <a:ln w="9525" algn="ctr">
            <a:noFill/>
            <a:miter lim="800000"/>
            <a:headEnd/>
            <a:tailEnd/>
          </a:ln>
        </p:spPr>
        <p:txBody>
          <a:bodyPr>
            <a:spAutoFit/>
          </a:bodyPr>
          <a:lstStyle/>
          <a:p>
            <a:pPr algn="ctr">
              <a:spcBef>
                <a:spcPct val="50000"/>
              </a:spcBef>
            </a:pPr>
            <a:r>
              <a:rPr lang="zh-CN" altLang="en-US" sz="2800" b="1">
                <a:solidFill>
                  <a:srgbClr val="0000FF"/>
                </a:solidFill>
                <a:ea typeface="宋体" charset="-122"/>
              </a:rPr>
              <a:t>迁移代数：</a:t>
            </a:r>
          </a:p>
        </p:txBody>
      </p:sp>
      <p:sp>
        <p:nvSpPr>
          <p:cNvPr id="69640" name="Text Box 8"/>
          <p:cNvSpPr txBox="1">
            <a:spLocks noChangeArrowheads="1"/>
          </p:cNvSpPr>
          <p:nvPr/>
        </p:nvSpPr>
        <p:spPr bwMode="auto">
          <a:xfrm>
            <a:off x="7239000" y="3429000"/>
            <a:ext cx="838200" cy="519113"/>
          </a:xfrm>
          <a:prstGeom prst="rect">
            <a:avLst/>
          </a:prstGeom>
          <a:noFill/>
          <a:ln w="9525" algn="ctr">
            <a:noFill/>
            <a:miter lim="800000"/>
            <a:headEnd/>
            <a:tailEnd/>
          </a:ln>
        </p:spPr>
        <p:txBody>
          <a:bodyPr anchor="ctr">
            <a:spAutoFit/>
          </a:bodyPr>
          <a:lstStyle/>
          <a:p>
            <a:pPr algn="ctr"/>
            <a:r>
              <a:rPr lang="en-US" altLang="zh-CN" sz="2800" b="1">
                <a:solidFill>
                  <a:srgbClr val="0000FF"/>
                </a:solidFill>
                <a:ea typeface="宋体" charset="-122"/>
              </a:rPr>
              <a:t>250</a:t>
            </a:r>
          </a:p>
        </p:txBody>
      </p:sp>
    </p:spTree>
  </p:cSld>
  <p:clrMapOvr>
    <a:masterClrMapping/>
  </p:clrMapOvr>
  <p:timing>
    <p:tnLst>
      <p:par>
        <p:cTn id="1" dur="indefinite" restart="never" nodeType="tmRoot"/>
      </p:par>
    </p:tnLst>
  </p:timing>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0658" name="Picture 10"/>
          <p:cNvPicPr>
            <a:picLocks noChangeAspect="1" noChangeArrowheads="1"/>
          </p:cNvPicPr>
          <p:nvPr/>
        </p:nvPicPr>
        <p:blipFill>
          <a:blip r:embed="rId2" cstate="print"/>
          <a:srcRect/>
          <a:stretch>
            <a:fillRect/>
          </a:stretch>
        </p:blipFill>
        <p:spPr bwMode="auto">
          <a:xfrm>
            <a:off x="0" y="1639888"/>
            <a:ext cx="6953250" cy="5218112"/>
          </a:xfrm>
          <a:prstGeom prst="rect">
            <a:avLst/>
          </a:prstGeom>
          <a:noFill/>
          <a:ln w="9525">
            <a:noFill/>
            <a:miter lim="800000"/>
            <a:headEnd/>
            <a:tailEnd/>
          </a:ln>
        </p:spPr>
      </p:pic>
      <p:sp>
        <p:nvSpPr>
          <p:cNvPr id="70659" name="Rectangle 3"/>
          <p:cNvSpPr>
            <a:spLocks noGrp="1" noChangeArrowheads="1"/>
          </p:cNvSpPr>
          <p:nvPr>
            <p:ph type="title"/>
          </p:nvPr>
        </p:nvSpPr>
        <p:spPr bwMode="auto">
          <a:xfrm>
            <a:off x="609600" y="152400"/>
            <a:ext cx="7924800" cy="958850"/>
          </a:xfrm>
          <a:prstGeom prst="rect">
            <a:avLst/>
          </a:prstGeom>
          <a:noFill/>
          <a:ln>
            <a:miter lim="800000"/>
            <a:headEnd/>
            <a:tailEnd/>
          </a:ln>
        </p:spPr>
        <p:txBody>
          <a:bodyPr vert="horz" wrap="square" lIns="91440" tIns="45720" rIns="91440" bIns="45720" numCol="1" anchor="ctr" anchorCtr="0" compatLnSpc="1">
            <a:prstTxWarp prst="textNoShape">
              <a:avLst/>
            </a:prstTxWarp>
          </a:bodyPr>
          <a:lstStyle/>
          <a:p>
            <a:pPr eaLnBrk="1" hangingPunct="1"/>
            <a:r>
              <a:rPr lang="en-US" altLang="zh-CN" smtClean="0">
                <a:solidFill>
                  <a:srgbClr val="0000FF"/>
                </a:solidFill>
                <a:ea typeface="宋体" charset="-122"/>
              </a:rPr>
              <a:t>4 </a:t>
            </a:r>
            <a:r>
              <a:rPr lang="zh-CN" altLang="en-US" smtClean="0">
                <a:solidFill>
                  <a:srgbClr val="0000FF"/>
                </a:solidFill>
                <a:ea typeface="宋体" charset="-122"/>
              </a:rPr>
              <a:t>遗传算法求解巡回旅行商问题</a:t>
            </a:r>
          </a:p>
        </p:txBody>
      </p:sp>
      <p:sp>
        <p:nvSpPr>
          <p:cNvPr id="70660" name="Rectangle 4"/>
          <p:cNvSpPr>
            <a:spLocks noGrp="1" noChangeArrowheads="1"/>
          </p:cNvSpPr>
          <p:nvPr>
            <p:ph type="body" idx="1"/>
          </p:nvPr>
        </p:nvSpPr>
        <p:spPr>
          <a:xfrm>
            <a:off x="457200" y="1219200"/>
            <a:ext cx="8229600" cy="566738"/>
          </a:xfrm>
          <a:noFill/>
        </p:spPr>
        <p:txBody>
          <a:bodyPr/>
          <a:lstStyle/>
          <a:p>
            <a:pPr eaLnBrk="1" hangingPunct="1">
              <a:lnSpc>
                <a:spcPct val="90000"/>
              </a:lnSpc>
              <a:buFont typeface="Wingdings" pitchFamily="2" charset="2"/>
              <a:buNone/>
            </a:pPr>
            <a:r>
              <a:rPr lang="en-US" altLang="zh-CN" sz="2800" smtClean="0">
                <a:solidFill>
                  <a:srgbClr val="0000FF"/>
                </a:solidFill>
                <a:ea typeface="宋体" charset="-122"/>
              </a:rPr>
              <a:t>4.3 </a:t>
            </a:r>
            <a:r>
              <a:rPr lang="zh-CN" altLang="en-US" sz="2800" smtClean="0">
                <a:solidFill>
                  <a:srgbClr val="0000FF"/>
                </a:solidFill>
                <a:ea typeface="宋体" charset="-122"/>
              </a:rPr>
              <a:t>计算仿真结果</a:t>
            </a:r>
          </a:p>
        </p:txBody>
      </p:sp>
      <p:sp>
        <p:nvSpPr>
          <p:cNvPr id="70661" name="Rectangle 5"/>
          <p:cNvSpPr>
            <a:spLocks noChangeArrowheads="1"/>
          </p:cNvSpPr>
          <p:nvPr/>
        </p:nvSpPr>
        <p:spPr bwMode="auto">
          <a:xfrm>
            <a:off x="6835775" y="4891088"/>
            <a:ext cx="1671638" cy="519112"/>
          </a:xfrm>
          <a:prstGeom prst="rect">
            <a:avLst/>
          </a:prstGeom>
          <a:noFill/>
          <a:ln w="9525">
            <a:noFill/>
            <a:miter lim="800000"/>
            <a:headEnd/>
            <a:tailEnd/>
          </a:ln>
        </p:spPr>
        <p:txBody>
          <a:bodyPr wrap="none" anchor="ctr">
            <a:spAutoFit/>
          </a:bodyPr>
          <a:lstStyle/>
          <a:p>
            <a:pPr algn="ctr"/>
            <a:r>
              <a:rPr lang="en-US" altLang="zh-CN" sz="2800" b="1">
                <a:solidFill>
                  <a:srgbClr val="0000FF"/>
                </a:solidFill>
                <a:ea typeface="宋体" charset="-122"/>
              </a:rPr>
              <a:t>453.1959</a:t>
            </a:r>
          </a:p>
        </p:txBody>
      </p:sp>
      <p:sp>
        <p:nvSpPr>
          <p:cNvPr id="70662" name="Text Box 6"/>
          <p:cNvSpPr txBox="1">
            <a:spLocks noChangeArrowheads="1"/>
          </p:cNvSpPr>
          <p:nvPr/>
        </p:nvSpPr>
        <p:spPr bwMode="auto">
          <a:xfrm>
            <a:off x="6629400" y="4357688"/>
            <a:ext cx="2057400" cy="519112"/>
          </a:xfrm>
          <a:prstGeom prst="rect">
            <a:avLst/>
          </a:prstGeom>
          <a:noFill/>
          <a:ln w="9525">
            <a:noFill/>
            <a:miter lim="800000"/>
            <a:headEnd/>
            <a:tailEnd/>
          </a:ln>
        </p:spPr>
        <p:txBody>
          <a:bodyPr>
            <a:spAutoFit/>
          </a:bodyPr>
          <a:lstStyle/>
          <a:p>
            <a:pPr algn="ctr">
              <a:spcBef>
                <a:spcPct val="50000"/>
              </a:spcBef>
            </a:pPr>
            <a:r>
              <a:rPr lang="zh-CN" altLang="en-US" sz="2800" b="1">
                <a:solidFill>
                  <a:srgbClr val="0000FF"/>
                </a:solidFill>
                <a:ea typeface="宋体" charset="-122"/>
              </a:rPr>
              <a:t>路径长度：</a:t>
            </a:r>
          </a:p>
        </p:txBody>
      </p:sp>
      <p:sp>
        <p:nvSpPr>
          <p:cNvPr id="70663" name="Text Box 7"/>
          <p:cNvSpPr txBox="1">
            <a:spLocks noChangeArrowheads="1"/>
          </p:cNvSpPr>
          <p:nvPr/>
        </p:nvSpPr>
        <p:spPr bwMode="auto">
          <a:xfrm>
            <a:off x="6553200" y="2819400"/>
            <a:ext cx="2209800" cy="519113"/>
          </a:xfrm>
          <a:prstGeom prst="rect">
            <a:avLst/>
          </a:prstGeom>
          <a:noFill/>
          <a:ln w="9525" algn="ctr">
            <a:noFill/>
            <a:miter lim="800000"/>
            <a:headEnd/>
            <a:tailEnd/>
          </a:ln>
        </p:spPr>
        <p:txBody>
          <a:bodyPr>
            <a:spAutoFit/>
          </a:bodyPr>
          <a:lstStyle/>
          <a:p>
            <a:pPr algn="ctr">
              <a:spcBef>
                <a:spcPct val="50000"/>
              </a:spcBef>
            </a:pPr>
            <a:r>
              <a:rPr lang="zh-CN" altLang="en-US" sz="2800" b="1">
                <a:solidFill>
                  <a:srgbClr val="0000FF"/>
                </a:solidFill>
                <a:ea typeface="宋体" charset="-122"/>
              </a:rPr>
              <a:t>迁移代数：</a:t>
            </a:r>
          </a:p>
        </p:txBody>
      </p:sp>
      <p:sp>
        <p:nvSpPr>
          <p:cNvPr id="70664" name="Text Box 8"/>
          <p:cNvSpPr txBox="1">
            <a:spLocks noChangeArrowheads="1"/>
          </p:cNvSpPr>
          <p:nvPr/>
        </p:nvSpPr>
        <p:spPr bwMode="auto">
          <a:xfrm>
            <a:off x="7239000" y="3429000"/>
            <a:ext cx="838200" cy="519113"/>
          </a:xfrm>
          <a:prstGeom prst="rect">
            <a:avLst/>
          </a:prstGeom>
          <a:noFill/>
          <a:ln w="9525" algn="ctr">
            <a:noFill/>
            <a:miter lim="800000"/>
            <a:headEnd/>
            <a:tailEnd/>
          </a:ln>
        </p:spPr>
        <p:txBody>
          <a:bodyPr anchor="ctr">
            <a:spAutoFit/>
          </a:bodyPr>
          <a:lstStyle/>
          <a:p>
            <a:pPr algn="ctr"/>
            <a:r>
              <a:rPr lang="en-US" altLang="zh-CN" sz="2800" b="1">
                <a:solidFill>
                  <a:srgbClr val="0000FF"/>
                </a:solidFill>
                <a:ea typeface="宋体" charset="-122"/>
              </a:rPr>
              <a:t>300</a:t>
            </a:r>
          </a:p>
        </p:txBody>
      </p:sp>
    </p:spTree>
  </p:cSld>
  <p:clrMapOvr>
    <a:masterClrMapping/>
  </p:clrMapOvr>
  <p:timing>
    <p:tnLst>
      <p:par>
        <p:cTn id="1" dur="indefinite" restart="never" nodeType="tmRoot"/>
      </p:par>
    </p:tnLst>
  </p:timing>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1682" name="Picture 2"/>
          <p:cNvPicPr>
            <a:picLocks noChangeAspect="1" noChangeArrowheads="1"/>
          </p:cNvPicPr>
          <p:nvPr/>
        </p:nvPicPr>
        <p:blipFill>
          <a:blip r:embed="rId2" cstate="print"/>
          <a:srcRect/>
          <a:stretch>
            <a:fillRect/>
          </a:stretch>
        </p:blipFill>
        <p:spPr bwMode="auto">
          <a:xfrm>
            <a:off x="0" y="1639888"/>
            <a:ext cx="6953250" cy="5218112"/>
          </a:xfrm>
          <a:prstGeom prst="rect">
            <a:avLst/>
          </a:prstGeom>
          <a:noFill/>
          <a:ln w="9525">
            <a:noFill/>
            <a:miter lim="800000"/>
            <a:headEnd/>
            <a:tailEnd/>
          </a:ln>
        </p:spPr>
      </p:pic>
      <p:sp>
        <p:nvSpPr>
          <p:cNvPr id="71683" name="Rectangle 3"/>
          <p:cNvSpPr>
            <a:spLocks noGrp="1" noChangeArrowheads="1"/>
          </p:cNvSpPr>
          <p:nvPr>
            <p:ph type="title"/>
          </p:nvPr>
        </p:nvSpPr>
        <p:spPr bwMode="auto">
          <a:xfrm>
            <a:off x="609600" y="152400"/>
            <a:ext cx="7924800" cy="958850"/>
          </a:xfrm>
          <a:prstGeom prst="rect">
            <a:avLst/>
          </a:prstGeom>
          <a:noFill/>
          <a:ln>
            <a:miter lim="800000"/>
            <a:headEnd/>
            <a:tailEnd/>
          </a:ln>
        </p:spPr>
        <p:txBody>
          <a:bodyPr vert="horz" wrap="square" lIns="91440" tIns="45720" rIns="91440" bIns="45720" numCol="1" anchor="ctr" anchorCtr="0" compatLnSpc="1">
            <a:prstTxWarp prst="textNoShape">
              <a:avLst/>
            </a:prstTxWarp>
          </a:bodyPr>
          <a:lstStyle/>
          <a:p>
            <a:pPr eaLnBrk="1" hangingPunct="1"/>
            <a:r>
              <a:rPr lang="en-US" altLang="zh-CN" smtClean="0">
                <a:solidFill>
                  <a:srgbClr val="0000FF"/>
                </a:solidFill>
                <a:ea typeface="宋体" charset="-122"/>
              </a:rPr>
              <a:t>4 </a:t>
            </a:r>
            <a:r>
              <a:rPr lang="zh-CN" altLang="en-US" smtClean="0">
                <a:solidFill>
                  <a:srgbClr val="0000FF"/>
                </a:solidFill>
                <a:ea typeface="宋体" charset="-122"/>
              </a:rPr>
              <a:t>遗传算法求解巡回旅行商问题</a:t>
            </a:r>
          </a:p>
        </p:txBody>
      </p:sp>
      <p:sp>
        <p:nvSpPr>
          <p:cNvPr id="71684" name="Rectangle 4"/>
          <p:cNvSpPr>
            <a:spLocks noGrp="1" noChangeArrowheads="1"/>
          </p:cNvSpPr>
          <p:nvPr>
            <p:ph type="body" idx="1"/>
          </p:nvPr>
        </p:nvSpPr>
        <p:spPr>
          <a:xfrm>
            <a:off x="457200" y="1219200"/>
            <a:ext cx="8229600" cy="566738"/>
          </a:xfrm>
          <a:noFill/>
        </p:spPr>
        <p:txBody>
          <a:bodyPr/>
          <a:lstStyle/>
          <a:p>
            <a:pPr eaLnBrk="1" hangingPunct="1">
              <a:lnSpc>
                <a:spcPct val="90000"/>
              </a:lnSpc>
              <a:buFont typeface="Wingdings" pitchFamily="2" charset="2"/>
              <a:buNone/>
            </a:pPr>
            <a:r>
              <a:rPr lang="en-US" altLang="zh-CN" sz="2800" smtClean="0">
                <a:solidFill>
                  <a:srgbClr val="0000FF"/>
                </a:solidFill>
                <a:ea typeface="宋体" charset="-122"/>
              </a:rPr>
              <a:t>4.3 </a:t>
            </a:r>
            <a:r>
              <a:rPr lang="zh-CN" altLang="en-US" sz="2800" smtClean="0">
                <a:solidFill>
                  <a:srgbClr val="0000FF"/>
                </a:solidFill>
                <a:ea typeface="宋体" charset="-122"/>
              </a:rPr>
              <a:t>计算仿真结果</a:t>
            </a:r>
          </a:p>
        </p:txBody>
      </p:sp>
      <p:sp>
        <p:nvSpPr>
          <p:cNvPr id="71685" name="Rectangle 5"/>
          <p:cNvSpPr>
            <a:spLocks noChangeArrowheads="1"/>
          </p:cNvSpPr>
          <p:nvPr/>
        </p:nvSpPr>
        <p:spPr bwMode="auto">
          <a:xfrm>
            <a:off x="6786563" y="4891088"/>
            <a:ext cx="1770062" cy="519112"/>
          </a:xfrm>
          <a:prstGeom prst="rect">
            <a:avLst/>
          </a:prstGeom>
          <a:noFill/>
          <a:ln w="9525">
            <a:noFill/>
            <a:miter lim="800000"/>
            <a:headEnd/>
            <a:tailEnd/>
          </a:ln>
        </p:spPr>
        <p:txBody>
          <a:bodyPr wrap="none" anchor="ctr">
            <a:spAutoFit/>
          </a:bodyPr>
          <a:lstStyle/>
          <a:p>
            <a:pPr algn="ctr"/>
            <a:r>
              <a:rPr lang="en-US" altLang="zh-CN" sz="2800" b="1">
                <a:solidFill>
                  <a:srgbClr val="0000FF"/>
                </a:solidFill>
                <a:ea typeface="宋体" charset="-122"/>
              </a:rPr>
              <a:t>430.3986 </a:t>
            </a:r>
          </a:p>
        </p:txBody>
      </p:sp>
      <p:sp>
        <p:nvSpPr>
          <p:cNvPr id="71686" name="Text Box 6"/>
          <p:cNvSpPr txBox="1">
            <a:spLocks noChangeArrowheads="1"/>
          </p:cNvSpPr>
          <p:nvPr/>
        </p:nvSpPr>
        <p:spPr bwMode="auto">
          <a:xfrm>
            <a:off x="6629400" y="4357688"/>
            <a:ext cx="2057400" cy="519112"/>
          </a:xfrm>
          <a:prstGeom prst="rect">
            <a:avLst/>
          </a:prstGeom>
          <a:noFill/>
          <a:ln w="9525">
            <a:noFill/>
            <a:miter lim="800000"/>
            <a:headEnd/>
            <a:tailEnd/>
          </a:ln>
        </p:spPr>
        <p:txBody>
          <a:bodyPr>
            <a:spAutoFit/>
          </a:bodyPr>
          <a:lstStyle/>
          <a:p>
            <a:pPr algn="ctr">
              <a:spcBef>
                <a:spcPct val="50000"/>
              </a:spcBef>
            </a:pPr>
            <a:r>
              <a:rPr lang="zh-CN" altLang="en-US" sz="2800" b="1">
                <a:solidFill>
                  <a:srgbClr val="0000FF"/>
                </a:solidFill>
                <a:ea typeface="宋体" charset="-122"/>
              </a:rPr>
              <a:t>路径长度：</a:t>
            </a:r>
          </a:p>
        </p:txBody>
      </p:sp>
      <p:sp>
        <p:nvSpPr>
          <p:cNvPr id="71687" name="Text Box 7"/>
          <p:cNvSpPr txBox="1">
            <a:spLocks noChangeArrowheads="1"/>
          </p:cNvSpPr>
          <p:nvPr/>
        </p:nvSpPr>
        <p:spPr bwMode="auto">
          <a:xfrm>
            <a:off x="6553200" y="2819400"/>
            <a:ext cx="2209800" cy="519113"/>
          </a:xfrm>
          <a:prstGeom prst="rect">
            <a:avLst/>
          </a:prstGeom>
          <a:noFill/>
          <a:ln w="9525" algn="ctr">
            <a:noFill/>
            <a:miter lim="800000"/>
            <a:headEnd/>
            <a:tailEnd/>
          </a:ln>
        </p:spPr>
        <p:txBody>
          <a:bodyPr>
            <a:spAutoFit/>
          </a:bodyPr>
          <a:lstStyle/>
          <a:p>
            <a:pPr algn="ctr">
              <a:spcBef>
                <a:spcPct val="50000"/>
              </a:spcBef>
            </a:pPr>
            <a:r>
              <a:rPr lang="zh-CN" altLang="en-US" sz="2800" b="1">
                <a:solidFill>
                  <a:srgbClr val="0000FF"/>
                </a:solidFill>
                <a:ea typeface="宋体" charset="-122"/>
              </a:rPr>
              <a:t>迁移代数：</a:t>
            </a:r>
          </a:p>
        </p:txBody>
      </p:sp>
      <p:sp>
        <p:nvSpPr>
          <p:cNvPr id="71688" name="Text Box 8"/>
          <p:cNvSpPr txBox="1">
            <a:spLocks noChangeArrowheads="1"/>
          </p:cNvSpPr>
          <p:nvPr/>
        </p:nvSpPr>
        <p:spPr bwMode="auto">
          <a:xfrm>
            <a:off x="7239000" y="3429000"/>
            <a:ext cx="838200" cy="519113"/>
          </a:xfrm>
          <a:prstGeom prst="rect">
            <a:avLst/>
          </a:prstGeom>
          <a:noFill/>
          <a:ln w="9525" algn="ctr">
            <a:noFill/>
            <a:miter lim="800000"/>
            <a:headEnd/>
            <a:tailEnd/>
          </a:ln>
        </p:spPr>
        <p:txBody>
          <a:bodyPr anchor="ctr">
            <a:spAutoFit/>
          </a:bodyPr>
          <a:lstStyle/>
          <a:p>
            <a:pPr algn="ctr"/>
            <a:r>
              <a:rPr lang="en-US" altLang="zh-CN" sz="2800" b="1">
                <a:solidFill>
                  <a:srgbClr val="0000FF"/>
                </a:solidFill>
                <a:ea typeface="宋体" charset="-122"/>
              </a:rPr>
              <a:t>350</a:t>
            </a:r>
          </a:p>
        </p:txBody>
      </p:sp>
    </p:spTree>
  </p:cSld>
  <p:clrMapOvr>
    <a:masterClrMapping/>
  </p:clrMapOvr>
  <p:timing>
    <p:tnLst>
      <p:par>
        <p:cTn id="1" dur="indefinite" restart="never" nodeType="tmRoot"/>
      </p:par>
    </p:tnLst>
  </p:timing>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2706" name="Picture 9"/>
          <p:cNvPicPr>
            <a:picLocks noChangeAspect="1" noChangeArrowheads="1"/>
          </p:cNvPicPr>
          <p:nvPr/>
        </p:nvPicPr>
        <p:blipFill>
          <a:blip r:embed="rId2" cstate="print"/>
          <a:srcRect/>
          <a:stretch>
            <a:fillRect/>
          </a:stretch>
        </p:blipFill>
        <p:spPr bwMode="auto">
          <a:xfrm>
            <a:off x="0" y="1639888"/>
            <a:ext cx="6953250" cy="5218112"/>
          </a:xfrm>
          <a:prstGeom prst="rect">
            <a:avLst/>
          </a:prstGeom>
          <a:noFill/>
          <a:ln w="9525">
            <a:noFill/>
            <a:miter lim="800000"/>
            <a:headEnd/>
            <a:tailEnd/>
          </a:ln>
        </p:spPr>
      </p:pic>
      <p:sp>
        <p:nvSpPr>
          <p:cNvPr id="72707" name="Rectangle 4"/>
          <p:cNvSpPr>
            <a:spLocks noGrp="1" noChangeArrowheads="1"/>
          </p:cNvSpPr>
          <p:nvPr>
            <p:ph type="body" idx="1"/>
          </p:nvPr>
        </p:nvSpPr>
        <p:spPr>
          <a:xfrm>
            <a:off x="457200" y="1219200"/>
            <a:ext cx="8229600" cy="566738"/>
          </a:xfrm>
          <a:noFill/>
        </p:spPr>
        <p:txBody>
          <a:bodyPr/>
          <a:lstStyle/>
          <a:p>
            <a:pPr eaLnBrk="1" hangingPunct="1">
              <a:lnSpc>
                <a:spcPct val="90000"/>
              </a:lnSpc>
              <a:buFont typeface="Wingdings" pitchFamily="2" charset="2"/>
              <a:buNone/>
            </a:pPr>
            <a:r>
              <a:rPr lang="en-US" altLang="zh-CN" sz="2800" smtClean="0">
                <a:solidFill>
                  <a:srgbClr val="0000FF"/>
                </a:solidFill>
                <a:ea typeface="宋体" charset="-122"/>
              </a:rPr>
              <a:t>4.3 </a:t>
            </a:r>
            <a:r>
              <a:rPr lang="zh-CN" altLang="en-US" sz="2800" smtClean="0">
                <a:solidFill>
                  <a:srgbClr val="0000FF"/>
                </a:solidFill>
                <a:ea typeface="宋体" charset="-122"/>
              </a:rPr>
              <a:t>计算仿真结果</a:t>
            </a:r>
          </a:p>
        </p:txBody>
      </p:sp>
      <p:sp>
        <p:nvSpPr>
          <p:cNvPr id="72708" name="Rectangle 5"/>
          <p:cNvSpPr>
            <a:spLocks noChangeArrowheads="1"/>
          </p:cNvSpPr>
          <p:nvPr/>
        </p:nvSpPr>
        <p:spPr bwMode="auto">
          <a:xfrm>
            <a:off x="6789738" y="4891088"/>
            <a:ext cx="1770062" cy="519112"/>
          </a:xfrm>
          <a:prstGeom prst="rect">
            <a:avLst/>
          </a:prstGeom>
          <a:noFill/>
          <a:ln w="9525">
            <a:noFill/>
            <a:miter lim="800000"/>
            <a:headEnd/>
            <a:tailEnd/>
          </a:ln>
        </p:spPr>
        <p:txBody>
          <a:bodyPr wrap="none" anchor="ctr">
            <a:spAutoFit/>
          </a:bodyPr>
          <a:lstStyle/>
          <a:p>
            <a:pPr algn="ctr"/>
            <a:r>
              <a:rPr lang="en-US" altLang="zh-CN" sz="2800" b="1">
                <a:solidFill>
                  <a:srgbClr val="0000FF"/>
                </a:solidFill>
                <a:ea typeface="宋体" charset="-122"/>
              </a:rPr>
              <a:t>424.8693 </a:t>
            </a:r>
          </a:p>
        </p:txBody>
      </p:sp>
      <p:sp>
        <p:nvSpPr>
          <p:cNvPr id="72709" name="Text Box 6"/>
          <p:cNvSpPr txBox="1">
            <a:spLocks noChangeArrowheads="1"/>
          </p:cNvSpPr>
          <p:nvPr/>
        </p:nvSpPr>
        <p:spPr bwMode="auto">
          <a:xfrm>
            <a:off x="6629400" y="4357688"/>
            <a:ext cx="2057400" cy="519112"/>
          </a:xfrm>
          <a:prstGeom prst="rect">
            <a:avLst/>
          </a:prstGeom>
          <a:noFill/>
          <a:ln w="9525">
            <a:noFill/>
            <a:miter lim="800000"/>
            <a:headEnd/>
            <a:tailEnd/>
          </a:ln>
        </p:spPr>
        <p:txBody>
          <a:bodyPr>
            <a:spAutoFit/>
          </a:bodyPr>
          <a:lstStyle/>
          <a:p>
            <a:pPr algn="ctr">
              <a:spcBef>
                <a:spcPct val="50000"/>
              </a:spcBef>
            </a:pPr>
            <a:r>
              <a:rPr lang="zh-CN" altLang="en-US" sz="2800" b="1">
                <a:solidFill>
                  <a:srgbClr val="0000FF"/>
                </a:solidFill>
                <a:ea typeface="宋体" charset="-122"/>
              </a:rPr>
              <a:t>路径长度：</a:t>
            </a:r>
          </a:p>
        </p:txBody>
      </p:sp>
      <p:sp>
        <p:nvSpPr>
          <p:cNvPr id="72710" name="Text Box 7"/>
          <p:cNvSpPr txBox="1">
            <a:spLocks noChangeArrowheads="1"/>
          </p:cNvSpPr>
          <p:nvPr/>
        </p:nvSpPr>
        <p:spPr bwMode="auto">
          <a:xfrm>
            <a:off x="6553200" y="2819400"/>
            <a:ext cx="2209800" cy="519113"/>
          </a:xfrm>
          <a:prstGeom prst="rect">
            <a:avLst/>
          </a:prstGeom>
          <a:noFill/>
          <a:ln w="9525" algn="ctr">
            <a:noFill/>
            <a:miter lim="800000"/>
            <a:headEnd/>
            <a:tailEnd/>
          </a:ln>
        </p:spPr>
        <p:txBody>
          <a:bodyPr>
            <a:spAutoFit/>
          </a:bodyPr>
          <a:lstStyle/>
          <a:p>
            <a:pPr algn="ctr">
              <a:spcBef>
                <a:spcPct val="50000"/>
              </a:spcBef>
            </a:pPr>
            <a:r>
              <a:rPr lang="zh-CN" altLang="en-US" sz="2800" b="1">
                <a:solidFill>
                  <a:srgbClr val="0000FF"/>
                </a:solidFill>
                <a:ea typeface="宋体" charset="-122"/>
              </a:rPr>
              <a:t>迁移代数：</a:t>
            </a:r>
          </a:p>
        </p:txBody>
      </p:sp>
      <p:sp>
        <p:nvSpPr>
          <p:cNvPr id="72711" name="Text Box 8"/>
          <p:cNvSpPr txBox="1">
            <a:spLocks noChangeArrowheads="1"/>
          </p:cNvSpPr>
          <p:nvPr/>
        </p:nvSpPr>
        <p:spPr bwMode="auto">
          <a:xfrm>
            <a:off x="7239000" y="3429000"/>
            <a:ext cx="838200" cy="519113"/>
          </a:xfrm>
          <a:prstGeom prst="rect">
            <a:avLst/>
          </a:prstGeom>
          <a:noFill/>
          <a:ln w="9525" algn="ctr">
            <a:noFill/>
            <a:miter lim="800000"/>
            <a:headEnd/>
            <a:tailEnd/>
          </a:ln>
        </p:spPr>
        <p:txBody>
          <a:bodyPr anchor="ctr">
            <a:spAutoFit/>
          </a:bodyPr>
          <a:lstStyle/>
          <a:p>
            <a:pPr algn="ctr"/>
            <a:r>
              <a:rPr lang="en-US" altLang="zh-CN" sz="2800" b="1">
                <a:solidFill>
                  <a:srgbClr val="0000FF"/>
                </a:solidFill>
                <a:ea typeface="宋体" charset="-122"/>
              </a:rPr>
              <a:t>400</a:t>
            </a:r>
          </a:p>
        </p:txBody>
      </p:sp>
      <p:sp>
        <p:nvSpPr>
          <p:cNvPr id="72712" name="AutoShape 10"/>
          <p:cNvSpPr>
            <a:spLocks noChangeArrowheads="1"/>
          </p:cNvSpPr>
          <p:nvPr/>
        </p:nvSpPr>
        <p:spPr bwMode="auto">
          <a:xfrm>
            <a:off x="5410200" y="1524000"/>
            <a:ext cx="1981200" cy="1143000"/>
          </a:xfrm>
          <a:prstGeom prst="irregularSeal1">
            <a:avLst/>
          </a:prstGeom>
          <a:solidFill>
            <a:srgbClr val="CC99FF"/>
          </a:solidFill>
          <a:ln w="9525">
            <a:noFill/>
            <a:miter lim="800000"/>
            <a:headEnd/>
            <a:tailEnd/>
          </a:ln>
        </p:spPr>
        <p:txBody>
          <a:bodyPr wrap="none" anchor="ctr"/>
          <a:lstStyle/>
          <a:p>
            <a:pPr algn="ctr"/>
            <a:r>
              <a:rPr lang="en-US" altLang="zh-CN" sz="2400" b="1">
                <a:solidFill>
                  <a:srgbClr val="FF6600"/>
                </a:solidFill>
                <a:ea typeface="宋体" charset="-122"/>
              </a:rPr>
              <a:t>Best</a:t>
            </a:r>
          </a:p>
        </p:txBody>
      </p:sp>
      <p:sp>
        <p:nvSpPr>
          <p:cNvPr id="72713" name="Rectangle 3"/>
          <p:cNvSpPr>
            <a:spLocks noChangeArrowheads="1"/>
          </p:cNvSpPr>
          <p:nvPr/>
        </p:nvSpPr>
        <p:spPr bwMode="auto">
          <a:xfrm>
            <a:off x="762000" y="304800"/>
            <a:ext cx="7924800" cy="958850"/>
          </a:xfrm>
          <a:prstGeom prst="rect">
            <a:avLst/>
          </a:prstGeom>
          <a:noFill/>
          <a:ln w="9525">
            <a:noFill/>
            <a:miter lim="800000"/>
            <a:headEnd/>
            <a:tailEnd/>
          </a:ln>
        </p:spPr>
        <p:txBody>
          <a:bodyPr anchor="ctr"/>
          <a:lstStyle/>
          <a:p>
            <a:pPr algn="ctr"/>
            <a:r>
              <a:rPr lang="en-US" altLang="zh-CN" sz="3600" b="1">
                <a:solidFill>
                  <a:srgbClr val="0000FF"/>
                </a:solidFill>
                <a:latin typeface="Verdana" pitchFamily="34" charset="0"/>
                <a:ea typeface="宋体" charset="-122"/>
              </a:rPr>
              <a:t>4 </a:t>
            </a:r>
            <a:r>
              <a:rPr lang="zh-CN" altLang="en-US" sz="3600" b="1">
                <a:solidFill>
                  <a:srgbClr val="0000FF"/>
                </a:solidFill>
                <a:latin typeface="Verdana" pitchFamily="34" charset="0"/>
                <a:ea typeface="宋体" charset="-122"/>
              </a:rPr>
              <a:t>遗传算法求解巡回旅行商问题</a:t>
            </a:r>
          </a:p>
        </p:txBody>
      </p:sp>
    </p:spTree>
  </p:cSld>
  <p:clrMapOvr>
    <a:masterClrMapping/>
  </p:clrMapOvr>
  <p:timing>
    <p:tnLst>
      <p:par>
        <p:cTn id="1" dur="indefinite" restart="never" nodeType="tmRoot"/>
      </p:par>
    </p:tnLst>
  </p:timing>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3730" name="Picture 7"/>
          <p:cNvPicPr>
            <a:picLocks noChangeAspect="1" noChangeArrowheads="1"/>
          </p:cNvPicPr>
          <p:nvPr/>
        </p:nvPicPr>
        <p:blipFill>
          <a:blip r:embed="rId2" cstate="print"/>
          <a:srcRect l="48750" t="1666" r="6250" b="1735"/>
          <a:stretch>
            <a:fillRect/>
          </a:stretch>
        </p:blipFill>
        <p:spPr bwMode="auto">
          <a:xfrm>
            <a:off x="3116263" y="1219200"/>
            <a:ext cx="2979737" cy="4800600"/>
          </a:xfrm>
          <a:prstGeom prst="rect">
            <a:avLst/>
          </a:prstGeom>
          <a:noFill/>
          <a:ln w="9525">
            <a:noFill/>
            <a:miter lim="800000"/>
            <a:headEnd/>
            <a:tailEnd/>
          </a:ln>
        </p:spPr>
      </p:pic>
      <p:sp>
        <p:nvSpPr>
          <p:cNvPr id="73731" name="Text Box 8"/>
          <p:cNvSpPr txBox="1">
            <a:spLocks noChangeArrowheads="1"/>
          </p:cNvSpPr>
          <p:nvPr/>
        </p:nvSpPr>
        <p:spPr bwMode="auto">
          <a:xfrm>
            <a:off x="3421063" y="6080125"/>
            <a:ext cx="2362200" cy="701675"/>
          </a:xfrm>
          <a:prstGeom prst="rect">
            <a:avLst/>
          </a:prstGeom>
          <a:noFill/>
          <a:ln w="9525">
            <a:noFill/>
            <a:miter lim="800000"/>
            <a:headEnd/>
            <a:tailEnd/>
          </a:ln>
        </p:spPr>
        <p:txBody>
          <a:bodyPr>
            <a:spAutoFit/>
          </a:bodyPr>
          <a:lstStyle/>
          <a:p>
            <a:pPr algn="ctr">
              <a:spcBef>
                <a:spcPct val="50000"/>
              </a:spcBef>
            </a:pPr>
            <a:r>
              <a:rPr lang="zh-CN" altLang="en-US" sz="2000" b="1">
                <a:solidFill>
                  <a:srgbClr val="CC6600"/>
                </a:solidFill>
                <a:ea typeface="宋体" charset="-122"/>
              </a:rPr>
              <a:t>距离为</a:t>
            </a:r>
            <a:r>
              <a:rPr lang="en-US" altLang="zh-CN" sz="2000" b="1">
                <a:solidFill>
                  <a:srgbClr val="CC6600"/>
                </a:solidFill>
                <a:ea typeface="宋体" charset="-122"/>
              </a:rPr>
              <a:t>426.64Km</a:t>
            </a:r>
            <a:r>
              <a:rPr lang="zh-CN" altLang="en-US" sz="2000" b="1">
                <a:solidFill>
                  <a:srgbClr val="CC6600"/>
                </a:solidFill>
                <a:ea typeface="宋体" charset="-122"/>
              </a:rPr>
              <a:t>的访问次序</a:t>
            </a:r>
          </a:p>
        </p:txBody>
      </p:sp>
      <p:sp>
        <p:nvSpPr>
          <p:cNvPr id="73732" name="Line 9"/>
          <p:cNvSpPr>
            <a:spLocks noChangeShapeType="1"/>
          </p:cNvSpPr>
          <p:nvPr/>
        </p:nvSpPr>
        <p:spPr bwMode="auto">
          <a:xfrm>
            <a:off x="3048000" y="1219200"/>
            <a:ext cx="0" cy="5638800"/>
          </a:xfrm>
          <a:prstGeom prst="line">
            <a:avLst/>
          </a:prstGeom>
          <a:noFill/>
          <a:ln w="57150" cmpd="thickThin">
            <a:solidFill>
              <a:srgbClr val="0000FF"/>
            </a:solidFill>
            <a:round/>
            <a:headEnd/>
            <a:tailEnd/>
          </a:ln>
        </p:spPr>
        <p:txBody>
          <a:bodyPr/>
          <a:lstStyle/>
          <a:p>
            <a:endParaRPr lang="zh-CN" altLang="en-US"/>
          </a:p>
        </p:txBody>
      </p:sp>
      <p:sp>
        <p:nvSpPr>
          <p:cNvPr id="73733" name="Line 10"/>
          <p:cNvSpPr>
            <a:spLocks noChangeShapeType="1"/>
          </p:cNvSpPr>
          <p:nvPr/>
        </p:nvSpPr>
        <p:spPr bwMode="auto">
          <a:xfrm>
            <a:off x="6096000" y="1219200"/>
            <a:ext cx="0" cy="5638800"/>
          </a:xfrm>
          <a:prstGeom prst="line">
            <a:avLst/>
          </a:prstGeom>
          <a:noFill/>
          <a:ln w="57150" cmpd="thickThin">
            <a:solidFill>
              <a:srgbClr val="0000FF"/>
            </a:solidFill>
            <a:round/>
            <a:headEnd/>
            <a:tailEnd/>
          </a:ln>
        </p:spPr>
        <p:txBody>
          <a:bodyPr/>
          <a:lstStyle/>
          <a:p>
            <a:endParaRPr lang="zh-CN" altLang="en-US"/>
          </a:p>
        </p:txBody>
      </p:sp>
      <p:pic>
        <p:nvPicPr>
          <p:cNvPr id="73734" name="Picture 14"/>
          <p:cNvPicPr>
            <a:picLocks noChangeAspect="1" noChangeArrowheads="1"/>
          </p:cNvPicPr>
          <p:nvPr/>
        </p:nvPicPr>
        <p:blipFill>
          <a:blip r:embed="rId3" cstate="print"/>
          <a:srcRect l="48837" t="2388" r="6892" b="3099"/>
          <a:stretch>
            <a:fillRect/>
          </a:stretch>
        </p:blipFill>
        <p:spPr bwMode="auto">
          <a:xfrm>
            <a:off x="76200" y="1243013"/>
            <a:ext cx="2933700" cy="4700587"/>
          </a:xfrm>
          <a:prstGeom prst="rect">
            <a:avLst/>
          </a:prstGeom>
          <a:noFill/>
          <a:ln w="9525">
            <a:noFill/>
            <a:miter lim="800000"/>
            <a:headEnd/>
            <a:tailEnd/>
          </a:ln>
        </p:spPr>
      </p:pic>
      <p:sp>
        <p:nvSpPr>
          <p:cNvPr id="73735" name="Text Box 15"/>
          <p:cNvSpPr txBox="1">
            <a:spLocks noChangeArrowheads="1"/>
          </p:cNvSpPr>
          <p:nvPr/>
        </p:nvSpPr>
        <p:spPr bwMode="auto">
          <a:xfrm>
            <a:off x="304800" y="6019800"/>
            <a:ext cx="2514600" cy="701675"/>
          </a:xfrm>
          <a:prstGeom prst="rect">
            <a:avLst/>
          </a:prstGeom>
          <a:noFill/>
          <a:ln w="9525">
            <a:noFill/>
            <a:miter lim="800000"/>
            <a:headEnd/>
            <a:tailEnd/>
          </a:ln>
        </p:spPr>
        <p:txBody>
          <a:bodyPr>
            <a:spAutoFit/>
          </a:bodyPr>
          <a:lstStyle/>
          <a:p>
            <a:pPr algn="ctr">
              <a:spcBef>
                <a:spcPct val="50000"/>
              </a:spcBef>
            </a:pPr>
            <a:r>
              <a:rPr lang="zh-CN" altLang="en-US" sz="2000" b="1">
                <a:solidFill>
                  <a:srgbClr val="CC6600"/>
                </a:solidFill>
                <a:ea typeface="宋体" charset="-122"/>
              </a:rPr>
              <a:t>距离为</a:t>
            </a:r>
            <a:r>
              <a:rPr lang="en-US" altLang="zh-CN" sz="2000" b="1">
                <a:solidFill>
                  <a:srgbClr val="CC6600"/>
                </a:solidFill>
                <a:ea typeface="宋体" charset="-122"/>
              </a:rPr>
              <a:t>424.78Km</a:t>
            </a:r>
            <a:r>
              <a:rPr lang="zh-CN" altLang="en-US" sz="2000" b="1">
                <a:solidFill>
                  <a:srgbClr val="CC6600"/>
                </a:solidFill>
                <a:ea typeface="宋体" charset="-122"/>
              </a:rPr>
              <a:t>的访问次序（最优）</a:t>
            </a:r>
          </a:p>
        </p:txBody>
      </p:sp>
      <p:sp>
        <p:nvSpPr>
          <p:cNvPr id="73736" name="Oval 16"/>
          <p:cNvSpPr>
            <a:spLocks noChangeArrowheads="1"/>
          </p:cNvSpPr>
          <p:nvPr/>
        </p:nvSpPr>
        <p:spPr bwMode="auto">
          <a:xfrm>
            <a:off x="4851400" y="2222500"/>
            <a:ext cx="838200" cy="838200"/>
          </a:xfrm>
          <a:prstGeom prst="ellipse">
            <a:avLst/>
          </a:prstGeom>
          <a:noFill/>
          <a:ln w="28575">
            <a:solidFill>
              <a:srgbClr val="0000FF"/>
            </a:solidFill>
            <a:round/>
            <a:headEnd/>
            <a:tailEnd/>
          </a:ln>
        </p:spPr>
        <p:txBody>
          <a:bodyPr wrap="none" anchor="ctr"/>
          <a:lstStyle/>
          <a:p>
            <a:endParaRPr lang="zh-CN" altLang="en-US">
              <a:ea typeface="宋体" charset="-122"/>
            </a:endParaRPr>
          </a:p>
        </p:txBody>
      </p:sp>
      <p:pic>
        <p:nvPicPr>
          <p:cNvPr id="73737" name="Picture 17"/>
          <p:cNvPicPr>
            <a:picLocks noChangeAspect="1" noChangeArrowheads="1"/>
          </p:cNvPicPr>
          <p:nvPr/>
        </p:nvPicPr>
        <p:blipFill>
          <a:blip r:embed="rId4" cstate="print"/>
          <a:srcRect l="48463" t="1927" r="5968" b="1686"/>
          <a:stretch>
            <a:fillRect/>
          </a:stretch>
        </p:blipFill>
        <p:spPr bwMode="auto">
          <a:xfrm>
            <a:off x="6121400" y="1219200"/>
            <a:ext cx="3022600" cy="4800600"/>
          </a:xfrm>
          <a:prstGeom prst="rect">
            <a:avLst/>
          </a:prstGeom>
          <a:noFill/>
          <a:ln w="9525">
            <a:noFill/>
            <a:miter lim="800000"/>
            <a:headEnd/>
            <a:tailEnd/>
          </a:ln>
        </p:spPr>
      </p:pic>
      <p:sp>
        <p:nvSpPr>
          <p:cNvPr id="73738" name="Text Box 18"/>
          <p:cNvSpPr txBox="1">
            <a:spLocks noChangeArrowheads="1"/>
          </p:cNvSpPr>
          <p:nvPr/>
        </p:nvSpPr>
        <p:spPr bwMode="auto">
          <a:xfrm>
            <a:off x="6629400" y="6080125"/>
            <a:ext cx="2362200" cy="701675"/>
          </a:xfrm>
          <a:prstGeom prst="rect">
            <a:avLst/>
          </a:prstGeom>
          <a:noFill/>
          <a:ln w="9525">
            <a:noFill/>
            <a:miter lim="800000"/>
            <a:headEnd/>
            <a:tailEnd/>
          </a:ln>
        </p:spPr>
        <p:txBody>
          <a:bodyPr>
            <a:spAutoFit/>
          </a:bodyPr>
          <a:lstStyle/>
          <a:p>
            <a:pPr algn="ctr">
              <a:spcBef>
                <a:spcPct val="50000"/>
              </a:spcBef>
            </a:pPr>
            <a:r>
              <a:rPr lang="zh-CN" altLang="en-US" sz="2000" b="1">
                <a:solidFill>
                  <a:srgbClr val="CC6600"/>
                </a:solidFill>
                <a:ea typeface="宋体" charset="-122"/>
              </a:rPr>
              <a:t>距离为</a:t>
            </a:r>
            <a:r>
              <a:rPr lang="en-US" altLang="zh-CN" sz="2000" b="1">
                <a:solidFill>
                  <a:srgbClr val="CC6600"/>
                </a:solidFill>
                <a:ea typeface="宋体" charset="-122"/>
              </a:rPr>
              <a:t>431.94Km</a:t>
            </a:r>
            <a:r>
              <a:rPr lang="zh-CN" altLang="en-US" sz="2000" b="1">
                <a:solidFill>
                  <a:srgbClr val="CC6600"/>
                </a:solidFill>
                <a:ea typeface="宋体" charset="-122"/>
              </a:rPr>
              <a:t>的访问次序</a:t>
            </a:r>
          </a:p>
        </p:txBody>
      </p:sp>
      <p:sp>
        <p:nvSpPr>
          <p:cNvPr id="73739" name="Oval 20"/>
          <p:cNvSpPr>
            <a:spLocks noChangeArrowheads="1"/>
          </p:cNvSpPr>
          <p:nvPr/>
        </p:nvSpPr>
        <p:spPr bwMode="auto">
          <a:xfrm>
            <a:off x="6553200" y="2819400"/>
            <a:ext cx="889000" cy="889000"/>
          </a:xfrm>
          <a:prstGeom prst="ellipse">
            <a:avLst/>
          </a:prstGeom>
          <a:noFill/>
          <a:ln w="28575">
            <a:solidFill>
              <a:srgbClr val="0000FF"/>
            </a:solidFill>
            <a:round/>
            <a:headEnd/>
            <a:tailEnd/>
          </a:ln>
        </p:spPr>
        <p:txBody>
          <a:bodyPr wrap="none" anchor="ctr"/>
          <a:lstStyle/>
          <a:p>
            <a:endParaRPr lang="zh-CN" altLang="en-US">
              <a:ea typeface="宋体" charset="-122"/>
            </a:endParaRPr>
          </a:p>
        </p:txBody>
      </p:sp>
      <p:sp>
        <p:nvSpPr>
          <p:cNvPr id="73740" name="Rectangle 3"/>
          <p:cNvSpPr>
            <a:spLocks noChangeArrowheads="1"/>
          </p:cNvSpPr>
          <p:nvPr/>
        </p:nvSpPr>
        <p:spPr bwMode="auto">
          <a:xfrm>
            <a:off x="609600" y="152400"/>
            <a:ext cx="7924800" cy="958850"/>
          </a:xfrm>
          <a:prstGeom prst="rect">
            <a:avLst/>
          </a:prstGeom>
          <a:noFill/>
          <a:ln w="9525">
            <a:noFill/>
            <a:miter lim="800000"/>
            <a:headEnd/>
            <a:tailEnd/>
          </a:ln>
        </p:spPr>
        <p:txBody>
          <a:bodyPr anchor="ctr"/>
          <a:lstStyle/>
          <a:p>
            <a:pPr algn="ctr"/>
            <a:r>
              <a:rPr lang="en-US" altLang="zh-CN" sz="3600" b="1">
                <a:solidFill>
                  <a:srgbClr val="CC6600"/>
                </a:solidFill>
                <a:latin typeface="Verdana" pitchFamily="34" charset="0"/>
                <a:ea typeface="宋体" charset="-122"/>
              </a:rPr>
              <a:t>4 </a:t>
            </a:r>
            <a:r>
              <a:rPr lang="zh-CN" altLang="en-US" sz="3600" b="1">
                <a:solidFill>
                  <a:srgbClr val="CC6600"/>
                </a:solidFill>
                <a:latin typeface="Verdana" pitchFamily="34" charset="0"/>
                <a:ea typeface="宋体" charset="-122"/>
              </a:rPr>
              <a:t>遗传算法求解巡回旅行商问题</a:t>
            </a:r>
          </a:p>
        </p:txBody>
      </p:sp>
    </p:spTree>
  </p:cSld>
  <p:clrMapOvr>
    <a:masterClrMapping/>
  </p:clrMapOvr>
  <p:timing>
    <p:tnLst>
      <p:par>
        <p:cTn id="1" dur="indefinite" restart="never" nodeType="tmRoot"/>
      </p:par>
    </p:tnLst>
  </p:timing>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4754" name="Line 6"/>
          <p:cNvSpPr>
            <a:spLocks noChangeShapeType="1"/>
          </p:cNvSpPr>
          <p:nvPr/>
        </p:nvSpPr>
        <p:spPr bwMode="auto">
          <a:xfrm>
            <a:off x="3048000" y="1219200"/>
            <a:ext cx="0" cy="5638800"/>
          </a:xfrm>
          <a:prstGeom prst="line">
            <a:avLst/>
          </a:prstGeom>
          <a:noFill/>
          <a:ln w="57150" cmpd="thickThin">
            <a:solidFill>
              <a:srgbClr val="0000FF"/>
            </a:solidFill>
            <a:round/>
            <a:headEnd/>
            <a:tailEnd/>
          </a:ln>
        </p:spPr>
        <p:txBody>
          <a:bodyPr/>
          <a:lstStyle/>
          <a:p>
            <a:endParaRPr lang="zh-CN" altLang="en-US"/>
          </a:p>
        </p:txBody>
      </p:sp>
      <p:pic>
        <p:nvPicPr>
          <p:cNvPr id="74755" name="Picture 7"/>
          <p:cNvPicPr>
            <a:picLocks noChangeAspect="1" noChangeArrowheads="1"/>
          </p:cNvPicPr>
          <p:nvPr/>
        </p:nvPicPr>
        <p:blipFill>
          <a:blip r:embed="rId2" cstate="print"/>
          <a:srcRect l="48837" t="2388" r="6892" b="3099"/>
          <a:stretch>
            <a:fillRect/>
          </a:stretch>
        </p:blipFill>
        <p:spPr bwMode="auto">
          <a:xfrm>
            <a:off x="76200" y="1243013"/>
            <a:ext cx="2933700" cy="4700587"/>
          </a:xfrm>
          <a:prstGeom prst="rect">
            <a:avLst/>
          </a:prstGeom>
          <a:noFill/>
          <a:ln w="9525">
            <a:noFill/>
            <a:miter lim="800000"/>
            <a:headEnd/>
            <a:tailEnd/>
          </a:ln>
        </p:spPr>
      </p:pic>
      <p:sp>
        <p:nvSpPr>
          <p:cNvPr id="74756" name="Text Box 8"/>
          <p:cNvSpPr txBox="1">
            <a:spLocks noChangeArrowheads="1"/>
          </p:cNvSpPr>
          <p:nvPr/>
        </p:nvSpPr>
        <p:spPr bwMode="auto">
          <a:xfrm>
            <a:off x="304800" y="6019800"/>
            <a:ext cx="2514600" cy="701675"/>
          </a:xfrm>
          <a:prstGeom prst="rect">
            <a:avLst/>
          </a:prstGeom>
          <a:noFill/>
          <a:ln w="9525">
            <a:noFill/>
            <a:miter lim="800000"/>
            <a:headEnd/>
            <a:tailEnd/>
          </a:ln>
        </p:spPr>
        <p:txBody>
          <a:bodyPr>
            <a:spAutoFit/>
          </a:bodyPr>
          <a:lstStyle/>
          <a:p>
            <a:pPr algn="ctr">
              <a:spcBef>
                <a:spcPct val="50000"/>
              </a:spcBef>
            </a:pPr>
            <a:r>
              <a:rPr lang="zh-CN" altLang="en-US" sz="2000" b="1">
                <a:solidFill>
                  <a:srgbClr val="CC6600"/>
                </a:solidFill>
                <a:ea typeface="宋体" charset="-122"/>
              </a:rPr>
              <a:t>距离为</a:t>
            </a:r>
            <a:r>
              <a:rPr lang="en-US" altLang="zh-CN" sz="2000" b="1">
                <a:solidFill>
                  <a:srgbClr val="CC6600"/>
                </a:solidFill>
                <a:ea typeface="宋体" charset="-122"/>
              </a:rPr>
              <a:t>424.78Km</a:t>
            </a:r>
            <a:r>
              <a:rPr lang="zh-CN" altLang="en-US" sz="2000" b="1">
                <a:solidFill>
                  <a:srgbClr val="CC6600"/>
                </a:solidFill>
                <a:ea typeface="宋体" charset="-122"/>
              </a:rPr>
              <a:t>的访问次序（最优）</a:t>
            </a:r>
          </a:p>
        </p:txBody>
      </p:sp>
      <p:pic>
        <p:nvPicPr>
          <p:cNvPr id="74757" name="Picture 9"/>
          <p:cNvPicPr>
            <a:picLocks noChangeAspect="1" noChangeArrowheads="1"/>
          </p:cNvPicPr>
          <p:nvPr/>
        </p:nvPicPr>
        <p:blipFill>
          <a:blip r:embed="rId3" cstate="print"/>
          <a:srcRect l="48804" r="6450"/>
          <a:stretch>
            <a:fillRect/>
          </a:stretch>
        </p:blipFill>
        <p:spPr bwMode="auto">
          <a:xfrm>
            <a:off x="6251575" y="1143000"/>
            <a:ext cx="2955925" cy="4953000"/>
          </a:xfrm>
          <a:prstGeom prst="rect">
            <a:avLst/>
          </a:prstGeom>
          <a:noFill/>
          <a:ln w="9525">
            <a:noFill/>
            <a:miter lim="800000"/>
            <a:headEnd/>
            <a:tailEnd/>
          </a:ln>
        </p:spPr>
      </p:pic>
      <p:pic>
        <p:nvPicPr>
          <p:cNvPr id="74758" name="Picture 10"/>
          <p:cNvPicPr>
            <a:picLocks noChangeAspect="1" noChangeArrowheads="1"/>
          </p:cNvPicPr>
          <p:nvPr/>
        </p:nvPicPr>
        <p:blipFill>
          <a:blip r:embed="rId4" cstate="print"/>
          <a:srcRect l="48804" r="6450"/>
          <a:stretch>
            <a:fillRect/>
          </a:stretch>
        </p:blipFill>
        <p:spPr bwMode="auto">
          <a:xfrm>
            <a:off x="3200400" y="1143000"/>
            <a:ext cx="2955925" cy="4953000"/>
          </a:xfrm>
          <a:prstGeom prst="rect">
            <a:avLst/>
          </a:prstGeom>
          <a:noFill/>
          <a:ln w="9525">
            <a:noFill/>
            <a:miter lim="800000"/>
            <a:headEnd/>
            <a:tailEnd/>
          </a:ln>
        </p:spPr>
      </p:pic>
      <p:sp>
        <p:nvSpPr>
          <p:cNvPr id="74759" name="Text Box 11"/>
          <p:cNvSpPr txBox="1">
            <a:spLocks noChangeArrowheads="1"/>
          </p:cNvSpPr>
          <p:nvPr/>
        </p:nvSpPr>
        <p:spPr bwMode="auto">
          <a:xfrm>
            <a:off x="6632575" y="6080125"/>
            <a:ext cx="2133600" cy="701675"/>
          </a:xfrm>
          <a:prstGeom prst="rect">
            <a:avLst/>
          </a:prstGeom>
          <a:noFill/>
          <a:ln w="9525">
            <a:noFill/>
            <a:miter lim="800000"/>
            <a:headEnd/>
            <a:tailEnd/>
          </a:ln>
        </p:spPr>
        <p:txBody>
          <a:bodyPr>
            <a:spAutoFit/>
          </a:bodyPr>
          <a:lstStyle/>
          <a:p>
            <a:pPr algn="ctr">
              <a:spcBef>
                <a:spcPct val="50000"/>
              </a:spcBef>
            </a:pPr>
            <a:r>
              <a:rPr lang="zh-CN" altLang="en-US" sz="2000" b="1">
                <a:solidFill>
                  <a:srgbClr val="CC6600"/>
                </a:solidFill>
                <a:ea typeface="宋体" charset="-122"/>
              </a:rPr>
              <a:t>距离为</a:t>
            </a:r>
            <a:r>
              <a:rPr lang="en-US" altLang="zh-CN" sz="2000" b="1">
                <a:solidFill>
                  <a:srgbClr val="CC6600"/>
                </a:solidFill>
                <a:ea typeface="宋体" charset="-122"/>
              </a:rPr>
              <a:t>466.30Km</a:t>
            </a:r>
            <a:r>
              <a:rPr lang="zh-CN" altLang="en-US" sz="2000" b="1">
                <a:solidFill>
                  <a:srgbClr val="CC6600"/>
                </a:solidFill>
                <a:ea typeface="宋体" charset="-122"/>
              </a:rPr>
              <a:t>的访问次序</a:t>
            </a:r>
          </a:p>
        </p:txBody>
      </p:sp>
      <p:sp>
        <p:nvSpPr>
          <p:cNvPr id="74760" name="Text Box 12"/>
          <p:cNvSpPr txBox="1">
            <a:spLocks noChangeArrowheads="1"/>
          </p:cNvSpPr>
          <p:nvPr/>
        </p:nvSpPr>
        <p:spPr bwMode="auto">
          <a:xfrm>
            <a:off x="3670300" y="6080125"/>
            <a:ext cx="2133600" cy="701675"/>
          </a:xfrm>
          <a:prstGeom prst="rect">
            <a:avLst/>
          </a:prstGeom>
          <a:noFill/>
          <a:ln w="9525">
            <a:noFill/>
            <a:miter lim="800000"/>
            <a:headEnd/>
            <a:tailEnd/>
          </a:ln>
        </p:spPr>
        <p:txBody>
          <a:bodyPr>
            <a:spAutoFit/>
          </a:bodyPr>
          <a:lstStyle/>
          <a:p>
            <a:pPr algn="ctr">
              <a:spcBef>
                <a:spcPct val="50000"/>
              </a:spcBef>
            </a:pPr>
            <a:r>
              <a:rPr lang="zh-CN" altLang="en-US" sz="2000" b="1">
                <a:solidFill>
                  <a:srgbClr val="CC6600"/>
                </a:solidFill>
                <a:ea typeface="宋体" charset="-122"/>
              </a:rPr>
              <a:t>距离为</a:t>
            </a:r>
            <a:r>
              <a:rPr lang="en-US" altLang="zh-CN" sz="2000" b="1">
                <a:solidFill>
                  <a:srgbClr val="CC6600"/>
                </a:solidFill>
                <a:ea typeface="宋体" charset="-122"/>
              </a:rPr>
              <a:t>454.75Km</a:t>
            </a:r>
            <a:r>
              <a:rPr lang="zh-CN" altLang="en-US" sz="2000" b="1">
                <a:solidFill>
                  <a:srgbClr val="CC6600"/>
                </a:solidFill>
                <a:ea typeface="宋体" charset="-122"/>
              </a:rPr>
              <a:t>的访问次序</a:t>
            </a:r>
          </a:p>
        </p:txBody>
      </p:sp>
      <p:sp>
        <p:nvSpPr>
          <p:cNvPr id="74761" name="Line 13"/>
          <p:cNvSpPr>
            <a:spLocks noChangeShapeType="1"/>
          </p:cNvSpPr>
          <p:nvPr/>
        </p:nvSpPr>
        <p:spPr bwMode="auto">
          <a:xfrm>
            <a:off x="6172200" y="1219200"/>
            <a:ext cx="0" cy="5638800"/>
          </a:xfrm>
          <a:prstGeom prst="line">
            <a:avLst/>
          </a:prstGeom>
          <a:noFill/>
          <a:ln w="57150" cmpd="thickThin">
            <a:solidFill>
              <a:srgbClr val="0000FF"/>
            </a:solidFill>
            <a:round/>
            <a:headEnd/>
            <a:tailEnd/>
          </a:ln>
        </p:spPr>
        <p:txBody>
          <a:bodyPr/>
          <a:lstStyle/>
          <a:p>
            <a:endParaRPr lang="zh-CN" altLang="en-US"/>
          </a:p>
        </p:txBody>
      </p:sp>
      <p:sp>
        <p:nvSpPr>
          <p:cNvPr id="74762" name="Oval 14"/>
          <p:cNvSpPr>
            <a:spLocks noChangeArrowheads="1"/>
          </p:cNvSpPr>
          <p:nvPr/>
        </p:nvSpPr>
        <p:spPr bwMode="auto">
          <a:xfrm>
            <a:off x="4749800" y="2222500"/>
            <a:ext cx="1117600" cy="1117600"/>
          </a:xfrm>
          <a:prstGeom prst="ellipse">
            <a:avLst/>
          </a:prstGeom>
          <a:noFill/>
          <a:ln w="28575">
            <a:solidFill>
              <a:srgbClr val="0000FF"/>
            </a:solidFill>
            <a:round/>
            <a:headEnd/>
            <a:tailEnd/>
          </a:ln>
        </p:spPr>
        <p:txBody>
          <a:bodyPr wrap="none" anchor="ctr"/>
          <a:lstStyle/>
          <a:p>
            <a:endParaRPr lang="zh-CN" altLang="en-US">
              <a:ea typeface="宋体" charset="-122"/>
            </a:endParaRPr>
          </a:p>
        </p:txBody>
      </p:sp>
      <p:sp>
        <p:nvSpPr>
          <p:cNvPr id="74763" name="Oval 15"/>
          <p:cNvSpPr>
            <a:spLocks noChangeArrowheads="1"/>
          </p:cNvSpPr>
          <p:nvPr/>
        </p:nvSpPr>
        <p:spPr bwMode="auto">
          <a:xfrm>
            <a:off x="3670300" y="2971800"/>
            <a:ext cx="1143000" cy="1143000"/>
          </a:xfrm>
          <a:prstGeom prst="ellipse">
            <a:avLst/>
          </a:prstGeom>
          <a:noFill/>
          <a:ln w="28575">
            <a:solidFill>
              <a:srgbClr val="0000FF"/>
            </a:solidFill>
            <a:round/>
            <a:headEnd/>
            <a:tailEnd/>
          </a:ln>
        </p:spPr>
        <p:txBody>
          <a:bodyPr wrap="none" anchor="ctr"/>
          <a:lstStyle/>
          <a:p>
            <a:endParaRPr lang="zh-CN" altLang="en-US">
              <a:ea typeface="宋体" charset="-122"/>
            </a:endParaRPr>
          </a:p>
        </p:txBody>
      </p:sp>
      <p:sp>
        <p:nvSpPr>
          <p:cNvPr id="74764" name="Rectangle 3"/>
          <p:cNvSpPr>
            <a:spLocks noChangeArrowheads="1"/>
          </p:cNvSpPr>
          <p:nvPr/>
        </p:nvSpPr>
        <p:spPr bwMode="auto">
          <a:xfrm>
            <a:off x="609600" y="152400"/>
            <a:ext cx="7924800" cy="958850"/>
          </a:xfrm>
          <a:prstGeom prst="rect">
            <a:avLst/>
          </a:prstGeom>
          <a:noFill/>
          <a:ln w="9525">
            <a:noFill/>
            <a:miter lim="800000"/>
            <a:headEnd/>
            <a:tailEnd/>
          </a:ln>
        </p:spPr>
        <p:txBody>
          <a:bodyPr anchor="ctr"/>
          <a:lstStyle/>
          <a:p>
            <a:pPr algn="ctr"/>
            <a:r>
              <a:rPr lang="en-US" altLang="zh-CN" sz="3600" b="1">
                <a:solidFill>
                  <a:srgbClr val="CC6600"/>
                </a:solidFill>
                <a:latin typeface="Verdana" pitchFamily="34" charset="0"/>
                <a:ea typeface="宋体" charset="-122"/>
              </a:rPr>
              <a:t>4 </a:t>
            </a:r>
            <a:r>
              <a:rPr lang="zh-CN" altLang="en-US" sz="3600" b="1">
                <a:solidFill>
                  <a:srgbClr val="CC6600"/>
                </a:solidFill>
                <a:latin typeface="Verdana" pitchFamily="34" charset="0"/>
                <a:ea typeface="宋体" charset="-122"/>
              </a:rPr>
              <a:t>遗传算法求解巡回旅行商问题</a:t>
            </a:r>
          </a:p>
        </p:txBody>
      </p:sp>
    </p:spTree>
  </p:cSld>
  <p:clrMapOvr>
    <a:masterClrMapping/>
  </p:clrMapOvr>
  <p:timing>
    <p:tnLst>
      <p:par>
        <p:cTn id="1" dur="indefinite" restart="never" nodeType="tmRoot"/>
      </p:par>
    </p:tnLst>
  </p:timing>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5778" name="Picture 1309"/>
          <p:cNvPicPr>
            <a:picLocks noChangeAspect="1" noChangeArrowheads="1"/>
          </p:cNvPicPr>
          <p:nvPr/>
        </p:nvPicPr>
        <p:blipFill>
          <a:blip r:embed="rId2" cstate="print"/>
          <a:srcRect/>
          <a:stretch>
            <a:fillRect/>
          </a:stretch>
        </p:blipFill>
        <p:spPr bwMode="auto">
          <a:xfrm>
            <a:off x="838200" y="1524000"/>
            <a:ext cx="6324600" cy="5218113"/>
          </a:xfrm>
          <a:prstGeom prst="rect">
            <a:avLst/>
          </a:prstGeom>
          <a:noFill/>
          <a:ln w="9525">
            <a:noFill/>
            <a:miter lim="800000"/>
            <a:headEnd/>
            <a:tailEnd/>
          </a:ln>
        </p:spPr>
      </p:pic>
      <p:sp>
        <p:nvSpPr>
          <p:cNvPr id="75779" name="Text Box 4"/>
          <p:cNvSpPr txBox="1">
            <a:spLocks noChangeArrowheads="1"/>
          </p:cNvSpPr>
          <p:nvPr/>
        </p:nvSpPr>
        <p:spPr bwMode="auto">
          <a:xfrm>
            <a:off x="762000" y="1219200"/>
            <a:ext cx="6934200" cy="396875"/>
          </a:xfrm>
          <a:prstGeom prst="rect">
            <a:avLst/>
          </a:prstGeom>
          <a:noFill/>
          <a:ln w="9525">
            <a:noFill/>
            <a:miter lim="800000"/>
            <a:headEnd/>
            <a:tailEnd/>
          </a:ln>
        </p:spPr>
        <p:txBody>
          <a:bodyPr>
            <a:spAutoFit/>
          </a:bodyPr>
          <a:lstStyle/>
          <a:p>
            <a:pPr>
              <a:spcBef>
                <a:spcPct val="50000"/>
              </a:spcBef>
            </a:pPr>
            <a:r>
              <a:rPr lang="en-US" altLang="zh-CN" sz="2000" b="1">
                <a:solidFill>
                  <a:srgbClr val="CC6600"/>
                </a:solidFill>
                <a:ea typeface="宋体" charset="-122"/>
              </a:rPr>
              <a:t>4.4 </a:t>
            </a:r>
            <a:r>
              <a:rPr lang="zh-CN" altLang="en-US" sz="2000" b="1">
                <a:solidFill>
                  <a:srgbClr val="CC6600"/>
                </a:solidFill>
                <a:ea typeface="宋体" charset="-122"/>
              </a:rPr>
              <a:t>关于遗传算法操作算子的验证</a:t>
            </a:r>
          </a:p>
        </p:txBody>
      </p:sp>
      <p:sp>
        <p:nvSpPr>
          <p:cNvPr id="75780" name="Line 394"/>
          <p:cNvSpPr>
            <a:spLocks noChangeShapeType="1"/>
          </p:cNvSpPr>
          <p:nvPr/>
        </p:nvSpPr>
        <p:spPr bwMode="auto">
          <a:xfrm>
            <a:off x="2889250" y="600075"/>
            <a:ext cx="0" cy="0"/>
          </a:xfrm>
          <a:prstGeom prst="line">
            <a:avLst/>
          </a:prstGeom>
          <a:noFill/>
          <a:ln w="12700" cap="rnd">
            <a:solidFill>
              <a:srgbClr val="000000"/>
            </a:solidFill>
            <a:round/>
            <a:headEnd/>
            <a:tailEnd/>
          </a:ln>
        </p:spPr>
        <p:txBody>
          <a:bodyPr/>
          <a:lstStyle/>
          <a:p>
            <a:endParaRPr lang="zh-CN" altLang="en-US"/>
          </a:p>
        </p:txBody>
      </p:sp>
      <p:sp>
        <p:nvSpPr>
          <p:cNvPr id="75781" name="Oval 1308"/>
          <p:cNvSpPr>
            <a:spLocks noChangeArrowheads="1"/>
          </p:cNvSpPr>
          <p:nvPr/>
        </p:nvSpPr>
        <p:spPr bwMode="auto">
          <a:xfrm>
            <a:off x="2667000" y="6007100"/>
            <a:ext cx="2895600" cy="304800"/>
          </a:xfrm>
          <a:prstGeom prst="ellipse">
            <a:avLst/>
          </a:prstGeom>
          <a:noFill/>
          <a:ln w="28575">
            <a:solidFill>
              <a:srgbClr val="FF0000"/>
            </a:solidFill>
            <a:round/>
            <a:headEnd/>
            <a:tailEnd/>
          </a:ln>
        </p:spPr>
        <p:txBody>
          <a:bodyPr wrap="none" anchor="ctr"/>
          <a:lstStyle/>
          <a:p>
            <a:endParaRPr lang="zh-CN" altLang="en-US">
              <a:ea typeface="宋体" charset="-122"/>
            </a:endParaRPr>
          </a:p>
        </p:txBody>
      </p:sp>
      <p:sp>
        <p:nvSpPr>
          <p:cNvPr id="75782" name="Rectangle 3"/>
          <p:cNvSpPr>
            <a:spLocks noChangeArrowheads="1"/>
          </p:cNvSpPr>
          <p:nvPr/>
        </p:nvSpPr>
        <p:spPr bwMode="auto">
          <a:xfrm>
            <a:off x="609600" y="152400"/>
            <a:ext cx="7924800" cy="958850"/>
          </a:xfrm>
          <a:prstGeom prst="rect">
            <a:avLst/>
          </a:prstGeom>
          <a:noFill/>
          <a:ln w="9525">
            <a:noFill/>
            <a:miter lim="800000"/>
            <a:headEnd/>
            <a:tailEnd/>
          </a:ln>
        </p:spPr>
        <p:txBody>
          <a:bodyPr anchor="ctr"/>
          <a:lstStyle/>
          <a:p>
            <a:pPr algn="ctr"/>
            <a:r>
              <a:rPr lang="en-US" altLang="zh-CN" sz="3600" b="1">
                <a:solidFill>
                  <a:srgbClr val="CC6600"/>
                </a:solidFill>
                <a:latin typeface="Verdana" pitchFamily="34" charset="0"/>
                <a:ea typeface="宋体" charset="-122"/>
              </a:rPr>
              <a:t>4 </a:t>
            </a:r>
            <a:r>
              <a:rPr lang="zh-CN" altLang="en-US" sz="3600" b="1">
                <a:solidFill>
                  <a:srgbClr val="CC6600"/>
                </a:solidFill>
                <a:latin typeface="Verdana" pitchFamily="34" charset="0"/>
                <a:ea typeface="宋体" charset="-122"/>
              </a:rPr>
              <a:t>遗传算法求解巡回旅行商问题</a:t>
            </a:r>
          </a:p>
        </p:txBody>
      </p:sp>
      <p:sp>
        <p:nvSpPr>
          <p:cNvPr id="75783" name="Text Box 1307"/>
          <p:cNvSpPr txBox="1">
            <a:spLocks noChangeArrowheads="1"/>
          </p:cNvSpPr>
          <p:nvPr/>
        </p:nvSpPr>
        <p:spPr bwMode="auto">
          <a:xfrm>
            <a:off x="7086600" y="3032125"/>
            <a:ext cx="2057400" cy="1616075"/>
          </a:xfrm>
          <a:prstGeom prst="rect">
            <a:avLst/>
          </a:prstGeom>
          <a:noFill/>
          <a:ln w="9525">
            <a:noFill/>
            <a:miter lim="800000"/>
            <a:headEnd/>
            <a:tailEnd/>
          </a:ln>
        </p:spPr>
        <p:txBody>
          <a:bodyPr>
            <a:spAutoFit/>
          </a:bodyPr>
          <a:lstStyle/>
          <a:p>
            <a:pPr>
              <a:spcBef>
                <a:spcPct val="50000"/>
              </a:spcBef>
            </a:pPr>
            <a:r>
              <a:rPr lang="zh-CN" altLang="en-US" sz="2000" b="1">
                <a:solidFill>
                  <a:srgbClr val="CC6600"/>
                </a:solidFill>
                <a:ea typeface="宋体" charset="-122"/>
              </a:rPr>
              <a:t>“实验数据”课程所做的正交试验极差分析结果（迁移</a:t>
            </a:r>
            <a:r>
              <a:rPr lang="en-US" altLang="zh-CN" sz="2000" b="1">
                <a:solidFill>
                  <a:srgbClr val="CC6600"/>
                </a:solidFill>
                <a:ea typeface="宋体" charset="-122"/>
              </a:rPr>
              <a:t>500</a:t>
            </a:r>
            <a:r>
              <a:rPr lang="zh-CN" altLang="en-US" sz="2000" b="1">
                <a:solidFill>
                  <a:srgbClr val="CC6600"/>
                </a:solidFill>
                <a:ea typeface="宋体" charset="-122"/>
              </a:rPr>
              <a:t>代后退出的结果）。</a:t>
            </a:r>
          </a:p>
        </p:txBody>
      </p:sp>
    </p:spTree>
  </p:cSld>
  <p:clrMapOvr>
    <a:masterClrMapping/>
  </p:clrMapOvr>
  <p:timing>
    <p:tnLst>
      <p:par>
        <p:cTn id="1" dur="indefinite" restart="never" nodeType="tmRoot"/>
      </p:par>
    </p:tnLst>
  </p:timing>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6802" name="Text Box 6"/>
          <p:cNvSpPr txBox="1">
            <a:spLocks noChangeArrowheads="1"/>
          </p:cNvSpPr>
          <p:nvPr/>
        </p:nvSpPr>
        <p:spPr bwMode="auto">
          <a:xfrm>
            <a:off x="533400" y="1143000"/>
            <a:ext cx="8153400" cy="2101850"/>
          </a:xfrm>
          <a:prstGeom prst="rect">
            <a:avLst/>
          </a:prstGeom>
          <a:noFill/>
          <a:ln w="9525">
            <a:noFill/>
            <a:miter lim="800000"/>
            <a:headEnd/>
            <a:tailEnd/>
          </a:ln>
        </p:spPr>
        <p:txBody>
          <a:bodyPr>
            <a:spAutoFit/>
          </a:bodyPr>
          <a:lstStyle/>
          <a:p>
            <a:pPr marL="342900" indent="-342900">
              <a:spcBef>
                <a:spcPct val="20000"/>
              </a:spcBef>
            </a:pPr>
            <a:r>
              <a:rPr lang="zh-CN" altLang="en-US" sz="2000" b="1">
                <a:solidFill>
                  <a:srgbClr val="CC6600"/>
                </a:solidFill>
                <a:ea typeface="宋体" charset="-122"/>
              </a:rPr>
              <a:t>对于上表，有（验证）以下基本结论：</a:t>
            </a:r>
          </a:p>
          <a:p>
            <a:pPr marL="342900" indent="-342900">
              <a:spcBef>
                <a:spcPct val="20000"/>
              </a:spcBef>
            </a:pPr>
            <a:r>
              <a:rPr lang="zh-CN" altLang="en-US" sz="2000" b="1">
                <a:solidFill>
                  <a:srgbClr val="CC6600"/>
                </a:solidFill>
                <a:ea typeface="宋体" charset="-122"/>
              </a:rPr>
              <a:t>（</a:t>
            </a:r>
            <a:r>
              <a:rPr lang="en-US" altLang="zh-CN" sz="2000" b="1">
                <a:solidFill>
                  <a:srgbClr val="CC6600"/>
                </a:solidFill>
                <a:ea typeface="宋体" charset="-122"/>
              </a:rPr>
              <a:t>1</a:t>
            </a:r>
            <a:r>
              <a:rPr lang="zh-CN" altLang="en-US" sz="2000" b="1">
                <a:solidFill>
                  <a:srgbClr val="CC6600"/>
                </a:solidFill>
                <a:ea typeface="宋体" charset="-122"/>
              </a:rPr>
              <a:t>）遗传算法搜索求解能力与四个因素有关：群体规模、选择算子、交叉率和变异率 。</a:t>
            </a:r>
          </a:p>
          <a:p>
            <a:pPr marL="342900" indent="-342900">
              <a:spcBef>
                <a:spcPct val="20000"/>
              </a:spcBef>
            </a:pPr>
            <a:r>
              <a:rPr lang="zh-CN" altLang="en-US" sz="2000" b="1">
                <a:solidFill>
                  <a:srgbClr val="CC6600"/>
                </a:solidFill>
                <a:ea typeface="宋体" charset="-122"/>
              </a:rPr>
              <a:t>（</a:t>
            </a:r>
            <a:r>
              <a:rPr lang="en-US" altLang="zh-CN" sz="2000" b="1">
                <a:solidFill>
                  <a:srgbClr val="CC6600"/>
                </a:solidFill>
                <a:ea typeface="宋体" charset="-122"/>
              </a:rPr>
              <a:t>2</a:t>
            </a:r>
            <a:r>
              <a:rPr lang="zh-CN" altLang="en-US" sz="2000" b="1">
                <a:solidFill>
                  <a:srgbClr val="CC6600"/>
                </a:solidFill>
                <a:ea typeface="宋体" charset="-122"/>
              </a:rPr>
              <a:t>）从主到次依次为：交叉率</a:t>
            </a:r>
            <a:r>
              <a:rPr lang="en-US" altLang="zh-CN" sz="2000" b="1">
                <a:solidFill>
                  <a:srgbClr val="CC6600"/>
                </a:solidFill>
                <a:ea typeface="宋体" charset="-122"/>
              </a:rPr>
              <a:t>——</a:t>
            </a:r>
            <a:r>
              <a:rPr lang="zh-CN" altLang="en-US" sz="2000" b="1">
                <a:solidFill>
                  <a:srgbClr val="CC6600"/>
                </a:solidFill>
                <a:ea typeface="宋体" charset="-122"/>
              </a:rPr>
              <a:t>群体规模</a:t>
            </a:r>
            <a:r>
              <a:rPr lang="en-US" altLang="zh-CN" sz="2000" b="1">
                <a:solidFill>
                  <a:srgbClr val="CC6600"/>
                </a:solidFill>
                <a:ea typeface="宋体" charset="-122"/>
              </a:rPr>
              <a:t>——</a:t>
            </a:r>
            <a:r>
              <a:rPr lang="zh-CN" altLang="en-US" sz="2000" b="1">
                <a:solidFill>
                  <a:srgbClr val="CC6600"/>
                </a:solidFill>
                <a:ea typeface="宋体" charset="-122"/>
              </a:rPr>
              <a:t>选择算子</a:t>
            </a:r>
            <a:r>
              <a:rPr lang="en-US" altLang="zh-CN" sz="2000" b="1">
                <a:solidFill>
                  <a:srgbClr val="CC6600"/>
                </a:solidFill>
                <a:ea typeface="宋体" charset="-122"/>
              </a:rPr>
              <a:t>——</a:t>
            </a:r>
            <a:r>
              <a:rPr lang="zh-CN" altLang="en-US" sz="2000" b="1">
                <a:solidFill>
                  <a:srgbClr val="CC6600"/>
                </a:solidFill>
                <a:ea typeface="宋体" charset="-122"/>
              </a:rPr>
              <a:t>变异率。</a:t>
            </a:r>
          </a:p>
          <a:p>
            <a:pPr marL="342900" indent="-342900">
              <a:spcBef>
                <a:spcPct val="20000"/>
              </a:spcBef>
            </a:pPr>
            <a:r>
              <a:rPr lang="zh-CN" altLang="en-US" sz="2000" b="1">
                <a:solidFill>
                  <a:srgbClr val="CC6600"/>
                </a:solidFill>
                <a:ea typeface="宋体" charset="-122"/>
              </a:rPr>
              <a:t>（</a:t>
            </a:r>
            <a:r>
              <a:rPr lang="en-US" altLang="zh-CN" sz="2000" b="1">
                <a:solidFill>
                  <a:srgbClr val="CC6600"/>
                </a:solidFill>
                <a:ea typeface="宋体" charset="-122"/>
              </a:rPr>
              <a:t>3</a:t>
            </a:r>
            <a:r>
              <a:rPr lang="zh-CN" altLang="en-US" sz="2000" b="1">
                <a:solidFill>
                  <a:srgbClr val="CC6600"/>
                </a:solidFill>
                <a:ea typeface="宋体" charset="-122"/>
              </a:rPr>
              <a:t>）</a:t>
            </a:r>
            <a:r>
              <a:rPr lang="en-US" altLang="zh-CN" sz="2000" b="1">
                <a:solidFill>
                  <a:srgbClr val="CC6600"/>
                </a:solidFill>
                <a:ea typeface="宋体" charset="-122"/>
              </a:rPr>
              <a:t>A3-B2-C1-D3</a:t>
            </a:r>
            <a:r>
              <a:rPr lang="zh-CN" altLang="en-US" sz="2000" b="1">
                <a:solidFill>
                  <a:srgbClr val="CC6600"/>
                </a:solidFill>
                <a:ea typeface="宋体" charset="-122"/>
              </a:rPr>
              <a:t>是优选方案。</a:t>
            </a:r>
          </a:p>
        </p:txBody>
      </p:sp>
      <p:sp>
        <p:nvSpPr>
          <p:cNvPr id="76803" name="Rectangle 3"/>
          <p:cNvSpPr>
            <a:spLocks noChangeArrowheads="1"/>
          </p:cNvSpPr>
          <p:nvPr/>
        </p:nvSpPr>
        <p:spPr bwMode="auto">
          <a:xfrm>
            <a:off x="609600" y="152400"/>
            <a:ext cx="7924800" cy="958850"/>
          </a:xfrm>
          <a:prstGeom prst="rect">
            <a:avLst/>
          </a:prstGeom>
          <a:noFill/>
          <a:ln w="9525">
            <a:noFill/>
            <a:miter lim="800000"/>
            <a:headEnd/>
            <a:tailEnd/>
          </a:ln>
        </p:spPr>
        <p:txBody>
          <a:bodyPr anchor="ctr"/>
          <a:lstStyle/>
          <a:p>
            <a:pPr algn="ctr"/>
            <a:r>
              <a:rPr lang="en-US" altLang="zh-CN" sz="3600" b="1">
                <a:solidFill>
                  <a:srgbClr val="CC6600"/>
                </a:solidFill>
                <a:latin typeface="Verdana" pitchFamily="34" charset="0"/>
                <a:ea typeface="宋体" charset="-122"/>
              </a:rPr>
              <a:t>4 </a:t>
            </a:r>
            <a:r>
              <a:rPr lang="zh-CN" altLang="en-US" sz="3600" b="1">
                <a:solidFill>
                  <a:srgbClr val="CC6600"/>
                </a:solidFill>
                <a:latin typeface="Verdana" pitchFamily="34" charset="0"/>
                <a:ea typeface="宋体" charset="-122"/>
              </a:rPr>
              <a:t>遗传算法求解巡回旅行商问题</a:t>
            </a:r>
          </a:p>
        </p:txBody>
      </p:sp>
    </p:spTree>
  </p:cSld>
  <p:clrMapOvr>
    <a:masterClrMapping/>
  </p:clrMapOvr>
  <p:timing>
    <p:tnLst>
      <p:par>
        <p:cTn id="1" dur="indefinite" restart="never" nodeType="tmRoot"/>
      </p:par>
    </p:tnLst>
  </p:timing>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7826" name="Picture 5"/>
          <p:cNvPicPr>
            <a:picLocks noChangeAspect="1" noChangeArrowheads="1"/>
          </p:cNvPicPr>
          <p:nvPr/>
        </p:nvPicPr>
        <p:blipFill>
          <a:blip r:embed="rId2" cstate="print"/>
          <a:srcRect l="2380" t="1587" r="5952"/>
          <a:stretch>
            <a:fillRect/>
          </a:stretch>
        </p:blipFill>
        <p:spPr bwMode="auto">
          <a:xfrm>
            <a:off x="76200" y="1371600"/>
            <a:ext cx="6705600" cy="5399088"/>
          </a:xfrm>
          <a:prstGeom prst="rect">
            <a:avLst/>
          </a:prstGeom>
          <a:noFill/>
          <a:ln w="9525">
            <a:noFill/>
            <a:miter lim="800000"/>
            <a:headEnd/>
            <a:tailEnd/>
          </a:ln>
        </p:spPr>
      </p:pic>
      <p:sp>
        <p:nvSpPr>
          <p:cNvPr id="77827" name="Rectangle 6"/>
          <p:cNvSpPr>
            <a:spLocks noChangeArrowheads="1"/>
          </p:cNvSpPr>
          <p:nvPr/>
        </p:nvSpPr>
        <p:spPr bwMode="auto">
          <a:xfrm>
            <a:off x="6705600" y="1981200"/>
            <a:ext cx="2162175" cy="3662363"/>
          </a:xfrm>
          <a:prstGeom prst="rect">
            <a:avLst/>
          </a:prstGeom>
          <a:noFill/>
          <a:ln w="9525">
            <a:noFill/>
            <a:miter lim="800000"/>
            <a:headEnd/>
            <a:tailEnd/>
          </a:ln>
        </p:spPr>
        <p:txBody>
          <a:bodyPr>
            <a:spAutoFit/>
          </a:bodyPr>
          <a:lstStyle/>
          <a:p>
            <a:r>
              <a:rPr lang="zh-CN" altLang="en-US" b="1">
                <a:solidFill>
                  <a:srgbClr val="CC6600"/>
                </a:solidFill>
                <a:ea typeface="宋体" charset="-122"/>
              </a:rPr>
              <a:t>左图（进行</a:t>
            </a:r>
            <a:r>
              <a:rPr lang="en-US" altLang="zh-CN" b="1">
                <a:solidFill>
                  <a:srgbClr val="CC6600"/>
                </a:solidFill>
                <a:ea typeface="宋体" charset="-122"/>
              </a:rPr>
              <a:t>50</a:t>
            </a:r>
            <a:r>
              <a:rPr lang="zh-CN" altLang="en-US" b="1">
                <a:solidFill>
                  <a:srgbClr val="CC6600"/>
                </a:solidFill>
                <a:ea typeface="宋体" charset="-122"/>
              </a:rPr>
              <a:t>次独立运算求解，每次迁移</a:t>
            </a:r>
            <a:r>
              <a:rPr lang="en-US" altLang="zh-CN" b="1">
                <a:solidFill>
                  <a:srgbClr val="CC6600"/>
                </a:solidFill>
                <a:ea typeface="宋体" charset="-122"/>
              </a:rPr>
              <a:t>1000</a:t>
            </a:r>
            <a:r>
              <a:rPr lang="zh-CN" altLang="en-US" b="1">
                <a:solidFill>
                  <a:srgbClr val="CC6600"/>
                </a:solidFill>
                <a:ea typeface="宋体" charset="-122"/>
              </a:rPr>
              <a:t>代，有</a:t>
            </a:r>
            <a:r>
              <a:rPr lang="en-US" altLang="zh-CN" b="1">
                <a:solidFill>
                  <a:srgbClr val="CC6600"/>
                </a:solidFill>
                <a:ea typeface="宋体" charset="-122"/>
              </a:rPr>
              <a:t>36</a:t>
            </a:r>
            <a:r>
              <a:rPr lang="zh-CN" altLang="en-US" b="1">
                <a:solidFill>
                  <a:srgbClr val="CC6600"/>
                </a:solidFill>
                <a:ea typeface="宋体" charset="-122"/>
              </a:rPr>
              <a:t>次能收敛到全局最优解）是比较优的参数组合。实际上可看出，迭代进行到</a:t>
            </a:r>
            <a:r>
              <a:rPr lang="en-US" altLang="zh-CN" b="1">
                <a:solidFill>
                  <a:srgbClr val="CC6600"/>
                </a:solidFill>
                <a:ea typeface="宋体" charset="-122"/>
              </a:rPr>
              <a:t>450</a:t>
            </a:r>
            <a:r>
              <a:rPr lang="zh-CN" altLang="en-US" b="1">
                <a:solidFill>
                  <a:srgbClr val="CC6600"/>
                </a:solidFill>
                <a:ea typeface="宋体" charset="-122"/>
              </a:rPr>
              <a:t>代之后，所得到得最优个体基本不再发生变化，且其最优路径与真实的最有路径差距非常小。</a:t>
            </a:r>
          </a:p>
        </p:txBody>
      </p:sp>
      <p:sp>
        <p:nvSpPr>
          <p:cNvPr id="77828" name="Rectangle 3"/>
          <p:cNvSpPr>
            <a:spLocks noChangeArrowheads="1"/>
          </p:cNvSpPr>
          <p:nvPr/>
        </p:nvSpPr>
        <p:spPr bwMode="auto">
          <a:xfrm>
            <a:off x="609600" y="152400"/>
            <a:ext cx="7924800" cy="958850"/>
          </a:xfrm>
          <a:prstGeom prst="rect">
            <a:avLst/>
          </a:prstGeom>
          <a:noFill/>
          <a:ln w="9525">
            <a:noFill/>
            <a:miter lim="800000"/>
            <a:headEnd/>
            <a:tailEnd/>
          </a:ln>
        </p:spPr>
        <p:txBody>
          <a:bodyPr anchor="ctr"/>
          <a:lstStyle/>
          <a:p>
            <a:pPr algn="ctr"/>
            <a:r>
              <a:rPr lang="en-US" altLang="zh-CN" sz="3600" b="1">
                <a:solidFill>
                  <a:srgbClr val="CC6600"/>
                </a:solidFill>
                <a:latin typeface="Verdana" pitchFamily="34" charset="0"/>
                <a:ea typeface="宋体" charset="-122"/>
              </a:rPr>
              <a:t>4 </a:t>
            </a:r>
            <a:r>
              <a:rPr lang="zh-CN" altLang="en-US" sz="3600" b="1">
                <a:solidFill>
                  <a:srgbClr val="CC6600"/>
                </a:solidFill>
                <a:latin typeface="Verdana" pitchFamily="34" charset="0"/>
                <a:ea typeface="宋体" charset="-122"/>
              </a:rPr>
              <a:t>遗传算法求解巡回旅行商问题</a:t>
            </a:r>
          </a:p>
        </p:txBody>
      </p:sp>
    </p:spTree>
  </p:cSld>
  <p:clrMapOvr>
    <a:masterClrMapping/>
  </p:clrMapOvr>
  <p:timing>
    <p:tnLst>
      <p:par>
        <p:cTn id="1" dur="indefinite" restart="never" nodeType="tmRoot"/>
      </p:par>
    </p:tnLst>
  </p:timing>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8850" name="Picture 5"/>
          <p:cNvPicPr>
            <a:picLocks noChangeAspect="1" noChangeArrowheads="1"/>
          </p:cNvPicPr>
          <p:nvPr/>
        </p:nvPicPr>
        <p:blipFill>
          <a:blip r:embed="rId2" cstate="print"/>
          <a:srcRect l="2419" r="5669" b="2754"/>
          <a:stretch>
            <a:fillRect/>
          </a:stretch>
        </p:blipFill>
        <p:spPr bwMode="auto">
          <a:xfrm>
            <a:off x="152400" y="1371600"/>
            <a:ext cx="6781800" cy="5380038"/>
          </a:xfrm>
          <a:prstGeom prst="rect">
            <a:avLst/>
          </a:prstGeom>
          <a:noFill/>
          <a:ln w="9525">
            <a:noFill/>
            <a:miter lim="800000"/>
            <a:headEnd/>
            <a:tailEnd/>
          </a:ln>
        </p:spPr>
      </p:pic>
      <p:sp>
        <p:nvSpPr>
          <p:cNvPr id="78851" name="Text Box 6"/>
          <p:cNvSpPr txBox="1">
            <a:spLocks noChangeArrowheads="1"/>
          </p:cNvSpPr>
          <p:nvPr/>
        </p:nvSpPr>
        <p:spPr bwMode="auto">
          <a:xfrm>
            <a:off x="6781800" y="1981200"/>
            <a:ext cx="2057400" cy="4054475"/>
          </a:xfrm>
          <a:prstGeom prst="rect">
            <a:avLst/>
          </a:prstGeom>
          <a:noFill/>
          <a:ln w="9525">
            <a:noFill/>
            <a:miter lim="800000"/>
            <a:headEnd/>
            <a:tailEnd/>
          </a:ln>
        </p:spPr>
        <p:txBody>
          <a:bodyPr>
            <a:spAutoFit/>
          </a:bodyPr>
          <a:lstStyle/>
          <a:p>
            <a:pPr>
              <a:spcBef>
                <a:spcPct val="50000"/>
              </a:spcBef>
            </a:pPr>
            <a:r>
              <a:rPr lang="zh-CN" altLang="en-US" sz="2000" b="1">
                <a:solidFill>
                  <a:srgbClr val="CC6600"/>
                </a:solidFill>
                <a:ea typeface="宋体" charset="-122"/>
              </a:rPr>
              <a:t>左图（进行</a:t>
            </a:r>
            <a:r>
              <a:rPr lang="en-US" altLang="zh-CN" sz="2000" b="1">
                <a:solidFill>
                  <a:srgbClr val="CC6600"/>
                </a:solidFill>
                <a:ea typeface="宋体" charset="-122"/>
              </a:rPr>
              <a:t>50</a:t>
            </a:r>
            <a:r>
              <a:rPr lang="zh-CN" altLang="en-US" sz="2000" b="1">
                <a:solidFill>
                  <a:srgbClr val="CC6600"/>
                </a:solidFill>
                <a:ea typeface="宋体" charset="-122"/>
              </a:rPr>
              <a:t>次独立运算求解，每次迁移</a:t>
            </a:r>
            <a:r>
              <a:rPr lang="en-US" altLang="zh-CN" sz="2000" b="1">
                <a:solidFill>
                  <a:srgbClr val="CC6600"/>
                </a:solidFill>
                <a:ea typeface="宋体" charset="-122"/>
              </a:rPr>
              <a:t>1000</a:t>
            </a:r>
            <a:r>
              <a:rPr lang="zh-CN" altLang="en-US" sz="2000" b="1">
                <a:solidFill>
                  <a:srgbClr val="CC6600"/>
                </a:solidFill>
                <a:ea typeface="宋体" charset="-122"/>
              </a:rPr>
              <a:t>代，有</a:t>
            </a:r>
            <a:r>
              <a:rPr lang="en-US" altLang="zh-CN" sz="2000" b="1">
                <a:solidFill>
                  <a:srgbClr val="CC6600"/>
                </a:solidFill>
                <a:ea typeface="宋体" charset="-122"/>
              </a:rPr>
              <a:t>24</a:t>
            </a:r>
            <a:r>
              <a:rPr lang="zh-CN" altLang="en-US" sz="2000" b="1">
                <a:solidFill>
                  <a:srgbClr val="CC6600"/>
                </a:solidFill>
                <a:ea typeface="宋体" charset="-122"/>
              </a:rPr>
              <a:t>次能收敛到全局最优解）表明：选择算子取值太大，收敛速度很快，但陷入局部最优解的可能性大大提高，而基本上不可能再跳出来。</a:t>
            </a:r>
          </a:p>
        </p:txBody>
      </p:sp>
      <p:sp>
        <p:nvSpPr>
          <p:cNvPr id="78852" name="Line 7"/>
          <p:cNvSpPr>
            <a:spLocks noChangeShapeType="1"/>
          </p:cNvSpPr>
          <p:nvPr/>
        </p:nvSpPr>
        <p:spPr bwMode="auto">
          <a:xfrm>
            <a:off x="5867400" y="2438400"/>
            <a:ext cx="304800" cy="0"/>
          </a:xfrm>
          <a:prstGeom prst="line">
            <a:avLst/>
          </a:prstGeom>
          <a:noFill/>
          <a:ln w="28575">
            <a:solidFill>
              <a:srgbClr val="FF0000"/>
            </a:solidFill>
            <a:round/>
            <a:headEnd/>
            <a:tailEnd/>
          </a:ln>
        </p:spPr>
        <p:txBody>
          <a:bodyPr/>
          <a:lstStyle/>
          <a:p>
            <a:endParaRPr lang="zh-CN" altLang="en-US"/>
          </a:p>
        </p:txBody>
      </p:sp>
      <p:sp>
        <p:nvSpPr>
          <p:cNvPr id="78853" name="Line 8"/>
          <p:cNvSpPr>
            <a:spLocks noChangeShapeType="1"/>
          </p:cNvSpPr>
          <p:nvPr/>
        </p:nvSpPr>
        <p:spPr bwMode="auto">
          <a:xfrm>
            <a:off x="2933700" y="4330700"/>
            <a:ext cx="0" cy="1981200"/>
          </a:xfrm>
          <a:prstGeom prst="line">
            <a:avLst/>
          </a:prstGeom>
          <a:noFill/>
          <a:ln w="28575">
            <a:solidFill>
              <a:srgbClr val="FF0000"/>
            </a:solidFill>
            <a:round/>
            <a:headEnd/>
            <a:tailEnd/>
          </a:ln>
        </p:spPr>
        <p:txBody>
          <a:bodyPr/>
          <a:lstStyle/>
          <a:p>
            <a:endParaRPr lang="zh-CN" altLang="en-US"/>
          </a:p>
        </p:txBody>
      </p:sp>
      <p:sp>
        <p:nvSpPr>
          <p:cNvPr id="78854" name="Text Box 9"/>
          <p:cNvSpPr txBox="1">
            <a:spLocks noChangeArrowheads="1"/>
          </p:cNvSpPr>
          <p:nvPr/>
        </p:nvSpPr>
        <p:spPr bwMode="auto">
          <a:xfrm>
            <a:off x="3048000" y="4267200"/>
            <a:ext cx="1447800" cy="822325"/>
          </a:xfrm>
          <a:prstGeom prst="rect">
            <a:avLst/>
          </a:prstGeom>
          <a:solidFill>
            <a:schemeClr val="bg1"/>
          </a:solidFill>
          <a:ln w="9525">
            <a:noFill/>
            <a:miter lim="800000"/>
            <a:headEnd/>
            <a:tailEnd/>
          </a:ln>
        </p:spPr>
        <p:txBody>
          <a:bodyPr>
            <a:spAutoFit/>
          </a:bodyPr>
          <a:lstStyle/>
          <a:p>
            <a:pPr algn="ctr">
              <a:spcBef>
                <a:spcPct val="50000"/>
              </a:spcBef>
            </a:pPr>
            <a:r>
              <a:rPr lang="zh-CN" altLang="en-US" sz="2400" b="1">
                <a:solidFill>
                  <a:srgbClr val="CC6600"/>
                </a:solidFill>
                <a:ea typeface="宋体" charset="-122"/>
              </a:rPr>
              <a:t>约</a:t>
            </a:r>
            <a:r>
              <a:rPr lang="en-US" altLang="zh-CN" sz="2400" b="1">
                <a:solidFill>
                  <a:srgbClr val="CC6600"/>
                </a:solidFill>
                <a:ea typeface="宋体" charset="-122"/>
              </a:rPr>
              <a:t>350</a:t>
            </a:r>
            <a:r>
              <a:rPr lang="zh-CN" altLang="en-US" sz="2400" b="1">
                <a:solidFill>
                  <a:srgbClr val="CC6600"/>
                </a:solidFill>
                <a:ea typeface="宋体" charset="-122"/>
              </a:rPr>
              <a:t>代便收敛</a:t>
            </a:r>
          </a:p>
        </p:txBody>
      </p:sp>
      <p:sp>
        <p:nvSpPr>
          <p:cNvPr id="78855" name="Rectangle 3"/>
          <p:cNvSpPr>
            <a:spLocks noChangeArrowheads="1"/>
          </p:cNvSpPr>
          <p:nvPr/>
        </p:nvSpPr>
        <p:spPr bwMode="auto">
          <a:xfrm>
            <a:off x="609600" y="152400"/>
            <a:ext cx="7924800" cy="958850"/>
          </a:xfrm>
          <a:prstGeom prst="rect">
            <a:avLst/>
          </a:prstGeom>
          <a:noFill/>
          <a:ln w="9525">
            <a:noFill/>
            <a:miter lim="800000"/>
            <a:headEnd/>
            <a:tailEnd/>
          </a:ln>
        </p:spPr>
        <p:txBody>
          <a:bodyPr anchor="ctr"/>
          <a:lstStyle/>
          <a:p>
            <a:pPr algn="ctr"/>
            <a:r>
              <a:rPr lang="en-US" altLang="zh-CN" sz="3600" b="1">
                <a:solidFill>
                  <a:srgbClr val="CC6600"/>
                </a:solidFill>
                <a:latin typeface="Verdana" pitchFamily="34" charset="0"/>
                <a:ea typeface="宋体" charset="-122"/>
              </a:rPr>
              <a:t>4 </a:t>
            </a:r>
            <a:r>
              <a:rPr lang="zh-CN" altLang="en-US" sz="3600" b="1">
                <a:solidFill>
                  <a:srgbClr val="CC6600"/>
                </a:solidFill>
                <a:latin typeface="Verdana" pitchFamily="34" charset="0"/>
                <a:ea typeface="宋体" charset="-122"/>
              </a:rPr>
              <a:t>遗传算法求解巡回旅行商问题</a:t>
            </a:r>
          </a:p>
        </p:txBody>
      </p:sp>
    </p:spTree>
  </p:cSld>
  <p:clrMapOvr>
    <a:masterClrMapping/>
  </p:clrMapOvr>
  <p:timing>
    <p:tnLst>
      <p:par>
        <p:cTn id="1" dur="indefinite" restart="never" nodeType="tmRoot"/>
      </p:par>
    </p:tnLst>
  </p:timing>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9874" name="Text Box 5"/>
          <p:cNvSpPr txBox="1">
            <a:spLocks noChangeArrowheads="1"/>
          </p:cNvSpPr>
          <p:nvPr/>
        </p:nvSpPr>
        <p:spPr bwMode="auto">
          <a:xfrm>
            <a:off x="6781800" y="1981200"/>
            <a:ext cx="2057400" cy="3749675"/>
          </a:xfrm>
          <a:prstGeom prst="rect">
            <a:avLst/>
          </a:prstGeom>
          <a:noFill/>
          <a:ln w="9525">
            <a:noFill/>
            <a:miter lim="800000"/>
            <a:headEnd/>
            <a:tailEnd/>
          </a:ln>
        </p:spPr>
        <p:txBody>
          <a:bodyPr>
            <a:spAutoFit/>
          </a:bodyPr>
          <a:lstStyle/>
          <a:p>
            <a:pPr>
              <a:spcBef>
                <a:spcPct val="50000"/>
              </a:spcBef>
            </a:pPr>
            <a:r>
              <a:rPr lang="zh-CN" altLang="en-US" sz="2000" b="1">
                <a:solidFill>
                  <a:srgbClr val="CC6600"/>
                </a:solidFill>
                <a:ea typeface="宋体" charset="-122"/>
              </a:rPr>
              <a:t>左图（进行</a:t>
            </a:r>
            <a:r>
              <a:rPr lang="en-US" altLang="zh-CN" sz="2000" b="1">
                <a:solidFill>
                  <a:srgbClr val="CC6600"/>
                </a:solidFill>
                <a:ea typeface="宋体" charset="-122"/>
              </a:rPr>
              <a:t>50</a:t>
            </a:r>
            <a:r>
              <a:rPr lang="zh-CN" altLang="en-US" sz="2000" b="1">
                <a:solidFill>
                  <a:srgbClr val="CC6600"/>
                </a:solidFill>
                <a:ea typeface="宋体" charset="-122"/>
              </a:rPr>
              <a:t>次独立运算求解，每次迭代</a:t>
            </a:r>
            <a:r>
              <a:rPr lang="en-US" altLang="zh-CN" sz="2000" b="1">
                <a:solidFill>
                  <a:srgbClr val="CC6600"/>
                </a:solidFill>
                <a:ea typeface="宋体" charset="-122"/>
              </a:rPr>
              <a:t>1000</a:t>
            </a:r>
            <a:r>
              <a:rPr lang="zh-CN" altLang="en-US" sz="2000" b="1">
                <a:solidFill>
                  <a:srgbClr val="CC6600"/>
                </a:solidFill>
                <a:ea typeface="宋体" charset="-122"/>
              </a:rPr>
              <a:t>代，仅有</a:t>
            </a:r>
            <a:r>
              <a:rPr lang="en-US" altLang="zh-CN" sz="2000" b="1">
                <a:solidFill>
                  <a:srgbClr val="CC6600"/>
                </a:solidFill>
                <a:ea typeface="宋体" charset="-122"/>
              </a:rPr>
              <a:t>6</a:t>
            </a:r>
            <a:r>
              <a:rPr lang="zh-CN" altLang="en-US" sz="2000" b="1">
                <a:solidFill>
                  <a:srgbClr val="CC6600"/>
                </a:solidFill>
                <a:ea typeface="宋体" charset="-122"/>
              </a:rPr>
              <a:t>次能收敛到全局最优解）表明：交叉率选取太大，导致群体中的优良模式遭到破坏，产生较大的代沟，从而使搜索走向随机化。</a:t>
            </a:r>
          </a:p>
        </p:txBody>
      </p:sp>
      <p:pic>
        <p:nvPicPr>
          <p:cNvPr id="79875" name="Picture 6"/>
          <p:cNvPicPr>
            <a:picLocks noChangeAspect="1" noChangeArrowheads="1"/>
          </p:cNvPicPr>
          <p:nvPr/>
        </p:nvPicPr>
        <p:blipFill>
          <a:blip r:embed="rId2" cstate="print"/>
          <a:srcRect l="3061" r="6122"/>
          <a:stretch>
            <a:fillRect/>
          </a:stretch>
        </p:blipFill>
        <p:spPr bwMode="auto">
          <a:xfrm>
            <a:off x="76200" y="1219200"/>
            <a:ext cx="6781800" cy="5599113"/>
          </a:xfrm>
          <a:prstGeom prst="rect">
            <a:avLst/>
          </a:prstGeom>
          <a:noFill/>
          <a:ln w="9525">
            <a:noFill/>
            <a:miter lim="800000"/>
            <a:headEnd/>
            <a:tailEnd/>
          </a:ln>
        </p:spPr>
      </p:pic>
      <p:sp>
        <p:nvSpPr>
          <p:cNvPr id="79876" name="Line 7"/>
          <p:cNvSpPr>
            <a:spLocks noChangeShapeType="1"/>
          </p:cNvSpPr>
          <p:nvPr/>
        </p:nvSpPr>
        <p:spPr bwMode="auto">
          <a:xfrm>
            <a:off x="5562600" y="2514600"/>
            <a:ext cx="304800" cy="0"/>
          </a:xfrm>
          <a:prstGeom prst="line">
            <a:avLst/>
          </a:prstGeom>
          <a:noFill/>
          <a:ln w="28575">
            <a:solidFill>
              <a:srgbClr val="FF0000"/>
            </a:solidFill>
            <a:round/>
            <a:headEnd/>
            <a:tailEnd/>
          </a:ln>
        </p:spPr>
        <p:txBody>
          <a:bodyPr/>
          <a:lstStyle/>
          <a:p>
            <a:endParaRPr lang="zh-CN" altLang="en-US"/>
          </a:p>
        </p:txBody>
      </p:sp>
      <p:sp>
        <p:nvSpPr>
          <p:cNvPr id="79877" name="Line 8"/>
          <p:cNvSpPr>
            <a:spLocks noChangeShapeType="1"/>
          </p:cNvSpPr>
          <p:nvPr/>
        </p:nvSpPr>
        <p:spPr bwMode="auto">
          <a:xfrm>
            <a:off x="4292600" y="4064000"/>
            <a:ext cx="0" cy="2133600"/>
          </a:xfrm>
          <a:prstGeom prst="line">
            <a:avLst/>
          </a:prstGeom>
          <a:noFill/>
          <a:ln w="28575">
            <a:solidFill>
              <a:srgbClr val="FF0000"/>
            </a:solidFill>
            <a:round/>
            <a:headEnd/>
            <a:tailEnd/>
          </a:ln>
        </p:spPr>
        <p:txBody>
          <a:bodyPr/>
          <a:lstStyle/>
          <a:p>
            <a:endParaRPr lang="zh-CN" altLang="en-US"/>
          </a:p>
        </p:txBody>
      </p:sp>
      <p:sp>
        <p:nvSpPr>
          <p:cNvPr id="79878" name="Text Box 9"/>
          <p:cNvSpPr txBox="1">
            <a:spLocks noChangeArrowheads="1"/>
          </p:cNvSpPr>
          <p:nvPr/>
        </p:nvSpPr>
        <p:spPr bwMode="auto">
          <a:xfrm>
            <a:off x="4343400" y="4191000"/>
            <a:ext cx="1371600" cy="822325"/>
          </a:xfrm>
          <a:prstGeom prst="rect">
            <a:avLst/>
          </a:prstGeom>
          <a:solidFill>
            <a:schemeClr val="bg1"/>
          </a:solidFill>
          <a:ln w="9525">
            <a:noFill/>
            <a:miter lim="800000"/>
            <a:headEnd/>
            <a:tailEnd/>
          </a:ln>
        </p:spPr>
        <p:txBody>
          <a:bodyPr>
            <a:spAutoFit/>
          </a:bodyPr>
          <a:lstStyle/>
          <a:p>
            <a:pPr algn="ctr">
              <a:spcBef>
                <a:spcPct val="50000"/>
              </a:spcBef>
            </a:pPr>
            <a:r>
              <a:rPr lang="en-US" altLang="zh-CN" sz="2400" b="1">
                <a:solidFill>
                  <a:srgbClr val="CC6600"/>
                </a:solidFill>
                <a:ea typeface="宋体" charset="-122"/>
              </a:rPr>
              <a:t>450Km</a:t>
            </a:r>
            <a:r>
              <a:rPr lang="zh-CN" altLang="en-US" sz="2400" b="1">
                <a:solidFill>
                  <a:srgbClr val="CC6600"/>
                </a:solidFill>
                <a:ea typeface="宋体" charset="-122"/>
              </a:rPr>
              <a:t>左右</a:t>
            </a:r>
          </a:p>
        </p:txBody>
      </p:sp>
      <p:sp>
        <p:nvSpPr>
          <p:cNvPr id="79879" name="Rectangle 3"/>
          <p:cNvSpPr>
            <a:spLocks noChangeArrowheads="1"/>
          </p:cNvSpPr>
          <p:nvPr/>
        </p:nvSpPr>
        <p:spPr bwMode="auto">
          <a:xfrm>
            <a:off x="609600" y="152400"/>
            <a:ext cx="7924800" cy="958850"/>
          </a:xfrm>
          <a:prstGeom prst="rect">
            <a:avLst/>
          </a:prstGeom>
          <a:noFill/>
          <a:ln w="9525">
            <a:noFill/>
            <a:miter lim="800000"/>
            <a:headEnd/>
            <a:tailEnd/>
          </a:ln>
        </p:spPr>
        <p:txBody>
          <a:bodyPr anchor="ctr"/>
          <a:lstStyle/>
          <a:p>
            <a:pPr algn="ctr"/>
            <a:r>
              <a:rPr lang="en-US" altLang="zh-CN" sz="3600" b="1">
                <a:solidFill>
                  <a:srgbClr val="CC6600"/>
                </a:solidFill>
                <a:latin typeface="Verdana" pitchFamily="34" charset="0"/>
                <a:ea typeface="宋体" charset="-122"/>
              </a:rPr>
              <a:t>4 </a:t>
            </a:r>
            <a:r>
              <a:rPr lang="zh-CN" altLang="en-US" sz="3600" b="1">
                <a:solidFill>
                  <a:srgbClr val="CC6600"/>
                </a:solidFill>
                <a:latin typeface="Verdana" pitchFamily="34" charset="0"/>
                <a:ea typeface="宋体" charset="-122"/>
              </a:rPr>
              <a:t>遗传算法求解巡回旅行商问题</a:t>
            </a:r>
          </a:p>
        </p:txBody>
      </p:sp>
    </p:spTree>
  </p:cSld>
  <p:clrMapOvr>
    <a:masterClrMapping/>
  </p:clrMapOvr>
  <p:timing>
    <p:tnLst>
      <p:par>
        <p:cTn id="1" dur="indefinite" restart="never" nodeType="tmRoot"/>
      </p:par>
    </p:tnLst>
  </p:timing>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0898" name="Picture 4"/>
          <p:cNvPicPr>
            <a:picLocks noChangeAspect="1" noChangeArrowheads="1"/>
          </p:cNvPicPr>
          <p:nvPr/>
        </p:nvPicPr>
        <p:blipFill>
          <a:blip r:embed="rId2" cstate="print"/>
          <a:srcRect l="2419" r="5669"/>
          <a:stretch>
            <a:fillRect/>
          </a:stretch>
        </p:blipFill>
        <p:spPr bwMode="auto">
          <a:xfrm>
            <a:off x="152400" y="1295400"/>
            <a:ext cx="6629400" cy="5408613"/>
          </a:xfrm>
          <a:prstGeom prst="rect">
            <a:avLst/>
          </a:prstGeom>
          <a:noFill/>
          <a:ln w="9525">
            <a:noFill/>
            <a:miter lim="800000"/>
            <a:headEnd/>
            <a:tailEnd/>
          </a:ln>
        </p:spPr>
      </p:pic>
      <p:sp>
        <p:nvSpPr>
          <p:cNvPr id="80899" name="Text Box 5"/>
          <p:cNvSpPr txBox="1">
            <a:spLocks noChangeArrowheads="1"/>
          </p:cNvSpPr>
          <p:nvPr/>
        </p:nvSpPr>
        <p:spPr bwMode="auto">
          <a:xfrm>
            <a:off x="6781800" y="1981200"/>
            <a:ext cx="2057400" cy="3444875"/>
          </a:xfrm>
          <a:prstGeom prst="rect">
            <a:avLst/>
          </a:prstGeom>
          <a:noFill/>
          <a:ln w="9525">
            <a:noFill/>
            <a:miter lim="800000"/>
            <a:headEnd/>
            <a:tailEnd/>
          </a:ln>
        </p:spPr>
        <p:txBody>
          <a:bodyPr>
            <a:spAutoFit/>
          </a:bodyPr>
          <a:lstStyle/>
          <a:p>
            <a:pPr>
              <a:spcBef>
                <a:spcPct val="50000"/>
              </a:spcBef>
            </a:pPr>
            <a:r>
              <a:rPr lang="zh-CN" altLang="en-US" sz="2000" b="1">
                <a:solidFill>
                  <a:srgbClr val="CC6600"/>
                </a:solidFill>
                <a:ea typeface="宋体" charset="-122"/>
              </a:rPr>
              <a:t>左图（进行</a:t>
            </a:r>
            <a:r>
              <a:rPr lang="en-US" altLang="zh-CN" sz="2000" b="1">
                <a:solidFill>
                  <a:srgbClr val="CC6600"/>
                </a:solidFill>
                <a:ea typeface="宋体" charset="-122"/>
              </a:rPr>
              <a:t>50</a:t>
            </a:r>
            <a:r>
              <a:rPr lang="zh-CN" altLang="en-US" sz="2000" b="1">
                <a:solidFill>
                  <a:srgbClr val="CC6600"/>
                </a:solidFill>
                <a:ea typeface="宋体" charset="-122"/>
              </a:rPr>
              <a:t>次独立运算求解，每次迁移</a:t>
            </a:r>
            <a:r>
              <a:rPr lang="en-US" altLang="zh-CN" sz="2000" b="1">
                <a:solidFill>
                  <a:srgbClr val="CC6600"/>
                </a:solidFill>
                <a:ea typeface="宋体" charset="-122"/>
              </a:rPr>
              <a:t>1000</a:t>
            </a:r>
            <a:r>
              <a:rPr lang="zh-CN" altLang="en-US" sz="2000" b="1">
                <a:solidFill>
                  <a:srgbClr val="CC6600"/>
                </a:solidFill>
                <a:ea typeface="宋体" charset="-122"/>
              </a:rPr>
              <a:t>代，有</a:t>
            </a:r>
            <a:r>
              <a:rPr lang="en-US" altLang="zh-CN" sz="2000" b="1">
                <a:solidFill>
                  <a:srgbClr val="CC6600"/>
                </a:solidFill>
                <a:ea typeface="宋体" charset="-122"/>
              </a:rPr>
              <a:t>18</a:t>
            </a:r>
            <a:r>
              <a:rPr lang="zh-CN" altLang="en-US" sz="2000" b="1">
                <a:solidFill>
                  <a:srgbClr val="CC6600"/>
                </a:solidFill>
                <a:ea typeface="宋体" charset="-122"/>
              </a:rPr>
              <a:t>次能收敛到全局最优解）表明：变异率选取太大，遗传算法几乎退化为随机搜索，陷入局部最优解后比较难跳出来。</a:t>
            </a:r>
          </a:p>
        </p:txBody>
      </p:sp>
      <p:sp>
        <p:nvSpPr>
          <p:cNvPr id="80900" name="Line 6"/>
          <p:cNvSpPr>
            <a:spLocks noChangeShapeType="1"/>
          </p:cNvSpPr>
          <p:nvPr/>
        </p:nvSpPr>
        <p:spPr bwMode="auto">
          <a:xfrm>
            <a:off x="5410200" y="2781300"/>
            <a:ext cx="304800" cy="0"/>
          </a:xfrm>
          <a:prstGeom prst="line">
            <a:avLst/>
          </a:prstGeom>
          <a:noFill/>
          <a:ln w="28575">
            <a:solidFill>
              <a:srgbClr val="FF0000"/>
            </a:solidFill>
            <a:round/>
            <a:headEnd/>
            <a:tailEnd/>
          </a:ln>
        </p:spPr>
        <p:txBody>
          <a:bodyPr/>
          <a:lstStyle/>
          <a:p>
            <a:endParaRPr lang="zh-CN" altLang="en-US"/>
          </a:p>
        </p:txBody>
      </p:sp>
      <p:sp>
        <p:nvSpPr>
          <p:cNvPr id="80901" name="Line 7"/>
          <p:cNvSpPr>
            <a:spLocks noChangeShapeType="1"/>
          </p:cNvSpPr>
          <p:nvPr/>
        </p:nvSpPr>
        <p:spPr bwMode="auto">
          <a:xfrm>
            <a:off x="3048000" y="4191000"/>
            <a:ext cx="0" cy="1905000"/>
          </a:xfrm>
          <a:prstGeom prst="line">
            <a:avLst/>
          </a:prstGeom>
          <a:noFill/>
          <a:ln w="28575">
            <a:solidFill>
              <a:srgbClr val="FF0000"/>
            </a:solidFill>
            <a:round/>
            <a:headEnd/>
            <a:tailEnd/>
          </a:ln>
        </p:spPr>
        <p:txBody>
          <a:bodyPr/>
          <a:lstStyle/>
          <a:p>
            <a:endParaRPr lang="zh-CN" altLang="en-US"/>
          </a:p>
        </p:txBody>
      </p:sp>
      <p:sp>
        <p:nvSpPr>
          <p:cNvPr id="80902" name="Text Box 8"/>
          <p:cNvSpPr txBox="1">
            <a:spLocks noChangeArrowheads="1"/>
          </p:cNvSpPr>
          <p:nvPr/>
        </p:nvSpPr>
        <p:spPr bwMode="auto">
          <a:xfrm>
            <a:off x="3276600" y="4191000"/>
            <a:ext cx="1371600" cy="822325"/>
          </a:xfrm>
          <a:prstGeom prst="rect">
            <a:avLst/>
          </a:prstGeom>
          <a:solidFill>
            <a:schemeClr val="bg1"/>
          </a:solidFill>
          <a:ln w="9525">
            <a:noFill/>
            <a:miter lim="800000"/>
            <a:headEnd/>
            <a:tailEnd/>
          </a:ln>
        </p:spPr>
        <p:txBody>
          <a:bodyPr>
            <a:spAutoFit/>
          </a:bodyPr>
          <a:lstStyle/>
          <a:p>
            <a:pPr algn="ctr">
              <a:spcBef>
                <a:spcPct val="50000"/>
              </a:spcBef>
            </a:pPr>
            <a:r>
              <a:rPr lang="zh-CN" altLang="en-US" sz="2400" b="1">
                <a:solidFill>
                  <a:srgbClr val="CC6600"/>
                </a:solidFill>
                <a:ea typeface="宋体" charset="-122"/>
              </a:rPr>
              <a:t>约</a:t>
            </a:r>
            <a:r>
              <a:rPr lang="en-US" altLang="zh-CN" sz="2400" b="1">
                <a:solidFill>
                  <a:srgbClr val="CC6600"/>
                </a:solidFill>
                <a:ea typeface="宋体" charset="-122"/>
              </a:rPr>
              <a:t>380</a:t>
            </a:r>
            <a:r>
              <a:rPr lang="zh-CN" altLang="en-US" sz="2400" b="1">
                <a:solidFill>
                  <a:srgbClr val="CC6600"/>
                </a:solidFill>
                <a:ea typeface="宋体" charset="-122"/>
              </a:rPr>
              <a:t>代左右</a:t>
            </a:r>
          </a:p>
        </p:txBody>
      </p:sp>
      <p:sp>
        <p:nvSpPr>
          <p:cNvPr id="80903" name="Rectangle 3"/>
          <p:cNvSpPr>
            <a:spLocks noChangeArrowheads="1"/>
          </p:cNvSpPr>
          <p:nvPr/>
        </p:nvSpPr>
        <p:spPr bwMode="auto">
          <a:xfrm>
            <a:off x="609600" y="152400"/>
            <a:ext cx="7924800" cy="958850"/>
          </a:xfrm>
          <a:prstGeom prst="rect">
            <a:avLst/>
          </a:prstGeom>
          <a:noFill/>
          <a:ln w="9525">
            <a:noFill/>
            <a:miter lim="800000"/>
            <a:headEnd/>
            <a:tailEnd/>
          </a:ln>
        </p:spPr>
        <p:txBody>
          <a:bodyPr anchor="ctr"/>
          <a:lstStyle/>
          <a:p>
            <a:pPr algn="ctr"/>
            <a:r>
              <a:rPr lang="en-US" altLang="zh-CN" sz="3600" b="1">
                <a:solidFill>
                  <a:srgbClr val="CC6600"/>
                </a:solidFill>
                <a:latin typeface="Verdana" pitchFamily="34" charset="0"/>
                <a:ea typeface="宋体" charset="-122"/>
              </a:rPr>
              <a:t>4 </a:t>
            </a:r>
            <a:r>
              <a:rPr lang="zh-CN" altLang="en-US" sz="3600" b="1">
                <a:solidFill>
                  <a:srgbClr val="CC6600"/>
                </a:solidFill>
                <a:latin typeface="Verdana" pitchFamily="34" charset="0"/>
                <a:ea typeface="宋体" charset="-122"/>
              </a:rPr>
              <a:t>遗传算法求解巡回旅行商问题</a:t>
            </a:r>
          </a:p>
        </p:txBody>
      </p:sp>
    </p:spTree>
  </p:cSld>
  <p:clrMapOvr>
    <a:masterClrMapping/>
  </p:clrMapOvr>
  <p:timing>
    <p:tnLst>
      <p:par>
        <p:cTn id="1" dur="indefinite" restart="never" nodeType="tmRoot"/>
      </p:par>
    </p:tnLst>
  </p:timing>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533400" y="2819400"/>
            <a:ext cx="7924800" cy="563562"/>
          </a:xfrm>
        </p:spPr>
        <p:txBody>
          <a:bodyPr>
            <a:normAutofit fontScale="90000"/>
          </a:bodyPr>
          <a:lstStyle/>
          <a:p>
            <a:r>
              <a:rPr lang="zh-CN" altLang="en-US" dirty="0" smtClean="0"/>
              <a:t>五、其他的遗传算法</a:t>
            </a:r>
            <a:endParaRPr lang="zh-CN" altLang="en-US" dirty="0"/>
          </a:p>
        </p:txBody>
      </p:sp>
    </p:spTree>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占位符 2"/>
          <p:cNvSpPr>
            <a:spLocks noGrp="1"/>
          </p:cNvSpPr>
          <p:nvPr>
            <p:ph type="body" sz="half" idx="1"/>
          </p:nvPr>
        </p:nvSpPr>
        <p:spPr>
          <a:xfrm>
            <a:off x="457200" y="914400"/>
            <a:ext cx="8153400" cy="5516563"/>
          </a:xfrm>
        </p:spPr>
        <p:txBody>
          <a:bodyPr>
            <a:normAutofit lnSpcReduction="10000"/>
          </a:bodyPr>
          <a:lstStyle/>
          <a:p>
            <a:pPr>
              <a:lnSpc>
                <a:spcPct val="150000"/>
              </a:lnSpc>
            </a:pPr>
            <a:r>
              <a:rPr lang="en-US" altLang="zh-CN" sz="2400" dirty="0" smtClean="0"/>
              <a:t>1. </a:t>
            </a:r>
            <a:r>
              <a:rPr lang="zh-CN" altLang="en-US" sz="2400" dirty="0" smtClean="0"/>
              <a:t>基本遗传算法 </a:t>
            </a:r>
            <a:r>
              <a:rPr lang="en-US" altLang="zh-CN" sz="2400" dirty="0" err="1" smtClean="0"/>
              <a:t>myGA.m</a:t>
            </a:r>
            <a:endParaRPr lang="en-US" altLang="zh-CN" sz="2400" dirty="0" smtClean="0"/>
          </a:p>
          <a:p>
            <a:pPr>
              <a:lnSpc>
                <a:spcPct val="150000"/>
              </a:lnSpc>
            </a:pPr>
            <a:r>
              <a:rPr lang="en-US" altLang="zh-CN" sz="2400" dirty="0" smtClean="0"/>
              <a:t>2. </a:t>
            </a:r>
            <a:r>
              <a:rPr lang="zh-CN" altLang="en-US" sz="2400" dirty="0" smtClean="0"/>
              <a:t>顺序选择遗传算法 </a:t>
            </a:r>
            <a:r>
              <a:rPr lang="en-US" altLang="zh-CN" sz="2400" dirty="0" err="1" smtClean="0"/>
              <a:t>SBOGA.m</a:t>
            </a:r>
            <a:endParaRPr lang="en-US" altLang="zh-CN" sz="2400" dirty="0" smtClean="0"/>
          </a:p>
          <a:p>
            <a:pPr>
              <a:lnSpc>
                <a:spcPct val="150000"/>
              </a:lnSpc>
            </a:pPr>
            <a:r>
              <a:rPr lang="en-US" altLang="zh-CN" sz="2400" dirty="0" smtClean="0"/>
              <a:t>3. </a:t>
            </a:r>
            <a:r>
              <a:rPr lang="zh-CN" altLang="en-US" sz="2400" dirty="0" smtClean="0"/>
              <a:t>适值函数标定的遗传算法</a:t>
            </a:r>
            <a:r>
              <a:rPr lang="en-US" altLang="zh-CN" sz="2400" dirty="0" err="1" smtClean="0"/>
              <a:t>NormFitGa.m</a:t>
            </a:r>
            <a:endParaRPr lang="en-US" altLang="zh-CN" sz="2400" dirty="0" smtClean="0"/>
          </a:p>
          <a:p>
            <a:pPr>
              <a:lnSpc>
                <a:spcPct val="150000"/>
              </a:lnSpc>
            </a:pPr>
            <a:r>
              <a:rPr lang="en-US" altLang="zh-CN" sz="2400" dirty="0" smtClean="0"/>
              <a:t>4.</a:t>
            </a:r>
            <a:r>
              <a:rPr lang="zh-CN" altLang="en-US" sz="2400" dirty="0" smtClean="0"/>
              <a:t>大变异遗传算法</a:t>
            </a:r>
            <a:r>
              <a:rPr lang="en-US" altLang="zh-CN" sz="2400" dirty="0" err="1" smtClean="0"/>
              <a:t>GmGA.m</a:t>
            </a:r>
            <a:endParaRPr lang="en-US" altLang="zh-CN" sz="2400" dirty="0" smtClean="0"/>
          </a:p>
          <a:p>
            <a:pPr>
              <a:lnSpc>
                <a:spcPct val="150000"/>
              </a:lnSpc>
            </a:pPr>
            <a:r>
              <a:rPr lang="en-US" altLang="zh-CN" sz="2400" dirty="0" smtClean="0"/>
              <a:t>5.</a:t>
            </a:r>
            <a:r>
              <a:rPr lang="zh-CN" altLang="en-US" sz="2400" dirty="0" smtClean="0"/>
              <a:t>自适应遗传算法</a:t>
            </a:r>
            <a:r>
              <a:rPr lang="en-US" altLang="zh-CN" sz="2400" dirty="0" err="1" smtClean="0"/>
              <a:t>AdapGA.m</a:t>
            </a:r>
            <a:endParaRPr lang="en-US" altLang="zh-CN" sz="2400" dirty="0" smtClean="0"/>
          </a:p>
          <a:p>
            <a:pPr>
              <a:lnSpc>
                <a:spcPct val="150000"/>
              </a:lnSpc>
            </a:pPr>
            <a:r>
              <a:rPr lang="en-US" altLang="zh-CN" sz="2400" dirty="0" smtClean="0"/>
              <a:t>6.</a:t>
            </a:r>
            <a:r>
              <a:rPr lang="zh-CN" altLang="en-US" sz="2400" dirty="0" smtClean="0"/>
              <a:t>双切点交叉遗传算法</a:t>
            </a:r>
            <a:r>
              <a:rPr lang="en-US" altLang="zh-CN" sz="2400" dirty="0" err="1" smtClean="0"/>
              <a:t>DblGEGA.m</a:t>
            </a:r>
            <a:endParaRPr lang="en-US" altLang="zh-CN" sz="2400" dirty="0" smtClean="0"/>
          </a:p>
          <a:p>
            <a:pPr>
              <a:lnSpc>
                <a:spcPct val="150000"/>
              </a:lnSpc>
            </a:pPr>
            <a:r>
              <a:rPr lang="en-US" altLang="zh-CN" sz="2400" dirty="0" smtClean="0"/>
              <a:t>7.</a:t>
            </a:r>
            <a:r>
              <a:rPr lang="zh-CN" altLang="en-US" sz="2400" dirty="0" smtClean="0"/>
              <a:t>多变异自适应遗传算法</a:t>
            </a:r>
            <a:r>
              <a:rPr lang="en-US" altLang="zh-CN" sz="2400" dirty="0" err="1" smtClean="0"/>
              <a:t>MMAdapGA.m</a:t>
            </a:r>
            <a:endParaRPr lang="en-US" altLang="zh-CN" sz="2400" dirty="0" smtClean="0"/>
          </a:p>
          <a:p>
            <a:pPr>
              <a:lnSpc>
                <a:spcPct val="150000"/>
              </a:lnSpc>
              <a:buNone/>
            </a:pPr>
            <a:endParaRPr lang="en-US" altLang="zh-CN" sz="2400" dirty="0" smtClean="0"/>
          </a:p>
          <a:p>
            <a:pPr>
              <a:lnSpc>
                <a:spcPct val="150000"/>
              </a:lnSpc>
              <a:buNone/>
            </a:pPr>
            <a:r>
              <a:rPr lang="zh-CN" altLang="en-US" sz="2400" dirty="0" smtClean="0">
                <a:solidFill>
                  <a:srgbClr val="FF0000"/>
                </a:solidFill>
              </a:rPr>
              <a:t>参考文献：精通</a:t>
            </a:r>
            <a:r>
              <a:rPr lang="en-US" altLang="zh-CN" sz="2400" dirty="0" smtClean="0">
                <a:solidFill>
                  <a:srgbClr val="FF0000"/>
                </a:solidFill>
              </a:rPr>
              <a:t>MATLAB</a:t>
            </a:r>
            <a:r>
              <a:rPr lang="zh-CN" altLang="en-US" sz="2400" dirty="0" smtClean="0">
                <a:solidFill>
                  <a:srgbClr val="FF0000"/>
                </a:solidFill>
              </a:rPr>
              <a:t>最优化计算第</a:t>
            </a:r>
            <a:r>
              <a:rPr lang="en-US" altLang="zh-CN" sz="2400" dirty="0" smtClean="0">
                <a:solidFill>
                  <a:srgbClr val="FF0000"/>
                </a:solidFill>
              </a:rPr>
              <a:t>14</a:t>
            </a:r>
            <a:r>
              <a:rPr lang="zh-CN" altLang="en-US" sz="2400" dirty="0" smtClean="0">
                <a:solidFill>
                  <a:srgbClr val="FF0000"/>
                </a:solidFill>
              </a:rPr>
              <a:t>章</a:t>
            </a:r>
            <a:endParaRPr lang="en-US" altLang="zh-CN" sz="2400" dirty="0" smtClean="0">
              <a:solidFill>
                <a:srgbClr val="FF0000"/>
              </a:solidFill>
            </a:endParaRPr>
          </a:p>
          <a:p>
            <a:pPr>
              <a:lnSpc>
                <a:spcPct val="150000"/>
              </a:lnSpc>
            </a:pPr>
            <a:endParaRPr lang="zh-CN" altLang="en-US" sz="2400" dirty="0"/>
          </a:p>
        </p:txBody>
      </p:sp>
    </p:spTree>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9090" name="Rectangle 2"/>
          <p:cNvSpPr>
            <a:spLocks noGrp="1" noChangeArrowheads="1"/>
          </p:cNvSpPr>
          <p:nvPr>
            <p:ph type="title"/>
          </p:nvPr>
        </p:nvSpPr>
        <p:spPr bwMode="auto">
          <a:xfrm>
            <a:off x="457200" y="274638"/>
            <a:ext cx="8229600" cy="1143000"/>
          </a:xfrm>
          <a:prstGeom prst="rect">
            <a:avLst/>
          </a:prstGeom>
          <a:noFill/>
          <a:ln>
            <a:miter lim="800000"/>
            <a:headEnd/>
            <a:tailEnd/>
          </a:ln>
        </p:spPr>
        <p:txBody>
          <a:bodyPr vert="horz" wrap="square" lIns="91440" tIns="45720" rIns="91440" bIns="45720" numCol="1" anchor="t" anchorCtr="0" compatLnSpc="1">
            <a:prstTxWarp prst="textNoShape">
              <a:avLst/>
            </a:prstTxWarp>
          </a:bodyPr>
          <a:lstStyle/>
          <a:p>
            <a:r>
              <a:rPr lang="zh-CN" altLang="en-US" smtClean="0">
                <a:solidFill>
                  <a:srgbClr val="CC6600"/>
                </a:solidFill>
                <a:ea typeface="宋体" charset="-122"/>
              </a:rPr>
              <a:t>作业</a:t>
            </a:r>
          </a:p>
        </p:txBody>
      </p:sp>
      <p:sp>
        <p:nvSpPr>
          <p:cNvPr id="89091" name="Rectangle 3"/>
          <p:cNvSpPr>
            <a:spLocks noGrp="1" noChangeArrowheads="1"/>
          </p:cNvSpPr>
          <p:nvPr>
            <p:ph type="body" idx="1"/>
          </p:nvPr>
        </p:nvSpPr>
        <p:spPr/>
        <p:txBody>
          <a:bodyPr/>
          <a:lstStyle/>
          <a:p>
            <a:pPr>
              <a:buFont typeface="Wingdings" pitchFamily="2" charset="2"/>
              <a:buNone/>
            </a:pPr>
            <a:r>
              <a:rPr lang="en-US" altLang="zh-CN" dirty="0" smtClean="0">
                <a:ea typeface="宋体" charset="-122"/>
              </a:rPr>
              <a:t>1</a:t>
            </a:r>
            <a:r>
              <a:rPr lang="zh-CN" altLang="en-US" dirty="0" smtClean="0">
                <a:ea typeface="宋体" charset="-122"/>
              </a:rPr>
              <a:t>、利用遗传算法求函数的最小值：</a:t>
            </a:r>
          </a:p>
          <a:p>
            <a:endParaRPr lang="zh-CN" altLang="en-US" dirty="0" smtClean="0">
              <a:ea typeface="宋体" charset="-122"/>
            </a:endParaRPr>
          </a:p>
          <a:p>
            <a:endParaRPr lang="zh-CN" altLang="en-US" dirty="0" smtClean="0">
              <a:ea typeface="宋体" charset="-122"/>
            </a:endParaRPr>
          </a:p>
          <a:p>
            <a:pPr>
              <a:buFont typeface="Wingdings" pitchFamily="2" charset="2"/>
              <a:buNone/>
            </a:pPr>
            <a:endParaRPr lang="en-US" altLang="zh-CN" dirty="0" smtClean="0">
              <a:ea typeface="宋体" charset="-122"/>
            </a:endParaRPr>
          </a:p>
          <a:p>
            <a:pPr>
              <a:buFont typeface="Wingdings" pitchFamily="2" charset="2"/>
              <a:buNone/>
            </a:pPr>
            <a:r>
              <a:rPr lang="en-US" altLang="zh-CN" dirty="0" smtClean="0">
                <a:ea typeface="宋体" charset="-122"/>
              </a:rPr>
              <a:t>2</a:t>
            </a:r>
            <a:r>
              <a:rPr lang="zh-CN" altLang="en-US" dirty="0" smtClean="0">
                <a:ea typeface="宋体" charset="-122"/>
              </a:rPr>
              <a:t>、利用遗传算法求</a:t>
            </a:r>
            <a:r>
              <a:rPr lang="en-US" altLang="zh-CN" dirty="0" smtClean="0">
                <a:ea typeface="宋体" charset="-122"/>
              </a:rPr>
              <a:t>BP</a:t>
            </a:r>
            <a:r>
              <a:rPr lang="zh-CN" altLang="en-US" dirty="0" smtClean="0">
                <a:ea typeface="宋体" charset="-122"/>
              </a:rPr>
              <a:t>网络的权重和阈值；</a:t>
            </a:r>
          </a:p>
          <a:p>
            <a:pPr>
              <a:buFont typeface="Wingdings" pitchFamily="2" charset="2"/>
              <a:buNone/>
            </a:pPr>
            <a:r>
              <a:rPr lang="en-US" altLang="zh-CN" dirty="0" smtClean="0">
                <a:ea typeface="宋体" charset="-122"/>
              </a:rPr>
              <a:t>3</a:t>
            </a:r>
            <a:r>
              <a:rPr lang="zh-CN" altLang="en-US" dirty="0" smtClean="0">
                <a:ea typeface="宋体" charset="-122"/>
              </a:rPr>
              <a:t>、熟悉</a:t>
            </a:r>
            <a:r>
              <a:rPr lang="en-US" altLang="zh-CN" dirty="0" err="1" smtClean="0">
                <a:ea typeface="宋体" charset="-122"/>
              </a:rPr>
              <a:t>Matlab</a:t>
            </a:r>
            <a:r>
              <a:rPr lang="zh-CN" altLang="en-US" dirty="0" smtClean="0">
                <a:ea typeface="宋体" charset="-122"/>
              </a:rPr>
              <a:t>的</a:t>
            </a:r>
            <a:r>
              <a:rPr lang="en-US" altLang="zh-CN" dirty="0" smtClean="0">
                <a:ea typeface="宋体" charset="-122"/>
              </a:rPr>
              <a:t>GA</a:t>
            </a:r>
            <a:r>
              <a:rPr lang="zh-CN" altLang="en-US" dirty="0" smtClean="0">
                <a:ea typeface="宋体" charset="-122"/>
              </a:rPr>
              <a:t>工具箱和函数；</a:t>
            </a:r>
          </a:p>
        </p:txBody>
      </p:sp>
      <p:pic>
        <p:nvPicPr>
          <p:cNvPr id="89092" name="Picture 4"/>
          <p:cNvPicPr>
            <a:picLocks noChangeAspect="1" noChangeArrowheads="1"/>
          </p:cNvPicPr>
          <p:nvPr/>
        </p:nvPicPr>
        <p:blipFill>
          <a:blip r:embed="rId2" cstate="print"/>
          <a:srcRect/>
          <a:stretch>
            <a:fillRect/>
          </a:stretch>
        </p:blipFill>
        <p:spPr bwMode="auto">
          <a:xfrm>
            <a:off x="1524000" y="2333021"/>
            <a:ext cx="5486400" cy="1511300"/>
          </a:xfrm>
          <a:prstGeom prst="rect">
            <a:avLst/>
          </a:prstGeom>
          <a:noFill/>
          <a:ln w="9525">
            <a:noFill/>
            <a:miter lim="800000"/>
            <a:headEnd/>
            <a:tailEnd/>
          </a:ln>
        </p:spPr>
      </p:pic>
    </p:spTree>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矩形 2"/>
          <p:cNvSpPr/>
          <p:nvPr/>
        </p:nvSpPr>
        <p:spPr>
          <a:xfrm>
            <a:off x="1828800" y="2514600"/>
            <a:ext cx="5338164" cy="1569660"/>
          </a:xfrm>
          <a:prstGeom prst="rect">
            <a:avLst/>
          </a:prstGeom>
          <a:noFill/>
        </p:spPr>
        <p:txBody>
          <a:bodyPr wrap="square" lIns="91440" tIns="45720" rIns="91440" bIns="45720">
            <a:spAutoFit/>
          </a:bodyPr>
          <a:lstStyle/>
          <a:p>
            <a:pPr algn="ctr"/>
            <a:r>
              <a:rPr lang="en-US" altLang="zh-CN" sz="9600" b="1" cap="none" spc="0" dirty="0" smtClean="0">
                <a:ln w="19050">
                  <a:solidFill>
                    <a:schemeClr val="tx2">
                      <a:tint val="1000"/>
                    </a:schemeClr>
                  </a:solidFill>
                  <a:prstDash val="solid"/>
                </a:ln>
                <a:solidFill>
                  <a:schemeClr val="accent3"/>
                </a:solidFill>
                <a:effectLst>
                  <a:outerShdw blurRad="50000" dist="50800" dir="7500000" algn="tl">
                    <a:srgbClr val="000000">
                      <a:shade val="5000"/>
                      <a:alpha val="35000"/>
                    </a:srgbClr>
                  </a:outerShdw>
                </a:effectLst>
              </a:rPr>
              <a:t>The End</a:t>
            </a:r>
            <a:endParaRPr lang="zh-CN" altLang="en-US" sz="9600" b="1" cap="none" spc="0" dirty="0">
              <a:ln w="19050">
                <a:solidFill>
                  <a:schemeClr val="tx2">
                    <a:tint val="1000"/>
                  </a:schemeClr>
                </a:solidFill>
                <a:prstDash val="solid"/>
              </a:ln>
              <a:solidFill>
                <a:schemeClr val="accent3"/>
              </a:solidFill>
              <a:effectLst>
                <a:outerShdw blurRad="50000" dist="50800" dir="7500000" algn="tl">
                  <a:srgbClr val="000000">
                    <a:shade val="5000"/>
                    <a:alpha val="35000"/>
                  </a:srgbClr>
                </a:outerShdw>
              </a:effectLst>
            </a:endParaRPr>
          </a:p>
        </p:txBody>
      </p:sp>
    </p:spTree>
  </p:cSld>
  <p:clrMapOvr>
    <a:masterClrMapping/>
  </p:clrMapOvr>
</p:sld>
</file>

<file path=ppt/theme/theme1.xml><?xml version="1.0" encoding="utf-8"?>
<a:theme xmlns:a="http://schemas.openxmlformats.org/drawingml/2006/main" name="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257</TotalTime>
  <Words>3337</Words>
  <Application>Microsoft Office PowerPoint</Application>
  <PresentationFormat>全屏显示(4:3)</PresentationFormat>
  <Paragraphs>533</Paragraphs>
  <Slides>90</Slides>
  <Notes>0</Notes>
  <HiddenSlides>0</HiddenSlides>
  <MMClips>0</MMClips>
  <ScaleCrop>false</ScaleCrop>
  <HeadingPairs>
    <vt:vector size="8" baseType="variant">
      <vt:variant>
        <vt:lpstr>已用的字体</vt:lpstr>
      </vt:variant>
      <vt:variant>
        <vt:i4>9</vt:i4>
      </vt:variant>
      <vt:variant>
        <vt:lpstr>主题</vt:lpstr>
      </vt:variant>
      <vt:variant>
        <vt:i4>1</vt:i4>
      </vt:variant>
      <vt:variant>
        <vt:lpstr>嵌入 OLE 服务器</vt:lpstr>
      </vt:variant>
      <vt:variant>
        <vt:i4>2</vt:i4>
      </vt:variant>
      <vt:variant>
        <vt:lpstr>幻灯片标题</vt:lpstr>
      </vt:variant>
      <vt:variant>
        <vt:i4>90</vt:i4>
      </vt:variant>
    </vt:vector>
  </HeadingPairs>
  <TitlesOfParts>
    <vt:vector size="102" baseType="lpstr">
      <vt:lpstr>黑体</vt:lpstr>
      <vt:lpstr>楷体_GB2312</vt:lpstr>
      <vt:lpstr>宋体</vt:lpstr>
      <vt:lpstr>Arial</vt:lpstr>
      <vt:lpstr>Calibri</vt:lpstr>
      <vt:lpstr>Courier New</vt:lpstr>
      <vt:lpstr>Times New Roman</vt:lpstr>
      <vt:lpstr>Verdana</vt:lpstr>
      <vt:lpstr>Wingdings</vt:lpstr>
      <vt:lpstr>Office 主题</vt:lpstr>
      <vt:lpstr>Equation</vt:lpstr>
      <vt:lpstr>公式</vt:lpstr>
      <vt:lpstr>遗传算法</vt:lpstr>
      <vt:lpstr>目录</vt:lpstr>
      <vt:lpstr>一、优化问题</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二、遗传算法概述</vt:lpstr>
      <vt:lpstr>PowerPoint 演示文稿</vt:lpstr>
      <vt:lpstr>PowerPoint 演示文稿</vt:lpstr>
      <vt:lpstr>PowerPoint 演示文稿</vt:lpstr>
      <vt:lpstr>三、标准遗传算法</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课堂练习</vt:lpstr>
      <vt:lpstr>PowerPoint 演示文稿</vt:lpstr>
      <vt:lpstr>PowerPoint 演示文稿</vt:lpstr>
      <vt:lpstr>PowerPoint 演示文稿</vt:lpstr>
      <vt:lpstr>PowerPoint 演示文稿</vt:lpstr>
      <vt:lpstr>4 遗传算法求解巡回旅行商问题</vt:lpstr>
      <vt:lpstr>4 遗传算法求解巡回旅行商问题</vt:lpstr>
      <vt:lpstr>4 遗传算法求解巡回旅行商问题</vt:lpstr>
      <vt:lpstr>4 遗传算法求解巡回旅行商问题</vt:lpstr>
      <vt:lpstr>4 遗传算法求解巡回旅行商问题</vt:lpstr>
      <vt:lpstr>4 遗传算法求解巡回旅行商问题</vt:lpstr>
      <vt:lpstr>4 遗传算法求解巡回旅行商问题</vt:lpstr>
      <vt:lpstr>4遗传算法求解巡回旅行商问题</vt:lpstr>
      <vt:lpstr>4 遗传算法求解巡回旅行商问题</vt:lpstr>
      <vt:lpstr>4 遗传算法求解巡回旅行商问题</vt:lpstr>
      <vt:lpstr>4 遗传算法求解巡回旅行商问题</vt:lpstr>
      <vt:lpstr>4 遗传算法求解巡回旅行商问题</vt:lpstr>
      <vt:lpstr>4 遗传算法求解巡回旅行商问题</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五、其他的遗传算法</vt:lpstr>
      <vt:lpstr>PowerPoint 演示文稿</vt:lpstr>
      <vt:lpstr>作业</vt:lpstr>
      <vt:lpstr>PowerPoint 演示文稿</vt:lpstr>
    </vt:vector>
  </TitlesOfParts>
  <Company>微软中国</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遗传算法</dc:title>
  <dc:creator>微软用户</dc:creator>
  <cp:lastModifiedBy>xbany</cp:lastModifiedBy>
  <cp:revision>25</cp:revision>
  <dcterms:created xsi:type="dcterms:W3CDTF">2016-08-11T16:04:16Z</dcterms:created>
  <dcterms:modified xsi:type="dcterms:W3CDTF">2018-11-27T13:27:30Z</dcterms:modified>
</cp:coreProperties>
</file>